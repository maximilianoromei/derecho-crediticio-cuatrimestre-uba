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pzZzmIfIwJFIDofIwoRFq/wwR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25" y="4415775"/>
            <a:ext cx="5608300" cy="41833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3: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0: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2: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3: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3: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4: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4: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5: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6: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7: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7: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8: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8: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9:notes"/>
          <p:cNvSpPr txBox="1"/>
          <p:nvPr>
            <p:ph idx="1" type="body"/>
          </p:nvPr>
        </p:nvSpPr>
        <p:spPr>
          <a:xfrm>
            <a:off x="701025" y="4415775"/>
            <a:ext cx="56083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9:notes"/>
          <p:cNvSpPr/>
          <p:nvPr>
            <p:ph idx="2" type="sldImg"/>
          </p:nvPr>
        </p:nvSpPr>
        <p:spPr>
          <a:xfrm>
            <a:off x="1168625" y="697225"/>
            <a:ext cx="46738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9"/>
          <p:cNvSpPr/>
          <p:nvPr>
            <p:ph idx="2" type="pic"/>
          </p:nvPr>
        </p:nvSpPr>
        <p:spPr>
          <a:xfrm>
            <a:off x="5183188" y="987425"/>
            <a:ext cx="6172200" cy="4873625"/>
          </a:xfrm>
          <a:prstGeom prst="rect">
            <a:avLst/>
          </a:prstGeom>
          <a:noFill/>
          <a:ln>
            <a:noFill/>
          </a:ln>
        </p:spPr>
      </p:sp>
      <p:sp>
        <p:nvSpPr>
          <p:cNvPr id="64" name="Google Shape;64;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
          <p:cNvSpPr/>
          <p:nvPr/>
        </p:nvSpPr>
        <p:spPr>
          <a:xfrm>
            <a:off x="0" y="0"/>
            <a:ext cx="12192001"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 name="Google Shape;85;p1"/>
          <p:cNvSpPr txBox="1"/>
          <p:nvPr>
            <p:ph type="ctrTitle"/>
          </p:nvPr>
        </p:nvSpPr>
        <p:spPr>
          <a:xfrm>
            <a:off x="1033272" y="954284"/>
            <a:ext cx="10513106" cy="294343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s-ES" sz="8000"/>
              <a:t>Cramdown</a:t>
            </a:r>
            <a:endParaRPr sz="8000"/>
          </a:p>
        </p:txBody>
      </p:sp>
      <p:sp>
        <p:nvSpPr>
          <p:cNvPr id="86" name="Google Shape;86;p1"/>
          <p:cNvSpPr/>
          <p:nvPr/>
        </p:nvSpPr>
        <p:spPr>
          <a:xfrm>
            <a:off x="-1" y="1"/>
            <a:ext cx="606972" cy="3233984"/>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87" name="Google Shape;87;p1"/>
          <p:cNvGrpSpPr/>
          <p:nvPr/>
        </p:nvGrpSpPr>
        <p:grpSpPr>
          <a:xfrm>
            <a:off x="1188720" y="73152"/>
            <a:ext cx="1178966" cy="232963"/>
            <a:chOff x="5422392" y="64008"/>
            <a:chExt cx="1178966" cy="232963"/>
          </a:xfrm>
        </p:grpSpPr>
        <p:sp>
          <p:nvSpPr>
            <p:cNvPr id="88" name="Google Shape;88;p1"/>
            <p:cNvSpPr/>
            <p:nvPr/>
          </p:nvSpPr>
          <p:spPr>
            <a:xfrm>
              <a:off x="5922213"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
            <p:cNvSpPr/>
            <p:nvPr/>
          </p:nvSpPr>
          <p:spPr>
            <a:xfrm>
              <a:off x="5922213"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
            <p:cNvSpPr/>
            <p:nvPr/>
          </p:nvSpPr>
          <p:spPr>
            <a:xfrm>
              <a:off x="5797258"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p:nvPr/>
          </p:nvSpPr>
          <p:spPr>
            <a:xfrm>
              <a:off x="5797258"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
            <p:cNvSpPr/>
            <p:nvPr/>
          </p:nvSpPr>
          <p:spPr>
            <a:xfrm>
              <a:off x="5672303"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1"/>
            <p:cNvSpPr/>
            <p:nvPr/>
          </p:nvSpPr>
          <p:spPr>
            <a:xfrm>
              <a:off x="5672303"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1"/>
            <p:cNvSpPr/>
            <p:nvPr/>
          </p:nvSpPr>
          <p:spPr>
            <a:xfrm>
              <a:off x="5547347"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5" name="Google Shape;95;p1"/>
            <p:cNvSpPr/>
            <p:nvPr/>
          </p:nvSpPr>
          <p:spPr>
            <a:xfrm>
              <a:off x="5547347"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6" name="Google Shape;96;p1"/>
            <p:cNvSpPr/>
            <p:nvPr/>
          </p:nvSpPr>
          <p:spPr>
            <a:xfrm>
              <a:off x="5422392"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7" name="Google Shape;97;p1"/>
            <p:cNvSpPr/>
            <p:nvPr/>
          </p:nvSpPr>
          <p:spPr>
            <a:xfrm>
              <a:off x="5422392"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1"/>
            <p:cNvSpPr/>
            <p:nvPr/>
          </p:nvSpPr>
          <p:spPr>
            <a:xfrm>
              <a:off x="6546990"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1"/>
            <p:cNvSpPr/>
            <p:nvPr/>
          </p:nvSpPr>
          <p:spPr>
            <a:xfrm>
              <a:off x="6546990"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0" name="Google Shape;100;p1"/>
            <p:cNvSpPr/>
            <p:nvPr/>
          </p:nvSpPr>
          <p:spPr>
            <a:xfrm>
              <a:off x="6422035"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 name="Google Shape;101;p1"/>
            <p:cNvSpPr/>
            <p:nvPr/>
          </p:nvSpPr>
          <p:spPr>
            <a:xfrm>
              <a:off x="6422035"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1"/>
            <p:cNvSpPr/>
            <p:nvPr/>
          </p:nvSpPr>
          <p:spPr>
            <a:xfrm>
              <a:off x="6297080"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 name="Google Shape;103;p1"/>
            <p:cNvSpPr/>
            <p:nvPr/>
          </p:nvSpPr>
          <p:spPr>
            <a:xfrm>
              <a:off x="6297080"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p1"/>
            <p:cNvSpPr/>
            <p:nvPr/>
          </p:nvSpPr>
          <p:spPr>
            <a:xfrm>
              <a:off x="6172124"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1"/>
            <p:cNvSpPr/>
            <p:nvPr/>
          </p:nvSpPr>
          <p:spPr>
            <a:xfrm>
              <a:off x="6172124"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1"/>
            <p:cNvSpPr/>
            <p:nvPr/>
          </p:nvSpPr>
          <p:spPr>
            <a:xfrm>
              <a:off x="6047169"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 name="Google Shape;107;p1"/>
            <p:cNvSpPr/>
            <p:nvPr/>
          </p:nvSpPr>
          <p:spPr>
            <a:xfrm>
              <a:off x="6047169"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08" name="Google Shape;108;p1"/>
          <p:cNvSpPr/>
          <p:nvPr/>
        </p:nvSpPr>
        <p:spPr>
          <a:xfrm>
            <a:off x="-1" y="3233984"/>
            <a:ext cx="606972" cy="36240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 name="Google Shape;114;p2"/>
          <p:cNvSpPr/>
          <p:nvPr/>
        </p:nvSpPr>
        <p:spPr>
          <a:xfrm>
            <a:off x="-1" y="1"/>
            <a:ext cx="606972" cy="3233984"/>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5" name="Google Shape;115;p2"/>
          <p:cNvSpPr/>
          <p:nvPr/>
        </p:nvSpPr>
        <p:spPr>
          <a:xfrm>
            <a:off x="-1" y="3233984"/>
            <a:ext cx="606972" cy="36240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6" name="Google Shape;116;p2"/>
          <p:cNvSpPr/>
          <p:nvPr/>
        </p:nvSpPr>
        <p:spPr>
          <a:xfrm>
            <a:off x="606967" y="-1"/>
            <a:ext cx="5038344" cy="685799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7" name="Google Shape;117;p2"/>
          <p:cNvSpPr txBox="1"/>
          <p:nvPr>
            <p:ph type="title"/>
          </p:nvPr>
        </p:nvSpPr>
        <p:spPr>
          <a:xfrm>
            <a:off x="1166650" y="1332952"/>
            <a:ext cx="3926898" cy="39211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ES" sz="5400"/>
              <a:t>Concepto</a:t>
            </a:r>
            <a:endParaRPr sz="5400"/>
          </a:p>
        </p:txBody>
      </p:sp>
      <p:grpSp>
        <p:nvGrpSpPr>
          <p:cNvPr id="118" name="Google Shape;118;p2"/>
          <p:cNvGrpSpPr/>
          <p:nvPr/>
        </p:nvGrpSpPr>
        <p:grpSpPr>
          <a:xfrm>
            <a:off x="1188720" y="73152"/>
            <a:ext cx="1178966" cy="232963"/>
            <a:chOff x="5422392" y="64008"/>
            <a:chExt cx="1178966" cy="232963"/>
          </a:xfrm>
        </p:grpSpPr>
        <p:sp>
          <p:nvSpPr>
            <p:cNvPr id="119" name="Google Shape;119;p2"/>
            <p:cNvSpPr/>
            <p:nvPr/>
          </p:nvSpPr>
          <p:spPr>
            <a:xfrm>
              <a:off x="5922213"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0" name="Google Shape;120;p2"/>
            <p:cNvSpPr/>
            <p:nvPr/>
          </p:nvSpPr>
          <p:spPr>
            <a:xfrm>
              <a:off x="5922213"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1" name="Google Shape;121;p2"/>
            <p:cNvSpPr/>
            <p:nvPr/>
          </p:nvSpPr>
          <p:spPr>
            <a:xfrm>
              <a:off x="5797258"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2" name="Google Shape;122;p2"/>
            <p:cNvSpPr/>
            <p:nvPr/>
          </p:nvSpPr>
          <p:spPr>
            <a:xfrm>
              <a:off x="5797258"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3" name="Google Shape;123;p2"/>
            <p:cNvSpPr/>
            <p:nvPr/>
          </p:nvSpPr>
          <p:spPr>
            <a:xfrm>
              <a:off x="5672303"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4" name="Google Shape;124;p2"/>
            <p:cNvSpPr/>
            <p:nvPr/>
          </p:nvSpPr>
          <p:spPr>
            <a:xfrm>
              <a:off x="5672303"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5" name="Google Shape;125;p2"/>
            <p:cNvSpPr/>
            <p:nvPr/>
          </p:nvSpPr>
          <p:spPr>
            <a:xfrm>
              <a:off x="5547347"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6" name="Google Shape;126;p2"/>
            <p:cNvSpPr/>
            <p:nvPr/>
          </p:nvSpPr>
          <p:spPr>
            <a:xfrm>
              <a:off x="5547347"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7" name="Google Shape;127;p2"/>
            <p:cNvSpPr/>
            <p:nvPr/>
          </p:nvSpPr>
          <p:spPr>
            <a:xfrm>
              <a:off x="5422392"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8" name="Google Shape;128;p2"/>
            <p:cNvSpPr/>
            <p:nvPr/>
          </p:nvSpPr>
          <p:spPr>
            <a:xfrm>
              <a:off x="5422392"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9" name="Google Shape;129;p2"/>
            <p:cNvSpPr/>
            <p:nvPr/>
          </p:nvSpPr>
          <p:spPr>
            <a:xfrm>
              <a:off x="6546990"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0" name="Google Shape;130;p2"/>
            <p:cNvSpPr/>
            <p:nvPr/>
          </p:nvSpPr>
          <p:spPr>
            <a:xfrm>
              <a:off x="6546990"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1" name="Google Shape;131;p2"/>
            <p:cNvSpPr/>
            <p:nvPr/>
          </p:nvSpPr>
          <p:spPr>
            <a:xfrm>
              <a:off x="6422035"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2" name="Google Shape;132;p2"/>
            <p:cNvSpPr/>
            <p:nvPr/>
          </p:nvSpPr>
          <p:spPr>
            <a:xfrm>
              <a:off x="6422035"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p2"/>
            <p:cNvSpPr/>
            <p:nvPr/>
          </p:nvSpPr>
          <p:spPr>
            <a:xfrm>
              <a:off x="6297080"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4" name="Google Shape;134;p2"/>
            <p:cNvSpPr/>
            <p:nvPr/>
          </p:nvSpPr>
          <p:spPr>
            <a:xfrm>
              <a:off x="6297080"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5" name="Google Shape;135;p2"/>
            <p:cNvSpPr/>
            <p:nvPr/>
          </p:nvSpPr>
          <p:spPr>
            <a:xfrm>
              <a:off x="6172124"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6" name="Google Shape;136;p2"/>
            <p:cNvSpPr/>
            <p:nvPr/>
          </p:nvSpPr>
          <p:spPr>
            <a:xfrm>
              <a:off x="6172124"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7" name="Google Shape;137;p2"/>
            <p:cNvSpPr/>
            <p:nvPr/>
          </p:nvSpPr>
          <p:spPr>
            <a:xfrm>
              <a:off x="6047169" y="64008"/>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8" name="Google Shape;138;p2"/>
            <p:cNvSpPr/>
            <p:nvPr/>
          </p:nvSpPr>
          <p:spPr>
            <a:xfrm>
              <a:off x="6047169" y="237744"/>
              <a:ext cx="54368" cy="592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39" name="Google Shape;139;p2"/>
          <p:cNvSpPr txBox="1"/>
          <p:nvPr>
            <p:ph idx="1" type="body"/>
          </p:nvPr>
        </p:nvSpPr>
        <p:spPr>
          <a:xfrm>
            <a:off x="6421120" y="499833"/>
            <a:ext cx="5100320" cy="5581226"/>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500"/>
              <a:buChar char="•"/>
            </a:pPr>
            <a:r>
              <a:rPr lang="es-ES" sz="1500"/>
              <a:t>Dasso: “el rescate de la empresa implica la intervención de terceros interesados en comprar la empresa, operatoria que se lleva a cabo mediante la inscripción de interesados, que deben lograr un acuerdo con los acreedores y así obtener el derecho a la transferencia de la totalidad del paquete accionario”</a:t>
            </a:r>
            <a:endParaRPr/>
          </a:p>
          <a:p>
            <a:pPr indent="-228600" lvl="0" marL="228600" rtl="0" algn="l">
              <a:lnSpc>
                <a:spcPct val="90000"/>
              </a:lnSpc>
              <a:spcBef>
                <a:spcPts val="1000"/>
              </a:spcBef>
              <a:spcAft>
                <a:spcPts val="0"/>
              </a:spcAft>
              <a:buClr>
                <a:schemeClr val="dk1"/>
              </a:buClr>
              <a:buSzPts val="1500"/>
              <a:buChar char="•"/>
            </a:pPr>
            <a:r>
              <a:rPr lang="es-ES" sz="1500"/>
              <a:t>Vitolo: “se establece la posibilidad de que acreedores o terceros interesados que se inscriban en un registro oportunamente abierto por el juzgado interviniente, puedan ofrecer acuerdo a los otros acreedores. En el caso de que dicho acuerdo resulte aprobado por las mayorías exigidas por la ley, quien haya formulado la propuesta deberá adquirir las cuotas sociales o acciones que representen el 100% del capital de la sociedad concursada, por su valor patrimonial reducido en la misma proporción en que fueran reducidos los montos definitivos de los créditos de titularidad de los acreedores comprendidos en el acuerdo, calculados a valor presente. se permite el rescate de la unidad productiva y, a su vez, se impone un principio de equidad, en virtud del cual los titulares del capital social de la sociedad concursada (socios o accionistas) compartan el sacrificio común de los acreedores”</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 name="Shape 143"/>
        <p:cNvGrpSpPr/>
        <p:nvPr/>
      </p:nvGrpSpPr>
      <p:grpSpPr>
        <a:xfrm>
          <a:off x="0" y="0"/>
          <a:ext cx="0" cy="0"/>
          <a:chOff x="0" y="0"/>
          <a:chExt cx="0" cy="0"/>
        </a:xfrm>
      </p:grpSpPr>
      <p:sp>
        <p:nvSpPr>
          <p:cNvPr id="144" name="Google Shape;144;p3"/>
          <p:cNvSpPr/>
          <p:nvPr/>
        </p:nvSpPr>
        <p:spPr>
          <a:xfrm>
            <a:off x="-1"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5" name="Google Shape;145;p3"/>
          <p:cNvSpPr txBox="1"/>
          <p:nvPr>
            <p:ph type="title"/>
          </p:nvPr>
        </p:nvSpPr>
        <p:spPr>
          <a:xfrm>
            <a:off x="1370731" y="1460885"/>
            <a:ext cx="4122000" cy="4084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s-ES" sz="4000"/>
              <a:t>Exclusiones</a:t>
            </a:r>
            <a:endParaRPr sz="4000"/>
          </a:p>
        </p:txBody>
      </p:sp>
      <p:sp>
        <p:nvSpPr>
          <p:cNvPr id="146" name="Google Shape;146;p3"/>
          <p:cNvSpPr/>
          <p:nvPr/>
        </p:nvSpPr>
        <p:spPr>
          <a:xfrm>
            <a:off x="0" y="891540"/>
            <a:ext cx="722376" cy="5071110"/>
          </a:xfrm>
          <a:prstGeom prst="rect">
            <a:avLst/>
          </a:prstGeom>
          <a:solidFill>
            <a:srgbClr val="4C52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7" name="Google Shape;147;p3"/>
          <p:cNvSpPr/>
          <p:nvPr/>
        </p:nvSpPr>
        <p:spPr>
          <a:xfrm>
            <a:off x="6096000" y="891540"/>
            <a:ext cx="6096000" cy="5071110"/>
          </a:xfrm>
          <a:prstGeom prst="rect">
            <a:avLst/>
          </a:prstGeom>
          <a:solidFill>
            <a:srgbClr val="7F7F7F">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8" name="Google Shape;148;p3"/>
          <p:cNvSpPr txBox="1"/>
          <p:nvPr>
            <p:ph idx="1" type="body"/>
          </p:nvPr>
        </p:nvSpPr>
        <p:spPr>
          <a:xfrm>
            <a:off x="6580478" y="1384686"/>
            <a:ext cx="4935239" cy="408481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s-ES" sz="2000"/>
              <a:t>pequeños concursos, los cuales están definidos en el art. 288 como aquellos en los que indistintamente se da alguna de las siguientes hipótesis: i) pasivo inferior a 300 smvm ii) no más de veinte acreedores quirografarios; iii) no más de veinte trabajadores en relación de dependencia</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4"/>
          <p:cNvSpPr/>
          <p:nvPr/>
        </p:nvSpPr>
        <p:spPr>
          <a:xfrm>
            <a:off x="-1"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4" name="Google Shape;154;p4"/>
          <p:cNvSpPr/>
          <p:nvPr/>
        </p:nvSpPr>
        <p:spPr>
          <a:xfrm>
            <a:off x="153" y="0"/>
            <a:ext cx="12191695" cy="6858000"/>
          </a:xfrm>
          <a:prstGeom prst="rect">
            <a:avLst/>
          </a:prstGeom>
          <a:gradFill>
            <a:gsLst>
              <a:gs pos="0">
                <a:srgbClr val="F5F7FC"/>
              </a:gs>
              <a:gs pos="74000">
                <a:srgbClr val="A9BEE4"/>
              </a:gs>
              <a:gs pos="83000">
                <a:srgbClr val="A9BEE4"/>
              </a:gs>
              <a:gs pos="100000">
                <a:srgbClr val="C5D3ED"/>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5" name="Google Shape;155;p4"/>
          <p:cNvSpPr/>
          <p:nvPr/>
        </p:nvSpPr>
        <p:spPr>
          <a:xfrm>
            <a:off x="0" y="891540"/>
            <a:ext cx="722376" cy="5071110"/>
          </a:xfrm>
          <a:prstGeom prst="rect">
            <a:avLst/>
          </a:prstGeom>
          <a:solidFill>
            <a:srgbClr val="4C52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6" name="Google Shape;156;p4"/>
          <p:cNvSpPr/>
          <p:nvPr/>
        </p:nvSpPr>
        <p:spPr>
          <a:xfrm>
            <a:off x="1202435" y="891540"/>
            <a:ext cx="10989565" cy="5071110"/>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7" name="Google Shape;157;p4"/>
          <p:cNvSpPr txBox="1"/>
          <p:nvPr>
            <p:ph type="title"/>
          </p:nvPr>
        </p:nvSpPr>
        <p:spPr>
          <a:xfrm>
            <a:off x="1523984" y="1054121"/>
            <a:ext cx="9465131" cy="118411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CONSTITUCIONALIDAD DEL SALVATAJE</a:t>
            </a:r>
            <a:endParaRPr/>
          </a:p>
        </p:txBody>
      </p:sp>
      <p:sp>
        <p:nvSpPr>
          <p:cNvPr id="158" name="Google Shape;158;p4"/>
          <p:cNvSpPr txBox="1"/>
          <p:nvPr>
            <p:ph idx="1" type="body"/>
          </p:nvPr>
        </p:nvSpPr>
        <p:spPr>
          <a:xfrm>
            <a:off x="1524000" y="2399099"/>
            <a:ext cx="9465564" cy="340096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900"/>
              <a:buChar char="•"/>
            </a:pPr>
            <a:r>
              <a:rPr lang="es-ES" sz="1900"/>
              <a:t>alguna doctrina cuestionó la constitucionalidad del sistema de salvataje. Se argumentó que se violentaba el derecho de propiedad de los socios de la empresa en crisis al establecerse la transferencia forzosa de sus participaciones, ya que quien se encontraba en concurso era la sociedad y no los socios. Por otra parte, se sostuvo la injusticia que se sigue de aplicar el instituto a los socios que votaron en minoría cuando se resolvió el sometimiento a la alternativa concursal</a:t>
            </a:r>
            <a:endParaRPr/>
          </a:p>
          <a:p>
            <a:pPr indent="-228600" lvl="0" marL="228600" rtl="0" algn="l">
              <a:lnSpc>
                <a:spcPct val="90000"/>
              </a:lnSpc>
              <a:spcBef>
                <a:spcPts val="1000"/>
              </a:spcBef>
              <a:spcAft>
                <a:spcPts val="0"/>
              </a:spcAft>
              <a:buClr>
                <a:schemeClr val="dk1"/>
              </a:buClr>
              <a:buSzPts val="1900"/>
              <a:buChar char="•"/>
            </a:pPr>
            <a:r>
              <a:rPr lang="es-ES" sz="1900"/>
              <a:t>la Cámara Nacional de Comercio, sala E, sostuvo que la declaración de inconstitucionalidad del art. 48 de la ley 24.522 requiere que el peticionante demuestre y acredite fehacientemente en la causa el perjuicio que le origina la aplicación del sistema en controversia. A ello se agrega, además, que la eventual aplicación del art. 48 sólo afectaría a los accionistas de la sociedad, pero no a esta última, en virtud del cual el agravio tampoco es atendible en tanto se le invoca el interés de terceros cuya representación no se inviste.</a:t>
            </a:r>
            <a:endParaRPr/>
          </a:p>
          <a:p>
            <a:pPr indent="-107950" lvl="0" marL="228600" rtl="0" algn="l">
              <a:lnSpc>
                <a:spcPct val="90000"/>
              </a:lnSpc>
              <a:spcBef>
                <a:spcPts val="1000"/>
              </a:spcBef>
              <a:spcAft>
                <a:spcPts val="0"/>
              </a:spcAft>
              <a:buClr>
                <a:schemeClr val="dk1"/>
              </a:buClr>
              <a:buSzPts val="1900"/>
              <a:buNone/>
            </a:pPr>
            <a:r>
              <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p5"/>
          <p:cNvSpPr/>
          <p:nvPr/>
        </p:nvSpPr>
        <p:spPr>
          <a:xfrm>
            <a:off x="1" y="0"/>
            <a:ext cx="1219199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64" name="Google Shape;164;p5"/>
          <p:cNvGrpSpPr/>
          <p:nvPr/>
        </p:nvGrpSpPr>
        <p:grpSpPr>
          <a:xfrm>
            <a:off x="1" y="0"/>
            <a:ext cx="4273199" cy="6858000"/>
            <a:chOff x="1" y="0"/>
            <a:chExt cx="4273199" cy="6858000"/>
          </a:xfrm>
        </p:grpSpPr>
        <p:sp>
          <p:nvSpPr>
            <p:cNvPr id="165" name="Google Shape;165;p5"/>
            <p:cNvSpPr/>
            <p:nvPr/>
          </p:nvSpPr>
          <p:spPr>
            <a:xfrm>
              <a:off x="1" y="0"/>
              <a:ext cx="427319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5"/>
            <p:cNvSpPr/>
            <p:nvPr/>
          </p:nvSpPr>
          <p:spPr>
            <a:xfrm>
              <a:off x="1" y="0"/>
              <a:ext cx="4273199" cy="6858000"/>
            </a:xfrm>
            <a:prstGeom prst="rect">
              <a:avLst/>
            </a:prstGeom>
            <a:solidFill>
              <a:srgbClr val="1F3864">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7" name="Google Shape;167;p5"/>
          <p:cNvSpPr txBox="1"/>
          <p:nvPr>
            <p:ph type="title"/>
          </p:nvPr>
        </p:nvSpPr>
        <p:spPr>
          <a:xfrm>
            <a:off x="1251677" y="619125"/>
            <a:ext cx="2652413" cy="56197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400"/>
              <a:buFont typeface="Calibri"/>
              <a:buNone/>
            </a:pPr>
            <a:r>
              <a:rPr lang="es-ES" sz="3400">
                <a:solidFill>
                  <a:srgbClr val="000000"/>
                </a:solidFill>
              </a:rPr>
              <a:t>NATURALEZA JURÍDICA</a:t>
            </a:r>
            <a:endParaRPr/>
          </a:p>
        </p:txBody>
      </p:sp>
      <p:grpSp>
        <p:nvGrpSpPr>
          <p:cNvPr id="168" name="Google Shape;168;p5"/>
          <p:cNvGrpSpPr/>
          <p:nvPr/>
        </p:nvGrpSpPr>
        <p:grpSpPr>
          <a:xfrm>
            <a:off x="0" y="0"/>
            <a:ext cx="885825" cy="6858000"/>
            <a:chOff x="0" y="0"/>
            <a:chExt cx="885825" cy="6858000"/>
          </a:xfrm>
        </p:grpSpPr>
        <p:sp>
          <p:nvSpPr>
            <p:cNvPr id="169" name="Google Shape;169;p5"/>
            <p:cNvSpPr/>
            <p:nvPr/>
          </p:nvSpPr>
          <p:spPr>
            <a:xfrm>
              <a:off x="0" y="0"/>
              <a:ext cx="885825" cy="6858000"/>
            </a:xfrm>
            <a:custGeom>
              <a:rect b="b" l="l" r="r" t="t"/>
              <a:pathLst>
                <a:path extrusionOk="0" h="4320" w="558">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5"/>
            <p:cNvSpPr/>
            <p:nvPr/>
          </p:nvSpPr>
          <p:spPr>
            <a:xfrm>
              <a:off x="0" y="0"/>
              <a:ext cx="885825" cy="6858000"/>
            </a:xfrm>
            <a:custGeom>
              <a:rect b="b" l="l" r="r" t="t"/>
              <a:pathLst>
                <a:path extrusionOk="0" h="4320" w="558">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1F3864">
                <a:alpha val="2470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1" name="Google Shape;171;p5"/>
          <p:cNvSpPr txBox="1"/>
          <p:nvPr>
            <p:ph idx="1" type="body"/>
          </p:nvPr>
        </p:nvSpPr>
        <p:spPr>
          <a:xfrm>
            <a:off x="4916250" y="619125"/>
            <a:ext cx="6508987" cy="5619750"/>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s-ES" sz="2000">
                <a:solidFill>
                  <a:schemeClr val="dk1"/>
                </a:solidFill>
              </a:rPr>
              <a:t>Dice Mosso : “la empresa sigue siendo la misma, la sociedad que la explota sigue siendo la misma, todo lo que ocurre es el "reemplazo de los accionistas" de la sociedad en concurso, sociedad que, inmodificada, explota una empresa igualmente inmodificada”</a:t>
            </a:r>
            <a:endParaRPr/>
          </a:p>
          <a:p>
            <a:pPr indent="-228600" lvl="0" marL="228600" rtl="0" algn="l">
              <a:lnSpc>
                <a:spcPct val="90000"/>
              </a:lnSpc>
              <a:spcBef>
                <a:spcPts val="1000"/>
              </a:spcBef>
              <a:spcAft>
                <a:spcPts val="0"/>
              </a:spcAft>
              <a:buClr>
                <a:schemeClr val="dk1"/>
              </a:buClr>
              <a:buSzPts val="2000"/>
              <a:buChar char="•"/>
            </a:pPr>
            <a:r>
              <a:rPr lang="es-ES" sz="2000">
                <a:solidFill>
                  <a:schemeClr val="dk1"/>
                </a:solidFill>
              </a:rPr>
              <a:t>los acreedores seguirán teniendo el mismo deudor, pues no hay novación subjetiva, ya que es la misma sociedad concursada la que adeuda</a:t>
            </a:r>
            <a:endParaRPr/>
          </a:p>
          <a:p>
            <a:pPr indent="-228600" lvl="0" marL="228600" rtl="0" algn="l">
              <a:lnSpc>
                <a:spcPct val="90000"/>
              </a:lnSpc>
              <a:spcBef>
                <a:spcPts val="1000"/>
              </a:spcBef>
              <a:spcAft>
                <a:spcPts val="0"/>
              </a:spcAft>
              <a:buClr>
                <a:schemeClr val="dk1"/>
              </a:buClr>
              <a:buSzPts val="2000"/>
              <a:buChar char="•"/>
            </a:pPr>
            <a:r>
              <a:rPr lang="es-ES" sz="2000">
                <a:solidFill>
                  <a:schemeClr val="dk1"/>
                </a:solidFill>
              </a:rPr>
              <a:t>el tercero interesado que, obteniendo las conformidades, adquiera la titularidad de las cuotas sociales, reemplaza a los anteriores dueños del capital en la conducción de la sociedad concursada, pero no "toma" las deudas sociales anteriores como personales, porque seguirá existiendo separación en cuanto a la personalidad con el ente societario. </a:t>
            </a:r>
            <a:endParaRPr sz="2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6"/>
          <p:cNvSpPr/>
          <p:nvPr/>
        </p:nvSpPr>
        <p:spPr>
          <a:xfrm>
            <a:off x="1" y="0"/>
            <a:ext cx="1219199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7" name="Google Shape;177;p6"/>
          <p:cNvGrpSpPr/>
          <p:nvPr/>
        </p:nvGrpSpPr>
        <p:grpSpPr>
          <a:xfrm>
            <a:off x="1" y="0"/>
            <a:ext cx="7556683" cy="6858000"/>
            <a:chOff x="1" y="0"/>
            <a:chExt cx="12191996" cy="6858000"/>
          </a:xfrm>
        </p:grpSpPr>
        <p:sp>
          <p:nvSpPr>
            <p:cNvPr id="178" name="Google Shape;178;p6"/>
            <p:cNvSpPr/>
            <p:nvPr/>
          </p:nvSpPr>
          <p:spPr>
            <a:xfrm>
              <a:off x="1" y="0"/>
              <a:ext cx="1219199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6"/>
            <p:cNvSpPr/>
            <p:nvPr/>
          </p:nvSpPr>
          <p:spPr>
            <a:xfrm>
              <a:off x="1" y="0"/>
              <a:ext cx="12191996" cy="6858000"/>
            </a:xfrm>
            <a:prstGeom prst="rect">
              <a:avLst/>
            </a:prstGeom>
            <a:solidFill>
              <a:srgbClr val="1F3864">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0" name="Google Shape;180;p6"/>
          <p:cNvGrpSpPr/>
          <p:nvPr/>
        </p:nvGrpSpPr>
        <p:grpSpPr>
          <a:xfrm>
            <a:off x="1160555" y="814388"/>
            <a:ext cx="5235575" cy="5229225"/>
            <a:chOff x="5469352" y="613446"/>
            <a:chExt cx="5235575" cy="5229225"/>
          </a:xfrm>
        </p:grpSpPr>
        <p:sp>
          <p:nvSpPr>
            <p:cNvPr id="181" name="Google Shape;181;p6"/>
            <p:cNvSpPr/>
            <p:nvPr/>
          </p:nvSpPr>
          <p:spPr>
            <a:xfrm>
              <a:off x="5469352" y="613446"/>
              <a:ext cx="5235575" cy="5229225"/>
            </a:xfrm>
            <a:custGeom>
              <a:rect b="b" l="l" r="r" t="t"/>
              <a:pathLst>
                <a:path extrusionOk="0" h="3294" w="3298">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rgbClr val="FFFFFF">
                <a:alpha val="2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6"/>
            <p:cNvSpPr/>
            <p:nvPr/>
          </p:nvSpPr>
          <p:spPr>
            <a:xfrm>
              <a:off x="5469352" y="613446"/>
              <a:ext cx="5235575" cy="5229225"/>
            </a:xfrm>
            <a:custGeom>
              <a:rect b="b" l="l" r="r" t="t"/>
              <a:pathLst>
                <a:path extrusionOk="0" h="3294" w="3298">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lt1">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3" name="Google Shape;183;p6"/>
          <p:cNvSpPr txBox="1"/>
          <p:nvPr>
            <p:ph type="title"/>
          </p:nvPr>
        </p:nvSpPr>
        <p:spPr>
          <a:xfrm>
            <a:off x="457200" y="1202436"/>
            <a:ext cx="6647688" cy="44531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800"/>
              <a:buFont typeface="Calibri"/>
              <a:buNone/>
            </a:pPr>
            <a:r>
              <a:rPr lang="es-ES" sz="8800"/>
              <a:t>LEGITIMADOS PASIVOS</a:t>
            </a:r>
            <a:endParaRPr sz="8800"/>
          </a:p>
        </p:txBody>
      </p:sp>
      <p:sp>
        <p:nvSpPr>
          <p:cNvPr id="184" name="Google Shape;184;p6"/>
          <p:cNvSpPr txBox="1"/>
          <p:nvPr>
            <p:ph idx="1" type="body"/>
          </p:nvPr>
        </p:nvSpPr>
        <p:spPr>
          <a:xfrm>
            <a:off x="8260039" y="613447"/>
            <a:ext cx="3169961" cy="5625708"/>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s-ES" sz="2000">
                <a:solidFill>
                  <a:schemeClr val="dk1"/>
                </a:solidFill>
              </a:rPr>
              <a:t>el texto legal sigue legitimando solamente a las sociedades de responsabilidad limitada, sociedades por acciones, sociedades cooperativas y aquellas sociedades en que el Estado nacional, provincial o municipal sea parte</a:t>
            </a:r>
            <a:endParaRPr/>
          </a:p>
          <a:p>
            <a:pPr indent="-228600" lvl="0" marL="228600" rtl="0" algn="l">
              <a:lnSpc>
                <a:spcPct val="90000"/>
              </a:lnSpc>
              <a:spcBef>
                <a:spcPts val="1000"/>
              </a:spcBef>
              <a:spcAft>
                <a:spcPts val="0"/>
              </a:spcAft>
              <a:buClr>
                <a:schemeClr val="dk1"/>
              </a:buClr>
              <a:buSzPts val="2000"/>
              <a:buChar char="•"/>
            </a:pPr>
            <a:r>
              <a:rPr lang="es-ES" sz="2000">
                <a:solidFill>
                  <a:schemeClr val="dk1"/>
                </a:solidFill>
              </a:rPr>
              <a:t>admite un numerus claussus de sujetos habilitados para obtener el procedimiento de salvataje</a:t>
            </a:r>
            <a:endParaRPr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8" name="Shape 188"/>
        <p:cNvGrpSpPr/>
        <p:nvPr/>
      </p:nvGrpSpPr>
      <p:grpSpPr>
        <a:xfrm>
          <a:off x="0" y="0"/>
          <a:ext cx="0" cy="0"/>
          <a:chOff x="0" y="0"/>
          <a:chExt cx="0" cy="0"/>
        </a:xfrm>
      </p:grpSpPr>
      <p:sp>
        <p:nvSpPr>
          <p:cNvPr id="189" name="Google Shape;189;p7"/>
          <p:cNvSpPr/>
          <p:nvPr/>
        </p:nvSpPr>
        <p:spPr>
          <a:xfrm>
            <a:off x="1" y="0"/>
            <a:ext cx="1219199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190" name="Google Shape;190;p7"/>
          <p:cNvGrpSpPr/>
          <p:nvPr/>
        </p:nvGrpSpPr>
        <p:grpSpPr>
          <a:xfrm>
            <a:off x="1" y="0"/>
            <a:ext cx="7556683" cy="6858000"/>
            <a:chOff x="1" y="0"/>
            <a:chExt cx="12191996" cy="6858000"/>
          </a:xfrm>
        </p:grpSpPr>
        <p:sp>
          <p:nvSpPr>
            <p:cNvPr id="191" name="Google Shape;191;p7"/>
            <p:cNvSpPr/>
            <p:nvPr/>
          </p:nvSpPr>
          <p:spPr>
            <a:xfrm>
              <a:off x="1" y="0"/>
              <a:ext cx="1219199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7"/>
            <p:cNvSpPr/>
            <p:nvPr/>
          </p:nvSpPr>
          <p:spPr>
            <a:xfrm>
              <a:off x="1" y="0"/>
              <a:ext cx="12191996" cy="6858000"/>
            </a:xfrm>
            <a:prstGeom prst="rect">
              <a:avLst/>
            </a:prstGeom>
            <a:solidFill>
              <a:srgbClr val="1F3864">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3" name="Google Shape;193;p7"/>
          <p:cNvGrpSpPr/>
          <p:nvPr/>
        </p:nvGrpSpPr>
        <p:grpSpPr>
          <a:xfrm>
            <a:off x="1160555" y="814388"/>
            <a:ext cx="5235575" cy="5229225"/>
            <a:chOff x="5469352" y="613446"/>
            <a:chExt cx="5235575" cy="5229225"/>
          </a:xfrm>
        </p:grpSpPr>
        <p:sp>
          <p:nvSpPr>
            <p:cNvPr id="194" name="Google Shape;194;p7"/>
            <p:cNvSpPr/>
            <p:nvPr/>
          </p:nvSpPr>
          <p:spPr>
            <a:xfrm>
              <a:off x="5469352" y="613446"/>
              <a:ext cx="5235575" cy="5229225"/>
            </a:xfrm>
            <a:custGeom>
              <a:rect b="b" l="l" r="r" t="t"/>
              <a:pathLst>
                <a:path extrusionOk="0" h="3294" w="3298">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rgbClr val="FFFFFF">
                <a:alpha val="2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7"/>
            <p:cNvSpPr/>
            <p:nvPr/>
          </p:nvSpPr>
          <p:spPr>
            <a:xfrm>
              <a:off x="5469352" y="613446"/>
              <a:ext cx="5235575" cy="5229225"/>
            </a:xfrm>
            <a:custGeom>
              <a:rect b="b" l="l" r="r" t="t"/>
              <a:pathLst>
                <a:path extrusionOk="0" h="3294" w="3298">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lt1">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6" name="Google Shape;196;p7"/>
          <p:cNvSpPr txBox="1"/>
          <p:nvPr>
            <p:ph type="title"/>
          </p:nvPr>
        </p:nvSpPr>
        <p:spPr>
          <a:xfrm>
            <a:off x="457200" y="1202436"/>
            <a:ext cx="6647688" cy="44531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7500"/>
              <a:buFont typeface="Calibri"/>
              <a:buNone/>
            </a:pPr>
            <a:r>
              <a:rPr lang="es-ES" sz="7400"/>
              <a:t>SUJETOS COMPRENDIDOS</a:t>
            </a:r>
            <a:endParaRPr sz="4300"/>
          </a:p>
        </p:txBody>
      </p:sp>
      <p:sp>
        <p:nvSpPr>
          <p:cNvPr id="197" name="Google Shape;197;p7"/>
          <p:cNvSpPr txBox="1"/>
          <p:nvPr>
            <p:ph idx="1" type="body"/>
          </p:nvPr>
        </p:nvSpPr>
        <p:spPr>
          <a:xfrm>
            <a:off x="8260039" y="613447"/>
            <a:ext cx="3169961" cy="5625708"/>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es-ES" sz="1400">
                <a:solidFill>
                  <a:schemeClr val="dk1"/>
                </a:solidFill>
              </a:rPr>
              <a:t>Sociedades comerciales - sólo están habilitadas para acceder al salvataje las SRL, las SA, las cooperativas y las sociedades donde el Estado nacional provincial o municipal sea parte. En relación con las sociedades comerciales, la ley habilita solamente a aquellos tipos sociales donde los socios limitan su responsabilidad</a:t>
            </a:r>
            <a:endParaRPr/>
          </a:p>
          <a:p>
            <a:pPr indent="-228600" lvl="0" marL="228600" rtl="0" algn="l">
              <a:lnSpc>
                <a:spcPct val="90000"/>
              </a:lnSpc>
              <a:spcBef>
                <a:spcPts val="1000"/>
              </a:spcBef>
              <a:spcAft>
                <a:spcPts val="0"/>
              </a:spcAft>
              <a:buClr>
                <a:schemeClr val="dk1"/>
              </a:buClr>
              <a:buSzPts val="1400"/>
              <a:buChar char="•"/>
            </a:pPr>
            <a:r>
              <a:rPr lang="es-ES" sz="1400">
                <a:solidFill>
                  <a:schemeClr val="dk1"/>
                </a:solidFill>
              </a:rPr>
              <a:t>Las cooperativas - El art. 162 del CCCN, hoy establece: "Transformación. Fusión. Escisión. Las personas jurídicas pueden transformarse, fusionarse o escindirse en los casos previstos por este Código o por la ley especial. En todos los casos es necesaria la conformidad unánime de los miembros de la persona o personas jurídicas, excepto disposición especial o estipulación en contrario del estatuto“</a:t>
            </a:r>
            <a:endParaRPr/>
          </a:p>
          <a:p>
            <a:pPr indent="-228600" lvl="0" marL="228600" rtl="0" algn="l">
              <a:lnSpc>
                <a:spcPct val="90000"/>
              </a:lnSpc>
              <a:spcBef>
                <a:spcPts val="1000"/>
              </a:spcBef>
              <a:spcAft>
                <a:spcPts val="0"/>
              </a:spcAft>
              <a:buClr>
                <a:schemeClr val="dk1"/>
              </a:buClr>
              <a:buSzPts val="1400"/>
              <a:buChar char="•"/>
            </a:pPr>
            <a:r>
              <a:rPr lang="es-ES" sz="1400">
                <a:solidFill>
                  <a:schemeClr val="dk1"/>
                </a:solidFill>
              </a:rPr>
              <a:t>Sociedades del Estado </a:t>
            </a:r>
            <a:endParaRPr/>
          </a:p>
          <a:p>
            <a:pPr indent="-228600" lvl="0" marL="228600" rtl="0" algn="l">
              <a:lnSpc>
                <a:spcPct val="90000"/>
              </a:lnSpc>
              <a:spcBef>
                <a:spcPts val="1000"/>
              </a:spcBef>
              <a:spcAft>
                <a:spcPts val="0"/>
              </a:spcAft>
              <a:buClr>
                <a:schemeClr val="dk1"/>
              </a:buClr>
              <a:buSzPts val="1400"/>
              <a:buChar char="•"/>
            </a:pPr>
            <a:r>
              <a:rPr lang="es-ES" sz="1400">
                <a:solidFill>
                  <a:schemeClr val="dk1"/>
                </a:solidFill>
              </a:rPr>
              <a:t>Asociaciones mutuales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1" name="Shape 201"/>
        <p:cNvGrpSpPr/>
        <p:nvPr/>
      </p:nvGrpSpPr>
      <p:grpSpPr>
        <a:xfrm>
          <a:off x="0" y="0"/>
          <a:ext cx="0" cy="0"/>
          <a:chOff x="0" y="0"/>
          <a:chExt cx="0" cy="0"/>
        </a:xfrm>
      </p:grpSpPr>
      <p:sp>
        <p:nvSpPr>
          <p:cNvPr id="202" name="Google Shape;202;p8"/>
          <p:cNvSpPr/>
          <p:nvPr/>
        </p:nvSpPr>
        <p:spPr>
          <a:xfrm>
            <a:off x="1" y="0"/>
            <a:ext cx="1219199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3" name="Google Shape;203;p8"/>
          <p:cNvGrpSpPr/>
          <p:nvPr/>
        </p:nvGrpSpPr>
        <p:grpSpPr>
          <a:xfrm>
            <a:off x="1" y="0"/>
            <a:ext cx="7556683" cy="6858000"/>
            <a:chOff x="1" y="0"/>
            <a:chExt cx="12191996" cy="6858000"/>
          </a:xfrm>
        </p:grpSpPr>
        <p:sp>
          <p:nvSpPr>
            <p:cNvPr id="204" name="Google Shape;204;p8"/>
            <p:cNvSpPr/>
            <p:nvPr/>
          </p:nvSpPr>
          <p:spPr>
            <a:xfrm>
              <a:off x="1" y="0"/>
              <a:ext cx="1219199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8"/>
            <p:cNvSpPr/>
            <p:nvPr/>
          </p:nvSpPr>
          <p:spPr>
            <a:xfrm>
              <a:off x="1" y="0"/>
              <a:ext cx="12191996" cy="6858000"/>
            </a:xfrm>
            <a:prstGeom prst="rect">
              <a:avLst/>
            </a:prstGeom>
            <a:solidFill>
              <a:srgbClr val="1F3864">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6" name="Google Shape;206;p8"/>
          <p:cNvGrpSpPr/>
          <p:nvPr/>
        </p:nvGrpSpPr>
        <p:grpSpPr>
          <a:xfrm>
            <a:off x="1160555" y="814388"/>
            <a:ext cx="5235575" cy="5229225"/>
            <a:chOff x="5469352" y="613446"/>
            <a:chExt cx="5235575" cy="5229225"/>
          </a:xfrm>
        </p:grpSpPr>
        <p:sp>
          <p:nvSpPr>
            <p:cNvPr id="207" name="Google Shape;207;p8"/>
            <p:cNvSpPr/>
            <p:nvPr/>
          </p:nvSpPr>
          <p:spPr>
            <a:xfrm>
              <a:off x="5469352" y="613446"/>
              <a:ext cx="5235575" cy="5229225"/>
            </a:xfrm>
            <a:custGeom>
              <a:rect b="b" l="l" r="r" t="t"/>
              <a:pathLst>
                <a:path extrusionOk="0" h="3294" w="3298">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rgbClr val="FFFFFF">
                <a:alpha val="2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8"/>
            <p:cNvSpPr/>
            <p:nvPr/>
          </p:nvSpPr>
          <p:spPr>
            <a:xfrm>
              <a:off x="5469352" y="613446"/>
              <a:ext cx="5235575" cy="5229225"/>
            </a:xfrm>
            <a:custGeom>
              <a:rect b="b" l="l" r="r" t="t"/>
              <a:pathLst>
                <a:path extrusionOk="0" h="3294" w="3298">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lt1">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9" name="Google Shape;209;p8"/>
          <p:cNvSpPr txBox="1"/>
          <p:nvPr>
            <p:ph type="title"/>
          </p:nvPr>
        </p:nvSpPr>
        <p:spPr>
          <a:xfrm>
            <a:off x="457200" y="1202436"/>
            <a:ext cx="6647688" cy="44531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8800"/>
              <a:buFont typeface="Calibri"/>
              <a:buNone/>
            </a:pPr>
            <a:r>
              <a:rPr lang="es-ES" sz="8800"/>
              <a:t>SUJETOS EXCLUIDOS</a:t>
            </a:r>
            <a:endParaRPr sz="8800"/>
          </a:p>
        </p:txBody>
      </p:sp>
      <p:sp>
        <p:nvSpPr>
          <p:cNvPr id="210" name="Google Shape;210;p8"/>
          <p:cNvSpPr txBox="1"/>
          <p:nvPr>
            <p:ph idx="1" type="body"/>
          </p:nvPr>
        </p:nvSpPr>
        <p:spPr>
          <a:xfrm>
            <a:off x="8260039" y="613447"/>
            <a:ext cx="3169961" cy="5625708"/>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s-ES" sz="2000">
                <a:solidFill>
                  <a:schemeClr val="dk1"/>
                </a:solidFill>
              </a:rPr>
              <a:t>i) personas físicas, a despecho del nivel de la organización empresaria que desarrollan; ii) otras personas de existencia ideal que no sean las expresamente habilitadas por el art. 48; iii) personas jurídicas que no pueden ser sujeto de concursos preventivos, como son las aseguradoras o entidades financieras; iv) cualquier clase de persona, aun las mencionadas en el encabezamiento del art. 48, cuando se trate de pequeños concursos</a:t>
            </a:r>
            <a:endParaRPr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pic>
        <p:nvPicPr>
          <p:cNvPr id="215" name="Google Shape;215;p9"/>
          <p:cNvPicPr preferRelativeResize="0"/>
          <p:nvPr/>
        </p:nvPicPr>
        <p:blipFill rotWithShape="1">
          <a:blip r:embed="rId3">
            <a:alphaModFix amt="35000"/>
          </a:blip>
          <a:srcRect b="0" l="0" r="0" t="15413"/>
          <a:stretch/>
        </p:blipFill>
        <p:spPr>
          <a:xfrm>
            <a:off x="20" y="10"/>
            <a:ext cx="12191981" cy="6857990"/>
          </a:xfrm>
          <a:prstGeom prst="rect">
            <a:avLst/>
          </a:prstGeom>
          <a:noFill/>
          <a:ln>
            <a:noFill/>
          </a:ln>
        </p:spPr>
      </p:pic>
      <p:sp>
        <p:nvSpPr>
          <p:cNvPr id="216" name="Google Shape;216;p9"/>
          <p:cNvSpPr/>
          <p:nvPr/>
        </p:nvSpPr>
        <p:spPr>
          <a:xfrm>
            <a:off x="321564" y="320040"/>
            <a:ext cx="11548872" cy="6217920"/>
          </a:xfrm>
          <a:prstGeom prst="rect">
            <a:avLst/>
          </a:prstGeom>
          <a:solidFill>
            <a:schemeClr val="lt2">
              <a:alpha val="6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7" name="Google Shape;217;p9"/>
          <p:cNvSpPr txBox="1"/>
          <p:nvPr>
            <p:ph type="title"/>
          </p:nvPr>
        </p:nvSpPr>
        <p:spPr>
          <a:xfrm>
            <a:off x="838201" y="1065862"/>
            <a:ext cx="3313164" cy="4726276"/>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dk1"/>
              </a:buClr>
              <a:buSzPts val="4000"/>
              <a:buFont typeface="Calibri"/>
              <a:buNone/>
            </a:pPr>
            <a:r>
              <a:rPr lang="es-ES" sz="4000"/>
              <a:t>Los pequeños concursos</a:t>
            </a:r>
            <a:endParaRPr/>
          </a:p>
        </p:txBody>
      </p:sp>
      <p:cxnSp>
        <p:nvCxnSpPr>
          <p:cNvPr id="218" name="Google Shape;218;p9"/>
          <p:cNvCxnSpPr/>
          <p:nvPr/>
        </p:nvCxnSpPr>
        <p:spPr>
          <a:xfrm>
            <a:off x="4653372" y="2286000"/>
            <a:ext cx="0" cy="2286000"/>
          </a:xfrm>
          <a:prstGeom prst="straightConnector1">
            <a:avLst/>
          </a:prstGeom>
          <a:noFill/>
          <a:ln cap="flat" cmpd="sng" w="19050">
            <a:solidFill>
              <a:srgbClr val="262626"/>
            </a:solidFill>
            <a:prstDash val="solid"/>
            <a:miter lim="800000"/>
            <a:headEnd len="sm" w="sm" type="none"/>
            <a:tailEnd len="sm" w="sm" type="none"/>
          </a:ln>
        </p:spPr>
      </p:cxnSp>
      <p:grpSp>
        <p:nvGrpSpPr>
          <p:cNvPr id="219" name="Google Shape;219;p9"/>
          <p:cNvGrpSpPr/>
          <p:nvPr/>
        </p:nvGrpSpPr>
        <p:grpSpPr>
          <a:xfrm>
            <a:off x="5155379" y="1215899"/>
            <a:ext cx="6192319" cy="4426200"/>
            <a:chOff x="0" y="150037"/>
            <a:chExt cx="6192319" cy="4426200"/>
          </a:xfrm>
        </p:grpSpPr>
        <p:sp>
          <p:nvSpPr>
            <p:cNvPr id="220" name="Google Shape;220;p9"/>
            <p:cNvSpPr/>
            <p:nvPr/>
          </p:nvSpPr>
          <p:spPr>
            <a:xfrm>
              <a:off x="0" y="150037"/>
              <a:ext cx="6192319" cy="713700"/>
            </a:xfrm>
            <a:prstGeom prst="roundRect">
              <a:avLst>
                <a:gd fmla="val 16667"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txBox="1"/>
            <p:nvPr/>
          </p:nvSpPr>
          <p:spPr>
            <a:xfrm>
              <a:off x="34840" y="184877"/>
              <a:ext cx="6122639" cy="644020"/>
            </a:xfrm>
            <a:prstGeom prst="rect">
              <a:avLst/>
            </a:prstGeom>
            <a:noFill/>
            <a:ln>
              <a:noFill/>
            </a:ln>
          </p:spPr>
          <p:txBody>
            <a:bodyPr anchorCtr="0" anchor="ctr" bIns="38100" lIns="38100" spcFirstLastPara="1" rIns="38100" wrap="square" tIns="38100">
              <a:noAutofit/>
            </a:bodyPr>
            <a:lstStyle/>
            <a:p>
              <a:pPr indent="0" lvl="0" marL="0" marR="0" rtl="0" algn="l">
                <a:lnSpc>
                  <a:spcPct val="90000"/>
                </a:lnSpc>
                <a:spcBef>
                  <a:spcPts val="0"/>
                </a:spcBef>
                <a:spcAft>
                  <a:spcPts val="0"/>
                </a:spcAft>
                <a:buClr>
                  <a:schemeClr val="lt1"/>
                </a:buClr>
                <a:buSzPts val="1000"/>
                <a:buFont typeface="Calibri"/>
                <a:buNone/>
              </a:pPr>
              <a:r>
                <a:rPr lang="es-ES" sz="1000">
                  <a:solidFill>
                    <a:schemeClr val="lt1"/>
                  </a:solidFill>
                  <a:latin typeface="Calibri"/>
                  <a:ea typeface="Calibri"/>
                  <a:cs typeface="Calibri"/>
                  <a:sym typeface="Calibri"/>
                </a:rPr>
                <a:t>se mantiene la limitación contenida en el art. 289 que impide su acceso al salvataje, todo lo cual ha motivado la crítica de la doctrina, puntualizándose que el criterio empleado por el art. 288 de la ley 24.522 para determinar la viabilidad del salvataje no se corresponde con la noción de utilidad empresaria, que es la que debiera primar como criterio definitorio de esta alternativa de reorganización</a:t>
              </a:r>
              <a:endParaRPr sz="1000">
                <a:solidFill>
                  <a:schemeClr val="lt1"/>
                </a:solidFill>
                <a:latin typeface="Calibri"/>
                <a:ea typeface="Calibri"/>
                <a:cs typeface="Calibri"/>
                <a:sym typeface="Calibri"/>
              </a:endParaRPr>
            </a:p>
          </p:txBody>
        </p:sp>
        <p:sp>
          <p:nvSpPr>
            <p:cNvPr id="222" name="Google Shape;222;p9"/>
            <p:cNvSpPr/>
            <p:nvPr/>
          </p:nvSpPr>
          <p:spPr>
            <a:xfrm>
              <a:off x="0" y="892538"/>
              <a:ext cx="6192319" cy="713700"/>
            </a:xfrm>
            <a:prstGeom prst="roundRect">
              <a:avLst>
                <a:gd fmla="val 16667" name="adj"/>
              </a:avLst>
            </a:prstGeom>
            <a:solidFill>
              <a:srgbClr val="DB784A"/>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txBox="1"/>
            <p:nvPr/>
          </p:nvSpPr>
          <p:spPr>
            <a:xfrm>
              <a:off x="34840" y="927378"/>
              <a:ext cx="6122639" cy="644020"/>
            </a:xfrm>
            <a:prstGeom prst="rect">
              <a:avLst/>
            </a:prstGeom>
            <a:noFill/>
            <a:ln>
              <a:noFill/>
            </a:ln>
          </p:spPr>
          <p:txBody>
            <a:bodyPr anchorCtr="0" anchor="ctr" bIns="38100" lIns="38100" spcFirstLastPara="1" rIns="38100" wrap="square" tIns="38100">
              <a:noAutofit/>
            </a:bodyPr>
            <a:lstStyle/>
            <a:p>
              <a:pPr indent="0" lvl="0" marL="0" marR="0" rtl="0" algn="l">
                <a:lnSpc>
                  <a:spcPct val="90000"/>
                </a:lnSpc>
                <a:spcBef>
                  <a:spcPts val="0"/>
                </a:spcBef>
                <a:spcAft>
                  <a:spcPts val="0"/>
                </a:spcAft>
                <a:buClr>
                  <a:schemeClr val="lt1"/>
                </a:buClr>
                <a:buSzPts val="1000"/>
                <a:buFont typeface="Calibri"/>
                <a:buNone/>
              </a:pPr>
              <a:r>
                <a:rPr lang="es-ES" sz="1000">
                  <a:solidFill>
                    <a:schemeClr val="lt1"/>
                  </a:solidFill>
                  <a:latin typeface="Calibri"/>
                  <a:ea typeface="Calibri"/>
                  <a:cs typeface="Calibri"/>
                  <a:sym typeface="Calibri"/>
                </a:rPr>
                <a:t>La doctrina da cuenta de algún caso jurisprudencial donde se decidió la apertura del salvataje en el pequeño concurso, condicionado a la ratificación de los socios en asamblea extraordinaria, ya que la exclusión del salvataje no es una cuestión que afecte al orden público</a:t>
              </a:r>
              <a:endParaRPr sz="1000">
                <a:solidFill>
                  <a:schemeClr val="lt1"/>
                </a:solidFill>
                <a:latin typeface="Calibri"/>
                <a:ea typeface="Calibri"/>
                <a:cs typeface="Calibri"/>
                <a:sym typeface="Calibri"/>
              </a:endParaRPr>
            </a:p>
          </p:txBody>
        </p:sp>
        <p:sp>
          <p:nvSpPr>
            <p:cNvPr id="224" name="Google Shape;224;p9"/>
            <p:cNvSpPr/>
            <p:nvPr/>
          </p:nvSpPr>
          <p:spPr>
            <a:xfrm>
              <a:off x="0" y="1635037"/>
              <a:ext cx="6192319" cy="713700"/>
            </a:xfrm>
            <a:prstGeom prst="roundRect">
              <a:avLst>
                <a:gd fmla="val 16667" name="adj"/>
              </a:avLst>
            </a:prstGeom>
            <a:solidFill>
              <a:srgbClr val="CB7C6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txBox="1"/>
            <p:nvPr/>
          </p:nvSpPr>
          <p:spPr>
            <a:xfrm>
              <a:off x="34840" y="1669877"/>
              <a:ext cx="6122639" cy="644020"/>
            </a:xfrm>
            <a:prstGeom prst="rect">
              <a:avLst/>
            </a:prstGeom>
            <a:noFill/>
            <a:ln>
              <a:noFill/>
            </a:ln>
          </p:spPr>
          <p:txBody>
            <a:bodyPr anchorCtr="0" anchor="ctr" bIns="38100" lIns="38100" spcFirstLastPara="1" rIns="38100" wrap="square" tIns="38100">
              <a:noAutofit/>
            </a:bodyPr>
            <a:lstStyle/>
            <a:p>
              <a:pPr indent="0" lvl="0" marL="0" marR="0" rtl="0" algn="l">
                <a:lnSpc>
                  <a:spcPct val="90000"/>
                </a:lnSpc>
                <a:spcBef>
                  <a:spcPts val="0"/>
                </a:spcBef>
                <a:spcAft>
                  <a:spcPts val="0"/>
                </a:spcAft>
                <a:buClr>
                  <a:schemeClr val="lt1"/>
                </a:buClr>
                <a:buSzPts val="1000"/>
                <a:buFont typeface="Calibri"/>
                <a:buNone/>
              </a:pPr>
              <a:r>
                <a:rPr lang="es-ES" sz="1000">
                  <a:solidFill>
                    <a:schemeClr val="lt1"/>
                  </a:solidFill>
                  <a:latin typeface="Calibri"/>
                  <a:ea typeface="Calibri"/>
                  <a:cs typeface="Calibri"/>
                  <a:sym typeface="Calibri"/>
                </a:rPr>
                <a:t>algún otro fallo declaró la inconstitucionalidad del art. 289 para habilitar el salvataje de un pequeño concurso</a:t>
              </a:r>
              <a:endParaRPr sz="1000">
                <a:solidFill>
                  <a:schemeClr val="lt1"/>
                </a:solidFill>
                <a:latin typeface="Calibri"/>
                <a:ea typeface="Calibri"/>
                <a:cs typeface="Calibri"/>
                <a:sym typeface="Calibri"/>
              </a:endParaRPr>
            </a:p>
          </p:txBody>
        </p:sp>
        <p:sp>
          <p:nvSpPr>
            <p:cNvPr id="226" name="Google Shape;226;p9"/>
            <p:cNvSpPr/>
            <p:nvPr/>
          </p:nvSpPr>
          <p:spPr>
            <a:xfrm>
              <a:off x="0" y="2377537"/>
              <a:ext cx="6192319" cy="713700"/>
            </a:xfrm>
            <a:prstGeom prst="roundRect">
              <a:avLst>
                <a:gd fmla="val 16667" name="adj"/>
              </a:avLst>
            </a:prstGeom>
            <a:solidFill>
              <a:srgbClr val="BC857A"/>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txBox="1"/>
            <p:nvPr/>
          </p:nvSpPr>
          <p:spPr>
            <a:xfrm>
              <a:off x="34840" y="2412377"/>
              <a:ext cx="6122639" cy="644020"/>
            </a:xfrm>
            <a:prstGeom prst="rect">
              <a:avLst/>
            </a:prstGeom>
            <a:noFill/>
            <a:ln>
              <a:noFill/>
            </a:ln>
          </p:spPr>
          <p:txBody>
            <a:bodyPr anchorCtr="0" anchor="ctr" bIns="38100" lIns="38100" spcFirstLastPara="1" rIns="38100" wrap="square" tIns="38100">
              <a:noAutofit/>
            </a:bodyPr>
            <a:lstStyle/>
            <a:p>
              <a:pPr indent="0" lvl="0" marL="0" marR="0" rtl="0" algn="l">
                <a:lnSpc>
                  <a:spcPct val="90000"/>
                </a:lnSpc>
                <a:spcBef>
                  <a:spcPts val="0"/>
                </a:spcBef>
                <a:spcAft>
                  <a:spcPts val="0"/>
                </a:spcAft>
                <a:buClr>
                  <a:schemeClr val="lt1"/>
                </a:buClr>
                <a:buSzPts val="1000"/>
                <a:buFont typeface="Calibri"/>
                <a:buNone/>
              </a:pPr>
              <a:r>
                <a:rPr lang="es-ES" sz="1000">
                  <a:solidFill>
                    <a:schemeClr val="lt1"/>
                  </a:solidFill>
                  <a:latin typeface="Calibri"/>
                  <a:ea typeface="Calibri"/>
                  <a:cs typeface="Calibri"/>
                  <a:sym typeface="Calibri"/>
                </a:rPr>
                <a:t>Ante esta situación doctrinaria y jurisprudencial, Di Tullio, Macagno y Chiavassa(280) sostienen que no debe descartarse la posibilidad de una aplicación pretoriana del instituto a los pequeños concursos. </a:t>
              </a:r>
              <a:endParaRPr sz="1000">
                <a:solidFill>
                  <a:schemeClr val="lt1"/>
                </a:solidFill>
                <a:latin typeface="Calibri"/>
                <a:ea typeface="Calibri"/>
                <a:cs typeface="Calibri"/>
                <a:sym typeface="Calibri"/>
              </a:endParaRPr>
            </a:p>
          </p:txBody>
        </p:sp>
        <p:sp>
          <p:nvSpPr>
            <p:cNvPr id="228" name="Google Shape;228;p9"/>
            <p:cNvSpPr/>
            <p:nvPr/>
          </p:nvSpPr>
          <p:spPr>
            <a:xfrm>
              <a:off x="0" y="3120037"/>
              <a:ext cx="6192319" cy="713700"/>
            </a:xfrm>
            <a:prstGeom prst="roundRect">
              <a:avLst>
                <a:gd fmla="val 16667" name="adj"/>
              </a:avLst>
            </a:prstGeom>
            <a:solidFill>
              <a:srgbClr val="AF9390"/>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txBox="1"/>
            <p:nvPr/>
          </p:nvSpPr>
          <p:spPr>
            <a:xfrm>
              <a:off x="34840" y="3154877"/>
              <a:ext cx="6122639" cy="644020"/>
            </a:xfrm>
            <a:prstGeom prst="rect">
              <a:avLst/>
            </a:prstGeom>
            <a:noFill/>
            <a:ln>
              <a:noFill/>
            </a:ln>
          </p:spPr>
          <p:txBody>
            <a:bodyPr anchorCtr="0" anchor="ctr" bIns="38100" lIns="38100" spcFirstLastPara="1" rIns="38100" wrap="square" tIns="38100">
              <a:noAutofit/>
            </a:bodyPr>
            <a:lstStyle/>
            <a:p>
              <a:pPr indent="0" lvl="0" marL="0" marR="0" rtl="0" algn="l">
                <a:lnSpc>
                  <a:spcPct val="90000"/>
                </a:lnSpc>
                <a:spcBef>
                  <a:spcPts val="0"/>
                </a:spcBef>
                <a:spcAft>
                  <a:spcPts val="0"/>
                </a:spcAft>
                <a:buClr>
                  <a:schemeClr val="lt1"/>
                </a:buClr>
                <a:buSzPts val="1000"/>
                <a:buFont typeface="Calibri"/>
                <a:buNone/>
              </a:pPr>
              <a:r>
                <a:rPr lang="es-ES" sz="1000">
                  <a:solidFill>
                    <a:schemeClr val="lt1"/>
                  </a:solidFill>
                  <a:latin typeface="Calibri"/>
                  <a:ea typeface="Calibri"/>
                  <a:cs typeface="Calibri"/>
                  <a:sym typeface="Calibri"/>
                </a:rPr>
                <a:t>En rigor, la jurisprudencia, aun antes de la sanción de la originaria ley 24.522, ya había tenido casos en los cuales la empresa concursada vendía su paquete accionario y quien obtenía las conformidades concordatarias era la nueva conducción societaria, viabilizando el mantenimiento de la explotación empresaria. </a:t>
              </a:r>
              <a:endParaRPr sz="1000">
                <a:solidFill>
                  <a:schemeClr val="lt1"/>
                </a:solidFill>
                <a:latin typeface="Calibri"/>
                <a:ea typeface="Calibri"/>
                <a:cs typeface="Calibri"/>
                <a:sym typeface="Calibri"/>
              </a:endParaRPr>
            </a:p>
          </p:txBody>
        </p:sp>
        <p:sp>
          <p:nvSpPr>
            <p:cNvPr id="230" name="Google Shape;230;p9"/>
            <p:cNvSpPr/>
            <p:nvPr/>
          </p:nvSpPr>
          <p:spPr>
            <a:xfrm>
              <a:off x="0" y="3862537"/>
              <a:ext cx="6192319" cy="713700"/>
            </a:xfrm>
            <a:prstGeom prst="roundRect">
              <a:avLst>
                <a:gd fmla="val 16667" name="adj"/>
              </a:avLst>
            </a:prstGeom>
            <a:solidFill>
              <a:srgbClr val="A4A4A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txBox="1"/>
            <p:nvPr/>
          </p:nvSpPr>
          <p:spPr>
            <a:xfrm>
              <a:off x="34840" y="3897377"/>
              <a:ext cx="6122639" cy="644020"/>
            </a:xfrm>
            <a:prstGeom prst="rect">
              <a:avLst/>
            </a:prstGeom>
            <a:noFill/>
            <a:ln>
              <a:noFill/>
            </a:ln>
          </p:spPr>
          <p:txBody>
            <a:bodyPr anchorCtr="0" anchor="ctr" bIns="38100" lIns="38100" spcFirstLastPara="1" rIns="38100" wrap="square" tIns="38100">
              <a:noAutofit/>
            </a:bodyPr>
            <a:lstStyle/>
            <a:p>
              <a:pPr indent="0" lvl="0" marL="0" marR="0" rtl="0" algn="l">
                <a:lnSpc>
                  <a:spcPct val="90000"/>
                </a:lnSpc>
                <a:spcBef>
                  <a:spcPts val="0"/>
                </a:spcBef>
                <a:spcAft>
                  <a:spcPts val="0"/>
                </a:spcAft>
                <a:buClr>
                  <a:schemeClr val="lt1"/>
                </a:buClr>
                <a:buSzPts val="1000"/>
                <a:buFont typeface="Calibri"/>
                <a:buNone/>
              </a:pPr>
              <a:r>
                <a:rPr lang="es-ES" sz="1000">
                  <a:solidFill>
                    <a:schemeClr val="lt1"/>
                  </a:solidFill>
                  <a:latin typeface="Calibri"/>
                  <a:ea typeface="Calibri"/>
                  <a:cs typeface="Calibri"/>
                  <a:sym typeface="Calibri"/>
                </a:rPr>
                <a:t>Esto es lo que sucede en el denominado "cramdown a la criolla".</a:t>
              </a:r>
              <a:endParaRPr sz="1000">
                <a:solidFill>
                  <a:schemeClr val="lt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5" name="Shape 235"/>
        <p:cNvGrpSpPr/>
        <p:nvPr/>
      </p:nvGrpSpPr>
      <p:grpSpPr>
        <a:xfrm>
          <a:off x="0" y="0"/>
          <a:ext cx="0" cy="0"/>
          <a:chOff x="0" y="0"/>
          <a:chExt cx="0" cy="0"/>
        </a:xfrm>
      </p:grpSpPr>
      <p:sp>
        <p:nvSpPr>
          <p:cNvPr id="236" name="Google Shape;236;p10"/>
          <p:cNvSpPr txBox="1"/>
          <p:nvPr>
            <p:ph type="title"/>
          </p:nvPr>
        </p:nvSpPr>
        <p:spPr>
          <a:xfrm>
            <a:off x="524741" y="620392"/>
            <a:ext cx="3808268" cy="55046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5"/>
              </a:buClr>
              <a:buSzPts val="4700"/>
              <a:buFont typeface="Calibri"/>
              <a:buNone/>
            </a:pPr>
            <a:r>
              <a:rPr lang="es-ES" sz="4700">
                <a:solidFill>
                  <a:schemeClr val="accent5"/>
                </a:solidFill>
              </a:rPr>
              <a:t>REGISTRO DE INTERESADOS</a:t>
            </a:r>
            <a:endParaRPr/>
          </a:p>
        </p:txBody>
      </p:sp>
      <p:grpSp>
        <p:nvGrpSpPr>
          <p:cNvPr id="237" name="Google Shape;237;p10"/>
          <p:cNvGrpSpPr/>
          <p:nvPr/>
        </p:nvGrpSpPr>
        <p:grpSpPr>
          <a:xfrm>
            <a:off x="5093208" y="649122"/>
            <a:ext cx="6263640" cy="5447226"/>
            <a:chOff x="0" y="28730"/>
            <a:chExt cx="6263640" cy="5447226"/>
          </a:xfrm>
        </p:grpSpPr>
        <p:sp>
          <p:nvSpPr>
            <p:cNvPr id="238" name="Google Shape;238;p10"/>
            <p:cNvSpPr/>
            <p:nvPr/>
          </p:nvSpPr>
          <p:spPr>
            <a:xfrm>
              <a:off x="0" y="28730"/>
              <a:ext cx="6263640" cy="1333726"/>
            </a:xfrm>
            <a:prstGeom prst="roundRect">
              <a:avLst>
                <a:gd fmla="val 16667"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txBox="1"/>
            <p:nvPr/>
          </p:nvSpPr>
          <p:spPr>
            <a:xfrm>
              <a:off x="65107" y="93837"/>
              <a:ext cx="6133426" cy="1203512"/>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alibri"/>
                <a:buNone/>
              </a:pPr>
              <a:r>
                <a:rPr lang="es-ES" sz="1300">
                  <a:solidFill>
                    <a:schemeClr val="lt1"/>
                  </a:solidFill>
                  <a:latin typeface="Calibri"/>
                  <a:ea typeface="Calibri"/>
                  <a:cs typeface="Calibri"/>
                  <a:sym typeface="Calibri"/>
                </a:rPr>
                <a:t>el juez tiene un plazo de dos días para disponer la apertura de un registro en el expediente para que, dentro del término de cinco días, se inscriban los acreedores y terceros interesados en la adquisición de las acciones o cuotas representativas del capital de la concursada, a efectos de formular propuestas de acuerdo preventivo</a:t>
              </a:r>
              <a:endParaRPr sz="1300">
                <a:solidFill>
                  <a:schemeClr val="lt1"/>
                </a:solidFill>
                <a:latin typeface="Calibri"/>
                <a:ea typeface="Calibri"/>
                <a:cs typeface="Calibri"/>
                <a:sym typeface="Calibri"/>
              </a:endParaRPr>
            </a:p>
          </p:txBody>
        </p:sp>
        <p:sp>
          <p:nvSpPr>
            <p:cNvPr id="240" name="Google Shape;240;p10"/>
            <p:cNvSpPr/>
            <p:nvPr/>
          </p:nvSpPr>
          <p:spPr>
            <a:xfrm>
              <a:off x="0" y="1399897"/>
              <a:ext cx="6263640" cy="1333726"/>
            </a:xfrm>
            <a:prstGeom prst="roundRect">
              <a:avLst>
                <a:gd fmla="val 16667" name="adj"/>
              </a:avLst>
            </a:prstGeom>
            <a:solidFill>
              <a:srgbClr val="50C9B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txBox="1"/>
            <p:nvPr/>
          </p:nvSpPr>
          <p:spPr>
            <a:xfrm>
              <a:off x="65107" y="1465004"/>
              <a:ext cx="6133426" cy="1203512"/>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alibri"/>
                <a:buNone/>
              </a:pPr>
              <a:r>
                <a:rPr lang="es-ES" sz="1300">
                  <a:solidFill>
                    <a:schemeClr val="lt1"/>
                  </a:solidFill>
                  <a:latin typeface="Calibri"/>
                  <a:ea typeface="Calibri"/>
                  <a:cs typeface="Calibri"/>
                  <a:sym typeface="Calibri"/>
                </a:rPr>
                <a:t>la finalidad del instituto, que es la transferencia societaria, aun cuando no pueda olvidarse que constituye un negocio indirecto para adquirir el control y manejo empresario.</a:t>
              </a:r>
              <a:endParaRPr sz="1300">
                <a:solidFill>
                  <a:schemeClr val="lt1"/>
                </a:solidFill>
                <a:latin typeface="Calibri"/>
                <a:ea typeface="Calibri"/>
                <a:cs typeface="Calibri"/>
                <a:sym typeface="Calibri"/>
              </a:endParaRPr>
            </a:p>
          </p:txBody>
        </p:sp>
        <p:sp>
          <p:nvSpPr>
            <p:cNvPr id="242" name="Google Shape;242;p10"/>
            <p:cNvSpPr/>
            <p:nvPr/>
          </p:nvSpPr>
          <p:spPr>
            <a:xfrm>
              <a:off x="0" y="2771063"/>
              <a:ext cx="6263640" cy="1333726"/>
            </a:xfrm>
            <a:prstGeom prst="roundRect">
              <a:avLst>
                <a:gd fmla="val 16667" name="adj"/>
              </a:avLst>
            </a:prstGeom>
            <a:solidFill>
              <a:srgbClr val="48BD6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
            <p:cNvSpPr txBox="1"/>
            <p:nvPr/>
          </p:nvSpPr>
          <p:spPr>
            <a:xfrm>
              <a:off x="65107" y="2836170"/>
              <a:ext cx="6133426" cy="1203512"/>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alibri"/>
                <a:buNone/>
              </a:pPr>
              <a:r>
                <a:rPr lang="es-ES" sz="1300">
                  <a:solidFill>
                    <a:schemeClr val="lt1"/>
                  </a:solidFill>
                  <a:latin typeface="Calibri"/>
                  <a:ea typeface="Calibri"/>
                  <a:cs typeface="Calibri"/>
                  <a:sym typeface="Calibri"/>
                </a:rPr>
                <a:t>Este segundo período de negociación tiene como finalidad que otras personas distintas de la concursada adquieran, por vía de negociación, el capital social o se les reconozca el derecho de su transferencia, siempre que acuerden con los acreedores el modo de satisfacción del pasivo con las mayorías del art. 45, a saber, la mayoría absoluta de acreedores verificados y admisibles que representan las dos terceras partes del pasivo quirografario.</a:t>
              </a:r>
              <a:endParaRPr sz="1300">
                <a:solidFill>
                  <a:schemeClr val="lt1"/>
                </a:solidFill>
                <a:latin typeface="Calibri"/>
                <a:ea typeface="Calibri"/>
                <a:cs typeface="Calibri"/>
                <a:sym typeface="Calibri"/>
              </a:endParaRPr>
            </a:p>
          </p:txBody>
        </p:sp>
        <p:sp>
          <p:nvSpPr>
            <p:cNvPr id="244" name="Google Shape;244;p10"/>
            <p:cNvSpPr/>
            <p:nvPr/>
          </p:nvSpPr>
          <p:spPr>
            <a:xfrm>
              <a:off x="0" y="4142230"/>
              <a:ext cx="6263640" cy="1333726"/>
            </a:xfrm>
            <a:prstGeom prst="roundRect">
              <a:avLst>
                <a:gd fmla="val 16667" name="adj"/>
              </a:avLst>
            </a:prstGeom>
            <a:solidFill>
              <a:srgbClr val="6FAB4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txBox="1"/>
            <p:nvPr/>
          </p:nvSpPr>
          <p:spPr>
            <a:xfrm>
              <a:off x="65107" y="4207337"/>
              <a:ext cx="6133426" cy="1203512"/>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alibri"/>
                <a:buNone/>
              </a:pPr>
              <a:r>
                <a:rPr lang="es-ES" sz="1300">
                  <a:solidFill>
                    <a:schemeClr val="lt1"/>
                  </a:solidFill>
                  <a:latin typeface="Calibri"/>
                  <a:ea typeface="Calibri"/>
                  <a:cs typeface="Calibri"/>
                  <a:sym typeface="Calibri"/>
                </a:rPr>
                <a:t>art. 48, inc. 4º, al puntualizar que </a:t>
              </a:r>
              <a:r>
                <a:rPr lang="es-ES" sz="1300" u="sng">
                  <a:solidFill>
                    <a:schemeClr val="lt1"/>
                  </a:solidFill>
                  <a:latin typeface="Calibri"/>
                  <a:ea typeface="Calibri"/>
                  <a:cs typeface="Calibri"/>
                  <a:sym typeface="Calibri"/>
                </a:rPr>
                <a:t>el deudor "recobra" la posibilidad de procurar adhesiones</a:t>
              </a:r>
              <a:r>
                <a:rPr lang="es-ES" sz="1300">
                  <a:solidFill>
                    <a:schemeClr val="lt1"/>
                  </a:solidFill>
                  <a:latin typeface="Calibri"/>
                  <a:ea typeface="Calibri"/>
                  <a:cs typeface="Calibri"/>
                  <a:sym typeface="Calibri"/>
                </a:rPr>
                <a:t> a su anterior propuesta o a las nuevas que formulase, en los mismos plazos y compitiendo sin ninguna preferencia con el resto de los interesados oferentes.</a:t>
              </a:r>
              <a:endParaRPr sz="1300">
                <a:solidFill>
                  <a:schemeClr val="lt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9" name="Shape 249"/>
        <p:cNvGrpSpPr/>
        <p:nvPr/>
      </p:nvGrpSpPr>
      <p:grpSpPr>
        <a:xfrm>
          <a:off x="0" y="0"/>
          <a:ext cx="0" cy="0"/>
          <a:chOff x="0" y="0"/>
          <a:chExt cx="0" cy="0"/>
        </a:xfrm>
      </p:grpSpPr>
      <p:sp>
        <p:nvSpPr>
          <p:cNvPr id="250" name="Google Shape;250;p11"/>
          <p:cNvSpPr txBox="1"/>
          <p:nvPr>
            <p:ph type="title"/>
          </p:nvPr>
        </p:nvSpPr>
        <p:spPr>
          <a:xfrm>
            <a:off x="524741" y="620392"/>
            <a:ext cx="3808268" cy="55046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5"/>
              </a:buClr>
              <a:buSzPts val="5100"/>
              <a:buFont typeface="Calibri"/>
              <a:buNone/>
            </a:pPr>
            <a:r>
              <a:rPr lang="es-ES" sz="5100">
                <a:solidFill>
                  <a:schemeClr val="accent5"/>
                </a:solidFill>
              </a:rPr>
              <a:t>INEXISTENCIA DE INSCRIPTOS: QUIEBRA</a:t>
            </a:r>
            <a:endParaRPr/>
          </a:p>
        </p:txBody>
      </p:sp>
      <p:grpSp>
        <p:nvGrpSpPr>
          <p:cNvPr id="251" name="Google Shape;251;p11"/>
          <p:cNvGrpSpPr/>
          <p:nvPr/>
        </p:nvGrpSpPr>
        <p:grpSpPr>
          <a:xfrm>
            <a:off x="5105262" y="1831485"/>
            <a:ext cx="6239531" cy="3082501"/>
            <a:chOff x="12054" y="1211093"/>
            <a:chExt cx="6239531" cy="3082501"/>
          </a:xfrm>
        </p:grpSpPr>
        <p:sp>
          <p:nvSpPr>
            <p:cNvPr id="252" name="Google Shape;252;p11"/>
            <p:cNvSpPr/>
            <p:nvPr/>
          </p:nvSpPr>
          <p:spPr>
            <a:xfrm>
              <a:off x="571460" y="1211093"/>
              <a:ext cx="1749937" cy="174993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944398" y="1584031"/>
              <a:ext cx="1004062" cy="100406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p:nvPr/>
          </p:nvSpPr>
          <p:spPr>
            <a:xfrm>
              <a:off x="12054" y="3506094"/>
              <a:ext cx="2868750" cy="78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txBox="1"/>
            <p:nvPr/>
          </p:nvSpPr>
          <p:spPr>
            <a:xfrm>
              <a:off x="12054" y="3506094"/>
              <a:ext cx="2868750" cy="787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100"/>
                <a:buFont typeface="Calibri"/>
                <a:buNone/>
              </a:pPr>
              <a:r>
                <a:rPr lang="es-ES" sz="1100" cap="none">
                  <a:solidFill>
                    <a:schemeClr val="dk1"/>
                  </a:solidFill>
                  <a:latin typeface="Calibri"/>
                  <a:ea typeface="Calibri"/>
                  <a:cs typeface="Calibri"/>
                  <a:sym typeface="Calibri"/>
                </a:rPr>
                <a:t>I TRANSCURRIDO EL PLAZO PREVISTO EN EL INC. 1º NO HUBIERA NINGÚN INSCRIPTO, EL JUEZ DECLARARÁ LA QUIEBRA. </a:t>
              </a:r>
              <a:endParaRPr sz="1100">
                <a:solidFill>
                  <a:schemeClr val="dk1"/>
                </a:solidFill>
                <a:latin typeface="Calibri"/>
                <a:ea typeface="Calibri"/>
                <a:cs typeface="Calibri"/>
                <a:sym typeface="Calibri"/>
              </a:endParaRPr>
            </a:p>
          </p:txBody>
        </p:sp>
        <p:sp>
          <p:nvSpPr>
            <p:cNvPr id="256" name="Google Shape;256;p11"/>
            <p:cNvSpPr/>
            <p:nvPr/>
          </p:nvSpPr>
          <p:spPr>
            <a:xfrm>
              <a:off x="3942241" y="1211093"/>
              <a:ext cx="1749937" cy="174993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4315179" y="1584031"/>
              <a:ext cx="1004062" cy="100406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3382835" y="3506094"/>
              <a:ext cx="2868750" cy="78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txBox="1"/>
            <p:nvPr/>
          </p:nvSpPr>
          <p:spPr>
            <a:xfrm>
              <a:off x="3382835" y="3506094"/>
              <a:ext cx="2868750" cy="787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100"/>
                <a:buFont typeface="Calibri"/>
                <a:buNone/>
              </a:pPr>
              <a:r>
                <a:rPr lang="es-ES" sz="1100" cap="none">
                  <a:solidFill>
                    <a:schemeClr val="dk1"/>
                  </a:solidFill>
                  <a:latin typeface="Calibri"/>
                  <a:ea typeface="Calibri"/>
                  <a:cs typeface="Calibri"/>
                  <a:sym typeface="Calibri"/>
                </a:rPr>
                <a:t>LO DICHO PONE DE RELIEVE QUE LA CONCURRENCIA DE LA DEUDORA A ESTA SEGUNDA VUELTA DEPENDE SIEMPRE DE QUE EXISTAN TERCEROS INSCRIPTOS, PUES SU AUSENCIA OBLIGA A DECLARAR LA QUIEBRA</a:t>
              </a:r>
              <a:endParaRPr sz="1100">
                <a:solidFill>
                  <a:schemeClr val="dk1"/>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3" name="Shape 263"/>
        <p:cNvGrpSpPr/>
        <p:nvPr/>
      </p:nvGrpSpPr>
      <p:grpSpPr>
        <a:xfrm>
          <a:off x="0" y="0"/>
          <a:ext cx="0" cy="0"/>
          <a:chOff x="0" y="0"/>
          <a:chExt cx="0" cy="0"/>
        </a:xfrm>
      </p:grpSpPr>
      <p:sp>
        <p:nvSpPr>
          <p:cNvPr id="264" name="Google Shape;264;p1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 name="Google Shape;265;p12"/>
          <p:cNvSpPr/>
          <p:nvPr/>
        </p:nvSpPr>
        <p:spPr>
          <a:xfrm>
            <a:off x="0" y="4"/>
            <a:ext cx="12192000" cy="2295238"/>
          </a:xfrm>
          <a:custGeom>
            <a:rect b="b" l="l" r="r" t="t"/>
            <a:pathLst>
              <a:path extrusionOk="0" h="2079137" w="12192000">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12"/>
          <p:cNvSpPr txBox="1"/>
          <p:nvPr>
            <p:ph type="title"/>
          </p:nvPr>
        </p:nvSpPr>
        <p:spPr>
          <a:xfrm>
            <a:off x="1137036" y="548640"/>
            <a:ext cx="9543405" cy="1188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400"/>
              <a:buFont typeface="Calibri"/>
              <a:buNone/>
            </a:pPr>
            <a:r>
              <a:rPr lang="es-ES">
                <a:solidFill>
                  <a:srgbClr val="262626"/>
                </a:solidFill>
              </a:rPr>
              <a:t>VALUACIÓN DE LAS CUOTAS O ACCIONES</a:t>
            </a:r>
            <a:endParaRPr>
              <a:solidFill>
                <a:srgbClr val="262626"/>
              </a:solidFill>
            </a:endParaRPr>
          </a:p>
        </p:txBody>
      </p:sp>
      <p:sp>
        <p:nvSpPr>
          <p:cNvPr id="267" name="Google Shape;267;p12"/>
          <p:cNvSpPr txBox="1"/>
          <p:nvPr>
            <p:ph idx="1" type="body"/>
          </p:nvPr>
        </p:nvSpPr>
        <p:spPr>
          <a:xfrm>
            <a:off x="1957987" y="2431765"/>
            <a:ext cx="8276026" cy="3320031"/>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262626"/>
              </a:buClr>
              <a:buSzPts val="1700"/>
              <a:buChar char="•"/>
            </a:pPr>
            <a:r>
              <a:rPr lang="es-ES" sz="1700">
                <a:solidFill>
                  <a:srgbClr val="262626"/>
                </a:solidFill>
              </a:rPr>
              <a:t>existiendo inscriptos, el juez debe designar al evaluador que refiere el art. 262, su función es asignar un valor a las acciones o cuotas representativas del capital social de la concursada a fin de que el juez tenga fundamento técnico para resolver sobre dicha valuación</a:t>
            </a:r>
            <a:endParaRPr/>
          </a:p>
          <a:p>
            <a:pPr indent="-228600" lvl="0" marL="228600" rtl="0" algn="l">
              <a:lnSpc>
                <a:spcPct val="90000"/>
              </a:lnSpc>
              <a:spcBef>
                <a:spcPts val="1000"/>
              </a:spcBef>
              <a:spcAft>
                <a:spcPts val="0"/>
              </a:spcAft>
              <a:buClr>
                <a:srgbClr val="262626"/>
              </a:buClr>
              <a:buSzPts val="1700"/>
              <a:buChar char="•"/>
            </a:pPr>
            <a:r>
              <a:rPr lang="es-ES" sz="1700">
                <a:solidFill>
                  <a:srgbClr val="262626"/>
                </a:solidFill>
              </a:rPr>
              <a:t>en caso de que el tercero oferente hubiera obtenido el acuerdo de los acreedores, el evaluador debe dictaminar sobre el valor presente del pasivo quirografario, con el objeto de que las participaciones societarias </a:t>
            </a:r>
            <a:r>
              <a:rPr b="1" lang="es-ES" sz="1700" u="sng">
                <a:solidFill>
                  <a:srgbClr val="262626"/>
                </a:solidFill>
              </a:rPr>
              <a:t>tengan la misma merma que los acreedores</a:t>
            </a:r>
            <a:r>
              <a:rPr lang="es-ES" sz="1700">
                <a:solidFill>
                  <a:srgbClr val="262626"/>
                </a:solidFill>
              </a:rPr>
              <a:t>, de conformidad a las pautas enunciadas por el art. 48, inc. 7º.</a:t>
            </a:r>
            <a:endParaRPr/>
          </a:p>
          <a:p>
            <a:pPr indent="-228600" lvl="0" marL="228600" rtl="0" algn="l">
              <a:lnSpc>
                <a:spcPct val="90000"/>
              </a:lnSpc>
              <a:spcBef>
                <a:spcPts val="1000"/>
              </a:spcBef>
              <a:spcAft>
                <a:spcPts val="0"/>
              </a:spcAft>
              <a:buClr>
                <a:srgbClr val="262626"/>
              </a:buClr>
              <a:buSzPts val="1700"/>
              <a:buChar char="•"/>
            </a:pPr>
            <a:r>
              <a:rPr lang="es-ES" sz="1700">
                <a:solidFill>
                  <a:srgbClr val="262626"/>
                </a:solidFill>
              </a:rPr>
              <a:t>pueden actuar como evaluadores los bancos de inversión, las entidades financieras autorizadas por el BCRA y los estudios de auditoría con más de diez años de antigüedad</a:t>
            </a:r>
            <a:endParaRPr sz="1700">
              <a:solidFill>
                <a:srgbClr val="262626"/>
              </a:solidFill>
            </a:endParaRPr>
          </a:p>
        </p:txBody>
      </p:sp>
      <p:sp>
        <p:nvSpPr>
          <p:cNvPr id="268" name="Google Shape;268;p12"/>
          <p:cNvSpPr/>
          <p:nvPr/>
        </p:nvSpPr>
        <p:spPr>
          <a:xfrm>
            <a:off x="2224586" y="5970896"/>
            <a:ext cx="9967416" cy="887104"/>
          </a:xfrm>
          <a:custGeom>
            <a:rect b="b" l="l" r="r" t="t"/>
            <a:pathLst>
              <a:path extrusionOk="0" h="918356" w="9517857">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2" name="Shape 272"/>
        <p:cNvGrpSpPr/>
        <p:nvPr/>
      </p:nvGrpSpPr>
      <p:grpSpPr>
        <a:xfrm>
          <a:off x="0" y="0"/>
          <a:ext cx="0" cy="0"/>
          <a:chOff x="0" y="0"/>
          <a:chExt cx="0" cy="0"/>
        </a:xfrm>
      </p:grpSpPr>
      <p:sp>
        <p:nvSpPr>
          <p:cNvPr id="273" name="Google Shape;273;p13"/>
          <p:cNvSpPr/>
          <p:nvPr/>
        </p:nvSpPr>
        <p:spPr>
          <a:xfrm>
            <a:off x="0" y="1"/>
            <a:ext cx="12192000" cy="6857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13"/>
          <p:cNvSpPr txBox="1"/>
          <p:nvPr>
            <p:ph type="title"/>
          </p:nvPr>
        </p:nvSpPr>
        <p:spPr>
          <a:xfrm>
            <a:off x="1271588" y="662400"/>
            <a:ext cx="10055721" cy="1325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La valuación de las participaciones societarias</a:t>
            </a:r>
            <a:endParaRPr/>
          </a:p>
        </p:txBody>
      </p:sp>
      <p:grpSp>
        <p:nvGrpSpPr>
          <p:cNvPr id="275" name="Google Shape;275;p13"/>
          <p:cNvGrpSpPr/>
          <p:nvPr/>
        </p:nvGrpSpPr>
        <p:grpSpPr>
          <a:xfrm>
            <a:off x="0" y="0"/>
            <a:ext cx="885825" cy="6858000"/>
            <a:chOff x="0" y="0"/>
            <a:chExt cx="885825" cy="6858000"/>
          </a:xfrm>
        </p:grpSpPr>
        <p:sp>
          <p:nvSpPr>
            <p:cNvPr id="276" name="Google Shape;276;p13"/>
            <p:cNvSpPr/>
            <p:nvPr/>
          </p:nvSpPr>
          <p:spPr>
            <a:xfrm>
              <a:off x="0" y="0"/>
              <a:ext cx="885825" cy="6858000"/>
            </a:xfrm>
            <a:custGeom>
              <a:rect b="b" l="l" r="r" t="t"/>
              <a:pathLst>
                <a:path extrusionOk="0" h="4320" w="558">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3"/>
            <p:cNvSpPr/>
            <p:nvPr/>
          </p:nvSpPr>
          <p:spPr>
            <a:xfrm>
              <a:off x="0" y="0"/>
              <a:ext cx="885825" cy="6858000"/>
            </a:xfrm>
            <a:custGeom>
              <a:rect b="b" l="l" r="r" t="t"/>
              <a:pathLst>
                <a:path extrusionOk="0" h="4320" w="558">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1F3864">
                <a:alpha val="2470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8" name="Google Shape;278;p13"/>
          <p:cNvSpPr txBox="1"/>
          <p:nvPr>
            <p:ph idx="1" type="body"/>
          </p:nvPr>
        </p:nvSpPr>
        <p:spPr>
          <a:xfrm>
            <a:off x="1251678" y="2286001"/>
            <a:ext cx="10089112" cy="390959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s-ES" sz="1600">
                <a:solidFill>
                  <a:schemeClr val="dk1"/>
                </a:solidFill>
              </a:rPr>
              <a:t>debe establecer el valor real de mercado ponderando: i) el informe del síndico, art. 39, incs. 2º y 3º; ii) altas, bajas y modificaciones sustanciales de los activos; iii) incidencia de los pasivos posconcursales</a:t>
            </a:r>
            <a:endParaRPr sz="1600">
              <a:solidFill>
                <a:schemeClr val="dk1"/>
              </a:solidFill>
            </a:endParaRPr>
          </a:p>
          <a:p>
            <a:pPr indent="-228600" lvl="0" marL="228600" rtl="0" algn="l">
              <a:lnSpc>
                <a:spcPct val="90000"/>
              </a:lnSpc>
              <a:spcBef>
                <a:spcPts val="1000"/>
              </a:spcBef>
              <a:spcAft>
                <a:spcPts val="0"/>
              </a:spcAft>
              <a:buClr>
                <a:schemeClr val="dk1"/>
              </a:buClr>
              <a:buSzPts val="1600"/>
              <a:buChar char="•"/>
            </a:pPr>
            <a:r>
              <a:rPr lang="es-ES" sz="1600">
                <a:solidFill>
                  <a:schemeClr val="dk1"/>
                </a:solidFill>
              </a:rPr>
              <a:t>cuando la nueva ley se refiere al "real valor de mercado", intenta determinar el valor de transacción al cual el activo puede cambiar de mano entre un probable comprador y un probable vendedor, teniendo conocimiento razonable de todos los factores relevantes a la fecha de la valuación.</a:t>
            </a:r>
            <a:endParaRPr/>
          </a:p>
          <a:p>
            <a:pPr indent="-228600" lvl="0" marL="228600" rtl="0" algn="l">
              <a:lnSpc>
                <a:spcPct val="90000"/>
              </a:lnSpc>
              <a:spcBef>
                <a:spcPts val="1000"/>
              </a:spcBef>
              <a:spcAft>
                <a:spcPts val="0"/>
              </a:spcAft>
              <a:buClr>
                <a:schemeClr val="dk1"/>
              </a:buClr>
              <a:buSzPts val="1600"/>
              <a:buChar char="•"/>
            </a:pPr>
            <a:r>
              <a:rPr lang="es-ES" sz="1600">
                <a:solidFill>
                  <a:schemeClr val="dk1"/>
                </a:solidFill>
              </a:rPr>
              <a:t>Los factores que se tienen en cuenta para determinar el flujo de fondos y la correcta valuación de la empresa, además de los beneficios futuros, lo constituyen los bienes incorporables, como la propiedad industrial, fórmulas químicas, procesos técnicos, marcas de fábricas, patentes, propiedad literaria y artística, y demás intangibles. A esos fines resulta necesario ponderar la posición de la empresa en el mercado, la calidad de la mercadería o el servicio, el trato a los clientes, las buenas relaciones con los trabajadores, la confianza en el buen desempeño gerencial, entre otros elementos. </a:t>
            </a:r>
            <a:endParaRPr/>
          </a:p>
          <a:p>
            <a:pPr indent="-228600" lvl="0" marL="228600" rtl="0" algn="l">
              <a:lnSpc>
                <a:spcPct val="90000"/>
              </a:lnSpc>
              <a:spcBef>
                <a:spcPts val="1000"/>
              </a:spcBef>
              <a:spcAft>
                <a:spcPts val="0"/>
              </a:spcAft>
              <a:buClr>
                <a:schemeClr val="dk1"/>
              </a:buClr>
              <a:buSzPts val="1600"/>
              <a:buChar char="•"/>
            </a:pPr>
            <a:r>
              <a:rPr lang="es-ES" sz="1600">
                <a:solidFill>
                  <a:schemeClr val="dk1"/>
                </a:solidFill>
              </a:rPr>
              <a:t>En una palabra, sólo una adecuada auditoría contable y un serio análisis de gestión empresaria puede conducir a una valuación seria que se ajuste al "real valor de mercado“</a:t>
            </a:r>
            <a:endParaRPr/>
          </a:p>
          <a:p>
            <a:pPr indent="-228600" lvl="0" marL="228600" rtl="0" algn="l">
              <a:lnSpc>
                <a:spcPct val="90000"/>
              </a:lnSpc>
              <a:spcBef>
                <a:spcPts val="1000"/>
              </a:spcBef>
              <a:spcAft>
                <a:spcPts val="0"/>
              </a:spcAft>
              <a:buClr>
                <a:schemeClr val="dk1"/>
              </a:buClr>
              <a:buSzPts val="1600"/>
              <a:buChar char="•"/>
            </a:pPr>
            <a:r>
              <a:rPr lang="es-ES" sz="1600">
                <a:solidFill>
                  <a:schemeClr val="dk1"/>
                </a:solidFill>
              </a:rPr>
              <a:t>El evaluador tiene un plazo de treinta días hábiles para presentar su informe al juzgado, y éste puede ser observado dentro de cinco días</a:t>
            </a:r>
            <a:endParaRPr sz="1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2" name="Shape 282"/>
        <p:cNvGrpSpPr/>
        <p:nvPr/>
      </p:nvGrpSpPr>
      <p:grpSpPr>
        <a:xfrm>
          <a:off x="0" y="0"/>
          <a:ext cx="0" cy="0"/>
          <a:chOff x="0" y="0"/>
          <a:chExt cx="0" cy="0"/>
        </a:xfrm>
      </p:grpSpPr>
      <p:sp>
        <p:nvSpPr>
          <p:cNvPr id="283" name="Google Shape;283;p1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4" name="Google Shape;284;p14"/>
          <p:cNvSpPr/>
          <p:nvPr/>
        </p:nvSpPr>
        <p:spPr>
          <a:xfrm>
            <a:off x="0" y="4"/>
            <a:ext cx="12192000" cy="2295238"/>
          </a:xfrm>
          <a:custGeom>
            <a:rect b="b" l="l" r="r" t="t"/>
            <a:pathLst>
              <a:path extrusionOk="0" h="2079137" w="12192000">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p14"/>
          <p:cNvSpPr txBox="1"/>
          <p:nvPr>
            <p:ph type="title"/>
          </p:nvPr>
        </p:nvSpPr>
        <p:spPr>
          <a:xfrm>
            <a:off x="1137036" y="548640"/>
            <a:ext cx="9543405" cy="1188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400"/>
              <a:buFont typeface="Calibri"/>
              <a:buNone/>
            </a:pPr>
            <a:r>
              <a:rPr lang="es-ES">
                <a:solidFill>
                  <a:srgbClr val="262626"/>
                </a:solidFill>
              </a:rPr>
              <a:t>ADMINISTRACIÓN DE LA EMPRESA </a:t>
            </a:r>
            <a:endParaRPr/>
          </a:p>
        </p:txBody>
      </p:sp>
      <p:sp>
        <p:nvSpPr>
          <p:cNvPr id="286" name="Google Shape;286;p14"/>
          <p:cNvSpPr txBox="1"/>
          <p:nvPr>
            <p:ph idx="1" type="body"/>
          </p:nvPr>
        </p:nvSpPr>
        <p:spPr>
          <a:xfrm>
            <a:off x="1957987" y="2431765"/>
            <a:ext cx="8276026" cy="3320031"/>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262626"/>
              </a:buClr>
              <a:buSzPts val="1600"/>
              <a:buChar char="•"/>
            </a:pPr>
            <a:r>
              <a:rPr lang="es-ES" sz="1600">
                <a:solidFill>
                  <a:srgbClr val="262626"/>
                </a:solidFill>
              </a:rPr>
              <a:t>la resolución judicial que disponga el nombramiento del evaluador también debe contener la decisión sobre el tema de la administración. En efecto, la sociedad deudora ha fracaso en el período de exclusividad, y si bien no se ha declarado la quiebra, surge la duda sobre si debe mantenerse en la administración (art. 15 y 16, LCQ).</a:t>
            </a:r>
            <a:endParaRPr/>
          </a:p>
          <a:p>
            <a:pPr indent="-228600" lvl="0" marL="228600" rtl="0" algn="l">
              <a:lnSpc>
                <a:spcPct val="90000"/>
              </a:lnSpc>
              <a:spcBef>
                <a:spcPts val="1000"/>
              </a:spcBef>
              <a:spcAft>
                <a:spcPts val="0"/>
              </a:spcAft>
              <a:buClr>
                <a:srgbClr val="262626"/>
              </a:buClr>
              <a:buSzPts val="1600"/>
              <a:buChar char="•"/>
            </a:pPr>
            <a:r>
              <a:rPr lang="es-ES" sz="1600">
                <a:solidFill>
                  <a:srgbClr val="262626"/>
                </a:solidFill>
              </a:rPr>
              <a:t>En el caso "Pedro y José Martín s/concurso preventivo"(290) se resolvió que se debe mantener a los administradores de la concursada, acentuando la función de vigilancia por parte de la sindicatura y del comité de acreedores</a:t>
            </a:r>
            <a:endParaRPr/>
          </a:p>
          <a:p>
            <a:pPr indent="-228600" lvl="0" marL="228600" rtl="0" algn="l">
              <a:lnSpc>
                <a:spcPct val="90000"/>
              </a:lnSpc>
              <a:spcBef>
                <a:spcPts val="1000"/>
              </a:spcBef>
              <a:spcAft>
                <a:spcPts val="0"/>
              </a:spcAft>
              <a:buClr>
                <a:srgbClr val="262626"/>
              </a:buClr>
              <a:buSzPts val="1600"/>
              <a:buChar char="•"/>
            </a:pPr>
            <a:r>
              <a:rPr lang="es-ES" sz="1600">
                <a:solidFill>
                  <a:srgbClr val="262626"/>
                </a:solidFill>
              </a:rPr>
              <a:t>Muchas veces los administradores no aseguran el correcto funcionamiento empresario y que se hace necesaria la separación de los mismos y la designación de una administrador ad hoc(art. 17, LCQ)(291). Esta situación fue analizada en la causa "Ferroviaria SA s/concurso preventivo"(292) por el juez mendocino Fragapane, en donde, tomando en cuenta los antecedentes del órgano ejecutivo, se designó un coadministrador y se constituyó un comité de crisis de acreedores</a:t>
            </a:r>
            <a:endParaRPr sz="1600">
              <a:solidFill>
                <a:srgbClr val="262626"/>
              </a:solidFill>
            </a:endParaRPr>
          </a:p>
        </p:txBody>
      </p:sp>
      <p:sp>
        <p:nvSpPr>
          <p:cNvPr id="287" name="Google Shape;287;p14"/>
          <p:cNvSpPr/>
          <p:nvPr/>
        </p:nvSpPr>
        <p:spPr>
          <a:xfrm>
            <a:off x="2224586" y="5970896"/>
            <a:ext cx="9967416" cy="887104"/>
          </a:xfrm>
          <a:custGeom>
            <a:rect b="b" l="l" r="r" t="t"/>
            <a:pathLst>
              <a:path extrusionOk="0" h="918356" w="9517857">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1" name="Shape 291"/>
        <p:cNvGrpSpPr/>
        <p:nvPr/>
      </p:nvGrpSpPr>
      <p:grpSpPr>
        <a:xfrm>
          <a:off x="0" y="0"/>
          <a:ext cx="0" cy="0"/>
          <a:chOff x="0" y="0"/>
          <a:chExt cx="0" cy="0"/>
        </a:xfrm>
      </p:grpSpPr>
      <p:sp>
        <p:nvSpPr>
          <p:cNvPr id="292" name="Google Shape;292;p1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 name="Google Shape;293;p15"/>
          <p:cNvSpPr/>
          <p:nvPr/>
        </p:nvSpPr>
        <p:spPr>
          <a:xfrm>
            <a:off x="409710" y="1022350"/>
            <a:ext cx="709612" cy="2095501"/>
          </a:xfrm>
          <a:custGeom>
            <a:rect b="b" l="l" r="r" t="t"/>
            <a:pathLst>
              <a:path extrusionOk="0" h="1363" w="447">
                <a:moveTo>
                  <a:pt x="447" y="1363"/>
                </a:moveTo>
                <a:lnTo>
                  <a:pt x="0" y="987"/>
                </a:lnTo>
                <a:lnTo>
                  <a:pt x="0" y="0"/>
                </a:lnTo>
                <a:lnTo>
                  <a:pt x="447" y="376"/>
                </a:lnTo>
                <a:lnTo>
                  <a:pt x="447" y="1363"/>
                </a:lnTo>
                <a:close/>
              </a:path>
            </a:pathLst>
          </a:custGeom>
          <a:solidFill>
            <a:srgbClr val="1F386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15"/>
          <p:cNvSpPr/>
          <p:nvPr/>
        </p:nvSpPr>
        <p:spPr>
          <a:xfrm>
            <a:off x="409710" y="837744"/>
            <a:ext cx="403225" cy="1705431"/>
          </a:xfrm>
          <a:custGeom>
            <a:rect b="b" l="l" r="r" t="t"/>
            <a:pathLst>
              <a:path extrusionOk="0" h="1109" w="254">
                <a:moveTo>
                  <a:pt x="254" y="987"/>
                </a:moveTo>
                <a:lnTo>
                  <a:pt x="0" y="1109"/>
                </a:lnTo>
                <a:lnTo>
                  <a:pt x="0" y="119"/>
                </a:lnTo>
                <a:lnTo>
                  <a:pt x="254" y="0"/>
                </a:lnTo>
                <a:lnTo>
                  <a:pt x="254" y="987"/>
                </a:lnTo>
                <a:close/>
              </a:path>
            </a:pathLst>
          </a:custGeom>
          <a:solidFill>
            <a:srgbClr val="2F54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5"/>
          <p:cNvSpPr/>
          <p:nvPr/>
        </p:nvSpPr>
        <p:spPr>
          <a:xfrm>
            <a:off x="644660" y="640894"/>
            <a:ext cx="168275" cy="1713195"/>
          </a:xfrm>
          <a:custGeom>
            <a:rect b="b" l="l" r="r" t="t"/>
            <a:pathLst>
              <a:path extrusionOk="0" h="1114" w="106">
                <a:moveTo>
                  <a:pt x="106" y="1114"/>
                </a:moveTo>
                <a:lnTo>
                  <a:pt x="0" y="1005"/>
                </a:lnTo>
                <a:lnTo>
                  <a:pt x="0" y="0"/>
                </a:lnTo>
                <a:lnTo>
                  <a:pt x="106" y="110"/>
                </a:lnTo>
                <a:lnTo>
                  <a:pt x="106" y="1114"/>
                </a:lnTo>
                <a:close/>
              </a:path>
            </a:pathLst>
          </a:custGeom>
          <a:solidFill>
            <a:srgbClr val="1F386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5"/>
          <p:cNvSpPr/>
          <p:nvPr/>
        </p:nvSpPr>
        <p:spPr>
          <a:xfrm>
            <a:off x="11223203" y="635716"/>
            <a:ext cx="328612" cy="1742360"/>
          </a:xfrm>
          <a:custGeom>
            <a:rect b="b" l="l" r="r" t="t"/>
            <a:pathLst>
              <a:path extrusionOk="0" h="1114" w="207">
                <a:moveTo>
                  <a:pt x="207" y="987"/>
                </a:moveTo>
                <a:lnTo>
                  <a:pt x="0" y="1114"/>
                </a:lnTo>
                <a:lnTo>
                  <a:pt x="0" y="127"/>
                </a:lnTo>
                <a:lnTo>
                  <a:pt x="207" y="0"/>
                </a:lnTo>
                <a:lnTo>
                  <a:pt x="207" y="987"/>
                </a:lnTo>
                <a:close/>
              </a:path>
            </a:pathLst>
          </a:custGeom>
          <a:solidFill>
            <a:srgbClr val="1F386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5"/>
          <p:cNvSpPr/>
          <p:nvPr/>
        </p:nvSpPr>
        <p:spPr>
          <a:xfrm>
            <a:off x="644055" y="635715"/>
            <a:ext cx="10907863" cy="154145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5"/>
          <p:cNvSpPr txBox="1"/>
          <p:nvPr>
            <p:ph type="title"/>
          </p:nvPr>
        </p:nvSpPr>
        <p:spPr>
          <a:xfrm>
            <a:off x="958506" y="800392"/>
            <a:ext cx="10264697" cy="121210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Calibri"/>
              <a:buNone/>
            </a:pPr>
            <a:r>
              <a:rPr lang="es-ES" sz="4000">
                <a:solidFill>
                  <a:srgbClr val="FFFFFF"/>
                </a:solidFill>
              </a:rPr>
              <a:t>NEGOCIACIÓN Y APROBACIÓN DE LAS PROPUESTAS DE ACUERDO PREVENTIVO</a:t>
            </a:r>
            <a:endParaRPr sz="4000">
              <a:solidFill>
                <a:srgbClr val="FFFFFF"/>
              </a:solidFill>
            </a:endParaRPr>
          </a:p>
        </p:txBody>
      </p:sp>
      <p:sp>
        <p:nvSpPr>
          <p:cNvPr id="299" name="Google Shape;299;p15"/>
          <p:cNvSpPr txBox="1"/>
          <p:nvPr>
            <p:ph idx="1" type="body"/>
          </p:nvPr>
        </p:nvSpPr>
        <p:spPr>
          <a:xfrm>
            <a:off x="1367624" y="2490436"/>
            <a:ext cx="9708995" cy="3567173"/>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lang="es-ES" sz="2200"/>
              <a:t>El plazo es de veinte días hábiles para que los acreedores destinatarios de la o las propuestas puedan prestar su conformidad a una, a varias o a todas ellas. También está prevista la celebración de una audiencia informativa, cinco días antes de vencido el plazo para negociar las propuestas de acuerdo</a:t>
            </a:r>
            <a:endParaRPr/>
          </a:p>
          <a:p>
            <a:pPr indent="-228600" lvl="0" marL="228600" rtl="0" algn="l">
              <a:lnSpc>
                <a:spcPct val="90000"/>
              </a:lnSpc>
              <a:spcBef>
                <a:spcPts val="1000"/>
              </a:spcBef>
              <a:spcAft>
                <a:spcPts val="0"/>
              </a:spcAft>
              <a:buClr>
                <a:schemeClr val="dk1"/>
              </a:buClr>
              <a:buSzPts val="2200"/>
              <a:buChar char="•"/>
            </a:pPr>
            <a:r>
              <a:rPr lang="es-ES" sz="2200"/>
              <a:t>El derecho de la deudora a participar en el período de concurrencia es consecuencia de la previa inscripción de terceros interesados y no implica la posibilidad de que la sociedad se inscriba originariamente en el registro.</a:t>
            </a:r>
            <a:endParaRPr/>
          </a:p>
          <a:p>
            <a:pPr indent="-228600" lvl="0" marL="228600" rtl="0" algn="l">
              <a:lnSpc>
                <a:spcPct val="90000"/>
              </a:lnSpc>
              <a:spcBef>
                <a:spcPts val="1000"/>
              </a:spcBef>
              <a:spcAft>
                <a:spcPts val="0"/>
              </a:spcAft>
              <a:buClr>
                <a:schemeClr val="dk1"/>
              </a:buClr>
              <a:buSzPts val="2200"/>
              <a:buChar char="•"/>
            </a:pPr>
            <a:r>
              <a:rPr lang="es-ES" sz="2200"/>
              <a:t>Las mayorías son iguales a las que rigen durante el período de exclusividad, de conformidad a los arts. 43 y 45 del estatuto concursal</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sp>
        <p:nvSpPr>
          <p:cNvPr id="304" name="Google Shape;304;p1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 name="Google Shape;305;p16"/>
          <p:cNvSpPr/>
          <p:nvPr/>
        </p:nvSpPr>
        <p:spPr>
          <a:xfrm>
            <a:off x="0" y="4"/>
            <a:ext cx="12192000" cy="2295238"/>
          </a:xfrm>
          <a:custGeom>
            <a:rect b="b" l="l" r="r" t="t"/>
            <a:pathLst>
              <a:path extrusionOk="0" h="2079137" w="12192000">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 name="Google Shape;306;p16"/>
          <p:cNvSpPr txBox="1"/>
          <p:nvPr>
            <p:ph type="title"/>
          </p:nvPr>
        </p:nvSpPr>
        <p:spPr>
          <a:xfrm>
            <a:off x="1137036" y="548640"/>
            <a:ext cx="9543405" cy="1188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700"/>
              <a:buFont typeface="Calibri"/>
              <a:buNone/>
            </a:pPr>
            <a:r>
              <a:rPr lang="es-ES" sz="3700">
                <a:solidFill>
                  <a:srgbClr val="262626"/>
                </a:solidFill>
              </a:rPr>
              <a:t>CONCORDATO DE LA SOCIEDAD CONCURSADA</a:t>
            </a:r>
            <a:endParaRPr sz="3700">
              <a:solidFill>
                <a:srgbClr val="262626"/>
              </a:solidFill>
            </a:endParaRPr>
          </a:p>
        </p:txBody>
      </p:sp>
      <p:sp>
        <p:nvSpPr>
          <p:cNvPr id="307" name="Google Shape;307;p16"/>
          <p:cNvSpPr txBox="1"/>
          <p:nvPr>
            <p:ph idx="1" type="body"/>
          </p:nvPr>
        </p:nvSpPr>
        <p:spPr>
          <a:xfrm>
            <a:off x="1957987" y="2431765"/>
            <a:ext cx="8276026" cy="3320031"/>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262626"/>
              </a:buClr>
              <a:buSzPts val="1900"/>
              <a:buChar char="•"/>
            </a:pPr>
            <a:r>
              <a:rPr lang="es-ES" sz="1900">
                <a:solidFill>
                  <a:srgbClr val="262626"/>
                </a:solidFill>
              </a:rPr>
              <a:t>si el primero que hubiera obtenido las conformidades de los acreedores es la </a:t>
            </a:r>
            <a:r>
              <a:rPr b="1" lang="es-ES" sz="1900" u="sng">
                <a:solidFill>
                  <a:srgbClr val="262626"/>
                </a:solidFill>
              </a:rPr>
              <a:t>deudora concursada</a:t>
            </a:r>
            <a:r>
              <a:rPr lang="es-ES" sz="1900">
                <a:solidFill>
                  <a:srgbClr val="262626"/>
                </a:solidFill>
              </a:rPr>
              <a:t>, se aplican las reglas previstas en el período de exclusividad (arts. 49 y ss.). </a:t>
            </a:r>
            <a:endParaRPr/>
          </a:p>
          <a:p>
            <a:pPr indent="-228600" lvl="0" marL="228600" rtl="0" algn="l">
              <a:lnSpc>
                <a:spcPct val="90000"/>
              </a:lnSpc>
              <a:spcBef>
                <a:spcPts val="1000"/>
              </a:spcBef>
              <a:spcAft>
                <a:spcPts val="0"/>
              </a:spcAft>
              <a:buClr>
                <a:srgbClr val="262626"/>
              </a:buClr>
              <a:buSzPts val="1900"/>
              <a:buChar char="•"/>
            </a:pPr>
            <a:r>
              <a:rPr lang="es-ES" sz="1900">
                <a:solidFill>
                  <a:srgbClr val="262626"/>
                </a:solidFill>
              </a:rPr>
              <a:t>Si quien hubiese demostrado la obtención de las mayorías es un tercero, debe transitarse la etapa de la adquisición del paquete accionario, de conformidad al inc. 7º del art. 48. </a:t>
            </a:r>
            <a:endParaRPr/>
          </a:p>
          <a:p>
            <a:pPr indent="-228600" lvl="0" marL="228600" rtl="0" algn="l">
              <a:lnSpc>
                <a:spcPct val="90000"/>
              </a:lnSpc>
              <a:spcBef>
                <a:spcPts val="1000"/>
              </a:spcBef>
              <a:spcAft>
                <a:spcPts val="0"/>
              </a:spcAft>
              <a:buClr>
                <a:srgbClr val="262626"/>
              </a:buClr>
              <a:buSzPts val="1900"/>
              <a:buChar char="•"/>
            </a:pPr>
            <a:r>
              <a:rPr lang="es-ES" sz="1900">
                <a:solidFill>
                  <a:srgbClr val="262626"/>
                </a:solidFill>
              </a:rPr>
              <a:t>Como lo puntualiza Dasso con toda claridad, el nuevo sistema sigue privilegiando una </a:t>
            </a:r>
            <a:r>
              <a:rPr b="1" lang="es-ES" sz="1900" u="sng">
                <a:solidFill>
                  <a:srgbClr val="262626"/>
                </a:solidFill>
              </a:rPr>
              <a:t>carrera contra el tiempo</a:t>
            </a:r>
            <a:r>
              <a:rPr lang="es-ES" sz="1900">
                <a:solidFill>
                  <a:srgbClr val="262626"/>
                </a:solidFill>
              </a:rPr>
              <a:t>, en lugar de priorizar la oferta que contuviera "el mejor precio", que es la condición justificante desde el punto de vista constitucional de la transferencia forzosa que implica el cramdown</a:t>
            </a:r>
            <a:endParaRPr sz="1900">
              <a:solidFill>
                <a:srgbClr val="262626"/>
              </a:solidFill>
            </a:endParaRPr>
          </a:p>
        </p:txBody>
      </p:sp>
      <p:sp>
        <p:nvSpPr>
          <p:cNvPr id="308" name="Google Shape;308;p16"/>
          <p:cNvSpPr/>
          <p:nvPr/>
        </p:nvSpPr>
        <p:spPr>
          <a:xfrm>
            <a:off x="2224586" y="5970896"/>
            <a:ext cx="9967416" cy="887104"/>
          </a:xfrm>
          <a:custGeom>
            <a:rect b="b" l="l" r="r" t="t"/>
            <a:pathLst>
              <a:path extrusionOk="0" h="918356" w="9517857">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2" name="Shape 312"/>
        <p:cNvGrpSpPr/>
        <p:nvPr/>
      </p:nvGrpSpPr>
      <p:grpSpPr>
        <a:xfrm>
          <a:off x="0" y="0"/>
          <a:ext cx="0" cy="0"/>
          <a:chOff x="0" y="0"/>
          <a:chExt cx="0" cy="0"/>
        </a:xfrm>
      </p:grpSpPr>
      <p:sp>
        <p:nvSpPr>
          <p:cNvPr id="313" name="Google Shape;313;p1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17"/>
          <p:cNvSpPr txBox="1"/>
          <p:nvPr>
            <p:ph type="title"/>
          </p:nvPr>
        </p:nvSpPr>
        <p:spPr>
          <a:xfrm>
            <a:off x="1137036" y="609600"/>
            <a:ext cx="8548386" cy="128245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Calibri"/>
              <a:buNone/>
            </a:pPr>
            <a:r>
              <a:rPr lang="es-ES" sz="4100"/>
              <a:t>ACUERDO OBTENIDO POR UN TERCERO</a:t>
            </a:r>
            <a:endParaRPr sz="4100"/>
          </a:p>
        </p:txBody>
      </p:sp>
      <p:sp>
        <p:nvSpPr>
          <p:cNvPr id="315" name="Google Shape;315;p17"/>
          <p:cNvSpPr txBox="1"/>
          <p:nvPr>
            <p:ph idx="1" type="body"/>
          </p:nvPr>
        </p:nvSpPr>
        <p:spPr>
          <a:xfrm>
            <a:off x="1137035" y="2147358"/>
            <a:ext cx="8548386" cy="407639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400"/>
              <a:buChar char="•"/>
            </a:pPr>
            <a:r>
              <a:rPr lang="es-ES" sz="1400"/>
              <a:t>hay que proceder a una nueva valuación, detrayendo del valor de las participaciones societarias el mismo porcentaje que hayan "sacrificado los acreedores en el acuerdo con el tercero cramdista".</a:t>
            </a:r>
            <a:endParaRPr/>
          </a:p>
          <a:p>
            <a:pPr indent="-228600" lvl="0" marL="228600" rtl="0" algn="l">
              <a:lnSpc>
                <a:spcPct val="90000"/>
              </a:lnSpc>
              <a:spcBef>
                <a:spcPts val="1000"/>
              </a:spcBef>
              <a:spcAft>
                <a:spcPts val="0"/>
              </a:spcAft>
              <a:buClr>
                <a:schemeClr val="dk1"/>
              </a:buClr>
              <a:buSzPts val="1400"/>
              <a:buChar char="•"/>
            </a:pPr>
            <a:r>
              <a:rPr lang="es-ES" sz="1400"/>
              <a:t>Se trata de que los socios soporten igual merma que los acreedores</a:t>
            </a:r>
            <a:endParaRPr/>
          </a:p>
          <a:p>
            <a:pPr indent="-228600" lvl="0" marL="228600" rtl="0" algn="l">
              <a:lnSpc>
                <a:spcPct val="90000"/>
              </a:lnSpc>
              <a:spcBef>
                <a:spcPts val="1000"/>
              </a:spcBef>
              <a:spcAft>
                <a:spcPts val="0"/>
              </a:spcAft>
              <a:buClr>
                <a:schemeClr val="dk1"/>
              </a:buClr>
              <a:buSzPts val="1400"/>
              <a:buChar char="•"/>
            </a:pPr>
            <a:r>
              <a:rPr lang="es-ES" sz="1400"/>
              <a:t>exige un nuevo dictamen del evaluador que ajuste el pasivo quirografario a valor presente y determine en qué proporción se reduce de conformidad al acuerdo obtenido por el tercero</a:t>
            </a:r>
            <a:endParaRPr/>
          </a:p>
          <a:p>
            <a:pPr indent="-228600" lvl="0" marL="228600" rtl="0" algn="l">
              <a:lnSpc>
                <a:spcPct val="90000"/>
              </a:lnSpc>
              <a:spcBef>
                <a:spcPts val="1000"/>
              </a:spcBef>
              <a:spcAft>
                <a:spcPts val="0"/>
              </a:spcAft>
              <a:buClr>
                <a:schemeClr val="dk1"/>
              </a:buClr>
              <a:buSzPts val="1400"/>
              <a:buChar char="•"/>
            </a:pPr>
            <a:r>
              <a:rPr lang="es-ES" sz="1400"/>
              <a:t>El valor presente del pasivo quirografario debe cotejarse con el valor atribuido en la oportunidad de la valuación de las participaciones societarias, y de dicha comparación surgirá la proporción en que debe reducirse el valor de las cuotas o acciones representativas del capital social de la concursada. En esta línea, si como resultado de la valuación las cuotas o acciones representativas del capital carecieran de valor positivo, el tercero adquiere el derecho a que se le transfiera su titularidad juntamente con la homologación del acuerdo.</a:t>
            </a:r>
            <a:endParaRPr/>
          </a:p>
          <a:p>
            <a:pPr indent="-228600" lvl="0" marL="228600" rtl="0" algn="l">
              <a:lnSpc>
                <a:spcPct val="90000"/>
              </a:lnSpc>
              <a:spcBef>
                <a:spcPts val="1000"/>
              </a:spcBef>
              <a:spcAft>
                <a:spcPts val="0"/>
              </a:spcAft>
              <a:buClr>
                <a:schemeClr val="dk1"/>
              </a:buClr>
              <a:buSzPts val="1400"/>
              <a:buChar char="•"/>
            </a:pPr>
            <a:r>
              <a:rPr lang="es-ES" sz="1400"/>
              <a:t>atento a la falta de valor de las cuotas o acciones sociales, el tercero que acordó con los acreedores de la concursada nada debe pagar o negociar con los socios. Por el contrario, si el valor fijado judicialmente fuera positivo, corresponde establecer una quita comparativa o en la misma proporción en la que se reduce el pasivo quirografario a valor presente como consecuencia del acuerdo alcanzado por el tercero. </a:t>
            </a:r>
            <a:endParaRPr sz="1400"/>
          </a:p>
        </p:txBody>
      </p:sp>
      <p:sp>
        <p:nvSpPr>
          <p:cNvPr id="316" name="Google Shape;316;p17"/>
          <p:cNvSpPr/>
          <p:nvPr/>
        </p:nvSpPr>
        <p:spPr>
          <a:xfrm flipH="1" rot="10800000">
            <a:off x="10822456" y="-2"/>
            <a:ext cx="1368219" cy="6858000"/>
          </a:xfrm>
          <a:custGeom>
            <a:rect b="b" l="l" r="r" t="t"/>
            <a:pathLst>
              <a:path extrusionOk="0" h="6858000" w="1364418">
                <a:moveTo>
                  <a:pt x="37636" y="0"/>
                </a:moveTo>
                <a:lnTo>
                  <a:pt x="1364418" y="0"/>
                </a:lnTo>
                <a:lnTo>
                  <a:pt x="1364418" y="6858000"/>
                </a:lnTo>
                <a:lnTo>
                  <a:pt x="245974" y="6857735"/>
                </a:lnTo>
                <a:cubicBezTo>
                  <a:pt x="246649" y="6829312"/>
                  <a:pt x="258792" y="6817314"/>
                  <a:pt x="281996" y="6792972"/>
                </a:cubicBezTo>
                <a:cubicBezTo>
                  <a:pt x="288036" y="6763449"/>
                  <a:pt x="261498" y="6738121"/>
                  <a:pt x="264484" y="6716710"/>
                </a:cubicBezTo>
                <a:cubicBezTo>
                  <a:pt x="264597" y="6714739"/>
                  <a:pt x="280538" y="6641844"/>
                  <a:pt x="280651" y="6639873"/>
                </a:cubicBezTo>
                <a:cubicBezTo>
                  <a:pt x="296114" y="6596543"/>
                  <a:pt x="335196" y="6519339"/>
                  <a:pt x="339152" y="6471804"/>
                </a:cubicBezTo>
                <a:lnTo>
                  <a:pt x="334570" y="6389835"/>
                </a:lnTo>
                <a:cubicBezTo>
                  <a:pt x="334613" y="6357588"/>
                  <a:pt x="338883" y="6333072"/>
                  <a:pt x="317792" y="6324679"/>
                </a:cubicBezTo>
                <a:cubicBezTo>
                  <a:pt x="308402" y="6306381"/>
                  <a:pt x="279168" y="6293695"/>
                  <a:pt x="278227" y="6280046"/>
                </a:cubicBezTo>
                <a:cubicBezTo>
                  <a:pt x="281050" y="6269969"/>
                  <a:pt x="290039" y="6265765"/>
                  <a:pt x="288000" y="6252834"/>
                </a:cubicBezTo>
                <a:lnTo>
                  <a:pt x="265992" y="6202459"/>
                </a:lnTo>
                <a:cubicBezTo>
                  <a:pt x="264772" y="6196814"/>
                  <a:pt x="268092" y="6158095"/>
                  <a:pt x="264790" y="6153037"/>
                </a:cubicBezTo>
                <a:cubicBezTo>
                  <a:pt x="302335" y="6114354"/>
                  <a:pt x="260378" y="6128837"/>
                  <a:pt x="280205" y="6078132"/>
                </a:cubicBezTo>
                <a:cubicBezTo>
                  <a:pt x="283657" y="6049622"/>
                  <a:pt x="275724" y="6059673"/>
                  <a:pt x="267592" y="6028119"/>
                </a:cubicBezTo>
                <a:cubicBezTo>
                  <a:pt x="277113" y="5988572"/>
                  <a:pt x="234727" y="5976018"/>
                  <a:pt x="252821" y="5926735"/>
                </a:cubicBezTo>
                <a:cubicBezTo>
                  <a:pt x="290324" y="5823532"/>
                  <a:pt x="288016" y="5757776"/>
                  <a:pt x="302333" y="5712857"/>
                </a:cubicBezTo>
                <a:cubicBezTo>
                  <a:pt x="310258" y="5688518"/>
                  <a:pt x="328236" y="5675288"/>
                  <a:pt x="332131" y="5660491"/>
                </a:cubicBezTo>
                <a:cubicBezTo>
                  <a:pt x="345782" y="5622696"/>
                  <a:pt x="344964" y="5595787"/>
                  <a:pt x="341254" y="5563435"/>
                </a:cubicBezTo>
                <a:cubicBezTo>
                  <a:pt x="335745" y="5537661"/>
                  <a:pt x="359171" y="5479228"/>
                  <a:pt x="368130" y="5437125"/>
                </a:cubicBezTo>
                <a:cubicBezTo>
                  <a:pt x="379868" y="5399640"/>
                  <a:pt x="373836" y="5420657"/>
                  <a:pt x="381698" y="5396260"/>
                </a:cubicBezTo>
                <a:cubicBezTo>
                  <a:pt x="395995" y="5391935"/>
                  <a:pt x="389433" y="5350429"/>
                  <a:pt x="397679" y="5330009"/>
                </a:cubicBezTo>
                <a:cubicBezTo>
                  <a:pt x="405925" y="5309589"/>
                  <a:pt x="420210" y="5291626"/>
                  <a:pt x="431172" y="5273739"/>
                </a:cubicBezTo>
                <a:cubicBezTo>
                  <a:pt x="426568" y="5263245"/>
                  <a:pt x="432286" y="5253790"/>
                  <a:pt x="440771" y="5241779"/>
                </a:cubicBezTo>
                <a:lnTo>
                  <a:pt x="451997" y="5225268"/>
                </a:lnTo>
                <a:lnTo>
                  <a:pt x="453017" y="5217684"/>
                </a:lnTo>
                <a:cubicBezTo>
                  <a:pt x="455252" y="5208685"/>
                  <a:pt x="458044" y="5200600"/>
                  <a:pt x="460358" y="5193377"/>
                </a:cubicBezTo>
                <a:lnTo>
                  <a:pt x="463661" y="5179288"/>
                </a:lnTo>
                <a:lnTo>
                  <a:pt x="464645" y="5173621"/>
                </a:lnTo>
                <a:lnTo>
                  <a:pt x="460279" y="5159961"/>
                </a:lnTo>
                <a:lnTo>
                  <a:pt x="466956" y="5144295"/>
                </a:lnTo>
                <a:lnTo>
                  <a:pt x="463889" y="5125185"/>
                </a:lnTo>
                <a:cubicBezTo>
                  <a:pt x="466252" y="5124475"/>
                  <a:pt x="468554" y="5123363"/>
                  <a:pt x="470719" y="5121884"/>
                </a:cubicBezTo>
                <a:lnTo>
                  <a:pt x="477755" y="5067850"/>
                </a:lnTo>
                <a:lnTo>
                  <a:pt x="480486" y="5060861"/>
                </a:lnTo>
                <a:lnTo>
                  <a:pt x="477190" y="5034192"/>
                </a:lnTo>
                <a:cubicBezTo>
                  <a:pt x="476699" y="5019824"/>
                  <a:pt x="477403" y="5006180"/>
                  <a:pt x="478744" y="4993030"/>
                </a:cubicBezTo>
                <a:lnTo>
                  <a:pt x="485653" y="4946844"/>
                </a:lnTo>
                <a:lnTo>
                  <a:pt x="481509" y="4932692"/>
                </a:lnTo>
                <a:cubicBezTo>
                  <a:pt x="481214" y="4911802"/>
                  <a:pt x="495319" y="4880686"/>
                  <a:pt x="496912" y="4858827"/>
                </a:cubicBezTo>
                <a:lnTo>
                  <a:pt x="502815" y="4821170"/>
                </a:lnTo>
                <a:lnTo>
                  <a:pt x="507548" y="4780965"/>
                </a:lnTo>
                <a:lnTo>
                  <a:pt x="508841" y="4750867"/>
                </a:lnTo>
                <a:lnTo>
                  <a:pt x="506648" y="4690749"/>
                </a:lnTo>
                <a:cubicBezTo>
                  <a:pt x="512729" y="4654213"/>
                  <a:pt x="491337" y="4623546"/>
                  <a:pt x="502128" y="4584173"/>
                </a:cubicBezTo>
                <a:cubicBezTo>
                  <a:pt x="488693" y="4519562"/>
                  <a:pt x="492047" y="4501522"/>
                  <a:pt x="497211" y="4444346"/>
                </a:cubicBezTo>
                <a:cubicBezTo>
                  <a:pt x="511033" y="4454946"/>
                  <a:pt x="497584" y="4394050"/>
                  <a:pt x="493776" y="4375228"/>
                </a:cubicBezTo>
                <a:cubicBezTo>
                  <a:pt x="491426" y="4334791"/>
                  <a:pt x="480594" y="4270639"/>
                  <a:pt x="474429" y="4214165"/>
                </a:cubicBezTo>
                <a:cubicBezTo>
                  <a:pt x="465297" y="4170832"/>
                  <a:pt x="480280" y="4120324"/>
                  <a:pt x="478502" y="4090296"/>
                </a:cubicBezTo>
                <a:lnTo>
                  <a:pt x="463758" y="4033999"/>
                </a:lnTo>
                <a:lnTo>
                  <a:pt x="464907" y="4031933"/>
                </a:lnTo>
                <a:cubicBezTo>
                  <a:pt x="467040" y="4022997"/>
                  <a:pt x="465967" y="4017669"/>
                  <a:pt x="463483" y="4013953"/>
                </a:cubicBezTo>
                <a:lnTo>
                  <a:pt x="449778" y="3974753"/>
                </a:lnTo>
                <a:lnTo>
                  <a:pt x="451376" y="3969950"/>
                </a:lnTo>
                <a:lnTo>
                  <a:pt x="444798" y="3933779"/>
                </a:lnTo>
                <a:lnTo>
                  <a:pt x="446129" y="3933093"/>
                </a:lnTo>
                <a:cubicBezTo>
                  <a:pt x="448961" y="3930731"/>
                  <a:pt x="450769" y="3927433"/>
                  <a:pt x="450483" y="3922082"/>
                </a:cubicBezTo>
                <a:cubicBezTo>
                  <a:pt x="471740" y="3927556"/>
                  <a:pt x="458283" y="3917724"/>
                  <a:pt x="455561" y="3901461"/>
                </a:cubicBezTo>
                <a:cubicBezTo>
                  <a:pt x="460173" y="3883426"/>
                  <a:pt x="474485" y="3829756"/>
                  <a:pt x="478155" y="3813873"/>
                </a:cubicBezTo>
                <a:cubicBezTo>
                  <a:pt x="477963" y="3811302"/>
                  <a:pt x="477772" y="3808732"/>
                  <a:pt x="477580" y="3806161"/>
                </a:cubicBezTo>
                <a:lnTo>
                  <a:pt x="477887" y="3805957"/>
                </a:lnTo>
                <a:cubicBezTo>
                  <a:pt x="478443" y="3804175"/>
                  <a:pt x="478509" y="3801600"/>
                  <a:pt x="477914" y="3797724"/>
                </a:cubicBezTo>
                <a:lnTo>
                  <a:pt x="476529" y="3792098"/>
                </a:lnTo>
                <a:lnTo>
                  <a:pt x="475413" y="3777135"/>
                </a:lnTo>
                <a:lnTo>
                  <a:pt x="477146" y="3771656"/>
                </a:lnTo>
                <a:lnTo>
                  <a:pt x="480889" y="3769007"/>
                </a:lnTo>
                <a:lnTo>
                  <a:pt x="480355" y="3767709"/>
                </a:lnTo>
                <a:cubicBezTo>
                  <a:pt x="472854" y="3758603"/>
                  <a:pt x="462858" y="3757457"/>
                  <a:pt x="489051" y="3738082"/>
                </a:cubicBezTo>
                <a:cubicBezTo>
                  <a:pt x="476420" y="3716230"/>
                  <a:pt x="492614" y="3707883"/>
                  <a:pt x="496397" y="3673397"/>
                </a:cubicBezTo>
                <a:cubicBezTo>
                  <a:pt x="485059" y="3661788"/>
                  <a:pt x="488117" y="3649813"/>
                  <a:pt x="495693" y="3637109"/>
                </a:cubicBezTo>
                <a:cubicBezTo>
                  <a:pt x="488827" y="3605834"/>
                  <a:pt x="498565" y="3573837"/>
                  <a:pt x="499136" y="3536883"/>
                </a:cubicBezTo>
                <a:cubicBezTo>
                  <a:pt x="483096" y="3500539"/>
                  <a:pt x="506170" y="3475121"/>
                  <a:pt x="506674" y="3435652"/>
                </a:cubicBezTo>
                <a:cubicBezTo>
                  <a:pt x="508209" y="3397466"/>
                  <a:pt x="505139" y="3338624"/>
                  <a:pt x="508345" y="3307769"/>
                </a:cubicBezTo>
                <a:cubicBezTo>
                  <a:pt x="522826" y="3292381"/>
                  <a:pt x="493343" y="3256540"/>
                  <a:pt x="525908" y="3250522"/>
                </a:cubicBezTo>
                <a:cubicBezTo>
                  <a:pt x="519705" y="3235893"/>
                  <a:pt x="504475" y="3230937"/>
                  <a:pt x="526333" y="3229163"/>
                </a:cubicBezTo>
                <a:cubicBezTo>
                  <a:pt x="524884" y="3224149"/>
                  <a:pt x="525919" y="3220404"/>
                  <a:pt x="528156" y="3217217"/>
                </a:cubicBezTo>
                <a:lnTo>
                  <a:pt x="514991" y="3183755"/>
                </a:lnTo>
                <a:lnTo>
                  <a:pt x="515492" y="3178642"/>
                </a:lnTo>
                <a:lnTo>
                  <a:pt x="503092" y="3158586"/>
                </a:lnTo>
                <a:lnTo>
                  <a:pt x="488277" y="3129034"/>
                </a:lnTo>
                <a:lnTo>
                  <a:pt x="488942" y="3126682"/>
                </a:lnTo>
                <a:lnTo>
                  <a:pt x="479810" y="3114519"/>
                </a:lnTo>
                <a:cubicBezTo>
                  <a:pt x="476044" y="3110886"/>
                  <a:pt x="471657" y="3108020"/>
                  <a:pt x="466419" y="3106272"/>
                </a:cubicBezTo>
                <a:cubicBezTo>
                  <a:pt x="479357" y="3049949"/>
                  <a:pt x="446991" y="3011906"/>
                  <a:pt x="439149" y="2958185"/>
                </a:cubicBezTo>
                <a:cubicBezTo>
                  <a:pt x="423473" y="2895670"/>
                  <a:pt x="402616" y="2832884"/>
                  <a:pt x="381763" y="2762989"/>
                </a:cubicBezTo>
                <a:cubicBezTo>
                  <a:pt x="340504" y="2718141"/>
                  <a:pt x="357875" y="2611979"/>
                  <a:pt x="330681" y="2554718"/>
                </a:cubicBezTo>
                <a:cubicBezTo>
                  <a:pt x="354561" y="2510384"/>
                  <a:pt x="312857" y="2522616"/>
                  <a:pt x="310775" y="2485734"/>
                </a:cubicBezTo>
                <a:cubicBezTo>
                  <a:pt x="283880" y="2505125"/>
                  <a:pt x="334754" y="2437857"/>
                  <a:pt x="301498" y="2447068"/>
                </a:cubicBezTo>
                <a:cubicBezTo>
                  <a:pt x="302171" y="2440064"/>
                  <a:pt x="286502" y="2432988"/>
                  <a:pt x="288459" y="2425819"/>
                </a:cubicBezTo>
                <a:lnTo>
                  <a:pt x="294458" y="2402874"/>
                </a:lnTo>
                <a:lnTo>
                  <a:pt x="297070" y="2381443"/>
                </a:lnTo>
                <a:cubicBezTo>
                  <a:pt x="291389" y="2355877"/>
                  <a:pt x="281925" y="2295004"/>
                  <a:pt x="273399" y="2261920"/>
                </a:cubicBezTo>
                <a:cubicBezTo>
                  <a:pt x="264489" y="2250852"/>
                  <a:pt x="256407" y="2208397"/>
                  <a:pt x="263286" y="2195378"/>
                </a:cubicBezTo>
                <a:cubicBezTo>
                  <a:pt x="262597" y="2185499"/>
                  <a:pt x="238753" y="2164596"/>
                  <a:pt x="247503" y="2155135"/>
                </a:cubicBezTo>
                <a:cubicBezTo>
                  <a:pt x="257474" y="2141929"/>
                  <a:pt x="229406" y="2121310"/>
                  <a:pt x="244961" y="2118008"/>
                </a:cubicBezTo>
                <a:cubicBezTo>
                  <a:pt x="225493" y="2103116"/>
                  <a:pt x="245373" y="2072196"/>
                  <a:pt x="245954" y="2050531"/>
                </a:cubicBezTo>
                <a:cubicBezTo>
                  <a:pt x="228015" y="2040209"/>
                  <a:pt x="246924" y="2004931"/>
                  <a:pt x="237760" y="1963269"/>
                </a:cubicBezTo>
                <a:cubicBezTo>
                  <a:pt x="217314" y="1952304"/>
                  <a:pt x="249162" y="1930958"/>
                  <a:pt x="218938" y="1906352"/>
                </a:cubicBezTo>
                <a:cubicBezTo>
                  <a:pt x="211894" y="1889396"/>
                  <a:pt x="204207" y="1891128"/>
                  <a:pt x="195495" y="1861531"/>
                </a:cubicBezTo>
                <a:cubicBezTo>
                  <a:pt x="152756" y="1820122"/>
                  <a:pt x="167197" y="1775736"/>
                  <a:pt x="149294" y="1732919"/>
                </a:cubicBezTo>
                <a:cubicBezTo>
                  <a:pt x="132272" y="1683226"/>
                  <a:pt x="131129" y="1708347"/>
                  <a:pt x="121605" y="1663540"/>
                </a:cubicBezTo>
                <a:cubicBezTo>
                  <a:pt x="131383" y="1652207"/>
                  <a:pt x="129824" y="1627305"/>
                  <a:pt x="120731" y="1615777"/>
                </a:cubicBezTo>
                <a:cubicBezTo>
                  <a:pt x="113324" y="1591298"/>
                  <a:pt x="125561" y="1582061"/>
                  <a:pt x="101526" y="1563678"/>
                </a:cubicBezTo>
                <a:cubicBezTo>
                  <a:pt x="118336" y="1562186"/>
                  <a:pt x="95368" y="1514217"/>
                  <a:pt x="114606" y="1519474"/>
                </a:cubicBezTo>
                <a:cubicBezTo>
                  <a:pt x="124662" y="1497831"/>
                  <a:pt x="99126" y="1498809"/>
                  <a:pt x="107348" y="1477995"/>
                </a:cubicBezTo>
                <a:cubicBezTo>
                  <a:pt x="102372" y="1450946"/>
                  <a:pt x="98082" y="1395585"/>
                  <a:pt x="93433" y="1373769"/>
                </a:cubicBezTo>
                <a:lnTo>
                  <a:pt x="101740" y="1307086"/>
                </a:lnTo>
                <a:cubicBezTo>
                  <a:pt x="61518" y="1238798"/>
                  <a:pt x="128597" y="1302829"/>
                  <a:pt x="102928" y="1189033"/>
                </a:cubicBezTo>
                <a:cubicBezTo>
                  <a:pt x="96991" y="1183619"/>
                  <a:pt x="100433" y="1168361"/>
                  <a:pt x="107613" y="1168288"/>
                </a:cubicBezTo>
                <a:cubicBezTo>
                  <a:pt x="104521" y="1161401"/>
                  <a:pt x="88898" y="1146763"/>
                  <a:pt x="99895" y="1142577"/>
                </a:cubicBezTo>
                <a:cubicBezTo>
                  <a:pt x="98248" y="1123927"/>
                  <a:pt x="94639" y="1105753"/>
                  <a:pt x="89201" y="1088484"/>
                </a:cubicBezTo>
                <a:lnTo>
                  <a:pt x="77937" y="1016103"/>
                </a:lnTo>
                <a:cubicBezTo>
                  <a:pt x="78422" y="988163"/>
                  <a:pt x="78908" y="981994"/>
                  <a:pt x="79393" y="954054"/>
                </a:cubicBezTo>
                <a:cubicBezTo>
                  <a:pt x="74607" y="950500"/>
                  <a:pt x="84928" y="922140"/>
                  <a:pt x="90309" y="921368"/>
                </a:cubicBezTo>
                <a:cubicBezTo>
                  <a:pt x="87566" y="916400"/>
                  <a:pt x="66268" y="901306"/>
                  <a:pt x="74258" y="896999"/>
                </a:cubicBezTo>
                <a:cubicBezTo>
                  <a:pt x="69492" y="868759"/>
                  <a:pt x="58957" y="842759"/>
                  <a:pt x="43666" y="821517"/>
                </a:cubicBezTo>
                <a:cubicBezTo>
                  <a:pt x="35059" y="797243"/>
                  <a:pt x="27646" y="764612"/>
                  <a:pt x="22616" y="751353"/>
                </a:cubicBezTo>
                <a:cubicBezTo>
                  <a:pt x="22469" y="741312"/>
                  <a:pt x="22321" y="731271"/>
                  <a:pt x="22174" y="721230"/>
                </a:cubicBezTo>
                <a:lnTo>
                  <a:pt x="7845" y="681659"/>
                </a:lnTo>
                <a:cubicBezTo>
                  <a:pt x="-21513" y="678654"/>
                  <a:pt x="41748" y="630810"/>
                  <a:pt x="31306" y="619315"/>
                </a:cubicBezTo>
                <a:cubicBezTo>
                  <a:pt x="37997" y="611016"/>
                  <a:pt x="17724" y="592108"/>
                  <a:pt x="15184" y="585934"/>
                </a:cubicBezTo>
                <a:cubicBezTo>
                  <a:pt x="14724" y="571597"/>
                  <a:pt x="22718" y="553285"/>
                  <a:pt x="22258" y="538948"/>
                </a:cubicBezTo>
                <a:cubicBezTo>
                  <a:pt x="22152" y="531703"/>
                  <a:pt x="26272" y="532408"/>
                  <a:pt x="26166" y="525163"/>
                </a:cubicBezTo>
                <a:cubicBezTo>
                  <a:pt x="28507" y="511668"/>
                  <a:pt x="56166" y="464433"/>
                  <a:pt x="52290" y="446567"/>
                </a:cubicBezTo>
                <a:cubicBezTo>
                  <a:pt x="47300" y="425186"/>
                  <a:pt x="52062" y="408582"/>
                  <a:pt x="51538" y="393828"/>
                </a:cubicBezTo>
                <a:cubicBezTo>
                  <a:pt x="51481" y="380264"/>
                  <a:pt x="51425" y="366701"/>
                  <a:pt x="51368" y="353137"/>
                </a:cubicBezTo>
                <a:cubicBezTo>
                  <a:pt x="50053" y="345863"/>
                  <a:pt x="61696" y="333814"/>
                  <a:pt x="55970" y="321428"/>
                </a:cubicBezTo>
                <a:cubicBezTo>
                  <a:pt x="56334" y="306209"/>
                  <a:pt x="56697" y="290990"/>
                  <a:pt x="57061" y="275771"/>
                </a:cubicBezTo>
                <a:cubicBezTo>
                  <a:pt x="46146" y="254441"/>
                  <a:pt x="87623" y="243671"/>
                  <a:pt x="74088" y="212860"/>
                </a:cubicBezTo>
                <a:cubicBezTo>
                  <a:pt x="92367" y="188146"/>
                  <a:pt x="68261" y="179672"/>
                  <a:pt x="65798" y="144983"/>
                </a:cubicBezTo>
                <a:cubicBezTo>
                  <a:pt x="52661" y="119338"/>
                  <a:pt x="79134" y="90517"/>
                  <a:pt x="78082" y="55288"/>
                </a:cubicBezTo>
                <a:lnTo>
                  <a:pt x="37636" y="0"/>
                </a:ln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0" name="Shape 320"/>
        <p:cNvGrpSpPr/>
        <p:nvPr/>
      </p:nvGrpSpPr>
      <p:grpSpPr>
        <a:xfrm>
          <a:off x="0" y="0"/>
          <a:ext cx="0" cy="0"/>
          <a:chOff x="0" y="0"/>
          <a:chExt cx="0" cy="0"/>
        </a:xfrm>
      </p:grpSpPr>
      <p:sp>
        <p:nvSpPr>
          <p:cNvPr id="321" name="Google Shape;321;p1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2" name="Google Shape;322;p18"/>
          <p:cNvSpPr/>
          <p:nvPr/>
        </p:nvSpPr>
        <p:spPr>
          <a:xfrm>
            <a:off x="0" y="0"/>
            <a:ext cx="12192000" cy="6858000"/>
          </a:xfrm>
          <a:prstGeom prst="rect">
            <a:avLst/>
          </a:pr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 name="Google Shape;323;p18"/>
          <p:cNvSpPr/>
          <p:nvPr/>
        </p:nvSpPr>
        <p:spPr>
          <a:xfrm rot="195698">
            <a:off x="-195643" y="67946"/>
            <a:ext cx="6408310" cy="6912725"/>
          </a:xfrm>
          <a:custGeom>
            <a:rect b="b" l="l" r="r" t="t"/>
            <a:pathLst>
              <a:path extrusionOk="0" h="6912725" w="6408310">
                <a:moveTo>
                  <a:pt x="0" y="108934"/>
                </a:moveTo>
                <a:lnTo>
                  <a:pt x="1911522" y="0"/>
                </a:lnTo>
                <a:lnTo>
                  <a:pt x="1916026" y="4704"/>
                </a:lnTo>
                <a:cubicBezTo>
                  <a:pt x="1916562" y="7914"/>
                  <a:pt x="1915147" y="12061"/>
                  <a:pt x="1911112" y="17418"/>
                </a:cubicBezTo>
                <a:cubicBezTo>
                  <a:pt x="1943271" y="27853"/>
                  <a:pt x="1947645" y="36373"/>
                  <a:pt x="1972871" y="72530"/>
                </a:cubicBezTo>
                <a:cubicBezTo>
                  <a:pt x="1980767" y="117667"/>
                  <a:pt x="2061296" y="115435"/>
                  <a:pt x="2069180" y="173199"/>
                </a:cubicBezTo>
                <a:cubicBezTo>
                  <a:pt x="2075196" y="191586"/>
                  <a:pt x="2112853" y="231006"/>
                  <a:pt x="2131569" y="227805"/>
                </a:cubicBezTo>
                <a:cubicBezTo>
                  <a:pt x="2141808" y="233828"/>
                  <a:pt x="2146631" y="247405"/>
                  <a:pt x="2162747" y="239714"/>
                </a:cubicBezTo>
                <a:cubicBezTo>
                  <a:pt x="2183739" y="232191"/>
                  <a:pt x="2206491" y="310465"/>
                  <a:pt x="2220499" y="289903"/>
                </a:cubicBezTo>
                <a:cubicBezTo>
                  <a:pt x="2257038" y="315132"/>
                  <a:pt x="2344409" y="362107"/>
                  <a:pt x="2381978" y="391093"/>
                </a:cubicBezTo>
                <a:cubicBezTo>
                  <a:pt x="2419547" y="420079"/>
                  <a:pt x="2445794" y="442621"/>
                  <a:pt x="2445910" y="463815"/>
                </a:cubicBezTo>
                <a:cubicBezTo>
                  <a:pt x="2462109" y="546053"/>
                  <a:pt x="2496860" y="553382"/>
                  <a:pt x="2531236" y="600817"/>
                </a:cubicBezTo>
                <a:cubicBezTo>
                  <a:pt x="2573647" y="650501"/>
                  <a:pt x="2589314" y="613369"/>
                  <a:pt x="2617149" y="703748"/>
                </a:cubicBezTo>
                <a:cubicBezTo>
                  <a:pt x="2635983" y="695546"/>
                  <a:pt x="2643943" y="702017"/>
                  <a:pt x="2650333" y="720900"/>
                </a:cubicBezTo>
                <a:cubicBezTo>
                  <a:pt x="2671881" y="743975"/>
                  <a:pt x="2701744" y="706344"/>
                  <a:pt x="2705541" y="750090"/>
                </a:cubicBezTo>
                <a:cubicBezTo>
                  <a:pt x="2730861" y="760850"/>
                  <a:pt x="2742856" y="778498"/>
                  <a:pt x="2757210" y="789489"/>
                </a:cubicBezTo>
                <a:cubicBezTo>
                  <a:pt x="2776836" y="801882"/>
                  <a:pt x="2774652" y="796949"/>
                  <a:pt x="2791660" y="816041"/>
                </a:cubicBezTo>
                <a:cubicBezTo>
                  <a:pt x="2815343" y="835699"/>
                  <a:pt x="2784183" y="871086"/>
                  <a:pt x="2840975" y="842225"/>
                </a:cubicBezTo>
                <a:cubicBezTo>
                  <a:pt x="2854681" y="875427"/>
                  <a:pt x="2877032" y="859395"/>
                  <a:pt x="2917970" y="879392"/>
                </a:cubicBezTo>
                <a:cubicBezTo>
                  <a:pt x="2921487" y="903353"/>
                  <a:pt x="2937122" y="907916"/>
                  <a:pt x="2957236" y="906835"/>
                </a:cubicBezTo>
                <a:lnTo>
                  <a:pt x="3117215" y="1073714"/>
                </a:lnTo>
                <a:cubicBezTo>
                  <a:pt x="3153906" y="1089285"/>
                  <a:pt x="3232612" y="1124062"/>
                  <a:pt x="3250958" y="1130397"/>
                </a:cubicBezTo>
                <a:cubicBezTo>
                  <a:pt x="3409574" y="1172733"/>
                  <a:pt x="3456045" y="1237431"/>
                  <a:pt x="3496717" y="1260412"/>
                </a:cubicBezTo>
                <a:lnTo>
                  <a:pt x="3494992" y="1268283"/>
                </a:lnTo>
                <a:cubicBezTo>
                  <a:pt x="3495362" y="1274688"/>
                  <a:pt x="3498760" y="1281160"/>
                  <a:pt x="3508993" y="1287737"/>
                </a:cubicBezTo>
                <a:lnTo>
                  <a:pt x="3512115" y="1288544"/>
                </a:lnTo>
                <a:lnTo>
                  <a:pt x="3548697" y="1363739"/>
                </a:lnTo>
                <a:cubicBezTo>
                  <a:pt x="3572773" y="1395571"/>
                  <a:pt x="3623148" y="1421050"/>
                  <a:pt x="3656567" y="1479533"/>
                </a:cubicBezTo>
                <a:lnTo>
                  <a:pt x="3661987" y="1491779"/>
                </a:lnTo>
                <a:lnTo>
                  <a:pt x="3667389" y="1495409"/>
                </a:lnTo>
                <a:lnTo>
                  <a:pt x="3800461" y="1696689"/>
                </a:lnTo>
                <a:cubicBezTo>
                  <a:pt x="3835546" y="1747791"/>
                  <a:pt x="3913146" y="1811386"/>
                  <a:pt x="3933737" y="1853325"/>
                </a:cubicBezTo>
                <a:lnTo>
                  <a:pt x="3946446" y="1903446"/>
                </a:lnTo>
                <a:lnTo>
                  <a:pt x="3960581" y="1913244"/>
                </a:lnTo>
                <a:cubicBezTo>
                  <a:pt x="3979608" y="1926434"/>
                  <a:pt x="3998210" y="1940240"/>
                  <a:pt x="4015111" y="1956512"/>
                </a:cubicBezTo>
                <a:cubicBezTo>
                  <a:pt x="4083226" y="1956238"/>
                  <a:pt x="4031943" y="1969929"/>
                  <a:pt x="4070740" y="1999693"/>
                </a:cubicBezTo>
                <a:cubicBezTo>
                  <a:pt x="4027554" y="2022282"/>
                  <a:pt x="4128681" y="2025600"/>
                  <a:pt x="4091495" y="2064313"/>
                </a:cubicBezTo>
                <a:cubicBezTo>
                  <a:pt x="4099733" y="2068504"/>
                  <a:pt x="4108887" y="2071343"/>
                  <a:pt x="4118353" y="2073901"/>
                </a:cubicBezTo>
                <a:lnTo>
                  <a:pt x="4123293" y="2075261"/>
                </a:lnTo>
                <a:lnTo>
                  <a:pt x="4166582" y="2120685"/>
                </a:lnTo>
                <a:lnTo>
                  <a:pt x="4213721" y="2168493"/>
                </a:lnTo>
                <a:lnTo>
                  <a:pt x="4250795" y="2261746"/>
                </a:lnTo>
                <a:lnTo>
                  <a:pt x="4295408" y="2340515"/>
                </a:lnTo>
                <a:cubicBezTo>
                  <a:pt x="4303294" y="2350172"/>
                  <a:pt x="4311232" y="2360551"/>
                  <a:pt x="4318976" y="2371504"/>
                </a:cubicBezTo>
                <a:lnTo>
                  <a:pt x="4323314" y="2378166"/>
                </a:lnTo>
                <a:cubicBezTo>
                  <a:pt x="4323288" y="2378269"/>
                  <a:pt x="4323261" y="2378372"/>
                  <a:pt x="4323235" y="2378475"/>
                </a:cubicBezTo>
                <a:cubicBezTo>
                  <a:pt x="4323820" y="2380303"/>
                  <a:pt x="4325112" y="2382633"/>
                  <a:pt x="4327479" y="2385858"/>
                </a:cubicBezTo>
                <a:lnTo>
                  <a:pt x="4331226" y="2390318"/>
                </a:lnTo>
                <a:lnTo>
                  <a:pt x="4339643" y="2403246"/>
                </a:lnTo>
                <a:lnTo>
                  <a:pt x="4341435" y="2408870"/>
                </a:lnTo>
                <a:lnTo>
                  <a:pt x="4340548" y="2412798"/>
                </a:lnTo>
                <a:lnTo>
                  <a:pt x="4351634" y="2443869"/>
                </a:lnTo>
                <a:cubicBezTo>
                  <a:pt x="4370557" y="2458176"/>
                  <a:pt x="4365119" y="2472379"/>
                  <a:pt x="4380688" y="2504819"/>
                </a:cubicBezTo>
                <a:cubicBezTo>
                  <a:pt x="4393528" y="2510493"/>
                  <a:pt x="4397884" y="2522485"/>
                  <a:pt x="4399892" y="2537002"/>
                </a:cubicBezTo>
                <a:cubicBezTo>
                  <a:pt x="4420218" y="2562143"/>
                  <a:pt x="4430910" y="2594831"/>
                  <a:pt x="4449690" y="2628144"/>
                </a:cubicBezTo>
                <a:cubicBezTo>
                  <a:pt x="4468446" y="2678770"/>
                  <a:pt x="4488860" y="2772681"/>
                  <a:pt x="4512427" y="2840755"/>
                </a:cubicBezTo>
                <a:lnTo>
                  <a:pt x="4591091" y="3036586"/>
                </a:lnTo>
                <a:cubicBezTo>
                  <a:pt x="4639934" y="3158078"/>
                  <a:pt x="4730818" y="3310586"/>
                  <a:pt x="4757297" y="3388741"/>
                </a:cubicBezTo>
                <a:cubicBezTo>
                  <a:pt x="4756620" y="3412898"/>
                  <a:pt x="4755942" y="3437054"/>
                  <a:pt x="4755264" y="3461211"/>
                </a:cubicBezTo>
                <a:cubicBezTo>
                  <a:pt x="4763881" y="3469559"/>
                  <a:pt x="4774382" y="3498341"/>
                  <a:pt x="4776842" y="3503606"/>
                </a:cubicBezTo>
                <a:cubicBezTo>
                  <a:pt x="4776789" y="3503947"/>
                  <a:pt x="4816006" y="3543555"/>
                  <a:pt x="4815953" y="3543897"/>
                </a:cubicBezTo>
                <a:lnTo>
                  <a:pt x="4826382" y="3589602"/>
                </a:lnTo>
                <a:cubicBezTo>
                  <a:pt x="4854724" y="3618181"/>
                  <a:pt x="4872282" y="3672884"/>
                  <a:pt x="4900664" y="3697326"/>
                </a:cubicBezTo>
                <a:cubicBezTo>
                  <a:pt x="4872593" y="3751610"/>
                  <a:pt x="4889332" y="3712092"/>
                  <a:pt x="4944717" y="3795461"/>
                </a:cubicBezTo>
                <a:cubicBezTo>
                  <a:pt x="4981269" y="3830092"/>
                  <a:pt x="4951776" y="3836266"/>
                  <a:pt x="4981260" y="3887734"/>
                </a:cubicBezTo>
                <a:cubicBezTo>
                  <a:pt x="4992187" y="3900180"/>
                  <a:pt x="5000945" y="3922491"/>
                  <a:pt x="5000423" y="3933089"/>
                </a:cubicBezTo>
                <a:lnTo>
                  <a:pt x="5033013" y="3937041"/>
                </a:lnTo>
                <a:lnTo>
                  <a:pt x="5081597" y="4013154"/>
                </a:lnTo>
                <a:lnTo>
                  <a:pt x="5088052" y="4027525"/>
                </a:lnTo>
                <a:lnTo>
                  <a:pt x="5189054" y="4098668"/>
                </a:lnTo>
                <a:lnTo>
                  <a:pt x="5228545" y="4146658"/>
                </a:lnTo>
                <a:lnTo>
                  <a:pt x="5268336" y="4194504"/>
                </a:lnTo>
                <a:cubicBezTo>
                  <a:pt x="5282676" y="4201217"/>
                  <a:pt x="5302948" y="4267012"/>
                  <a:pt x="5317950" y="4267325"/>
                </a:cubicBezTo>
                <a:cubicBezTo>
                  <a:pt x="5371561" y="4431932"/>
                  <a:pt x="5512417" y="4438996"/>
                  <a:pt x="5598270" y="4563876"/>
                </a:cubicBezTo>
                <a:cubicBezTo>
                  <a:pt x="5684123" y="4688756"/>
                  <a:pt x="5658748" y="4766617"/>
                  <a:pt x="5833068" y="5016605"/>
                </a:cubicBezTo>
                <a:cubicBezTo>
                  <a:pt x="5917959" y="5167124"/>
                  <a:pt x="6007541" y="5258633"/>
                  <a:pt x="6045916" y="5405287"/>
                </a:cubicBezTo>
                <a:cubicBezTo>
                  <a:pt x="6053001" y="5431110"/>
                  <a:pt x="6137180" y="5517469"/>
                  <a:pt x="6117737" y="5538137"/>
                </a:cubicBezTo>
                <a:cubicBezTo>
                  <a:pt x="6096856" y="5567956"/>
                  <a:pt x="6185855" y="5633330"/>
                  <a:pt x="6144230" y="5635151"/>
                </a:cubicBezTo>
                <a:cubicBezTo>
                  <a:pt x="6206267" y="5682015"/>
                  <a:pt x="6167034" y="5753331"/>
                  <a:pt x="6176742" y="5809044"/>
                </a:cubicBezTo>
                <a:cubicBezTo>
                  <a:pt x="6181644" y="5871497"/>
                  <a:pt x="6197878" y="5926431"/>
                  <a:pt x="6245199" y="6038018"/>
                </a:cubicBezTo>
                <a:cubicBezTo>
                  <a:pt x="6276717" y="6104340"/>
                  <a:pt x="6288745" y="6124315"/>
                  <a:pt x="6303931" y="6175618"/>
                </a:cubicBezTo>
                <a:cubicBezTo>
                  <a:pt x="6319117" y="6226921"/>
                  <a:pt x="6298592" y="6320971"/>
                  <a:pt x="6336313" y="6345837"/>
                </a:cubicBezTo>
                <a:cubicBezTo>
                  <a:pt x="6368454" y="6400251"/>
                  <a:pt x="6388884" y="6464262"/>
                  <a:pt x="6401195" y="6542084"/>
                </a:cubicBezTo>
                <a:lnTo>
                  <a:pt x="6408310" y="6612865"/>
                </a:lnTo>
                <a:lnTo>
                  <a:pt x="1146484" y="6912725"/>
                </a:lnTo>
                <a:lnTo>
                  <a:pt x="1108438" y="6825083"/>
                </a:lnTo>
                <a:cubicBezTo>
                  <a:pt x="1057133" y="6684904"/>
                  <a:pt x="1090669" y="6637010"/>
                  <a:pt x="997867" y="6378703"/>
                </a:cubicBezTo>
                <a:cubicBezTo>
                  <a:pt x="956253" y="6228487"/>
                  <a:pt x="874761" y="6010797"/>
                  <a:pt x="858750" y="5923784"/>
                </a:cubicBezTo>
                <a:cubicBezTo>
                  <a:pt x="856924" y="5899993"/>
                  <a:pt x="844018" y="5873122"/>
                  <a:pt x="860408" y="5860728"/>
                </a:cubicBezTo>
                <a:cubicBezTo>
                  <a:pt x="878957" y="5840950"/>
                  <a:pt x="823834" y="5761906"/>
                  <a:pt x="853644" y="5771381"/>
                </a:cubicBezTo>
                <a:cubicBezTo>
                  <a:pt x="815383" y="5715186"/>
                  <a:pt x="852133" y="5665047"/>
                  <a:pt x="852164" y="5615193"/>
                </a:cubicBezTo>
                <a:cubicBezTo>
                  <a:pt x="817076" y="5571334"/>
                  <a:pt x="851740" y="5509975"/>
                  <a:pt x="831986" y="5402745"/>
                </a:cubicBezTo>
                <a:cubicBezTo>
                  <a:pt x="792037" y="5354630"/>
                  <a:pt x="819063" y="5330513"/>
                  <a:pt x="759590" y="5239800"/>
                </a:cubicBezTo>
                <a:cubicBezTo>
                  <a:pt x="762665" y="5236543"/>
                  <a:pt x="765245" y="5232371"/>
                  <a:pt x="767251" y="5227414"/>
                </a:cubicBezTo>
                <a:cubicBezTo>
                  <a:pt x="778914" y="5198604"/>
                  <a:pt x="769142" y="5150045"/>
                  <a:pt x="745427" y="5118958"/>
                </a:cubicBezTo>
                <a:cubicBezTo>
                  <a:pt x="660991" y="4975263"/>
                  <a:pt x="672599" y="4907855"/>
                  <a:pt x="635950" y="4788294"/>
                </a:cubicBezTo>
                <a:cubicBezTo>
                  <a:pt x="600650" y="4653678"/>
                  <a:pt x="646752" y="4690694"/>
                  <a:pt x="558787" y="4518070"/>
                </a:cubicBezTo>
                <a:cubicBezTo>
                  <a:pt x="577057" y="4502442"/>
                  <a:pt x="573633" y="4481342"/>
                  <a:pt x="555530" y="4444433"/>
                </a:cubicBezTo>
                <a:cubicBezTo>
                  <a:pt x="540027" y="4379200"/>
                  <a:pt x="596616" y="4390343"/>
                  <a:pt x="549378" y="4320965"/>
                </a:cubicBezTo>
                <a:cubicBezTo>
                  <a:pt x="581692" y="4336040"/>
                  <a:pt x="535024" y="4198883"/>
                  <a:pt x="572361" y="4232369"/>
                </a:cubicBezTo>
                <a:cubicBezTo>
                  <a:pt x="590648" y="4193014"/>
                  <a:pt x="541489" y="4167113"/>
                  <a:pt x="556288" y="4127673"/>
                </a:cubicBezTo>
                <a:lnTo>
                  <a:pt x="506660" y="3821119"/>
                </a:lnTo>
                <a:cubicBezTo>
                  <a:pt x="481478" y="3781010"/>
                  <a:pt x="483894" y="3751446"/>
                  <a:pt x="494791" y="3723556"/>
                </a:cubicBezTo>
                <a:cubicBezTo>
                  <a:pt x="472516" y="3634460"/>
                  <a:pt x="499836" y="3607209"/>
                  <a:pt x="490230" y="3508893"/>
                </a:cubicBezTo>
                <a:cubicBezTo>
                  <a:pt x="525541" y="3397546"/>
                  <a:pt x="482951" y="3307116"/>
                  <a:pt x="484223" y="3233179"/>
                </a:cubicBezTo>
                <a:cubicBezTo>
                  <a:pt x="465844" y="3133672"/>
                  <a:pt x="460855" y="3219289"/>
                  <a:pt x="460329" y="3041244"/>
                </a:cubicBezTo>
                <a:lnTo>
                  <a:pt x="407197" y="2812292"/>
                </a:lnTo>
                <a:cubicBezTo>
                  <a:pt x="391019" y="2768219"/>
                  <a:pt x="344571" y="2745090"/>
                  <a:pt x="386122" y="2757841"/>
                </a:cubicBezTo>
                <a:cubicBezTo>
                  <a:pt x="381879" y="2743275"/>
                  <a:pt x="360306" y="2721346"/>
                  <a:pt x="363684" y="2714608"/>
                </a:cubicBezTo>
                <a:lnTo>
                  <a:pt x="330746" y="2625146"/>
                </a:lnTo>
                <a:lnTo>
                  <a:pt x="299927" y="2566177"/>
                </a:lnTo>
                <a:cubicBezTo>
                  <a:pt x="300505" y="2524092"/>
                  <a:pt x="287694" y="2482008"/>
                  <a:pt x="288272" y="2439923"/>
                </a:cubicBezTo>
                <a:cubicBezTo>
                  <a:pt x="243273" y="2349673"/>
                  <a:pt x="278610" y="2382839"/>
                  <a:pt x="233611" y="2326248"/>
                </a:cubicBezTo>
                <a:lnTo>
                  <a:pt x="115057" y="2127916"/>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4" name="Google Shape;324;p18"/>
          <p:cNvSpPr txBox="1"/>
          <p:nvPr>
            <p:ph type="title"/>
          </p:nvPr>
        </p:nvSpPr>
        <p:spPr>
          <a:xfrm>
            <a:off x="1137685" y="3641651"/>
            <a:ext cx="4055418" cy="214637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2626"/>
              </a:buClr>
              <a:buSzPts val="4400"/>
              <a:buFont typeface="Calibri"/>
              <a:buNone/>
            </a:pPr>
            <a:r>
              <a:rPr lang="es-ES">
                <a:solidFill>
                  <a:srgbClr val="262626"/>
                </a:solidFill>
              </a:rPr>
              <a:t>ADQUISICIÓN DEL PAQUETE ACCIONARIO</a:t>
            </a:r>
            <a:endParaRPr/>
          </a:p>
        </p:txBody>
      </p:sp>
      <p:sp>
        <p:nvSpPr>
          <p:cNvPr id="325" name="Google Shape;325;p18"/>
          <p:cNvSpPr txBox="1"/>
          <p:nvPr>
            <p:ph idx="1" type="body"/>
          </p:nvPr>
        </p:nvSpPr>
        <p:spPr>
          <a:xfrm>
            <a:off x="6096000" y="896469"/>
            <a:ext cx="5046196" cy="532335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62626"/>
              </a:buClr>
              <a:buSzPts val="1700"/>
              <a:buChar char="•"/>
            </a:pPr>
            <a:r>
              <a:rPr lang="es-ES" sz="1700">
                <a:solidFill>
                  <a:srgbClr val="262626"/>
                </a:solidFill>
              </a:rPr>
              <a:t>Una vez definido judicialmente el valor de las participaciones societarias, con la correspondiente merma establecida en el inc. 7º, b) del art. 48, para que tanto los socios como los acreedores estén en igualdad de tratamiento el tercero puede seguir dos caminos: </a:t>
            </a:r>
            <a:endParaRPr/>
          </a:p>
          <a:p>
            <a:pPr indent="-228600" lvl="0" marL="228600" rtl="0" algn="l">
              <a:lnSpc>
                <a:spcPct val="90000"/>
              </a:lnSpc>
              <a:spcBef>
                <a:spcPts val="1000"/>
              </a:spcBef>
              <a:spcAft>
                <a:spcPts val="0"/>
              </a:spcAft>
              <a:buClr>
                <a:srgbClr val="262626"/>
              </a:buClr>
              <a:buSzPts val="1700"/>
              <a:buChar char="•"/>
            </a:pPr>
            <a:r>
              <a:rPr lang="es-ES" sz="1700">
                <a:solidFill>
                  <a:srgbClr val="262626"/>
                </a:solidFill>
              </a:rPr>
              <a:t>i) manifestar que pagará el importe respectivo a los socios depositando el 25% del precio en garantía y a cuenta del saldo que deberá efectivizar dentro de los diez días posteriores a la homologación judicial; </a:t>
            </a:r>
            <a:endParaRPr/>
          </a:p>
          <a:p>
            <a:pPr indent="-228600" lvl="0" marL="228600" rtl="0" algn="l">
              <a:lnSpc>
                <a:spcPct val="90000"/>
              </a:lnSpc>
              <a:spcBef>
                <a:spcPts val="1000"/>
              </a:spcBef>
              <a:spcAft>
                <a:spcPts val="0"/>
              </a:spcAft>
              <a:buClr>
                <a:srgbClr val="262626"/>
              </a:buClr>
              <a:buSzPts val="1700"/>
              <a:buChar char="•"/>
            </a:pPr>
            <a:r>
              <a:rPr lang="es-ES" sz="1700">
                <a:solidFill>
                  <a:srgbClr val="262626"/>
                </a:solidFill>
              </a:rPr>
              <a:t>ii) la ley le concede un plazo de veinte días hábiles judiciales durante los cuales el tercero puede acordar con los socios el pago de un valor inferior al establecido por el juez. A estos fines deberá obtener la conformidad de los socios o accionistas que representen las dos terceras partes del capital social de la concursada. Como se ve, las conformidades no implican una asamblea societaria, sino simplemente las conformidades individuales de los socios que alcancen el porcentaje de capital requerido.</a:t>
            </a:r>
            <a:endParaRPr sz="1700">
              <a:solidFill>
                <a:srgbClr val="26262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9" name="Shape 329"/>
        <p:cNvGrpSpPr/>
        <p:nvPr/>
      </p:nvGrpSpPr>
      <p:grpSpPr>
        <a:xfrm>
          <a:off x="0" y="0"/>
          <a:ext cx="0" cy="0"/>
          <a:chOff x="0" y="0"/>
          <a:chExt cx="0" cy="0"/>
        </a:xfrm>
      </p:grpSpPr>
      <p:sp>
        <p:nvSpPr>
          <p:cNvPr id="330" name="Google Shape;330;p19"/>
          <p:cNvSpPr/>
          <p:nvPr/>
        </p:nvSpPr>
        <p:spPr>
          <a:xfrm>
            <a:off x="-1" y="-3382"/>
            <a:ext cx="12188952" cy="685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31" name="Google Shape;331;p19"/>
          <p:cNvGrpSpPr/>
          <p:nvPr/>
        </p:nvGrpSpPr>
        <p:grpSpPr>
          <a:xfrm>
            <a:off x="0" y="0"/>
            <a:ext cx="12038471" cy="6858000"/>
            <a:chOff x="0" y="-12406"/>
            <a:chExt cx="12038471" cy="6858000"/>
          </a:xfrm>
        </p:grpSpPr>
        <p:cxnSp>
          <p:nvCxnSpPr>
            <p:cNvPr id="332" name="Google Shape;332;p19"/>
            <p:cNvCxnSpPr/>
            <p:nvPr/>
          </p:nvCxnSpPr>
          <p:spPr>
            <a:xfrm>
              <a:off x="0" y="-25"/>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33" name="Google Shape;333;p19"/>
            <p:cNvCxnSpPr/>
            <p:nvPr/>
          </p:nvCxnSpPr>
          <p:spPr>
            <a:xfrm>
              <a:off x="1719781" y="-5330"/>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34" name="Google Shape;334;p19"/>
            <p:cNvCxnSpPr/>
            <p:nvPr/>
          </p:nvCxnSpPr>
          <p:spPr>
            <a:xfrm rot="10800000">
              <a:off x="0" y="6726839"/>
              <a:ext cx="12038471" cy="0"/>
            </a:xfrm>
            <a:prstGeom prst="straightConnector1">
              <a:avLst/>
            </a:prstGeom>
            <a:noFill/>
            <a:ln cap="flat" cmpd="sng" w="19050">
              <a:solidFill>
                <a:schemeClr val="lt1"/>
              </a:solidFill>
              <a:prstDash val="solid"/>
              <a:miter lim="800000"/>
              <a:headEnd len="sm" w="sm" type="none"/>
              <a:tailEnd len="sm" w="sm" type="none"/>
            </a:ln>
          </p:spPr>
        </p:cxnSp>
        <p:cxnSp>
          <p:nvCxnSpPr>
            <p:cNvPr id="335" name="Google Shape;335;p19"/>
            <p:cNvCxnSpPr/>
            <p:nvPr/>
          </p:nvCxnSpPr>
          <p:spPr>
            <a:xfrm rot="10800000">
              <a:off x="0" y="-25"/>
              <a:ext cx="12038471" cy="0"/>
            </a:xfrm>
            <a:prstGeom prst="straightConnector1">
              <a:avLst/>
            </a:prstGeom>
            <a:noFill/>
            <a:ln cap="flat" cmpd="sng" w="19050">
              <a:solidFill>
                <a:schemeClr val="lt1"/>
              </a:solidFill>
              <a:prstDash val="solid"/>
              <a:miter lim="800000"/>
              <a:headEnd len="sm" w="sm" type="none"/>
              <a:tailEnd len="sm" w="sm" type="none"/>
            </a:ln>
          </p:spPr>
        </p:cxnSp>
        <p:cxnSp>
          <p:nvCxnSpPr>
            <p:cNvPr id="336" name="Google Shape;336;p19"/>
            <p:cNvCxnSpPr/>
            <p:nvPr/>
          </p:nvCxnSpPr>
          <p:spPr>
            <a:xfrm rot="10800000">
              <a:off x="0" y="1729498"/>
              <a:ext cx="12038471" cy="0"/>
            </a:xfrm>
            <a:prstGeom prst="straightConnector1">
              <a:avLst/>
            </a:prstGeom>
            <a:noFill/>
            <a:ln cap="flat" cmpd="sng" w="19050">
              <a:solidFill>
                <a:schemeClr val="lt1"/>
              </a:solidFill>
              <a:prstDash val="solid"/>
              <a:miter lim="800000"/>
              <a:headEnd len="sm" w="sm" type="none"/>
              <a:tailEnd len="sm" w="sm" type="none"/>
            </a:ln>
          </p:spPr>
        </p:cxnSp>
        <p:cxnSp>
          <p:nvCxnSpPr>
            <p:cNvPr id="337" name="Google Shape;337;p19"/>
            <p:cNvCxnSpPr/>
            <p:nvPr/>
          </p:nvCxnSpPr>
          <p:spPr>
            <a:xfrm rot="10800000">
              <a:off x="0" y="1609"/>
              <a:ext cx="12038471" cy="0"/>
            </a:xfrm>
            <a:prstGeom prst="straightConnector1">
              <a:avLst/>
            </a:prstGeom>
            <a:noFill/>
            <a:ln cap="flat" cmpd="sng" w="19050">
              <a:solidFill>
                <a:schemeClr val="lt1"/>
              </a:solidFill>
              <a:prstDash val="solid"/>
              <a:miter lim="800000"/>
              <a:headEnd len="sm" w="sm" type="none"/>
              <a:tailEnd len="sm" w="sm" type="none"/>
            </a:ln>
          </p:spPr>
        </p:cxnSp>
        <p:cxnSp>
          <p:nvCxnSpPr>
            <p:cNvPr id="338" name="Google Shape;338;p19"/>
            <p:cNvCxnSpPr/>
            <p:nvPr/>
          </p:nvCxnSpPr>
          <p:spPr>
            <a:xfrm rot="10800000">
              <a:off x="0" y="6843959"/>
              <a:ext cx="12038471" cy="0"/>
            </a:xfrm>
            <a:prstGeom prst="straightConnector1">
              <a:avLst/>
            </a:prstGeom>
            <a:noFill/>
            <a:ln cap="flat" cmpd="sng" w="19050">
              <a:solidFill>
                <a:schemeClr val="lt1"/>
              </a:solidFill>
              <a:prstDash val="solid"/>
              <a:miter lim="800000"/>
              <a:headEnd len="sm" w="sm" type="none"/>
              <a:tailEnd len="sm" w="sm" type="none"/>
            </a:ln>
          </p:spPr>
        </p:cxnSp>
        <p:cxnSp>
          <p:nvCxnSpPr>
            <p:cNvPr id="339" name="Google Shape;339;p19"/>
            <p:cNvCxnSpPr/>
            <p:nvPr/>
          </p:nvCxnSpPr>
          <p:spPr>
            <a:xfrm rot="10800000">
              <a:off x="0" y="5131209"/>
              <a:ext cx="12038471" cy="0"/>
            </a:xfrm>
            <a:prstGeom prst="straightConnector1">
              <a:avLst/>
            </a:prstGeom>
            <a:noFill/>
            <a:ln cap="flat" cmpd="sng" w="19050">
              <a:solidFill>
                <a:schemeClr val="lt1"/>
              </a:solidFill>
              <a:prstDash val="solid"/>
              <a:miter lim="800000"/>
              <a:headEnd len="sm" w="sm" type="none"/>
              <a:tailEnd len="sm" w="sm" type="none"/>
            </a:ln>
          </p:spPr>
        </p:cxnSp>
        <p:cxnSp>
          <p:nvCxnSpPr>
            <p:cNvPr id="340" name="Google Shape;340;p19"/>
            <p:cNvCxnSpPr/>
            <p:nvPr/>
          </p:nvCxnSpPr>
          <p:spPr>
            <a:xfrm rot="10800000">
              <a:off x="0" y="120892"/>
              <a:ext cx="12038471" cy="0"/>
            </a:xfrm>
            <a:prstGeom prst="straightConnector1">
              <a:avLst/>
            </a:prstGeom>
            <a:noFill/>
            <a:ln cap="flat" cmpd="sng" w="19050">
              <a:solidFill>
                <a:schemeClr val="lt1"/>
              </a:solidFill>
              <a:prstDash val="solid"/>
              <a:miter lim="800000"/>
              <a:headEnd len="sm" w="sm" type="none"/>
              <a:tailEnd len="sm" w="sm" type="none"/>
            </a:ln>
          </p:spPr>
        </p:cxnSp>
        <p:cxnSp>
          <p:nvCxnSpPr>
            <p:cNvPr id="341" name="Google Shape;341;p19"/>
            <p:cNvCxnSpPr/>
            <p:nvPr/>
          </p:nvCxnSpPr>
          <p:spPr>
            <a:xfrm rot="10800000">
              <a:off x="0" y="3422784"/>
              <a:ext cx="12038471" cy="0"/>
            </a:xfrm>
            <a:prstGeom prst="straightConnector1">
              <a:avLst/>
            </a:prstGeom>
            <a:noFill/>
            <a:ln cap="flat" cmpd="sng" w="19050">
              <a:solidFill>
                <a:schemeClr val="lt1"/>
              </a:solidFill>
              <a:prstDash val="solid"/>
              <a:miter lim="800000"/>
              <a:headEnd len="sm" w="sm" type="none"/>
              <a:tailEnd len="sm" w="sm" type="none"/>
            </a:ln>
          </p:spPr>
        </p:cxnSp>
        <p:cxnSp>
          <p:nvCxnSpPr>
            <p:cNvPr id="342" name="Google Shape;342;p19"/>
            <p:cNvCxnSpPr/>
            <p:nvPr/>
          </p:nvCxnSpPr>
          <p:spPr>
            <a:xfrm rot="10800000">
              <a:off x="0" y="1832198"/>
              <a:ext cx="12038471" cy="0"/>
            </a:xfrm>
            <a:prstGeom prst="straightConnector1">
              <a:avLst/>
            </a:prstGeom>
            <a:noFill/>
            <a:ln cap="flat" cmpd="sng" w="19050">
              <a:solidFill>
                <a:schemeClr val="lt1"/>
              </a:solidFill>
              <a:prstDash val="solid"/>
              <a:miter lim="800000"/>
              <a:headEnd len="sm" w="sm" type="none"/>
              <a:tailEnd len="sm" w="sm" type="none"/>
            </a:ln>
          </p:spPr>
        </p:cxnSp>
        <p:cxnSp>
          <p:nvCxnSpPr>
            <p:cNvPr id="343" name="Google Shape;343;p19"/>
            <p:cNvCxnSpPr/>
            <p:nvPr/>
          </p:nvCxnSpPr>
          <p:spPr>
            <a:xfrm rot="10800000">
              <a:off x="0" y="3538773"/>
              <a:ext cx="12038471" cy="0"/>
            </a:xfrm>
            <a:prstGeom prst="straightConnector1">
              <a:avLst/>
            </a:prstGeom>
            <a:noFill/>
            <a:ln cap="flat" cmpd="sng" w="19050">
              <a:solidFill>
                <a:schemeClr val="lt1"/>
              </a:solidFill>
              <a:prstDash val="solid"/>
              <a:miter lim="800000"/>
              <a:headEnd len="sm" w="sm" type="none"/>
              <a:tailEnd len="sm" w="sm" type="none"/>
            </a:ln>
          </p:spPr>
        </p:cxnSp>
        <p:cxnSp>
          <p:nvCxnSpPr>
            <p:cNvPr id="344" name="Google Shape;344;p19"/>
            <p:cNvCxnSpPr/>
            <p:nvPr/>
          </p:nvCxnSpPr>
          <p:spPr>
            <a:xfrm rot="10800000">
              <a:off x="0" y="5240042"/>
              <a:ext cx="12038471" cy="0"/>
            </a:xfrm>
            <a:prstGeom prst="straightConnector1">
              <a:avLst/>
            </a:prstGeom>
            <a:noFill/>
            <a:ln cap="flat" cmpd="sng" w="19050">
              <a:solidFill>
                <a:schemeClr val="lt1"/>
              </a:solidFill>
              <a:prstDash val="solid"/>
              <a:miter lim="800000"/>
              <a:headEnd len="sm" w="sm" type="none"/>
              <a:tailEnd len="sm" w="sm" type="none"/>
            </a:ln>
          </p:spPr>
        </p:cxnSp>
        <p:cxnSp>
          <p:nvCxnSpPr>
            <p:cNvPr id="345" name="Google Shape;345;p19"/>
            <p:cNvCxnSpPr/>
            <p:nvPr/>
          </p:nvCxnSpPr>
          <p:spPr>
            <a:xfrm>
              <a:off x="1828837" y="-5330"/>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46" name="Google Shape;346;p19"/>
            <p:cNvCxnSpPr/>
            <p:nvPr/>
          </p:nvCxnSpPr>
          <p:spPr>
            <a:xfrm>
              <a:off x="3439563" y="-25"/>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47" name="Google Shape;347;p19"/>
            <p:cNvCxnSpPr/>
            <p:nvPr/>
          </p:nvCxnSpPr>
          <p:spPr>
            <a:xfrm>
              <a:off x="5159344" y="-25"/>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48" name="Google Shape;348;p19"/>
            <p:cNvCxnSpPr/>
            <p:nvPr/>
          </p:nvCxnSpPr>
          <p:spPr>
            <a:xfrm>
              <a:off x="6879125" y="-12406"/>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49" name="Google Shape;349;p19"/>
            <p:cNvCxnSpPr/>
            <p:nvPr/>
          </p:nvCxnSpPr>
          <p:spPr>
            <a:xfrm>
              <a:off x="8598907" y="-12406"/>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50" name="Google Shape;350;p19"/>
            <p:cNvCxnSpPr/>
            <p:nvPr/>
          </p:nvCxnSpPr>
          <p:spPr>
            <a:xfrm>
              <a:off x="12038471" y="-25"/>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51" name="Google Shape;351;p19"/>
            <p:cNvCxnSpPr/>
            <p:nvPr/>
          </p:nvCxnSpPr>
          <p:spPr>
            <a:xfrm>
              <a:off x="10318688" y="-25"/>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52" name="Google Shape;352;p19"/>
            <p:cNvCxnSpPr/>
            <p:nvPr/>
          </p:nvCxnSpPr>
          <p:spPr>
            <a:xfrm>
              <a:off x="3549263" y="-5330"/>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53" name="Google Shape;353;p19"/>
            <p:cNvCxnSpPr/>
            <p:nvPr/>
          </p:nvCxnSpPr>
          <p:spPr>
            <a:xfrm>
              <a:off x="5272269" y="1609"/>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54" name="Google Shape;354;p19"/>
            <p:cNvCxnSpPr/>
            <p:nvPr/>
          </p:nvCxnSpPr>
          <p:spPr>
            <a:xfrm>
              <a:off x="6990113" y="-12406"/>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55" name="Google Shape;355;p19"/>
            <p:cNvCxnSpPr/>
            <p:nvPr/>
          </p:nvCxnSpPr>
          <p:spPr>
            <a:xfrm>
              <a:off x="8715787" y="-12406"/>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56" name="Google Shape;356;p19"/>
            <p:cNvCxnSpPr/>
            <p:nvPr/>
          </p:nvCxnSpPr>
          <p:spPr>
            <a:xfrm>
              <a:off x="10435730" y="-12406"/>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57" name="Google Shape;357;p19"/>
            <p:cNvCxnSpPr/>
            <p:nvPr/>
          </p:nvCxnSpPr>
          <p:spPr>
            <a:xfrm>
              <a:off x="11914293" y="-5330"/>
              <a:ext cx="0" cy="6843985"/>
            </a:xfrm>
            <a:prstGeom prst="straightConnector1">
              <a:avLst/>
            </a:prstGeom>
            <a:noFill/>
            <a:ln cap="flat" cmpd="sng" w="19050">
              <a:solidFill>
                <a:schemeClr val="lt1"/>
              </a:solidFill>
              <a:prstDash val="solid"/>
              <a:miter lim="800000"/>
              <a:headEnd len="sm" w="sm" type="none"/>
              <a:tailEnd len="sm" w="sm" type="none"/>
            </a:ln>
          </p:spPr>
        </p:cxnSp>
        <p:cxnSp>
          <p:nvCxnSpPr>
            <p:cNvPr id="358" name="Google Shape;358;p19"/>
            <p:cNvCxnSpPr/>
            <p:nvPr/>
          </p:nvCxnSpPr>
          <p:spPr>
            <a:xfrm>
              <a:off x="124177" y="-12406"/>
              <a:ext cx="0" cy="6843985"/>
            </a:xfrm>
            <a:prstGeom prst="straightConnector1">
              <a:avLst/>
            </a:prstGeom>
            <a:noFill/>
            <a:ln cap="flat" cmpd="sng" w="19050">
              <a:solidFill>
                <a:schemeClr val="lt1"/>
              </a:solidFill>
              <a:prstDash val="solid"/>
              <a:miter lim="800000"/>
              <a:headEnd len="sm" w="sm" type="none"/>
              <a:tailEnd len="sm" w="sm" type="none"/>
            </a:ln>
          </p:spPr>
        </p:cxnSp>
      </p:grpSp>
      <p:sp>
        <p:nvSpPr>
          <p:cNvPr id="359" name="Google Shape;359;p19"/>
          <p:cNvSpPr txBox="1"/>
          <p:nvPr>
            <p:ph type="title"/>
          </p:nvPr>
        </p:nvSpPr>
        <p:spPr>
          <a:xfrm rot="-5400000">
            <a:off x="-987225" y="2148512"/>
            <a:ext cx="5513832" cy="311875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s-ES" sz="4800"/>
              <a:t>Ejemplo</a:t>
            </a:r>
            <a:endParaRPr sz="4800"/>
          </a:p>
        </p:txBody>
      </p:sp>
      <p:sp>
        <p:nvSpPr>
          <p:cNvPr id="360" name="Google Shape;360;p19"/>
          <p:cNvSpPr/>
          <p:nvPr/>
        </p:nvSpPr>
        <p:spPr>
          <a:xfrm>
            <a:off x="3601063" y="-12406"/>
            <a:ext cx="6865261" cy="6753400"/>
          </a:xfrm>
          <a:prstGeom prst="rect">
            <a:avLst/>
          </a:prstGeom>
          <a:solidFill>
            <a:schemeClr val="lt2">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61" name="Google Shape;361;p19"/>
          <p:cNvCxnSpPr/>
          <p:nvPr/>
        </p:nvCxnSpPr>
        <p:spPr>
          <a:xfrm rot="10800000">
            <a:off x="3637129" y="178917"/>
            <a:ext cx="6791892" cy="0"/>
          </a:xfrm>
          <a:prstGeom prst="straightConnector1">
            <a:avLst/>
          </a:prstGeom>
          <a:noFill/>
          <a:ln cap="sq" cmpd="sng" w="50800">
            <a:solidFill>
              <a:schemeClr val="accent5"/>
            </a:solidFill>
            <a:prstDash val="solid"/>
            <a:miter lim="800000"/>
            <a:headEnd len="sm" w="sm" type="none"/>
            <a:tailEnd len="sm" w="sm" type="none"/>
          </a:ln>
        </p:spPr>
      </p:cxnSp>
      <p:sp>
        <p:nvSpPr>
          <p:cNvPr id="362" name="Google Shape;362;p19"/>
          <p:cNvSpPr/>
          <p:nvPr/>
        </p:nvSpPr>
        <p:spPr>
          <a:xfrm>
            <a:off x="11347704" y="147451"/>
            <a:ext cx="685800" cy="6586489"/>
          </a:xfrm>
          <a:prstGeom prst="rect">
            <a:avLst/>
          </a:prstGeom>
          <a:noFill/>
          <a:ln cap="flat" cmpd="sng" w="254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Calibri"/>
              <a:ea typeface="Calibri"/>
              <a:cs typeface="Calibri"/>
              <a:sym typeface="Calibri"/>
            </a:endParaRPr>
          </a:p>
        </p:txBody>
      </p:sp>
      <p:grpSp>
        <p:nvGrpSpPr>
          <p:cNvPr id="363" name="Google Shape;363;p19"/>
          <p:cNvGrpSpPr/>
          <p:nvPr/>
        </p:nvGrpSpPr>
        <p:grpSpPr>
          <a:xfrm>
            <a:off x="3746428" y="446233"/>
            <a:ext cx="6575517" cy="6094227"/>
            <a:chOff x="0" y="81663"/>
            <a:chExt cx="6575517" cy="6094227"/>
          </a:xfrm>
        </p:grpSpPr>
        <p:sp>
          <p:nvSpPr>
            <p:cNvPr id="364" name="Google Shape;364;p19"/>
            <p:cNvSpPr/>
            <p:nvPr/>
          </p:nvSpPr>
          <p:spPr>
            <a:xfrm>
              <a:off x="0" y="81663"/>
              <a:ext cx="6575517" cy="1152029"/>
            </a:xfrm>
            <a:prstGeom prst="roundRect">
              <a:avLst>
                <a:gd fmla="val 16667"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9"/>
            <p:cNvSpPr txBox="1"/>
            <p:nvPr/>
          </p:nvSpPr>
          <p:spPr>
            <a:xfrm>
              <a:off x="56237" y="137900"/>
              <a:ext cx="6463043" cy="1039555"/>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Clr>
                  <a:schemeClr val="lt1"/>
                </a:buClr>
                <a:buSzPts val="2900"/>
                <a:buFont typeface="Calibri"/>
                <a:buNone/>
              </a:pPr>
              <a:r>
                <a:rPr lang="es-ES" sz="2900">
                  <a:solidFill>
                    <a:schemeClr val="lt1"/>
                  </a:solidFill>
                  <a:latin typeface="Calibri"/>
                  <a:ea typeface="Calibri"/>
                  <a:cs typeface="Calibri"/>
                  <a:sym typeface="Calibri"/>
                </a:rPr>
                <a:t>Valor inicial de acciones: $ 140</a:t>
              </a:r>
              <a:endParaRPr sz="2900">
                <a:solidFill>
                  <a:schemeClr val="lt1"/>
                </a:solidFill>
                <a:latin typeface="Calibri"/>
                <a:ea typeface="Calibri"/>
                <a:cs typeface="Calibri"/>
                <a:sym typeface="Calibri"/>
              </a:endParaRPr>
            </a:p>
          </p:txBody>
        </p:sp>
        <p:sp>
          <p:nvSpPr>
            <p:cNvPr id="366" name="Google Shape;366;p19"/>
            <p:cNvSpPr/>
            <p:nvPr/>
          </p:nvSpPr>
          <p:spPr>
            <a:xfrm>
              <a:off x="0" y="1317212"/>
              <a:ext cx="6575517" cy="1152029"/>
            </a:xfrm>
            <a:prstGeom prst="roundRect">
              <a:avLst>
                <a:gd fmla="val 16667" name="adj"/>
              </a:avLst>
            </a:prstGeom>
            <a:solidFill>
              <a:srgbClr val="52CBCC"/>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9"/>
            <p:cNvSpPr txBox="1"/>
            <p:nvPr/>
          </p:nvSpPr>
          <p:spPr>
            <a:xfrm>
              <a:off x="56237" y="1373449"/>
              <a:ext cx="6463043" cy="1039555"/>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Clr>
                  <a:schemeClr val="lt1"/>
                </a:buClr>
                <a:buSzPts val="2900"/>
                <a:buFont typeface="Calibri"/>
                <a:buNone/>
              </a:pPr>
              <a:r>
                <a:rPr lang="es-ES" sz="2900">
                  <a:solidFill>
                    <a:schemeClr val="lt1"/>
                  </a:solidFill>
                  <a:latin typeface="Calibri"/>
                  <a:ea typeface="Calibri"/>
                  <a:cs typeface="Calibri"/>
                  <a:sym typeface="Calibri"/>
                </a:rPr>
                <a:t>Valor Pasivo (inciso 3): $ 400</a:t>
              </a:r>
              <a:endParaRPr sz="2900">
                <a:solidFill>
                  <a:schemeClr val="lt1"/>
                </a:solidFill>
                <a:latin typeface="Calibri"/>
                <a:ea typeface="Calibri"/>
                <a:cs typeface="Calibri"/>
                <a:sym typeface="Calibri"/>
              </a:endParaRPr>
            </a:p>
          </p:txBody>
        </p:sp>
        <p:sp>
          <p:nvSpPr>
            <p:cNvPr id="368" name="Google Shape;368;p19"/>
            <p:cNvSpPr/>
            <p:nvPr/>
          </p:nvSpPr>
          <p:spPr>
            <a:xfrm>
              <a:off x="0" y="2552762"/>
              <a:ext cx="6575517" cy="1152029"/>
            </a:xfrm>
            <a:prstGeom prst="roundRect">
              <a:avLst>
                <a:gd fmla="val 16667" name="adj"/>
              </a:avLst>
            </a:prstGeom>
            <a:solidFill>
              <a:srgbClr val="4CC38C"/>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9"/>
            <p:cNvSpPr txBox="1"/>
            <p:nvPr/>
          </p:nvSpPr>
          <p:spPr>
            <a:xfrm>
              <a:off x="56237" y="2608999"/>
              <a:ext cx="6463043" cy="1039555"/>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Clr>
                  <a:schemeClr val="lt1"/>
                </a:buClr>
                <a:buSzPts val="2900"/>
                <a:buFont typeface="Calibri"/>
                <a:buNone/>
              </a:pPr>
              <a:r>
                <a:rPr lang="es-ES" sz="2900">
                  <a:solidFill>
                    <a:schemeClr val="lt1"/>
                  </a:solidFill>
                  <a:latin typeface="Calibri"/>
                  <a:ea typeface="Calibri"/>
                  <a:cs typeface="Calibri"/>
                  <a:sym typeface="Calibri"/>
                </a:rPr>
                <a:t>Valor Presente del Pasivo quirografario con el acuerdo: $ 200</a:t>
              </a:r>
              <a:endParaRPr sz="2900">
                <a:solidFill>
                  <a:schemeClr val="lt1"/>
                </a:solidFill>
                <a:latin typeface="Calibri"/>
                <a:ea typeface="Calibri"/>
                <a:cs typeface="Calibri"/>
                <a:sym typeface="Calibri"/>
              </a:endParaRPr>
            </a:p>
          </p:txBody>
        </p:sp>
        <p:sp>
          <p:nvSpPr>
            <p:cNvPr id="370" name="Google Shape;370;p19"/>
            <p:cNvSpPr/>
            <p:nvPr/>
          </p:nvSpPr>
          <p:spPr>
            <a:xfrm>
              <a:off x="0" y="3788311"/>
              <a:ext cx="6575517" cy="1152029"/>
            </a:xfrm>
            <a:prstGeom prst="roundRect">
              <a:avLst>
                <a:gd fmla="val 16667" name="adj"/>
              </a:avLst>
            </a:prstGeom>
            <a:solidFill>
              <a:srgbClr val="46BA4E"/>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
            <p:cNvSpPr txBox="1"/>
            <p:nvPr/>
          </p:nvSpPr>
          <p:spPr>
            <a:xfrm>
              <a:off x="56237" y="3844548"/>
              <a:ext cx="6463043" cy="1039555"/>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Clr>
                  <a:schemeClr val="lt1"/>
                </a:buClr>
                <a:buSzPts val="2900"/>
                <a:buFont typeface="Calibri"/>
                <a:buNone/>
              </a:pPr>
              <a:r>
                <a:rPr lang="es-ES" sz="2900">
                  <a:solidFill>
                    <a:schemeClr val="lt1"/>
                  </a:solidFill>
                  <a:latin typeface="Calibri"/>
                  <a:ea typeface="Calibri"/>
                  <a:cs typeface="Calibri"/>
                  <a:sym typeface="Calibri"/>
                </a:rPr>
                <a:t>Proporción del sacrificio (c / b): 0,50 (50%)</a:t>
              </a:r>
              <a:endParaRPr sz="2900">
                <a:solidFill>
                  <a:schemeClr val="lt1"/>
                </a:solidFill>
                <a:latin typeface="Calibri"/>
                <a:ea typeface="Calibri"/>
                <a:cs typeface="Calibri"/>
                <a:sym typeface="Calibri"/>
              </a:endParaRPr>
            </a:p>
          </p:txBody>
        </p:sp>
        <p:sp>
          <p:nvSpPr>
            <p:cNvPr id="372" name="Google Shape;372;p19"/>
            <p:cNvSpPr/>
            <p:nvPr/>
          </p:nvSpPr>
          <p:spPr>
            <a:xfrm>
              <a:off x="0" y="5023861"/>
              <a:ext cx="6575517" cy="1152029"/>
            </a:xfrm>
            <a:prstGeom prst="roundRect">
              <a:avLst>
                <a:gd fmla="val 16667" name="adj"/>
              </a:avLst>
            </a:prstGeom>
            <a:solidFill>
              <a:srgbClr val="6FAB4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9"/>
            <p:cNvSpPr txBox="1"/>
            <p:nvPr/>
          </p:nvSpPr>
          <p:spPr>
            <a:xfrm>
              <a:off x="56237" y="5080098"/>
              <a:ext cx="6463043" cy="1039555"/>
            </a:xfrm>
            <a:prstGeom prst="rect">
              <a:avLst/>
            </a:prstGeom>
            <a:noFill/>
            <a:ln>
              <a:noFill/>
            </a:ln>
          </p:spPr>
          <p:txBody>
            <a:bodyPr anchorCtr="0" anchor="ctr" bIns="110475" lIns="110475" spcFirstLastPara="1" rIns="110475" wrap="square" tIns="110475">
              <a:noAutofit/>
            </a:bodyPr>
            <a:lstStyle/>
            <a:p>
              <a:pPr indent="0" lvl="0" marL="0" marR="0" rtl="0" algn="l">
                <a:lnSpc>
                  <a:spcPct val="90000"/>
                </a:lnSpc>
                <a:spcBef>
                  <a:spcPts val="0"/>
                </a:spcBef>
                <a:spcAft>
                  <a:spcPts val="0"/>
                </a:spcAft>
                <a:buClr>
                  <a:schemeClr val="lt1"/>
                </a:buClr>
                <a:buSzPts val="2900"/>
                <a:buFont typeface="Calibri"/>
                <a:buNone/>
              </a:pPr>
              <a:r>
                <a:rPr lang="es-ES" sz="2900">
                  <a:solidFill>
                    <a:schemeClr val="lt1"/>
                  </a:solidFill>
                  <a:latin typeface="Calibri"/>
                  <a:ea typeface="Calibri"/>
                  <a:cs typeface="Calibri"/>
                  <a:sym typeface="Calibri"/>
                </a:rPr>
                <a:t>Valor reducido de las acciones: $ 70 ($ 140/2)</a:t>
              </a:r>
              <a:endParaRPr sz="2900">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2022-02-10T08:06:14Z</dcterms:created>
  <dc:creator>maximiliano romei</dc:creator>
</cp:coreProperties>
</file>