
<file path=[Content_Types].xml><?xml version="1.0" encoding="utf-8"?>
<Types xmlns="http://schemas.openxmlformats.org/package/2006/content-types">
  <Default Extension="jpeg" ContentType="image/jpe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6" r:id="rId23"/>
    <p:sldId id="278" r:id="rId24"/>
    <p:sldId id="279" r:id="rId25"/>
    <p:sldId id="280" r:id="rId26"/>
    <p:sldId id="281" r:id="rId27"/>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82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s-ES"/>
              <a:t>Haga clic para modificar el estilo de título del patrón</a:t>
            </a:r>
            <a:endParaRPr lang="en-US"/>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a:p>
        </p:txBody>
      </p:sp>
      <p:sp>
        <p:nvSpPr>
          <p:cNvPr id="4" name="Date Placeholder 3"/>
          <p:cNvSpPr>
            <a:spLocks noGrp="1"/>
          </p:cNvSpPr>
          <p:nvPr>
            <p:ph type="dt" sz="half" idx="10"/>
          </p:nvPr>
        </p:nvSpPr>
        <p:spPr/>
        <p:txBody>
          <a:bodyPr/>
          <a:lstStyle/>
          <a:p>
            <a:fld id="{5586B75A-687E-405C-8A0B-8D00578BA2C3}" type="datetimeFigureOut">
              <a:rPr lang="en-US" dirty="0"/>
              <a:pPr/>
              <a:t>7/17/2024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pPr/>
              <a:t>‹Nº›</a:t>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5586B75A-687E-405C-8A0B-8D00578BA2C3}" type="datetimeFigureOut">
              <a:rPr lang="en-US" dirty="0"/>
              <a:pPr/>
              <a:t>7/17/2024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pPr/>
              <a:t>‹Nº›</a:t>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586B75A-687E-405C-8A0B-8D00578BA2C3}" type="datetimeFigureOut">
              <a:rPr lang="en-US" dirty="0"/>
              <a:pPr/>
              <a:t>7/17/2024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pPr/>
              <a:t>‹Nº›</a:t>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8" name="Date Placeholder 7"/>
          <p:cNvSpPr>
            <a:spLocks noGrp="1"/>
          </p:cNvSpPr>
          <p:nvPr>
            <p:ph type="dt" sz="half" idx="10"/>
          </p:nvPr>
        </p:nvSpPr>
        <p:spPr/>
        <p:txBody>
          <a:bodyPr/>
          <a:lstStyle/>
          <a:p>
            <a:fld id="{5586B75A-687E-405C-8A0B-8D00578BA2C3}" type="datetimeFigureOut">
              <a:rPr lang="en-US" dirty="0"/>
              <a:pPr/>
              <a:t>7/17/2024</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dirty="0"/>
              <a:pPr/>
              <a:t>‹Nº›</a:t>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2" name="Date Placeholder 1"/>
          <p:cNvSpPr>
            <a:spLocks noGrp="1"/>
          </p:cNvSpPr>
          <p:nvPr>
            <p:ph type="dt" sz="half" idx="10"/>
          </p:nvPr>
        </p:nvSpPr>
        <p:spPr/>
        <p:txBody>
          <a:bodyPr/>
          <a:lstStyle/>
          <a:p>
            <a:fld id="{5586B75A-687E-405C-8A0B-8D00578BA2C3}" type="datetimeFigureOut">
              <a:rPr lang="en-US" dirty="0"/>
              <a:pPr/>
              <a:t>7/17/2024</a:t>
            </a:fld>
            <a:endParaRPr lang="en-US"/>
          </a:p>
        </p:txBody>
      </p:sp>
      <p:sp>
        <p:nvSpPr>
          <p:cNvPr id="11" name="Footer Placeholder 10"/>
          <p:cNvSpPr>
            <a:spLocks noGrp="1"/>
          </p:cNvSpPr>
          <p:nvPr>
            <p:ph type="ftr" sz="quarter" idx="11"/>
          </p:nvPr>
        </p:nvSpPr>
        <p:spPr/>
        <p:txBody>
          <a:bodyPr/>
          <a:lstStyle/>
          <a:p>
            <a:endParaRPr lang="en-US"/>
          </a:p>
        </p:txBody>
      </p:sp>
      <p:sp>
        <p:nvSpPr>
          <p:cNvPr id="12" name="Slide Number Placeholder 11"/>
          <p:cNvSpPr>
            <a:spLocks noGrp="1"/>
          </p:cNvSpPr>
          <p:nvPr>
            <p:ph type="sldNum" sz="quarter" idx="12"/>
          </p:nvPr>
        </p:nvSpPr>
        <p:spPr/>
        <p:txBody>
          <a:bodyPr/>
          <a:lstStyle/>
          <a:p>
            <a:fld id="{4FAB73BC-B049-4115-A692-8D63A059BFB8}" type="slidenum">
              <a:rPr lang="en-US" dirty="0"/>
              <a:pPr/>
              <a:t>‹Nº›</a:t>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a:t>Haga clic para modificar el estilo de título del patrón</a:t>
            </a:r>
            <a:endParaRPr lang="en-US"/>
          </a:p>
        </p:txBody>
      </p:sp>
      <p:sp>
        <p:nvSpPr>
          <p:cNvPr id="2" name="Date Placeholder 1"/>
          <p:cNvSpPr>
            <a:spLocks noGrp="1"/>
          </p:cNvSpPr>
          <p:nvPr>
            <p:ph type="dt" sz="half" idx="10"/>
          </p:nvPr>
        </p:nvSpPr>
        <p:spPr/>
        <p:txBody>
          <a:bodyPr/>
          <a:lstStyle/>
          <a:p>
            <a:fld id="{5586B75A-687E-405C-8A0B-8D00578BA2C3}" type="datetimeFigureOut">
              <a:rPr lang="en-US" dirty="0"/>
              <a:pPr/>
              <a:t>7/17/2024</a:t>
            </a:fld>
            <a:endParaRPr lang="en-US"/>
          </a:p>
        </p:txBody>
      </p:sp>
      <p:sp>
        <p:nvSpPr>
          <p:cNvPr id="7" name="Footer Placeholder 6"/>
          <p:cNvSpPr>
            <a:spLocks noGrp="1"/>
          </p:cNvSpPr>
          <p:nvPr>
            <p:ph type="ftr" sz="quarter" idx="11"/>
          </p:nvPr>
        </p:nvSpPr>
        <p:spPr/>
        <p:txBody>
          <a:bodyPr/>
          <a:lstStyle/>
          <a:p>
            <a:endParaRPr lang="en-US"/>
          </a:p>
        </p:txBody>
      </p:sp>
      <p:sp>
        <p:nvSpPr>
          <p:cNvPr id="8" name="Slide Number Placeholder 7"/>
          <p:cNvSpPr>
            <a:spLocks noGrp="1"/>
          </p:cNvSpPr>
          <p:nvPr>
            <p:ph type="sldNum" sz="quarter" idx="12"/>
          </p:nvPr>
        </p:nvSpPr>
        <p:spPr/>
        <p:txBody>
          <a:bodyPr/>
          <a:lstStyle/>
          <a:p>
            <a:fld id="{4FAB73BC-B049-4115-A692-8D63A059BFB8}" type="slidenum">
              <a:rPr lang="en-US" dirty="0"/>
              <a:pPr/>
              <a:t>‹Nº›</a:t>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7/17/2024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pPr/>
              <a:t>‹Nº›</a:t>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s-ES"/>
              <a:t>Haga clic para modificar el estilo de título del patrón</a:t>
            </a:r>
            <a:endParaRPr lang="en-US"/>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8" name="Date Placeholder 7"/>
          <p:cNvSpPr>
            <a:spLocks noGrp="1"/>
          </p:cNvSpPr>
          <p:nvPr>
            <p:ph type="dt" sz="half" idx="10"/>
          </p:nvPr>
        </p:nvSpPr>
        <p:spPr/>
        <p:txBody>
          <a:bodyPr/>
          <a:lstStyle/>
          <a:p>
            <a:fld id="{5586B75A-687E-405C-8A0B-8D00578BA2C3}" type="datetimeFigureOut">
              <a:rPr lang="en-US" dirty="0"/>
              <a:pPr/>
              <a:t>7/17/2024</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dirty="0"/>
              <a:pPr/>
              <a:t>‹Nº›</a:t>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s-ES"/>
              <a:t>Haga clic para modificar el estilo de título del patrón</a:t>
            </a:r>
            <a:endParaRPr lang="en-US"/>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8" name="Date Placeholder 7"/>
          <p:cNvSpPr>
            <a:spLocks noGrp="1"/>
          </p:cNvSpPr>
          <p:nvPr>
            <p:ph type="dt" sz="half" idx="10"/>
          </p:nvPr>
        </p:nvSpPr>
        <p:spPr/>
        <p:txBody>
          <a:bodyPr/>
          <a:lstStyle/>
          <a:p>
            <a:fld id="{5586B75A-687E-405C-8A0B-8D00578BA2C3}" type="datetimeFigureOut">
              <a:rPr lang="en-US" dirty="0"/>
              <a:pPr/>
              <a:t>7/17/2024</a:t>
            </a:fld>
            <a:endParaRPr lang="en-US"/>
          </a:p>
        </p:txBody>
      </p:sp>
      <p:sp>
        <p:nvSpPr>
          <p:cNvPr id="9" name="Footer Placeholder 8"/>
          <p:cNvSpPr>
            <a:spLocks noGrp="1"/>
          </p:cNvSpPr>
          <p:nvPr>
            <p:ph type="ftr" sz="quarter" idx="11"/>
          </p:nvPr>
        </p:nvSpPr>
        <p:spPr>
          <a:xfrm>
            <a:off x="3499101" y="6356350"/>
            <a:ext cx="5911517" cy="365125"/>
          </a:xfrm>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dirty="0"/>
              <a:pPr/>
              <a:t>‹Nº›</a:t>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Date Placeholder 6"/>
          <p:cNvSpPr>
            <a:spLocks noGrp="1"/>
          </p:cNvSpPr>
          <p:nvPr>
            <p:ph type="dt" sz="half" idx="10"/>
          </p:nvPr>
        </p:nvSpPr>
        <p:spPr/>
        <p:txBody>
          <a:bodyPr/>
          <a:lstStyle/>
          <a:p>
            <a:fld id="{5586B75A-687E-405C-8A0B-8D00578BA2C3}" type="datetimeFigureOut">
              <a:rPr lang="en-US" dirty="0"/>
              <a:pPr/>
              <a:t>7/17/2024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pPr/>
              <a:t>‹Nº›</a:t>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s-ES"/>
              <a:t>Haga clic para modificar el estilo de título del patrón</a:t>
            </a:r>
            <a:endParaRPr lang="en-US"/>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Date Placeholder 6"/>
          <p:cNvSpPr>
            <a:spLocks noGrp="1"/>
          </p:cNvSpPr>
          <p:nvPr>
            <p:ph type="dt" sz="half" idx="10"/>
          </p:nvPr>
        </p:nvSpPr>
        <p:spPr/>
        <p:txBody>
          <a:bodyPr/>
          <a:lstStyle/>
          <a:p>
            <a:fld id="{5586B75A-687E-405C-8A0B-8D00578BA2C3}" type="datetimeFigureOut">
              <a:rPr lang="en-US" dirty="0"/>
              <a:pPr/>
              <a:t>7/17/2024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pPr/>
              <a:t>‹Nº›</a:t>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dirty="0"/>
              <a:pPr/>
              <a:t>7/17/2024</a:t>
            </a:fld>
            <a:endParaRPr lang="en-US"/>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‹Nº›</a:t>
            </a:fld>
            <a:endParaRPr lang="en-US"/>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285F11-84FD-0A43-877C-C7D5A1DDD79C}"/>
              </a:ext>
            </a:extLst>
          </p:cNvPr>
          <p:cNvSpPr>
            <a:spLocks noGrp="1"/>
          </p:cNvSpPr>
          <p:nvPr>
            <p:ph type="ctrTitle"/>
          </p:nvPr>
        </p:nvSpPr>
        <p:spPr/>
        <p:txBody>
          <a:bodyPr/>
          <a:lstStyle/>
          <a:p>
            <a:r>
              <a:rPr lang="es-AR"/>
              <a:t>Informes del sindico</a:t>
            </a:r>
          </a:p>
        </p:txBody>
      </p:sp>
      <p:sp>
        <p:nvSpPr>
          <p:cNvPr id="3" name="Subtítulo 2">
            <a:extLst>
              <a:ext uri="{FF2B5EF4-FFF2-40B4-BE49-F238E27FC236}">
                <a16:creationId xmlns:a16="http://schemas.microsoft.com/office/drawing/2014/main" id="{3B68A37F-E3B6-2741-8E19-9388C688AB75}"/>
              </a:ext>
            </a:extLst>
          </p:cNvPr>
          <p:cNvSpPr>
            <a:spLocks noGrp="1"/>
          </p:cNvSpPr>
          <p:nvPr>
            <p:ph type="subTitle" idx="1"/>
          </p:nvPr>
        </p:nvSpPr>
        <p:spPr/>
        <p:txBody>
          <a:bodyPr/>
          <a:lstStyle/>
          <a:p>
            <a:r>
              <a:rPr lang="es-AR"/>
              <a:t>Articulos 33 en adelante</a:t>
            </a:r>
          </a:p>
        </p:txBody>
      </p:sp>
      <p:sp>
        <p:nvSpPr>
          <p:cNvPr id="4" name="Slide Number Placeholder 3">
            <a:extLst>
              <a:ext uri="{FF2B5EF4-FFF2-40B4-BE49-F238E27FC236}">
                <a16:creationId xmlns:a16="http://schemas.microsoft.com/office/drawing/2014/main" id="{765C3FE7-B684-046E-AFDF-0396C23A6F76}"/>
              </a:ext>
            </a:extLst>
          </p:cNvPr>
          <p:cNvSpPr>
            <a:spLocks noGrp="1"/>
          </p:cNvSpPr>
          <p:nvPr>
            <p:ph type="sldNum" sz="quarter" idx="12"/>
          </p:nvPr>
        </p:nvSpPr>
        <p:spPr/>
        <p:txBody>
          <a:bodyPr/>
          <a:lstStyle/>
          <a:p>
            <a:fld id="{4FAB73BC-B049-4115-A692-8D63A059BFB8}" type="slidenum">
              <a:rPr lang="en-US" dirty="0"/>
              <a:pPr/>
              <a:t>1</a:t>
            </a:fld>
            <a:endParaRPr lang="en-US"/>
          </a:p>
        </p:txBody>
      </p:sp>
    </p:spTree>
    <p:extLst>
      <p:ext uri="{BB962C8B-B14F-4D97-AF65-F5344CB8AC3E}">
        <p14:creationId xmlns:p14="http://schemas.microsoft.com/office/powerpoint/2010/main" val="2009817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D5B4B0-8AB9-F44D-8664-66CA79AF7302}"/>
              </a:ext>
            </a:extLst>
          </p:cNvPr>
          <p:cNvSpPr>
            <a:spLocks noGrp="1"/>
          </p:cNvSpPr>
          <p:nvPr>
            <p:ph type="title"/>
          </p:nvPr>
        </p:nvSpPr>
        <p:spPr/>
        <p:txBody>
          <a:bodyPr/>
          <a:lstStyle/>
          <a:p>
            <a:r>
              <a:rPr lang="es-AR"/>
              <a:t>Articulo 33</a:t>
            </a:r>
          </a:p>
        </p:txBody>
      </p:sp>
      <p:sp>
        <p:nvSpPr>
          <p:cNvPr id="3" name="Marcador de contenido 2">
            <a:extLst>
              <a:ext uri="{FF2B5EF4-FFF2-40B4-BE49-F238E27FC236}">
                <a16:creationId xmlns:a16="http://schemas.microsoft.com/office/drawing/2014/main" id="{652D4D38-F420-0344-8D3E-53B69AEF234E}"/>
              </a:ext>
            </a:extLst>
          </p:cNvPr>
          <p:cNvSpPr>
            <a:spLocks noGrp="1"/>
          </p:cNvSpPr>
          <p:nvPr>
            <p:ph idx="1"/>
          </p:nvPr>
        </p:nvSpPr>
        <p:spPr/>
        <p:txBody>
          <a:bodyPr/>
          <a:lstStyle/>
          <a:p>
            <a:r>
              <a:rPr lang="es-AR"/>
              <a:t>ARTICULO 33.- Facultades de información. El síndico debe realizar todas las compulsas necesarias en los libros y documentos del concursado y, en cuanto corresponda, en los del acreedor. Puede, asimismo, valerse de todos los elementos de juicio que estime útiles y, en caso de negativa a suministrarlos, solicitar del juez de la causa las medidas pertinentes.</a:t>
            </a:r>
          </a:p>
          <a:p>
            <a:r>
              <a:rPr lang="es-AR"/>
              <a:t>Debe conservar el legajo por acreedor presentado por el concursado, incorporando la solicitud de verificación y documentación acompañada por el acreedor, y formar y conservar los legajos correspondientes a los acreedores no denunciados que soliciten la verificación de sus créditos. En dichos legajos el síndico deberá dejar constancia de las medidas realizadas.</a:t>
            </a:r>
          </a:p>
          <a:p>
            <a:endParaRPr lang="es-AR"/>
          </a:p>
        </p:txBody>
      </p:sp>
      <p:sp>
        <p:nvSpPr>
          <p:cNvPr id="4" name="Slide Number Placeholder 3">
            <a:extLst>
              <a:ext uri="{FF2B5EF4-FFF2-40B4-BE49-F238E27FC236}">
                <a16:creationId xmlns:a16="http://schemas.microsoft.com/office/drawing/2014/main" id="{E93C5372-A142-FD97-1B0D-80D4FC4ED499}"/>
              </a:ext>
            </a:extLst>
          </p:cNvPr>
          <p:cNvSpPr>
            <a:spLocks noGrp="1"/>
          </p:cNvSpPr>
          <p:nvPr>
            <p:ph type="sldNum" sz="quarter" idx="12"/>
          </p:nvPr>
        </p:nvSpPr>
        <p:spPr/>
        <p:txBody>
          <a:bodyPr/>
          <a:lstStyle/>
          <a:p>
            <a:fld id="{4FAB73BC-B049-4115-A692-8D63A059BFB8}" type="slidenum">
              <a:rPr lang="en-US" dirty="0"/>
              <a:pPr/>
              <a:t>2</a:t>
            </a:fld>
            <a:endParaRPr lang="en-US"/>
          </a:p>
        </p:txBody>
      </p:sp>
    </p:spTree>
    <p:extLst>
      <p:ext uri="{BB962C8B-B14F-4D97-AF65-F5344CB8AC3E}">
        <p14:creationId xmlns:p14="http://schemas.microsoft.com/office/powerpoint/2010/main" val="3353177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67B987-E2F3-ED46-849E-A3DD2CD4FC3C}"/>
              </a:ext>
            </a:extLst>
          </p:cNvPr>
          <p:cNvSpPr>
            <a:spLocks noGrp="1"/>
          </p:cNvSpPr>
          <p:nvPr>
            <p:ph type="title"/>
          </p:nvPr>
        </p:nvSpPr>
        <p:spPr/>
        <p:txBody>
          <a:bodyPr/>
          <a:lstStyle/>
          <a:p>
            <a:r>
              <a:rPr lang="es-AR"/>
              <a:t>Articulo 33</a:t>
            </a:r>
          </a:p>
        </p:txBody>
      </p:sp>
      <p:sp>
        <p:nvSpPr>
          <p:cNvPr id="3" name="Marcador de contenido 2">
            <a:extLst>
              <a:ext uri="{FF2B5EF4-FFF2-40B4-BE49-F238E27FC236}">
                <a16:creationId xmlns:a16="http://schemas.microsoft.com/office/drawing/2014/main" id="{88224670-F7CC-4B4A-B127-0D455E830ECE}"/>
              </a:ext>
            </a:extLst>
          </p:cNvPr>
          <p:cNvSpPr>
            <a:spLocks noGrp="1"/>
          </p:cNvSpPr>
          <p:nvPr>
            <p:ph idx="1"/>
          </p:nvPr>
        </p:nvSpPr>
        <p:spPr>
          <a:xfrm>
            <a:off x="3880154" y="778551"/>
            <a:ext cx="7571616" cy="3989391"/>
          </a:xfrm>
        </p:spPr>
        <p:txBody>
          <a:bodyPr>
            <a:normAutofit lnSpcReduction="10000"/>
          </a:bodyPr>
          <a:lstStyle/>
          <a:p>
            <a:r>
              <a:rPr lang="es-AR"/>
              <a:t>Acreedores</a:t>
            </a:r>
          </a:p>
          <a:p>
            <a:pPr lvl="1"/>
            <a:r>
              <a:rPr lang="es-AR"/>
              <a:t>Concurrencia Forzosa</a:t>
            </a:r>
          </a:p>
          <a:p>
            <a:pPr lvl="1"/>
            <a:r>
              <a:rPr lang="es-AR"/>
              <a:t>Se busca simplificar cargas a los acreedores</a:t>
            </a:r>
          </a:p>
          <a:p>
            <a:pPr lvl="1"/>
            <a:r>
              <a:rPr lang="es-AR"/>
              <a:t>Procedimiento no controversial</a:t>
            </a:r>
          </a:p>
          <a:p>
            <a:r>
              <a:rPr lang="es-AR"/>
              <a:t>Se Salvaguardan garantias del debido proceso – observaciones – recurso</a:t>
            </a:r>
          </a:p>
          <a:p>
            <a:pPr lvl="1"/>
            <a:r>
              <a:rPr lang="es-AR"/>
              <a:t>No reconocimiento del deudor como contraparte</a:t>
            </a:r>
          </a:p>
          <a:p>
            <a:pPr lvl="1"/>
            <a:r>
              <a:rPr lang="es-AR"/>
              <a:t>Simplificacion cargas para presentacion – patrocinio, indicar causa</a:t>
            </a:r>
          </a:p>
          <a:p>
            <a:r>
              <a:rPr lang="es-AR"/>
              <a:t>Deberes y facultades del sindico</a:t>
            </a:r>
          </a:p>
          <a:p>
            <a:pPr lvl="1"/>
            <a:r>
              <a:rPr lang="es-AR"/>
              <a:t>Compulsar libros y documentacion</a:t>
            </a:r>
          </a:p>
          <a:p>
            <a:pPr lvl="1"/>
            <a:r>
              <a:rPr lang="es-AR"/>
              <a:t>Aplicar Medidas necesarias para valerse de elementos</a:t>
            </a:r>
          </a:p>
          <a:p>
            <a:pPr lvl="1"/>
            <a:r>
              <a:rPr lang="es-AR"/>
              <a:t>Solicitar al juez medidas</a:t>
            </a:r>
          </a:p>
          <a:p>
            <a:endParaRPr lang="es-AR"/>
          </a:p>
        </p:txBody>
      </p:sp>
      <p:sp>
        <p:nvSpPr>
          <p:cNvPr id="4" name="CuadroTexto 3">
            <a:extLst>
              <a:ext uri="{FF2B5EF4-FFF2-40B4-BE49-F238E27FC236}">
                <a16:creationId xmlns:a16="http://schemas.microsoft.com/office/drawing/2014/main" id="{4E96C883-C5E3-EB4D-9A46-902105DE250F}"/>
              </a:ext>
            </a:extLst>
          </p:cNvPr>
          <p:cNvSpPr txBox="1"/>
          <p:nvPr/>
        </p:nvSpPr>
        <p:spPr>
          <a:xfrm>
            <a:off x="4008362" y="4678321"/>
            <a:ext cx="7315199" cy="1200329"/>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a:solidFill>
                  <a:schemeClr val="tx1">
                    <a:lumMod val="65000"/>
                    <a:lumOff val="35000"/>
                  </a:schemeClr>
                </a:solidFill>
              </a:rPr>
              <a:t>Las amplias facultades que la ley le otorga al síndico, proporcionales a su responsabilidad en este proceso, guardan relación con lo establecido en el art. 275 de la LCQ que refiere de modo general </a:t>
            </a:r>
          </a:p>
          <a:p>
            <a:endParaRPr lang="es-AR"/>
          </a:p>
        </p:txBody>
      </p:sp>
      <p:sp>
        <p:nvSpPr>
          <p:cNvPr id="5" name="Slide Number Placeholder 4">
            <a:extLst>
              <a:ext uri="{FF2B5EF4-FFF2-40B4-BE49-F238E27FC236}">
                <a16:creationId xmlns:a16="http://schemas.microsoft.com/office/drawing/2014/main" id="{6F5AD6A8-D8B4-2434-42B9-EA66C69B7C58}"/>
              </a:ext>
            </a:extLst>
          </p:cNvPr>
          <p:cNvSpPr>
            <a:spLocks noGrp="1"/>
          </p:cNvSpPr>
          <p:nvPr>
            <p:ph type="sldNum" sz="quarter" idx="12"/>
          </p:nvPr>
        </p:nvSpPr>
        <p:spPr/>
        <p:txBody>
          <a:bodyPr/>
          <a:lstStyle/>
          <a:p>
            <a:fld id="{4FAB73BC-B049-4115-A692-8D63A059BFB8}" type="slidenum">
              <a:rPr lang="en-US" dirty="0"/>
              <a:pPr/>
              <a:t>3</a:t>
            </a:fld>
            <a:endParaRPr lang="en-US"/>
          </a:p>
        </p:txBody>
      </p:sp>
    </p:spTree>
    <p:extLst>
      <p:ext uri="{BB962C8B-B14F-4D97-AF65-F5344CB8AC3E}">
        <p14:creationId xmlns:p14="http://schemas.microsoft.com/office/powerpoint/2010/main" val="2434127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C0E62E-1EED-CE41-970C-7678285BFDE5}"/>
              </a:ext>
            </a:extLst>
          </p:cNvPr>
          <p:cNvSpPr>
            <a:spLocks noGrp="1"/>
          </p:cNvSpPr>
          <p:nvPr>
            <p:ph type="title"/>
          </p:nvPr>
        </p:nvSpPr>
        <p:spPr/>
        <p:txBody>
          <a:bodyPr/>
          <a:lstStyle/>
          <a:p>
            <a:r>
              <a:rPr lang="es-AR"/>
              <a:t>Facultades del sindico</a:t>
            </a:r>
          </a:p>
        </p:txBody>
      </p:sp>
      <p:sp>
        <p:nvSpPr>
          <p:cNvPr id="3" name="Marcador de contenido 2">
            <a:extLst>
              <a:ext uri="{FF2B5EF4-FFF2-40B4-BE49-F238E27FC236}">
                <a16:creationId xmlns:a16="http://schemas.microsoft.com/office/drawing/2014/main" id="{9B7C4D04-1D1D-E341-894E-5BA234D5609B}"/>
              </a:ext>
            </a:extLst>
          </p:cNvPr>
          <p:cNvSpPr>
            <a:spLocks noGrp="1"/>
          </p:cNvSpPr>
          <p:nvPr>
            <p:ph idx="1"/>
          </p:nvPr>
        </p:nvSpPr>
        <p:spPr/>
        <p:txBody>
          <a:bodyPr>
            <a:normAutofit fontScale="55000" lnSpcReduction="20000"/>
          </a:bodyPr>
          <a:lstStyle/>
          <a:p>
            <a:r>
              <a:rPr lang="es-AR"/>
              <a:t>ARTICULO 275.- Deberes y facultades del síndico. Compete al síndico efectuar las peticiones necesarias para la rápida tramitación de la causa, la averiguación de la situación patrimonial del concursado, los hechos que puedan haber incidido en ella y la determinación de sus responsables. A tal fin tiene, entre otras, las siguientes facultades:</a:t>
            </a:r>
          </a:p>
          <a:p>
            <a:r>
              <a:rPr lang="es-AR"/>
              <a:t>1) Librar toda cédula y oficios ordenados, excepto los que se dirijan al presidente de la Nación, gobernadores, ministros y secretarios de Estado, funcionarios de análoga jerarquía y magistrados judiciales;</a:t>
            </a:r>
          </a:p>
          <a:p>
            <a:r>
              <a:rPr lang="es-AR" b="1" i="1" u="sng"/>
              <a:t>2) Solicitar directamente informes a entidades públicas y privadas.</a:t>
            </a:r>
          </a:p>
          <a:p>
            <a:r>
              <a:rPr lang="es-AR" b="1" i="1" u="sng"/>
              <a:t>En caso que el requerido entienda improcedente la solicitud, debe pedir al juez se la deje sin efecto, dentro del quinto día de recibida;</a:t>
            </a:r>
          </a:p>
          <a:p>
            <a:r>
              <a:rPr lang="es-AR" b="1" i="1" u="sng"/>
              <a:t>3) Requerir del concursado o terceros las explicaciones que estime pertinentes. En caso de negativa o resistencia de los interpelados, puede solicitar al juez la aplicación de los Artículos 17, 103 y 274, inciso 1;</a:t>
            </a:r>
          </a:p>
          <a:p>
            <a:r>
              <a:rPr lang="es-AR" b="1" i="1" u="sng"/>
              <a:t>4) Examinar, sin necesidad de autorización judicial alguna, los expedientes judiciales o extrajudiciales donde se ventile una cuestión patrimonial del concursado o vinculada directamente con ella</a:t>
            </a:r>
            <a:r>
              <a:rPr lang="es-AR"/>
              <a:t>;</a:t>
            </a:r>
          </a:p>
          <a:p>
            <a:r>
              <a:rPr lang="es-AR"/>
              <a:t>5) Expedir certificados de prestación servicios de los dependientes, destinados a la presentación ante los organismos de seguridad social, según constancias de la contabilidad;</a:t>
            </a:r>
          </a:p>
          <a:p>
            <a:r>
              <a:rPr lang="es-AR"/>
              <a:t>6) En general, solicitar todas las medidas dispuestas por esta ley y otras que sean procedentes a los fines indicados.</a:t>
            </a:r>
          </a:p>
          <a:p>
            <a:r>
              <a:rPr lang="es-AR"/>
              <a:t>7) Durante el período de verificación de créditos y hasta la presentación del informe individual, debe tener oficina abierta al público en los horarios que determine la reglamentación que al efecto dictará la Cámara de Apelaciones respectiva.</a:t>
            </a:r>
          </a:p>
          <a:p>
            <a:r>
              <a:rPr lang="es-AR"/>
              <a:t>8) El síndico debe dar recibo con fecha y hora bajo su firma o de la persona autorizada expresamente en el expediente, de todo escrito que le sea presentado en su oficina durante el período de verificación de créditos y hasta la presentación del informe individual, el que se extenderá en una copia del mismo escrito.</a:t>
            </a:r>
          </a:p>
          <a:p>
            <a:r>
              <a:rPr lang="es-AR"/>
              <a:t>El síndico es parte en el proceso principal, en todos sus incidentes y en los demás juicios de carácter patrimonial en los que sea parte el concursado, salvo los que deriven de relaciones de familia en la medida dispuesta por esta ley.</a:t>
            </a:r>
          </a:p>
          <a:p>
            <a:endParaRPr lang="es-AR"/>
          </a:p>
        </p:txBody>
      </p:sp>
      <p:sp>
        <p:nvSpPr>
          <p:cNvPr id="4" name="Slide Number Placeholder 3">
            <a:extLst>
              <a:ext uri="{FF2B5EF4-FFF2-40B4-BE49-F238E27FC236}">
                <a16:creationId xmlns:a16="http://schemas.microsoft.com/office/drawing/2014/main" id="{829DD79A-570A-362D-56E7-36A975547DE6}"/>
              </a:ext>
            </a:extLst>
          </p:cNvPr>
          <p:cNvSpPr>
            <a:spLocks noGrp="1"/>
          </p:cNvSpPr>
          <p:nvPr>
            <p:ph type="sldNum" sz="quarter" idx="12"/>
          </p:nvPr>
        </p:nvSpPr>
        <p:spPr/>
        <p:txBody>
          <a:bodyPr/>
          <a:lstStyle/>
          <a:p>
            <a:fld id="{4FAB73BC-B049-4115-A692-8D63A059BFB8}" type="slidenum">
              <a:rPr lang="en-US" dirty="0"/>
              <a:pPr/>
              <a:t>4</a:t>
            </a:fld>
            <a:endParaRPr lang="en-US"/>
          </a:p>
        </p:txBody>
      </p:sp>
    </p:spTree>
    <p:extLst>
      <p:ext uri="{BB962C8B-B14F-4D97-AF65-F5344CB8AC3E}">
        <p14:creationId xmlns:p14="http://schemas.microsoft.com/office/powerpoint/2010/main" val="1533956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1320B1-7209-3F4D-AED9-61561681086F}"/>
              </a:ext>
            </a:extLst>
          </p:cNvPr>
          <p:cNvSpPr>
            <a:spLocks noGrp="1"/>
          </p:cNvSpPr>
          <p:nvPr>
            <p:ph type="title"/>
          </p:nvPr>
        </p:nvSpPr>
        <p:spPr/>
        <p:txBody>
          <a:bodyPr/>
          <a:lstStyle/>
          <a:p>
            <a:r>
              <a:rPr lang="es-AR"/>
              <a:t>Legajo</a:t>
            </a:r>
          </a:p>
        </p:txBody>
      </p:sp>
      <p:sp>
        <p:nvSpPr>
          <p:cNvPr id="3" name="Marcador de contenido 2">
            <a:extLst>
              <a:ext uri="{FF2B5EF4-FFF2-40B4-BE49-F238E27FC236}">
                <a16:creationId xmlns:a16="http://schemas.microsoft.com/office/drawing/2014/main" id="{E19C681F-9496-8E4C-836B-02C6DF55DC52}"/>
              </a:ext>
            </a:extLst>
          </p:cNvPr>
          <p:cNvSpPr>
            <a:spLocks noGrp="1"/>
          </p:cNvSpPr>
          <p:nvPr>
            <p:ph idx="1"/>
          </p:nvPr>
        </p:nvSpPr>
        <p:spPr/>
        <p:txBody>
          <a:bodyPr>
            <a:normAutofit/>
          </a:bodyPr>
          <a:lstStyle/>
          <a:p>
            <a:r>
              <a:rPr lang="es-AR" sz="1400" i="1"/>
              <a:t>a) </a:t>
            </a:r>
            <a:r>
              <a:rPr lang="es-AR" sz="1400"/>
              <a:t>La documental aportada por el deudor al peticionar el concurso preventivo y presentar el legajo individual de cada acreedor. </a:t>
            </a:r>
          </a:p>
          <a:p>
            <a:r>
              <a:rPr lang="es-AR" sz="1400" i="1"/>
              <a:t>b ) </a:t>
            </a:r>
            <a:r>
              <a:rPr lang="es-AR" sz="1400"/>
              <a:t>El pedido de verificacion del acreedor, con todas sus copias documentales. </a:t>
            </a:r>
          </a:p>
          <a:p>
            <a:r>
              <a:rPr lang="es-AR" sz="1400"/>
              <a:t>c) Las observaciones que puedan haberse presentado con respecto a la insinuación por el deudor o por otro u otros acreedores. </a:t>
            </a:r>
          </a:p>
          <a:p>
            <a:r>
              <a:rPr lang="es-AR" sz="1400"/>
              <a:t>d) Los requerimientos o pedidos de aclaraciones formulados por la sindicatura a acreedores al deudor o a terceros con relación a la petición o a aspectos determinados de ella. </a:t>
            </a:r>
          </a:p>
          <a:p>
            <a:r>
              <a:rPr lang="es-AR" sz="1400"/>
              <a:t>e) Las respuestas que se hayan obtenido a tales requerimientos. </a:t>
            </a:r>
          </a:p>
          <a:p>
            <a:r>
              <a:rPr lang="es-AR" sz="1400"/>
              <a:t>f)Los elementos obtenidos por la sindicatura mediante su labor indagatoria. </a:t>
            </a:r>
          </a:p>
          <a:p>
            <a:r>
              <a:rPr lang="es-AR" sz="1400"/>
              <a:t>g) Las planillas, cálculos, compulsas, conciliaciones, liquidaciones y demás anotaciones demostrativas de las labores indagatoria y de otro tipo realizadas y de los resultados obtenidos. </a:t>
            </a:r>
          </a:p>
          <a:p>
            <a:endParaRPr lang="es-AR" sz="1400"/>
          </a:p>
          <a:p>
            <a:endParaRPr lang="es-AR"/>
          </a:p>
        </p:txBody>
      </p:sp>
      <p:sp>
        <p:nvSpPr>
          <p:cNvPr id="4" name="Slide Number Placeholder 3">
            <a:extLst>
              <a:ext uri="{FF2B5EF4-FFF2-40B4-BE49-F238E27FC236}">
                <a16:creationId xmlns:a16="http://schemas.microsoft.com/office/drawing/2014/main" id="{03D052E0-A72A-F737-EFF8-B5DDA191174D}"/>
              </a:ext>
            </a:extLst>
          </p:cNvPr>
          <p:cNvSpPr>
            <a:spLocks noGrp="1"/>
          </p:cNvSpPr>
          <p:nvPr>
            <p:ph type="sldNum" sz="quarter" idx="12"/>
          </p:nvPr>
        </p:nvSpPr>
        <p:spPr/>
        <p:txBody>
          <a:bodyPr/>
          <a:lstStyle/>
          <a:p>
            <a:fld id="{4FAB73BC-B049-4115-A692-8D63A059BFB8}" type="slidenum">
              <a:rPr lang="en-US" dirty="0"/>
              <a:pPr/>
              <a:t>5</a:t>
            </a:fld>
            <a:endParaRPr lang="en-US"/>
          </a:p>
        </p:txBody>
      </p:sp>
    </p:spTree>
    <p:extLst>
      <p:ext uri="{BB962C8B-B14F-4D97-AF65-F5344CB8AC3E}">
        <p14:creationId xmlns:p14="http://schemas.microsoft.com/office/powerpoint/2010/main" val="2162549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D4435D-ECD2-1848-92B8-D7138CB627E9}"/>
              </a:ext>
            </a:extLst>
          </p:cNvPr>
          <p:cNvSpPr>
            <a:spLocks noGrp="1"/>
          </p:cNvSpPr>
          <p:nvPr>
            <p:ph type="title"/>
          </p:nvPr>
        </p:nvSpPr>
        <p:spPr/>
        <p:txBody>
          <a:bodyPr/>
          <a:lstStyle/>
          <a:p>
            <a:r>
              <a:rPr lang="es-AR"/>
              <a:t>Jurisprudencia</a:t>
            </a:r>
          </a:p>
        </p:txBody>
      </p:sp>
      <p:sp>
        <p:nvSpPr>
          <p:cNvPr id="3" name="Marcador de contenido 2">
            <a:extLst>
              <a:ext uri="{FF2B5EF4-FFF2-40B4-BE49-F238E27FC236}">
                <a16:creationId xmlns:a16="http://schemas.microsoft.com/office/drawing/2014/main" id="{1AB65F6B-A983-864F-ACD3-B13BB2F91DB1}"/>
              </a:ext>
            </a:extLst>
          </p:cNvPr>
          <p:cNvSpPr>
            <a:spLocks noGrp="1"/>
          </p:cNvSpPr>
          <p:nvPr>
            <p:ph idx="1"/>
          </p:nvPr>
        </p:nvSpPr>
        <p:spPr/>
        <p:txBody>
          <a:bodyPr/>
          <a:lstStyle/>
          <a:p>
            <a:r>
              <a:rPr lang="es-AR" i="1"/>
              <a:t>"El sistema concursal prevé que el sindico provea al tribunal una opinión continente de información adecuada a la realidad material, para lo cual éste requerirá tener a su disposición documentacion que la concursada debe exhibir, la cual en parte se halla en poder de un tercero, apreciándose oneroso que deba requerirse la exhibición de tales documentos a un tercero -en los términos de los arts. 33 y 275, LCQ- en cada oportunidad, cuando podría simplificarse el trámite si se encontrara en poder de su titular" (CNCom, Sala A, 17/4/07, "Aguas Argentinas SA s/concurso preventivo slincidente de apelación"). </a:t>
            </a:r>
          </a:p>
          <a:p>
            <a:endParaRPr lang="es-AR"/>
          </a:p>
        </p:txBody>
      </p:sp>
      <p:sp>
        <p:nvSpPr>
          <p:cNvPr id="4" name="Slide Number Placeholder 3">
            <a:extLst>
              <a:ext uri="{FF2B5EF4-FFF2-40B4-BE49-F238E27FC236}">
                <a16:creationId xmlns:a16="http://schemas.microsoft.com/office/drawing/2014/main" id="{AB2CA12F-858E-D5A3-F955-144C29E781AF}"/>
              </a:ext>
            </a:extLst>
          </p:cNvPr>
          <p:cNvSpPr>
            <a:spLocks noGrp="1"/>
          </p:cNvSpPr>
          <p:nvPr>
            <p:ph type="sldNum" sz="quarter" idx="12"/>
          </p:nvPr>
        </p:nvSpPr>
        <p:spPr/>
        <p:txBody>
          <a:bodyPr/>
          <a:lstStyle/>
          <a:p>
            <a:fld id="{4FAB73BC-B049-4115-A692-8D63A059BFB8}" type="slidenum">
              <a:rPr lang="en-US" dirty="0"/>
              <a:pPr/>
              <a:t>6</a:t>
            </a:fld>
            <a:endParaRPr lang="en-US"/>
          </a:p>
        </p:txBody>
      </p:sp>
    </p:spTree>
    <p:extLst>
      <p:ext uri="{BB962C8B-B14F-4D97-AF65-F5344CB8AC3E}">
        <p14:creationId xmlns:p14="http://schemas.microsoft.com/office/powerpoint/2010/main" val="79118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054FBA-3FB0-8A44-B650-247B3D198A05}"/>
              </a:ext>
            </a:extLst>
          </p:cNvPr>
          <p:cNvSpPr>
            <a:spLocks noGrp="1"/>
          </p:cNvSpPr>
          <p:nvPr>
            <p:ph type="title"/>
          </p:nvPr>
        </p:nvSpPr>
        <p:spPr/>
        <p:txBody>
          <a:bodyPr/>
          <a:lstStyle/>
          <a:p>
            <a:r>
              <a:rPr lang="es-AR"/>
              <a:t>Articulo 34</a:t>
            </a:r>
          </a:p>
        </p:txBody>
      </p:sp>
      <p:sp>
        <p:nvSpPr>
          <p:cNvPr id="3" name="Marcador de contenido 2">
            <a:extLst>
              <a:ext uri="{FF2B5EF4-FFF2-40B4-BE49-F238E27FC236}">
                <a16:creationId xmlns:a16="http://schemas.microsoft.com/office/drawing/2014/main" id="{EE7388AC-A773-1A4F-A207-1D092FF4AA08}"/>
              </a:ext>
            </a:extLst>
          </p:cNvPr>
          <p:cNvSpPr>
            <a:spLocks noGrp="1"/>
          </p:cNvSpPr>
          <p:nvPr>
            <p:ph idx="1"/>
          </p:nvPr>
        </p:nvSpPr>
        <p:spPr/>
        <p:txBody>
          <a:bodyPr/>
          <a:lstStyle/>
          <a:p>
            <a:r>
              <a:rPr lang="es-AR"/>
              <a:t>Período de observación de créditos. Durante los DIEZ (10) días siguientes al vencimiento del plazo para solicitar la verificación, el deudor y los acreedores que lo hubieren hecho podrán concurrir al domicilio del síndico, a efectos de revisar los legajos y formular por escrito las impugnaciones y observaciones respecto de las solicitudes formuladas. Dichas impugnaciones deberán ser acompañadas de DOS (2) copias y se agregarán al legajo correspondiente, entregando el síndico al interesado constancia que acredite la recepción, indicando día y hora de la presentación.</a:t>
            </a:r>
          </a:p>
          <a:p>
            <a:r>
              <a:rPr lang="es-AR"/>
              <a:t>Dentro de las CUARENTA Y OCHO (48) horas de vencido el plazo previsto en el párrafo anterior, el síndico presentará al juzgado un juego de copias de las impugnaciones recibidas para su incorporación al legajo previsto en el artículo 279.</a:t>
            </a:r>
          </a:p>
          <a:p>
            <a:r>
              <a:rPr lang="es-AR"/>
              <a:t>Los trabajadores de la concursada que no tuvieren el carácter de acreedores tendrán derecho a revisar los legajos y ser informados por el síndico acerca de los créditos insinuados.</a:t>
            </a:r>
            <a:r>
              <a:rPr lang="es-AR" i="1"/>
              <a:t> </a:t>
            </a:r>
            <a:endParaRPr lang="es-AR"/>
          </a:p>
          <a:p>
            <a:pPr marL="0" indent="0">
              <a:buNone/>
            </a:pPr>
            <a:endParaRPr lang="es-AR"/>
          </a:p>
        </p:txBody>
      </p:sp>
      <p:sp>
        <p:nvSpPr>
          <p:cNvPr id="4" name="Slide Number Placeholder 3">
            <a:extLst>
              <a:ext uri="{FF2B5EF4-FFF2-40B4-BE49-F238E27FC236}">
                <a16:creationId xmlns:a16="http://schemas.microsoft.com/office/drawing/2014/main" id="{E605353C-33CD-3A98-65CA-265CBA1C547F}"/>
              </a:ext>
            </a:extLst>
          </p:cNvPr>
          <p:cNvSpPr>
            <a:spLocks noGrp="1"/>
          </p:cNvSpPr>
          <p:nvPr>
            <p:ph type="sldNum" sz="quarter" idx="12"/>
          </p:nvPr>
        </p:nvSpPr>
        <p:spPr/>
        <p:txBody>
          <a:bodyPr/>
          <a:lstStyle/>
          <a:p>
            <a:fld id="{4FAB73BC-B049-4115-A692-8D63A059BFB8}" type="slidenum">
              <a:rPr lang="en-US" dirty="0"/>
              <a:pPr/>
              <a:t>7</a:t>
            </a:fld>
            <a:endParaRPr lang="en-US"/>
          </a:p>
        </p:txBody>
      </p:sp>
    </p:spTree>
    <p:extLst>
      <p:ext uri="{BB962C8B-B14F-4D97-AF65-F5344CB8AC3E}">
        <p14:creationId xmlns:p14="http://schemas.microsoft.com/office/powerpoint/2010/main" val="10882185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EE00FE-78B3-874A-AEA1-FE6DB0A282D4}"/>
              </a:ext>
            </a:extLst>
          </p:cNvPr>
          <p:cNvSpPr>
            <a:spLocks noGrp="1"/>
          </p:cNvSpPr>
          <p:nvPr>
            <p:ph type="title"/>
          </p:nvPr>
        </p:nvSpPr>
        <p:spPr/>
        <p:txBody>
          <a:bodyPr/>
          <a:lstStyle/>
          <a:p>
            <a:r>
              <a:rPr lang="es-AR"/>
              <a:t>Articulo 34</a:t>
            </a:r>
          </a:p>
        </p:txBody>
      </p:sp>
      <p:sp>
        <p:nvSpPr>
          <p:cNvPr id="3" name="Marcador de contenido 2">
            <a:extLst>
              <a:ext uri="{FF2B5EF4-FFF2-40B4-BE49-F238E27FC236}">
                <a16:creationId xmlns:a16="http://schemas.microsoft.com/office/drawing/2014/main" id="{7D07D3E9-3131-DC47-BCD6-2D489848E1FE}"/>
              </a:ext>
            </a:extLst>
          </p:cNvPr>
          <p:cNvSpPr>
            <a:spLocks noGrp="1"/>
          </p:cNvSpPr>
          <p:nvPr>
            <p:ph idx="1"/>
          </p:nvPr>
        </p:nvSpPr>
        <p:spPr/>
        <p:txBody>
          <a:bodyPr/>
          <a:lstStyle/>
          <a:p>
            <a:pPr algn="just"/>
            <a:r>
              <a:rPr lang="es-AR"/>
              <a:t>regula la oportunidad y el modo en que se realizará el control por los acreedores y el deudor, respecto de las otras pretensiones verificatorias. </a:t>
            </a:r>
          </a:p>
          <a:p>
            <a:pPr algn="just"/>
            <a:r>
              <a:rPr lang="es-AR"/>
              <a:t>Existirá </a:t>
            </a:r>
          </a:p>
          <a:p>
            <a:pPr lvl="1" algn="just"/>
            <a:r>
              <a:rPr lang="es-AR"/>
              <a:t>un control de los pedidos de verificación </a:t>
            </a:r>
            <a:r>
              <a:rPr lang="es-AR">
                <a:highlight>
                  <a:srgbClr val="00FFFF"/>
                </a:highlight>
              </a:rPr>
              <a:t>obligatorio</a:t>
            </a:r>
            <a:r>
              <a:rPr lang="es-AR"/>
              <a:t>, que debe realizar el síndico</a:t>
            </a:r>
          </a:p>
          <a:p>
            <a:pPr lvl="1" algn="just"/>
            <a:r>
              <a:rPr lang="es-AR"/>
              <a:t>un control </a:t>
            </a:r>
            <a:r>
              <a:rPr lang="es-AR">
                <a:highlight>
                  <a:srgbClr val="00FFFF"/>
                </a:highlight>
              </a:rPr>
              <a:t>optativo y voluntario</a:t>
            </a:r>
            <a:r>
              <a:rPr lang="es-AR"/>
              <a:t>, que pueden formular el deudor y los acreedores que han pedido verificación </a:t>
            </a:r>
          </a:p>
          <a:p>
            <a:pPr algn="just"/>
            <a:endParaRPr lang="es-AR"/>
          </a:p>
          <a:p>
            <a:endParaRPr lang="es-AR"/>
          </a:p>
        </p:txBody>
      </p:sp>
      <p:sp>
        <p:nvSpPr>
          <p:cNvPr id="4" name="Slide Number Placeholder 3">
            <a:extLst>
              <a:ext uri="{FF2B5EF4-FFF2-40B4-BE49-F238E27FC236}">
                <a16:creationId xmlns:a16="http://schemas.microsoft.com/office/drawing/2014/main" id="{4B0DD4DE-D2B0-673A-F768-D7BFCB66B134}"/>
              </a:ext>
            </a:extLst>
          </p:cNvPr>
          <p:cNvSpPr>
            <a:spLocks noGrp="1"/>
          </p:cNvSpPr>
          <p:nvPr>
            <p:ph type="sldNum" sz="quarter" idx="12"/>
          </p:nvPr>
        </p:nvSpPr>
        <p:spPr/>
        <p:txBody>
          <a:bodyPr/>
          <a:lstStyle/>
          <a:p>
            <a:fld id="{4FAB73BC-B049-4115-A692-8D63A059BFB8}" type="slidenum">
              <a:rPr lang="en-US" dirty="0"/>
              <a:pPr/>
              <a:t>8</a:t>
            </a:fld>
            <a:endParaRPr lang="en-US"/>
          </a:p>
        </p:txBody>
      </p:sp>
    </p:spTree>
    <p:extLst>
      <p:ext uri="{BB962C8B-B14F-4D97-AF65-F5344CB8AC3E}">
        <p14:creationId xmlns:p14="http://schemas.microsoft.com/office/powerpoint/2010/main" val="1046262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A1F723-6DCF-844B-956F-E75609571FB3}"/>
              </a:ext>
            </a:extLst>
          </p:cNvPr>
          <p:cNvSpPr>
            <a:spLocks noGrp="1"/>
          </p:cNvSpPr>
          <p:nvPr>
            <p:ph type="title"/>
          </p:nvPr>
        </p:nvSpPr>
        <p:spPr/>
        <p:txBody>
          <a:bodyPr/>
          <a:lstStyle/>
          <a:p>
            <a:r>
              <a:rPr lang="es-AR"/>
              <a:t>Plazo Observación</a:t>
            </a:r>
          </a:p>
        </p:txBody>
      </p:sp>
      <p:sp>
        <p:nvSpPr>
          <p:cNvPr id="3" name="Marcador de contenido 2">
            <a:extLst>
              <a:ext uri="{FF2B5EF4-FFF2-40B4-BE49-F238E27FC236}">
                <a16:creationId xmlns:a16="http://schemas.microsoft.com/office/drawing/2014/main" id="{01955993-B8A8-AA4B-8E4E-EE51E426C384}"/>
              </a:ext>
            </a:extLst>
          </p:cNvPr>
          <p:cNvSpPr>
            <a:spLocks noGrp="1"/>
          </p:cNvSpPr>
          <p:nvPr>
            <p:ph idx="1"/>
          </p:nvPr>
        </p:nvSpPr>
        <p:spPr>
          <a:xfrm>
            <a:off x="3836610" y="1123837"/>
            <a:ext cx="7315200" cy="5120640"/>
          </a:xfrm>
        </p:spPr>
        <p:txBody>
          <a:bodyPr>
            <a:normAutofit lnSpcReduction="10000"/>
          </a:bodyPr>
          <a:lstStyle/>
          <a:p>
            <a:r>
              <a:rPr lang="es-AR"/>
              <a:t>Vencido elplazo para presentar los pedidos de verificación al sindico, </a:t>
            </a:r>
          </a:p>
          <a:p>
            <a:pPr lvl="1"/>
            <a:r>
              <a:rPr lang="es-AR"/>
              <a:t>éste debe poner a disposición de los legitimados, en su domicilio, los legajos completos con los pedidos de verificaciones que le hubieran presentado los acreedores.</a:t>
            </a:r>
          </a:p>
          <a:p>
            <a:pPr lvl="1"/>
            <a:r>
              <a:rPr lang="es-AR"/>
              <a:t> Los interesados revisarán los legajos de </a:t>
            </a:r>
            <a:r>
              <a:rPr lang="es-AR" b="1"/>
              <a:t>cada acreedor </a:t>
            </a:r>
            <a:r>
              <a:rPr lang="es-AR"/>
              <a:t>y, conforme lo estimen pertinente, podrán formularles observaciones por escrito, con dos copias. </a:t>
            </a:r>
          </a:p>
          <a:p>
            <a:pPr lvl="1"/>
            <a:r>
              <a:rPr lang="es-AR"/>
              <a:t>El sindico deberá entregar al impugnante una constancia de la re- cepción de esta impugnación, con indicación del día y la hora en que le fue presentada. </a:t>
            </a:r>
          </a:p>
          <a:p>
            <a:pPr lvl="1"/>
            <a:r>
              <a:rPr lang="es-AR"/>
              <a:t>Plazo es de 10 dias, sin que medie notificación</a:t>
            </a:r>
          </a:p>
          <a:p>
            <a:pPr lvl="1"/>
            <a:r>
              <a:rPr lang="es-AR"/>
              <a:t>Es un termino de caducidad y, como tal, si alguien quisiera presentar una observacion vencido dicho lapso de tiempo, el sindico </a:t>
            </a:r>
            <a:r>
              <a:rPr lang="es-AR">
                <a:highlight>
                  <a:srgbClr val="00FFFF"/>
                </a:highlight>
              </a:rPr>
              <a:t>no</a:t>
            </a:r>
            <a:r>
              <a:rPr lang="es-AR"/>
              <a:t> debería recibirla. </a:t>
            </a:r>
          </a:p>
          <a:p>
            <a:pPr lvl="1"/>
            <a:r>
              <a:rPr lang="es-AR"/>
              <a:t>Juntamente con el escrito, el impugnante podrá acompañar la prueba de que dispusiere, basicamente docurnentaria </a:t>
            </a:r>
          </a:p>
          <a:p>
            <a:pPr lvl="1"/>
            <a:r>
              <a:rPr lang="es-AR"/>
              <a:t>El escrito de impugnaciones no requerirá  firma de letrado, por lo </a:t>
            </a:r>
            <a:r>
              <a:rPr lang="es-AR" b="1"/>
              <a:t>que </a:t>
            </a:r>
            <a:r>
              <a:rPr lang="es-AR"/>
              <a:t>es optativo del impugnante recurrir o no a patrocinio o asesoramiento letrado </a:t>
            </a:r>
          </a:p>
          <a:p>
            <a:pPr lvl="1"/>
            <a:endParaRPr lang="es-AR"/>
          </a:p>
          <a:p>
            <a:pPr lvl="1"/>
            <a:endParaRPr lang="es-AR"/>
          </a:p>
          <a:p>
            <a:endParaRPr lang="es-AR"/>
          </a:p>
        </p:txBody>
      </p:sp>
      <p:sp>
        <p:nvSpPr>
          <p:cNvPr id="4" name="Slide Number Placeholder 3">
            <a:extLst>
              <a:ext uri="{FF2B5EF4-FFF2-40B4-BE49-F238E27FC236}">
                <a16:creationId xmlns:a16="http://schemas.microsoft.com/office/drawing/2014/main" id="{4B55D363-608E-BA09-FFFA-D490EE486BAA}"/>
              </a:ext>
            </a:extLst>
          </p:cNvPr>
          <p:cNvSpPr>
            <a:spLocks noGrp="1"/>
          </p:cNvSpPr>
          <p:nvPr>
            <p:ph type="sldNum" sz="quarter" idx="12"/>
          </p:nvPr>
        </p:nvSpPr>
        <p:spPr/>
        <p:txBody>
          <a:bodyPr/>
          <a:lstStyle/>
          <a:p>
            <a:fld id="{4FAB73BC-B049-4115-A692-8D63A059BFB8}" type="slidenum">
              <a:rPr lang="en-US" dirty="0"/>
              <a:pPr/>
              <a:t>9</a:t>
            </a:fld>
            <a:endParaRPr lang="en-US"/>
          </a:p>
        </p:txBody>
      </p:sp>
    </p:spTree>
    <p:extLst>
      <p:ext uri="{BB962C8B-B14F-4D97-AF65-F5344CB8AC3E}">
        <p14:creationId xmlns:p14="http://schemas.microsoft.com/office/powerpoint/2010/main" val="1974799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8ED475-62D0-E944-A0AF-CF6699472EDD}"/>
              </a:ext>
            </a:extLst>
          </p:cNvPr>
          <p:cNvSpPr>
            <a:spLocks noGrp="1"/>
          </p:cNvSpPr>
          <p:nvPr>
            <p:ph type="title"/>
          </p:nvPr>
        </p:nvSpPr>
        <p:spPr/>
        <p:txBody>
          <a:bodyPr/>
          <a:lstStyle/>
          <a:p>
            <a:r>
              <a:rPr lang="es-AR"/>
              <a:t>Legitimados</a:t>
            </a:r>
          </a:p>
        </p:txBody>
      </p:sp>
      <p:sp>
        <p:nvSpPr>
          <p:cNvPr id="3" name="Marcador de contenido 2">
            <a:extLst>
              <a:ext uri="{FF2B5EF4-FFF2-40B4-BE49-F238E27FC236}">
                <a16:creationId xmlns:a16="http://schemas.microsoft.com/office/drawing/2014/main" id="{52583F29-3C66-8C45-853D-EC44F68AC500}"/>
              </a:ext>
            </a:extLst>
          </p:cNvPr>
          <p:cNvSpPr>
            <a:spLocks noGrp="1"/>
          </p:cNvSpPr>
          <p:nvPr>
            <p:ph idx="1"/>
          </p:nvPr>
        </p:nvSpPr>
        <p:spPr>
          <a:xfrm>
            <a:off x="3847497" y="1408394"/>
            <a:ext cx="7315200" cy="5120640"/>
          </a:xfrm>
        </p:spPr>
        <p:txBody>
          <a:bodyPr/>
          <a:lstStyle/>
          <a:p>
            <a:r>
              <a:rPr lang="es-AR" i="1"/>
              <a:t>DEUDOR </a:t>
            </a:r>
            <a:r>
              <a:rPr lang="es-AR"/>
              <a:t>Y ACREEDORES </a:t>
            </a:r>
            <a:r>
              <a:rPr lang="es-AR" i="1"/>
              <a:t>QUE PRESENTARON ANTE EL SINDICO PEDIDOS DE VERIFICACION TEMPESTIVAMENTE. </a:t>
            </a:r>
          </a:p>
          <a:p>
            <a:pPr lvl="1"/>
            <a:r>
              <a:rPr lang="es-AR"/>
              <a:t>quienes no se presentaron a verificar no estarían legitimados para formular observaciones o impugnaciones. </a:t>
            </a:r>
          </a:p>
          <a:p>
            <a:pPr lvl="1"/>
            <a:r>
              <a:rPr lang="es-AR"/>
              <a:t>El control de legitimidad, entonces, lo realiza </a:t>
            </a:r>
            <a:r>
              <a:rPr lang="es-AR" u="sng"/>
              <a:t>el síndico</a:t>
            </a:r>
            <a:r>
              <a:rPr lang="es-AR"/>
              <a:t>, con el simple procedimiento de revisar los legajos de verificación. </a:t>
            </a:r>
          </a:p>
          <a:p>
            <a:r>
              <a:rPr lang="es-AR"/>
              <a:t>los trabajadores de la concursada que no tuvieran carácter de acreedores tendrán derecho a revisar los legajos y ser informados por el sindico acerca de los créditos insinuados”</a:t>
            </a:r>
          </a:p>
          <a:p>
            <a:pPr lvl="1"/>
            <a:r>
              <a:rPr lang="es-AR"/>
              <a:t>No son contradictores plenos, pero si </a:t>
            </a:r>
            <a:r>
              <a:rPr lang="es-AR" u="sng"/>
              <a:t>participarán como una suerte de coadyuvantes en el control.  </a:t>
            </a:r>
          </a:p>
          <a:p>
            <a:pPr lvl="1"/>
            <a:endParaRPr lang="es-AR"/>
          </a:p>
          <a:p>
            <a:endParaRPr lang="es-AR"/>
          </a:p>
          <a:p>
            <a:endParaRPr lang="es-AR"/>
          </a:p>
          <a:p>
            <a:endParaRPr lang="es-AR"/>
          </a:p>
        </p:txBody>
      </p:sp>
      <p:sp>
        <p:nvSpPr>
          <p:cNvPr id="4" name="Slide Number Placeholder 3">
            <a:extLst>
              <a:ext uri="{FF2B5EF4-FFF2-40B4-BE49-F238E27FC236}">
                <a16:creationId xmlns:a16="http://schemas.microsoft.com/office/drawing/2014/main" id="{F810E9C1-0850-C25C-71BB-A473F8EC4A90}"/>
              </a:ext>
            </a:extLst>
          </p:cNvPr>
          <p:cNvSpPr>
            <a:spLocks noGrp="1"/>
          </p:cNvSpPr>
          <p:nvPr>
            <p:ph type="sldNum" sz="quarter" idx="12"/>
          </p:nvPr>
        </p:nvSpPr>
        <p:spPr/>
        <p:txBody>
          <a:bodyPr/>
          <a:lstStyle/>
          <a:p>
            <a:fld id="{4FAB73BC-B049-4115-A692-8D63A059BFB8}" type="slidenum">
              <a:rPr lang="en-US" dirty="0"/>
              <a:pPr/>
              <a:t>10</a:t>
            </a:fld>
            <a:endParaRPr lang="en-US"/>
          </a:p>
        </p:txBody>
      </p:sp>
    </p:spTree>
    <p:extLst>
      <p:ext uri="{BB962C8B-B14F-4D97-AF65-F5344CB8AC3E}">
        <p14:creationId xmlns:p14="http://schemas.microsoft.com/office/powerpoint/2010/main" val="1640270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03366F-23BA-624A-B367-E15B97C28C51}"/>
              </a:ext>
            </a:extLst>
          </p:cNvPr>
          <p:cNvSpPr>
            <a:spLocks noGrp="1"/>
          </p:cNvSpPr>
          <p:nvPr>
            <p:ph type="title"/>
          </p:nvPr>
        </p:nvSpPr>
        <p:spPr/>
        <p:txBody>
          <a:bodyPr/>
          <a:lstStyle/>
          <a:p>
            <a:r>
              <a:rPr lang="es-AR"/>
              <a:t>Articulo 35</a:t>
            </a:r>
          </a:p>
        </p:txBody>
      </p:sp>
      <p:sp>
        <p:nvSpPr>
          <p:cNvPr id="3" name="Marcador de contenido 2">
            <a:extLst>
              <a:ext uri="{FF2B5EF4-FFF2-40B4-BE49-F238E27FC236}">
                <a16:creationId xmlns:a16="http://schemas.microsoft.com/office/drawing/2014/main" id="{F2B7BDC4-9EA3-ED4F-8DEE-554AA4A61F2A}"/>
              </a:ext>
            </a:extLst>
          </p:cNvPr>
          <p:cNvSpPr>
            <a:spLocks noGrp="1"/>
          </p:cNvSpPr>
          <p:nvPr>
            <p:ph idx="1"/>
          </p:nvPr>
        </p:nvSpPr>
        <p:spPr/>
        <p:txBody>
          <a:bodyPr/>
          <a:lstStyle/>
          <a:p>
            <a:r>
              <a:rPr lang="es-AR"/>
              <a:t>Informe individual. Vencido el plazo para la formulación de observaciones por parte del deudor y los acreedores, en el plazo de VEINTE (20) días, el síndico deberá redactar un informe sobre cada solicitud de verificación en particular, el que deberá ser presentado al juzgado.</a:t>
            </a:r>
          </a:p>
          <a:p>
            <a:r>
              <a:rPr lang="es-AR"/>
              <a:t>Se debe consignar el nombre completo de cada acreedor, su domicilio real y el constituido, monto y causa del crédito, privilegio y garantías invocados; además, debe reseñar la información obtenida, las observaciones que hubieran recibido las solicitudes, por parte del deudor y de los acreedores, y expresar respecto de cada crédito, opinión fundada sobre la procedencia de la verificación del crédito y el privilegio.</a:t>
            </a:r>
          </a:p>
          <a:p>
            <a:r>
              <a:rPr lang="es-AR"/>
              <a:t>También debe acompañar una copia, que se glosa al legajo a que se refiere el artículo 279, la cual debe quedar a disposición permanente de los interesados para su examen, y copia de los legajos.</a:t>
            </a:r>
          </a:p>
          <a:p>
            <a:endParaRPr lang="es-AR"/>
          </a:p>
        </p:txBody>
      </p:sp>
      <p:sp>
        <p:nvSpPr>
          <p:cNvPr id="4" name="Slide Number Placeholder 3">
            <a:extLst>
              <a:ext uri="{FF2B5EF4-FFF2-40B4-BE49-F238E27FC236}">
                <a16:creationId xmlns:a16="http://schemas.microsoft.com/office/drawing/2014/main" id="{0F2D3ED0-18B9-D8BE-894E-352DA1E2B089}"/>
              </a:ext>
            </a:extLst>
          </p:cNvPr>
          <p:cNvSpPr>
            <a:spLocks noGrp="1"/>
          </p:cNvSpPr>
          <p:nvPr>
            <p:ph type="sldNum" sz="quarter" idx="12"/>
          </p:nvPr>
        </p:nvSpPr>
        <p:spPr/>
        <p:txBody>
          <a:bodyPr/>
          <a:lstStyle/>
          <a:p>
            <a:fld id="{4FAB73BC-B049-4115-A692-8D63A059BFB8}" type="slidenum">
              <a:rPr lang="en-US" dirty="0"/>
              <a:pPr/>
              <a:t>11</a:t>
            </a:fld>
            <a:endParaRPr lang="en-US"/>
          </a:p>
        </p:txBody>
      </p:sp>
    </p:spTree>
    <p:extLst>
      <p:ext uri="{BB962C8B-B14F-4D97-AF65-F5344CB8AC3E}">
        <p14:creationId xmlns:p14="http://schemas.microsoft.com/office/powerpoint/2010/main" val="9508613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03366F-23BA-624A-B367-E15B97C28C51}"/>
              </a:ext>
            </a:extLst>
          </p:cNvPr>
          <p:cNvSpPr>
            <a:spLocks noGrp="1"/>
          </p:cNvSpPr>
          <p:nvPr>
            <p:ph type="title"/>
          </p:nvPr>
        </p:nvSpPr>
        <p:spPr/>
        <p:txBody>
          <a:bodyPr/>
          <a:lstStyle/>
          <a:p>
            <a:r>
              <a:rPr lang="es-AR"/>
              <a:t>Articulo 35</a:t>
            </a:r>
          </a:p>
        </p:txBody>
      </p:sp>
      <p:sp>
        <p:nvSpPr>
          <p:cNvPr id="5" name="Marcador de contenido 4">
            <a:extLst>
              <a:ext uri="{FF2B5EF4-FFF2-40B4-BE49-F238E27FC236}">
                <a16:creationId xmlns:a16="http://schemas.microsoft.com/office/drawing/2014/main" id="{665352E2-8633-1B45-B4C6-96114FF47AF9}"/>
              </a:ext>
            </a:extLst>
          </p:cNvPr>
          <p:cNvSpPr>
            <a:spLocks noGrp="1"/>
          </p:cNvSpPr>
          <p:nvPr>
            <p:ph idx="1"/>
          </p:nvPr>
        </p:nvSpPr>
        <p:spPr>
          <a:xfrm>
            <a:off x="3814839" y="2442536"/>
            <a:ext cx="7315200" cy="5120640"/>
          </a:xfrm>
        </p:spPr>
        <p:txBody>
          <a:bodyPr>
            <a:normAutofit fontScale="77500" lnSpcReduction="20000"/>
          </a:bodyPr>
          <a:lstStyle/>
          <a:p>
            <a:r>
              <a:rPr lang="es-AR"/>
              <a:t>Su contenido definira, junto a la resolución verificatoria de creditos, el destino del concurso</a:t>
            </a:r>
          </a:p>
          <a:p>
            <a:r>
              <a:rPr lang="es-AR"/>
              <a:t> Entonces conocerá con certeza quienes tendrán derecho a </a:t>
            </a:r>
            <a:r>
              <a:rPr lang="es-AR" b="1"/>
              <a:t>"votar" </a:t>
            </a:r>
            <a:r>
              <a:rPr lang="es-AR"/>
              <a:t>la propuesta ofrecida. </a:t>
            </a:r>
          </a:p>
          <a:p>
            <a:r>
              <a:rPr lang="es-AR"/>
              <a:t>Debe consignar</a:t>
            </a:r>
          </a:p>
          <a:p>
            <a:endParaRPr lang="es-AR"/>
          </a:p>
          <a:p>
            <a:pPr lvl="1"/>
            <a:r>
              <a:rPr lang="es-AR" b="1" i="1"/>
              <a:t>NOMBRE COMPLETO QUE IDENTIFIQUE AL ACREEDOR </a:t>
            </a:r>
          </a:p>
          <a:p>
            <a:pPr lvl="1"/>
            <a:r>
              <a:rPr lang="es-AR" b="1" i="1"/>
              <a:t>DOMICILIO REAL Y CONSTITUIDO </a:t>
            </a:r>
          </a:p>
          <a:p>
            <a:pPr lvl="1"/>
            <a:r>
              <a:rPr lang="es-AR" b="1" i="1"/>
              <a:t>EL MONTO DEL CREDITO</a:t>
            </a:r>
          </a:p>
          <a:p>
            <a:pPr lvl="2"/>
            <a:r>
              <a:rPr lang="es-AR"/>
              <a:t>discriminando claramente el capital de los intereses </a:t>
            </a:r>
          </a:p>
          <a:p>
            <a:pPr lvl="2"/>
            <a:r>
              <a:rPr lang="es-AR" b="1" i="1"/>
              <a:t> </a:t>
            </a:r>
            <a:r>
              <a:rPr lang="es-AR"/>
              <a:t>nunca podria aconsejar un monto mayor al requerido </a:t>
            </a:r>
          </a:p>
          <a:p>
            <a:pPr lvl="2"/>
            <a:r>
              <a:rPr lang="es-AR"/>
              <a:t>Cuando en la contabilidad del deudor figurasen pagos realizados que el acreedor no hubiera denunciado, ellos deben ser descontados por el sindico </a:t>
            </a:r>
          </a:p>
          <a:p>
            <a:pPr lvl="2"/>
            <a:r>
              <a:rPr lang="es-AR"/>
              <a:t>En cuanto a los intereses, en primer lugar, el sindico deberá comprobar que se hayan pactado los intereses reclamados en la insinuación, que el deudor se encuentre en mora, que la tasa sea la pactada o la legal o convencionalmente aplicable y que el cálculo de los réditos </a:t>
            </a:r>
            <a:r>
              <a:rPr lang="es-AR" b="1"/>
              <a:t>aparezca </a:t>
            </a:r>
            <a:r>
              <a:rPr lang="es-AR"/>
              <a:t>ajustado </a:t>
            </a:r>
            <a:r>
              <a:rPr lang="es-AR" i="1"/>
              <a:t>a </a:t>
            </a:r>
            <a:r>
              <a:rPr lang="es-AR"/>
              <a:t>todo ello, no traspasando el techo concursa1 (art. 19, </a:t>
            </a:r>
            <a:r>
              <a:rPr lang="es-AR" b="1"/>
              <a:t>LCQ). </a:t>
            </a:r>
          </a:p>
          <a:p>
            <a:pPr lvl="1"/>
            <a:r>
              <a:rPr lang="es-AR" b="1" i="1"/>
              <a:t>PRIVILEGIO INVOCADO</a:t>
            </a:r>
          </a:p>
          <a:p>
            <a:pPr lvl="2"/>
            <a:r>
              <a:rPr lang="es-AR"/>
              <a:t>se presume que el acreedor que omite solicitar m privilegio ha renunciado tácitamente a él.</a:t>
            </a:r>
          </a:p>
          <a:p>
            <a:pPr lvl="1"/>
            <a:r>
              <a:rPr lang="es-AR" b="1" i="1"/>
              <a:t>CAUSA DEL CREDITO</a:t>
            </a:r>
          </a:p>
          <a:p>
            <a:pPr lvl="1"/>
            <a:r>
              <a:rPr lang="es-AR" b="1" i="1"/>
              <a:t>OBSERVACIONES RECIBIDAS.</a:t>
            </a:r>
          </a:p>
          <a:p>
            <a:pPr lvl="1"/>
            <a:r>
              <a:rPr lang="es-AR" b="1" i="1"/>
              <a:t>RESEÑA DE LA INFORMACION DEL CREDITO </a:t>
            </a:r>
          </a:p>
          <a:p>
            <a:pPr lvl="1"/>
            <a:r>
              <a:rPr lang="es-AR" b="1" i="1"/>
              <a:t>PRESCRIPCION</a:t>
            </a:r>
            <a:endParaRPr lang="es-AR"/>
          </a:p>
          <a:p>
            <a:endParaRPr lang="es-AR"/>
          </a:p>
          <a:p>
            <a:endParaRPr lang="es-AR"/>
          </a:p>
          <a:p>
            <a:endParaRPr lang="es-AR"/>
          </a:p>
          <a:p>
            <a:endParaRPr lang="es-AR"/>
          </a:p>
          <a:p>
            <a:endParaRPr lang="es-AR"/>
          </a:p>
          <a:p>
            <a:endParaRPr lang="es-AR"/>
          </a:p>
          <a:p>
            <a:endParaRPr lang="es-AR"/>
          </a:p>
          <a:p>
            <a:endParaRPr lang="es-AR"/>
          </a:p>
          <a:p>
            <a:endParaRPr lang="es-AR"/>
          </a:p>
          <a:p>
            <a:endParaRPr lang="es-AR"/>
          </a:p>
          <a:p>
            <a:endParaRPr lang="es-AR"/>
          </a:p>
        </p:txBody>
      </p:sp>
      <p:sp>
        <p:nvSpPr>
          <p:cNvPr id="3" name="Slide Number Placeholder 2">
            <a:extLst>
              <a:ext uri="{FF2B5EF4-FFF2-40B4-BE49-F238E27FC236}">
                <a16:creationId xmlns:a16="http://schemas.microsoft.com/office/drawing/2014/main" id="{471DCCA8-A147-FC94-BA15-637B7E36EE54}"/>
              </a:ext>
            </a:extLst>
          </p:cNvPr>
          <p:cNvSpPr>
            <a:spLocks noGrp="1"/>
          </p:cNvSpPr>
          <p:nvPr>
            <p:ph type="sldNum" sz="quarter" idx="12"/>
          </p:nvPr>
        </p:nvSpPr>
        <p:spPr/>
        <p:txBody>
          <a:bodyPr/>
          <a:lstStyle/>
          <a:p>
            <a:fld id="{4FAB73BC-B049-4115-A692-8D63A059BFB8}" type="slidenum">
              <a:rPr lang="en-US" dirty="0"/>
              <a:pPr/>
              <a:t>12</a:t>
            </a:fld>
            <a:endParaRPr lang="en-US"/>
          </a:p>
        </p:txBody>
      </p:sp>
    </p:spTree>
    <p:extLst>
      <p:ext uri="{BB962C8B-B14F-4D97-AF65-F5344CB8AC3E}">
        <p14:creationId xmlns:p14="http://schemas.microsoft.com/office/powerpoint/2010/main" val="3836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113049-CE16-194D-B1CD-202F60788146}"/>
              </a:ext>
            </a:extLst>
          </p:cNvPr>
          <p:cNvSpPr>
            <a:spLocks noGrp="1"/>
          </p:cNvSpPr>
          <p:nvPr>
            <p:ph type="title"/>
          </p:nvPr>
        </p:nvSpPr>
        <p:spPr/>
        <p:txBody>
          <a:bodyPr/>
          <a:lstStyle/>
          <a:p>
            <a:r>
              <a:rPr lang="es-AR"/>
              <a:t>Jurisprudencia</a:t>
            </a:r>
          </a:p>
        </p:txBody>
      </p:sp>
      <p:sp>
        <p:nvSpPr>
          <p:cNvPr id="3" name="Marcador de contenido 2">
            <a:extLst>
              <a:ext uri="{FF2B5EF4-FFF2-40B4-BE49-F238E27FC236}">
                <a16:creationId xmlns:a16="http://schemas.microsoft.com/office/drawing/2014/main" id="{BF944F4A-A0DA-CB4C-B60D-81851C04AB29}"/>
              </a:ext>
            </a:extLst>
          </p:cNvPr>
          <p:cNvSpPr>
            <a:spLocks noGrp="1"/>
          </p:cNvSpPr>
          <p:nvPr>
            <p:ph idx="1"/>
          </p:nvPr>
        </p:nvSpPr>
        <p:spPr/>
        <p:txBody>
          <a:bodyPr/>
          <a:lstStyle/>
          <a:p>
            <a:r>
              <a:rPr lang="es-AR"/>
              <a:t>"El sindico se limita a dar su parecer sobre la procedencia o improcedencia de los pedidos de verificación, pero carece de potestad decisoria; por otra parte incita al órgano jurisdiccional, el cual debe resolver en forma expresa, aun cuando la opinión ad- versa del funcionario concursal no haya sido impugnada" (CNCom, Sala E, 9/12/88, "Cia. Financiera Sic SA c/Cfas. Asociadas Petrole- ras SA s/concurso", </a:t>
            </a:r>
            <a:r>
              <a:rPr lang="es-AR" i="1"/>
              <a:t>LLonlhe, </a:t>
            </a:r>
            <a:r>
              <a:rPr lang="es-AR"/>
              <a:t>AWJUR/585/1988). </a:t>
            </a:r>
          </a:p>
          <a:p>
            <a:endParaRPr lang="es-AR"/>
          </a:p>
        </p:txBody>
      </p:sp>
      <p:sp>
        <p:nvSpPr>
          <p:cNvPr id="4" name="Slide Number Placeholder 3">
            <a:extLst>
              <a:ext uri="{FF2B5EF4-FFF2-40B4-BE49-F238E27FC236}">
                <a16:creationId xmlns:a16="http://schemas.microsoft.com/office/drawing/2014/main" id="{15EE647D-9619-2038-DD35-A82DBE24C346}"/>
              </a:ext>
            </a:extLst>
          </p:cNvPr>
          <p:cNvSpPr>
            <a:spLocks noGrp="1"/>
          </p:cNvSpPr>
          <p:nvPr>
            <p:ph type="sldNum" sz="quarter" idx="12"/>
          </p:nvPr>
        </p:nvSpPr>
        <p:spPr/>
        <p:txBody>
          <a:bodyPr/>
          <a:lstStyle/>
          <a:p>
            <a:fld id="{4FAB73BC-B049-4115-A692-8D63A059BFB8}" type="slidenum">
              <a:rPr lang="en-US" dirty="0"/>
              <a:pPr/>
              <a:t>13</a:t>
            </a:fld>
            <a:endParaRPr lang="en-US"/>
          </a:p>
        </p:txBody>
      </p:sp>
    </p:spTree>
    <p:extLst>
      <p:ext uri="{BB962C8B-B14F-4D97-AF65-F5344CB8AC3E}">
        <p14:creationId xmlns:p14="http://schemas.microsoft.com/office/powerpoint/2010/main" val="5926959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8B78D7-C116-E048-B4B7-A9FD45774ADE}"/>
              </a:ext>
            </a:extLst>
          </p:cNvPr>
          <p:cNvSpPr>
            <a:spLocks noGrp="1"/>
          </p:cNvSpPr>
          <p:nvPr>
            <p:ph type="title"/>
          </p:nvPr>
        </p:nvSpPr>
        <p:spPr/>
        <p:txBody>
          <a:bodyPr/>
          <a:lstStyle/>
          <a:p>
            <a:r>
              <a:rPr lang="es-AR"/>
              <a:t>Articulo 36</a:t>
            </a:r>
          </a:p>
        </p:txBody>
      </p:sp>
      <p:sp>
        <p:nvSpPr>
          <p:cNvPr id="3" name="Marcador de contenido 2">
            <a:extLst>
              <a:ext uri="{FF2B5EF4-FFF2-40B4-BE49-F238E27FC236}">
                <a16:creationId xmlns:a16="http://schemas.microsoft.com/office/drawing/2014/main" id="{A87D039F-A061-B948-A935-0B3074FDA5FB}"/>
              </a:ext>
            </a:extLst>
          </p:cNvPr>
          <p:cNvSpPr>
            <a:spLocks noGrp="1"/>
          </p:cNvSpPr>
          <p:nvPr>
            <p:ph idx="1"/>
          </p:nvPr>
        </p:nvSpPr>
        <p:spPr/>
        <p:txBody>
          <a:bodyPr/>
          <a:lstStyle/>
          <a:p>
            <a:r>
              <a:rPr lang="es-AR" dirty="0"/>
              <a:t>Resolución judicial. Dentro de los DIEZ (10) días de presentado el informe por parte del síndico, el juez decidirá sobre la procedencia y alcances de las solicitudes formuladas por los acreedores. El crédito o privilegio no observados por el síndico, el deudor o los acreedores es declarado </a:t>
            </a:r>
            <a:r>
              <a:rPr lang="es-AR" b="1" dirty="0">
                <a:solidFill>
                  <a:schemeClr val="accent1">
                    <a:lumMod val="75000"/>
                  </a:schemeClr>
                </a:solidFill>
              </a:rPr>
              <a:t>verificado</a:t>
            </a:r>
            <a:r>
              <a:rPr lang="es-AR" dirty="0"/>
              <a:t>, si el juez lo estima procedente.</a:t>
            </a:r>
          </a:p>
          <a:p>
            <a:r>
              <a:rPr lang="es-AR" dirty="0"/>
              <a:t>Cuando existan observaciones, el juez debe decidir declarando </a:t>
            </a:r>
            <a:r>
              <a:rPr lang="es-AR" b="1" dirty="0">
                <a:solidFill>
                  <a:schemeClr val="accent1">
                    <a:lumMod val="75000"/>
                  </a:schemeClr>
                </a:solidFill>
              </a:rPr>
              <a:t>admisible</a:t>
            </a:r>
            <a:r>
              <a:rPr lang="es-AR" dirty="0"/>
              <a:t> o </a:t>
            </a:r>
            <a:r>
              <a:rPr lang="es-AR" b="1" dirty="0">
                <a:solidFill>
                  <a:schemeClr val="accent1">
                    <a:lumMod val="75000"/>
                  </a:schemeClr>
                </a:solidFill>
              </a:rPr>
              <a:t>inadmisible</a:t>
            </a:r>
            <a:r>
              <a:rPr lang="es-AR" dirty="0"/>
              <a:t> el crédito o el privilegio.</a:t>
            </a:r>
          </a:p>
          <a:p>
            <a:r>
              <a:rPr lang="es-AR" dirty="0"/>
              <a:t>Estas resoluciones son definitivas a los fines del cómputo en la evaluación de mayorías y base del acuerdo, sin perjuicio de lo dispuesto en el artículo siguiente.</a:t>
            </a:r>
          </a:p>
          <a:p>
            <a:endParaRPr lang="es-AR" dirty="0"/>
          </a:p>
        </p:txBody>
      </p:sp>
      <p:sp>
        <p:nvSpPr>
          <p:cNvPr id="4" name="Slide Number Placeholder 3">
            <a:extLst>
              <a:ext uri="{FF2B5EF4-FFF2-40B4-BE49-F238E27FC236}">
                <a16:creationId xmlns:a16="http://schemas.microsoft.com/office/drawing/2014/main" id="{84357491-ED4E-089D-A715-DBB22881F43B}"/>
              </a:ext>
            </a:extLst>
          </p:cNvPr>
          <p:cNvSpPr>
            <a:spLocks noGrp="1"/>
          </p:cNvSpPr>
          <p:nvPr>
            <p:ph type="sldNum" sz="quarter" idx="12"/>
          </p:nvPr>
        </p:nvSpPr>
        <p:spPr/>
        <p:txBody>
          <a:bodyPr/>
          <a:lstStyle/>
          <a:p>
            <a:fld id="{4FAB73BC-B049-4115-A692-8D63A059BFB8}" type="slidenum">
              <a:rPr lang="en-US" dirty="0"/>
              <a:pPr/>
              <a:t>14</a:t>
            </a:fld>
            <a:endParaRPr lang="en-US"/>
          </a:p>
        </p:txBody>
      </p:sp>
    </p:spTree>
    <p:extLst>
      <p:ext uri="{BB962C8B-B14F-4D97-AF65-F5344CB8AC3E}">
        <p14:creationId xmlns:p14="http://schemas.microsoft.com/office/powerpoint/2010/main" val="29805679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8B78D7-C116-E048-B4B7-A9FD45774ADE}"/>
              </a:ext>
            </a:extLst>
          </p:cNvPr>
          <p:cNvSpPr>
            <a:spLocks noGrp="1"/>
          </p:cNvSpPr>
          <p:nvPr>
            <p:ph type="title"/>
          </p:nvPr>
        </p:nvSpPr>
        <p:spPr/>
        <p:txBody>
          <a:bodyPr/>
          <a:lstStyle/>
          <a:p>
            <a:r>
              <a:rPr lang="es-AR"/>
              <a:t>Articulo 36</a:t>
            </a:r>
          </a:p>
        </p:txBody>
      </p:sp>
      <p:sp>
        <p:nvSpPr>
          <p:cNvPr id="5" name="Marcador de contenido 4">
            <a:extLst>
              <a:ext uri="{FF2B5EF4-FFF2-40B4-BE49-F238E27FC236}">
                <a16:creationId xmlns:a16="http://schemas.microsoft.com/office/drawing/2014/main" id="{5ABCD98C-7ED3-404C-B3D8-49979B4A0D92}"/>
              </a:ext>
            </a:extLst>
          </p:cNvPr>
          <p:cNvSpPr>
            <a:spLocks noGrp="1"/>
          </p:cNvSpPr>
          <p:nvPr>
            <p:ph idx="1"/>
          </p:nvPr>
        </p:nvSpPr>
        <p:spPr>
          <a:xfrm>
            <a:off x="3869268" y="864108"/>
            <a:ext cx="7315200" cy="1694035"/>
          </a:xfrm>
          <a:noFill/>
          <a:ln>
            <a:noFill/>
          </a:ln>
        </p:spPr>
        <p:style>
          <a:lnRef idx="0">
            <a:scrgbClr r="0" g="0" b="0"/>
          </a:lnRef>
          <a:fillRef idx="0">
            <a:scrgbClr r="0" g="0" b="0"/>
          </a:fillRef>
          <a:effectRef idx="0">
            <a:scrgbClr r="0" g="0" b="0"/>
          </a:effectRef>
          <a:fontRef idx="minor">
            <a:schemeClr val="accent1"/>
          </a:fontRef>
        </p:style>
        <p:txBody>
          <a:bodyPr/>
          <a:lstStyle/>
          <a:p>
            <a:pPr algn="just"/>
            <a:r>
              <a:rPr lang="es-AR" sz="1500"/>
              <a:t>El magistrado concursal pone fin al "proceso" o etapa de verificación tempestiva de creditos, </a:t>
            </a:r>
          </a:p>
          <a:p>
            <a:pPr algn="just"/>
            <a:r>
              <a:rPr lang="es-AR" sz="1500"/>
              <a:t>El juez debe decidir fundadamente sobre la </a:t>
            </a:r>
            <a:r>
              <a:rPr lang="es-AR" sz="1500" b="1" i="1"/>
              <a:t>procedencia </a:t>
            </a:r>
            <a:r>
              <a:rPr lang="es-AR" sz="1500" b="1"/>
              <a:t>de </a:t>
            </a:r>
            <a:r>
              <a:rPr lang="es-AR" sz="1500"/>
              <a:t>todas y cada una de las insinuaciones, indicando nombre del acreedor, monto y </a:t>
            </a:r>
            <a:r>
              <a:rPr lang="es-AR" sz="1500" b="1"/>
              <a:t>privilegio, </a:t>
            </a:r>
            <a:r>
              <a:rPr lang="es-AR" sz="1500"/>
              <a:t>sea admitiéndolas o rechazándolas</a:t>
            </a:r>
          </a:p>
          <a:p>
            <a:pPr algn="just"/>
            <a:endParaRPr lang="es-AR" sz="1500"/>
          </a:p>
          <a:p>
            <a:endParaRPr lang="es-AR"/>
          </a:p>
        </p:txBody>
      </p:sp>
      <p:sp>
        <p:nvSpPr>
          <p:cNvPr id="6" name="CuadroTexto 5">
            <a:extLst>
              <a:ext uri="{FF2B5EF4-FFF2-40B4-BE49-F238E27FC236}">
                <a16:creationId xmlns:a16="http://schemas.microsoft.com/office/drawing/2014/main" id="{96B9D9E3-AF4C-8B48-964F-FAD2A1171BE6}"/>
              </a:ext>
            </a:extLst>
          </p:cNvPr>
          <p:cNvSpPr txBox="1"/>
          <p:nvPr/>
        </p:nvSpPr>
        <p:spPr>
          <a:xfrm>
            <a:off x="4114801" y="2824263"/>
            <a:ext cx="7069667"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s-AR"/>
              <a:t>El dictamen del síndico previsto en el art. 35 no es vinculante y que el magistrado puede apartarse de él, aun sin haber mediado observaciones o impugnaciones. </a:t>
            </a:r>
          </a:p>
          <a:p>
            <a:endParaRPr lang="es-AR"/>
          </a:p>
        </p:txBody>
      </p:sp>
      <p:sp>
        <p:nvSpPr>
          <p:cNvPr id="7" name="Flecha abajo 6">
            <a:extLst>
              <a:ext uri="{FF2B5EF4-FFF2-40B4-BE49-F238E27FC236}">
                <a16:creationId xmlns:a16="http://schemas.microsoft.com/office/drawing/2014/main" id="{7A0B33FF-682F-AD4E-A56F-2286CB0F2287}"/>
              </a:ext>
            </a:extLst>
          </p:cNvPr>
          <p:cNvSpPr/>
          <p:nvPr/>
        </p:nvSpPr>
        <p:spPr>
          <a:xfrm>
            <a:off x="7347857" y="2100943"/>
            <a:ext cx="283029"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CuadroTexto 8">
            <a:extLst>
              <a:ext uri="{FF2B5EF4-FFF2-40B4-BE49-F238E27FC236}">
                <a16:creationId xmlns:a16="http://schemas.microsoft.com/office/drawing/2014/main" id="{28504663-D9EE-3D4B-9B46-8E11B1A61511}"/>
              </a:ext>
            </a:extLst>
          </p:cNvPr>
          <p:cNvSpPr txBox="1"/>
          <p:nvPr/>
        </p:nvSpPr>
        <p:spPr>
          <a:xfrm>
            <a:off x="5040086" y="4648200"/>
            <a:ext cx="5617028" cy="120032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s-AR"/>
              <a:t>Tal como prescribe la norma, el juez debe dictar sentencia en el plazo de </a:t>
            </a:r>
            <a:r>
              <a:rPr lang="es-AR" b="1" u="sng"/>
              <a:t>diez dias hábiles judiciales </a:t>
            </a:r>
            <a:r>
              <a:rPr lang="es-AR"/>
              <a:t>desde la presentación de los informes individuales. </a:t>
            </a:r>
          </a:p>
          <a:p>
            <a:endParaRPr lang="es-AR"/>
          </a:p>
        </p:txBody>
      </p:sp>
      <p:sp>
        <p:nvSpPr>
          <p:cNvPr id="3" name="Slide Number Placeholder 2">
            <a:extLst>
              <a:ext uri="{FF2B5EF4-FFF2-40B4-BE49-F238E27FC236}">
                <a16:creationId xmlns:a16="http://schemas.microsoft.com/office/drawing/2014/main" id="{291EDFDC-81A3-B672-8065-24F71B920BDC}"/>
              </a:ext>
            </a:extLst>
          </p:cNvPr>
          <p:cNvSpPr>
            <a:spLocks noGrp="1"/>
          </p:cNvSpPr>
          <p:nvPr>
            <p:ph type="sldNum" sz="quarter" idx="12"/>
          </p:nvPr>
        </p:nvSpPr>
        <p:spPr/>
        <p:txBody>
          <a:bodyPr/>
          <a:lstStyle/>
          <a:p>
            <a:fld id="{4FAB73BC-B049-4115-A692-8D63A059BFB8}" type="slidenum">
              <a:rPr lang="en-US" dirty="0"/>
              <a:pPr/>
              <a:t>15</a:t>
            </a:fld>
            <a:endParaRPr lang="en-US"/>
          </a:p>
        </p:txBody>
      </p:sp>
    </p:spTree>
    <p:extLst>
      <p:ext uri="{BB962C8B-B14F-4D97-AF65-F5344CB8AC3E}">
        <p14:creationId xmlns:p14="http://schemas.microsoft.com/office/powerpoint/2010/main" val="42921987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8B78D7-C116-E048-B4B7-A9FD45774ADE}"/>
              </a:ext>
            </a:extLst>
          </p:cNvPr>
          <p:cNvSpPr>
            <a:spLocks noGrp="1"/>
          </p:cNvSpPr>
          <p:nvPr>
            <p:ph type="title"/>
          </p:nvPr>
        </p:nvSpPr>
        <p:spPr/>
        <p:txBody>
          <a:bodyPr/>
          <a:lstStyle/>
          <a:p>
            <a:r>
              <a:rPr lang="es-AR"/>
              <a:t>Articulo 36</a:t>
            </a:r>
          </a:p>
        </p:txBody>
      </p:sp>
      <p:sp>
        <p:nvSpPr>
          <p:cNvPr id="3" name="Marcador de contenido 2">
            <a:extLst>
              <a:ext uri="{FF2B5EF4-FFF2-40B4-BE49-F238E27FC236}">
                <a16:creationId xmlns:a16="http://schemas.microsoft.com/office/drawing/2014/main" id="{A87D039F-A061-B948-A935-0B3074FDA5FB}"/>
              </a:ext>
            </a:extLst>
          </p:cNvPr>
          <p:cNvSpPr>
            <a:spLocks noGrp="1"/>
          </p:cNvSpPr>
          <p:nvPr>
            <p:ph idx="1"/>
          </p:nvPr>
        </p:nvSpPr>
        <p:spPr>
          <a:xfrm>
            <a:off x="3869268" y="864108"/>
            <a:ext cx="7315200" cy="376863"/>
          </a:xfrm>
        </p:spPr>
        <p:txBody>
          <a:bodyPr/>
          <a:lstStyle/>
          <a:p>
            <a:pPr marL="0" indent="0">
              <a:buNone/>
            </a:pPr>
            <a:r>
              <a:rPr lang="es-AR"/>
              <a:t>MODALIDADES DE EXCLUSION O INCLUSION</a:t>
            </a:r>
          </a:p>
        </p:txBody>
      </p:sp>
      <p:sp>
        <p:nvSpPr>
          <p:cNvPr id="4" name="CuadroTexto 3">
            <a:extLst>
              <a:ext uri="{FF2B5EF4-FFF2-40B4-BE49-F238E27FC236}">
                <a16:creationId xmlns:a16="http://schemas.microsoft.com/office/drawing/2014/main" id="{A0AA5901-5E68-6B4A-9787-44D325B3B38D}"/>
              </a:ext>
            </a:extLst>
          </p:cNvPr>
          <p:cNvSpPr txBox="1"/>
          <p:nvPr/>
        </p:nvSpPr>
        <p:spPr>
          <a:xfrm>
            <a:off x="4060371" y="1524000"/>
            <a:ext cx="7206343" cy="3416320"/>
          </a:xfrm>
          <a:prstGeom prst="rect">
            <a:avLst/>
          </a:prstGeom>
          <a:noFill/>
          <a:ln>
            <a:solidFill>
              <a:schemeClr val="accent1">
                <a:lumMod val="75000"/>
              </a:schemeClr>
            </a:solidFill>
          </a:ln>
        </p:spPr>
        <p:txBody>
          <a:bodyPr wrap="square" rtlCol="0">
            <a:spAutoFit/>
          </a:bodyPr>
          <a:lstStyle/>
          <a:p>
            <a:r>
              <a:rPr lang="es-AR" i="1"/>
              <a:t>a) Verificados. </a:t>
            </a:r>
            <a:r>
              <a:rPr lang="es-AR"/>
              <a:t>Son las acreencias insinuadas que </a:t>
            </a:r>
            <a:r>
              <a:rPr lang="es-AR">
                <a:highlight>
                  <a:srgbClr val="00FFFF"/>
                </a:highlight>
              </a:rPr>
              <a:t>no fueron impugnadas </a:t>
            </a:r>
            <a:r>
              <a:rPr lang="es-AR"/>
              <a:t>ni por el deudor, ni por ningún acreedor, que </a:t>
            </a:r>
            <a:r>
              <a:rPr lang="es-AR">
                <a:highlight>
                  <a:srgbClr val="00FFFF"/>
                </a:highlight>
              </a:rPr>
              <a:t>tienen dictamen favorable </a:t>
            </a:r>
            <a:r>
              <a:rPr lang="es-AR"/>
              <a:t>del sindico y el juez coincide con ello. </a:t>
            </a:r>
          </a:p>
          <a:p>
            <a:r>
              <a:rPr lang="es-AR" i="1"/>
              <a:t>b) </a:t>
            </a:r>
            <a:r>
              <a:rPr lang="es-AR"/>
              <a:t>Admisibles. Se trata de créditos que, o bien </a:t>
            </a:r>
            <a:r>
              <a:rPr lang="es-AR">
                <a:highlight>
                  <a:srgbClr val="00FFFF"/>
                </a:highlight>
              </a:rPr>
              <a:t>fueron observados o impugnados por el deudor o acreedores</a:t>
            </a:r>
            <a:r>
              <a:rPr lang="es-AR"/>
              <a:t>, ya sea que el síndico coincida o no con dicha observación, </a:t>
            </a:r>
            <a:r>
              <a:rPr lang="es-AR">
                <a:highlight>
                  <a:srgbClr val="00FFFF"/>
                </a:highlight>
              </a:rPr>
              <a:t>o fueron desaconsejados motu propio por éste</a:t>
            </a:r>
            <a:r>
              <a:rPr lang="es-AR"/>
              <a:t>, pero el juez decide admitir el crédito. </a:t>
            </a:r>
          </a:p>
          <a:p>
            <a:r>
              <a:rPr lang="es-AR" i="1"/>
              <a:t>c) Inadmisibles. </a:t>
            </a:r>
            <a:r>
              <a:rPr lang="es-AR"/>
              <a:t>En este caso son </a:t>
            </a:r>
            <a:r>
              <a:rPr lang="es-AR">
                <a:highlight>
                  <a:srgbClr val="00FFFF"/>
                </a:highlight>
              </a:rPr>
              <a:t>acreencias observadas o impugnadas </a:t>
            </a:r>
            <a:r>
              <a:rPr lang="es-AR"/>
              <a:t>y, ya sea que el sindico coincida o no con dicha observación, o bien que este </a:t>
            </a:r>
            <a:r>
              <a:rPr lang="es-AR">
                <a:highlight>
                  <a:srgbClr val="00FFFF"/>
                </a:highlight>
              </a:rPr>
              <a:t>aconseje su incorporación o no al pasivo</a:t>
            </a:r>
            <a:r>
              <a:rPr lang="es-AR"/>
              <a:t>, el juez decide, a diferencia del caso anterior, rechazar el crédito. </a:t>
            </a:r>
          </a:p>
          <a:p>
            <a:endParaRPr lang="es-AR"/>
          </a:p>
        </p:txBody>
      </p:sp>
      <p:sp>
        <p:nvSpPr>
          <p:cNvPr id="5" name="Slide Number Placeholder 4">
            <a:extLst>
              <a:ext uri="{FF2B5EF4-FFF2-40B4-BE49-F238E27FC236}">
                <a16:creationId xmlns:a16="http://schemas.microsoft.com/office/drawing/2014/main" id="{EFC64B62-2DE8-1A70-0D1E-A6F684A33E23}"/>
              </a:ext>
            </a:extLst>
          </p:cNvPr>
          <p:cNvSpPr>
            <a:spLocks noGrp="1"/>
          </p:cNvSpPr>
          <p:nvPr>
            <p:ph type="sldNum" sz="quarter" idx="12"/>
          </p:nvPr>
        </p:nvSpPr>
        <p:spPr/>
        <p:txBody>
          <a:bodyPr/>
          <a:lstStyle/>
          <a:p>
            <a:fld id="{4FAB73BC-B049-4115-A692-8D63A059BFB8}" type="slidenum">
              <a:rPr lang="en-US" dirty="0"/>
              <a:pPr/>
              <a:t>16</a:t>
            </a:fld>
            <a:endParaRPr lang="en-US"/>
          </a:p>
        </p:txBody>
      </p:sp>
    </p:spTree>
    <p:extLst>
      <p:ext uri="{BB962C8B-B14F-4D97-AF65-F5344CB8AC3E}">
        <p14:creationId xmlns:p14="http://schemas.microsoft.com/office/powerpoint/2010/main" val="41402072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C304D2-B8E2-184D-9C9D-832E75FA5CF3}"/>
              </a:ext>
            </a:extLst>
          </p:cNvPr>
          <p:cNvSpPr>
            <a:spLocks noGrp="1"/>
          </p:cNvSpPr>
          <p:nvPr>
            <p:ph type="title"/>
          </p:nvPr>
        </p:nvSpPr>
        <p:spPr/>
        <p:txBody>
          <a:bodyPr/>
          <a:lstStyle/>
          <a:p>
            <a:r>
              <a:rPr lang="es-AR"/>
              <a:t>Resumen</a:t>
            </a:r>
          </a:p>
        </p:txBody>
      </p:sp>
      <p:pic>
        <p:nvPicPr>
          <p:cNvPr id="4" name="Marcador de contenido 3">
            <a:extLst>
              <a:ext uri="{FF2B5EF4-FFF2-40B4-BE49-F238E27FC236}">
                <a16:creationId xmlns:a16="http://schemas.microsoft.com/office/drawing/2014/main" id="{22E193BD-4CEC-774B-AA30-756936BBB31A}"/>
              </a:ext>
            </a:extLst>
          </p:cNvPr>
          <p:cNvPicPr>
            <a:picLocks noGrp="1" noChangeAspect="1"/>
          </p:cNvPicPr>
          <p:nvPr>
            <p:ph idx="1"/>
          </p:nvPr>
        </p:nvPicPr>
        <p:blipFill>
          <a:blip r:embed="rId2"/>
          <a:stretch>
            <a:fillRect/>
          </a:stretch>
        </p:blipFill>
        <p:spPr>
          <a:xfrm>
            <a:off x="4256075" y="863600"/>
            <a:ext cx="6540526" cy="5121275"/>
          </a:xfrm>
          <a:prstGeom prst="rect">
            <a:avLst/>
          </a:prstGeom>
        </p:spPr>
      </p:pic>
      <p:sp>
        <p:nvSpPr>
          <p:cNvPr id="3" name="Slide Number Placeholder 2">
            <a:extLst>
              <a:ext uri="{FF2B5EF4-FFF2-40B4-BE49-F238E27FC236}">
                <a16:creationId xmlns:a16="http://schemas.microsoft.com/office/drawing/2014/main" id="{EF13F869-825F-5AAB-A6E2-3D74D85680F9}"/>
              </a:ext>
            </a:extLst>
          </p:cNvPr>
          <p:cNvSpPr>
            <a:spLocks noGrp="1"/>
          </p:cNvSpPr>
          <p:nvPr>
            <p:ph type="sldNum" sz="quarter" idx="12"/>
          </p:nvPr>
        </p:nvSpPr>
        <p:spPr/>
        <p:txBody>
          <a:bodyPr/>
          <a:lstStyle/>
          <a:p>
            <a:fld id="{4FAB73BC-B049-4115-A692-8D63A059BFB8}" type="slidenum">
              <a:rPr lang="en-US" dirty="0"/>
              <a:pPr/>
              <a:t>17</a:t>
            </a:fld>
            <a:endParaRPr lang="en-US"/>
          </a:p>
        </p:txBody>
      </p:sp>
    </p:spTree>
    <p:extLst>
      <p:ext uri="{BB962C8B-B14F-4D97-AF65-F5344CB8AC3E}">
        <p14:creationId xmlns:p14="http://schemas.microsoft.com/office/powerpoint/2010/main" val="23248307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15A300-751E-744A-AC31-E356B4F8FEC9}"/>
              </a:ext>
            </a:extLst>
          </p:cNvPr>
          <p:cNvSpPr>
            <a:spLocks noGrp="1"/>
          </p:cNvSpPr>
          <p:nvPr>
            <p:ph type="title"/>
          </p:nvPr>
        </p:nvSpPr>
        <p:spPr/>
        <p:txBody>
          <a:bodyPr/>
          <a:lstStyle/>
          <a:p>
            <a:r>
              <a:rPr lang="es-AR"/>
              <a:t>Articulo 36</a:t>
            </a:r>
          </a:p>
        </p:txBody>
      </p:sp>
      <p:sp>
        <p:nvSpPr>
          <p:cNvPr id="3" name="Marcador de contenido 2">
            <a:extLst>
              <a:ext uri="{FF2B5EF4-FFF2-40B4-BE49-F238E27FC236}">
                <a16:creationId xmlns:a16="http://schemas.microsoft.com/office/drawing/2014/main" id="{40A99062-2979-2F43-8AE8-5786DBB5E667}"/>
              </a:ext>
            </a:extLst>
          </p:cNvPr>
          <p:cNvSpPr>
            <a:spLocks noGrp="1"/>
          </p:cNvSpPr>
          <p:nvPr>
            <p:ph idx="1"/>
          </p:nvPr>
        </p:nvSpPr>
        <p:spPr>
          <a:xfrm>
            <a:off x="3825725" y="1737360"/>
            <a:ext cx="7315200" cy="5120640"/>
          </a:xfrm>
        </p:spPr>
        <p:txBody>
          <a:bodyPr/>
          <a:lstStyle/>
          <a:p>
            <a:pPr algn="just"/>
            <a:r>
              <a:rPr lang="es-AR"/>
              <a:t>A partir de ella se encuentra fijada la "masa" que votará el acuerdo que presente el concursado. </a:t>
            </a:r>
          </a:p>
          <a:p>
            <a:pPr algn="just"/>
            <a:r>
              <a:rPr lang="es-AR"/>
              <a:t>la verificacion produce los efectos de cosa juzgada y es definitiva en cuanto a los cómputos de las mayorías para lograr el acuerdo y solo puede ser atacada por dolo. </a:t>
            </a:r>
          </a:p>
          <a:p>
            <a:pPr algn="just"/>
            <a:r>
              <a:rPr lang="es-AR"/>
              <a:t>La admisibilidad, por su parte, permite votar el acuerdo, pero puede ser revisada por medio de la formación del incidente respectivo, revistiendo, por lo tanto, el carácter de una sentencia provisional. </a:t>
            </a:r>
          </a:p>
          <a:p>
            <a:pPr algn="just"/>
            <a:r>
              <a:rPr lang="es-AR"/>
              <a:t>La declaración de inadmisibilidad excluye al acreedor del cómputo para el acuerdo y es también revisable por vía incidental </a:t>
            </a:r>
          </a:p>
          <a:p>
            <a:pPr algn="just"/>
            <a:r>
              <a:rPr lang="es-AR"/>
              <a:t>El </a:t>
            </a:r>
            <a:r>
              <a:rPr lang="es-AR" i="1"/>
              <a:t>juez, </a:t>
            </a:r>
            <a:r>
              <a:rPr lang="es-AR"/>
              <a:t>como director del proceso, se encuentra legitimado para requerir explicaciones al síndico sobre algún punto oscuro de su informe o para que supla alguna omisión en él. </a:t>
            </a:r>
          </a:p>
          <a:p>
            <a:endParaRPr lang="es-AR"/>
          </a:p>
          <a:p>
            <a:endParaRPr lang="es-AR"/>
          </a:p>
          <a:p>
            <a:endParaRPr lang="es-AR"/>
          </a:p>
          <a:p>
            <a:endParaRPr lang="es-AR"/>
          </a:p>
          <a:p>
            <a:endParaRPr lang="es-AR"/>
          </a:p>
        </p:txBody>
      </p:sp>
      <p:sp>
        <p:nvSpPr>
          <p:cNvPr id="4" name="Slide Number Placeholder 3">
            <a:extLst>
              <a:ext uri="{FF2B5EF4-FFF2-40B4-BE49-F238E27FC236}">
                <a16:creationId xmlns:a16="http://schemas.microsoft.com/office/drawing/2014/main" id="{55F5E66C-BDBA-5243-F7DA-66F159AABE5A}"/>
              </a:ext>
            </a:extLst>
          </p:cNvPr>
          <p:cNvSpPr>
            <a:spLocks noGrp="1"/>
          </p:cNvSpPr>
          <p:nvPr>
            <p:ph type="sldNum" sz="quarter" idx="12"/>
          </p:nvPr>
        </p:nvSpPr>
        <p:spPr/>
        <p:txBody>
          <a:bodyPr/>
          <a:lstStyle/>
          <a:p>
            <a:fld id="{4FAB73BC-B049-4115-A692-8D63A059BFB8}" type="slidenum">
              <a:rPr lang="en-US" dirty="0"/>
              <a:pPr/>
              <a:t>18</a:t>
            </a:fld>
            <a:endParaRPr lang="en-US"/>
          </a:p>
        </p:txBody>
      </p:sp>
    </p:spTree>
    <p:extLst>
      <p:ext uri="{BB962C8B-B14F-4D97-AF65-F5344CB8AC3E}">
        <p14:creationId xmlns:p14="http://schemas.microsoft.com/office/powerpoint/2010/main" val="30932575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9632A8-CDBE-8440-BAB2-21A4772FF793}"/>
              </a:ext>
            </a:extLst>
          </p:cNvPr>
          <p:cNvSpPr>
            <a:spLocks noGrp="1"/>
          </p:cNvSpPr>
          <p:nvPr>
            <p:ph type="title"/>
          </p:nvPr>
        </p:nvSpPr>
        <p:spPr/>
        <p:txBody>
          <a:bodyPr/>
          <a:lstStyle/>
          <a:p>
            <a:r>
              <a:rPr lang="es-AR"/>
              <a:t>Articulo 37</a:t>
            </a:r>
          </a:p>
        </p:txBody>
      </p:sp>
      <p:sp>
        <p:nvSpPr>
          <p:cNvPr id="3" name="Marcador de contenido 2">
            <a:extLst>
              <a:ext uri="{FF2B5EF4-FFF2-40B4-BE49-F238E27FC236}">
                <a16:creationId xmlns:a16="http://schemas.microsoft.com/office/drawing/2014/main" id="{BD5D1705-0FDD-0941-AA23-33BF1BBD0B72}"/>
              </a:ext>
            </a:extLst>
          </p:cNvPr>
          <p:cNvSpPr>
            <a:spLocks noGrp="1"/>
          </p:cNvSpPr>
          <p:nvPr>
            <p:ph idx="1"/>
          </p:nvPr>
        </p:nvSpPr>
        <p:spPr/>
        <p:txBody>
          <a:bodyPr/>
          <a:lstStyle/>
          <a:p>
            <a:r>
              <a:rPr lang="es-AR"/>
              <a:t>Efectos de la resolución. La resolución que declara verificado el crédito y, en su caso, el privilegio, produce los efectos de la cosa juzgada, salvo dolo.</a:t>
            </a:r>
          </a:p>
          <a:p>
            <a:r>
              <a:rPr lang="es-AR"/>
              <a:t>La que lo declara admisible o inadmisible puede ser revisada a petición del interesado, formulada dentro de los VEINTE (20) días siguientes a la fecha de la resolución prevista en el artículo 36. Vencido este plazo, sin haber sido cuestionada, queda firme y produce también los efectos de la cosa juzgada</a:t>
            </a:r>
            <a:r>
              <a:rPr lang="es-AR">
                <a:highlight>
                  <a:srgbClr val="00FFFF"/>
                </a:highlight>
              </a:rPr>
              <a:t>, salvo dolo.</a:t>
            </a:r>
          </a:p>
          <a:p>
            <a:endParaRPr lang="es-AR"/>
          </a:p>
        </p:txBody>
      </p:sp>
      <p:sp>
        <p:nvSpPr>
          <p:cNvPr id="4" name="Slide Number Placeholder 3">
            <a:extLst>
              <a:ext uri="{FF2B5EF4-FFF2-40B4-BE49-F238E27FC236}">
                <a16:creationId xmlns:a16="http://schemas.microsoft.com/office/drawing/2014/main" id="{35BD821B-E7E6-6412-EC91-9236FF158E14}"/>
              </a:ext>
            </a:extLst>
          </p:cNvPr>
          <p:cNvSpPr>
            <a:spLocks noGrp="1"/>
          </p:cNvSpPr>
          <p:nvPr>
            <p:ph type="sldNum" sz="quarter" idx="12"/>
          </p:nvPr>
        </p:nvSpPr>
        <p:spPr/>
        <p:txBody>
          <a:bodyPr/>
          <a:lstStyle/>
          <a:p>
            <a:fld id="{4FAB73BC-B049-4115-A692-8D63A059BFB8}" type="slidenum">
              <a:rPr lang="en-US" dirty="0"/>
              <a:pPr/>
              <a:t>19</a:t>
            </a:fld>
            <a:endParaRPr lang="en-US"/>
          </a:p>
        </p:txBody>
      </p:sp>
    </p:spTree>
    <p:extLst>
      <p:ext uri="{BB962C8B-B14F-4D97-AF65-F5344CB8AC3E}">
        <p14:creationId xmlns:p14="http://schemas.microsoft.com/office/powerpoint/2010/main" val="22410205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9632A8-CDBE-8440-BAB2-21A4772FF793}"/>
              </a:ext>
            </a:extLst>
          </p:cNvPr>
          <p:cNvSpPr>
            <a:spLocks noGrp="1"/>
          </p:cNvSpPr>
          <p:nvPr>
            <p:ph type="title"/>
          </p:nvPr>
        </p:nvSpPr>
        <p:spPr/>
        <p:txBody>
          <a:bodyPr/>
          <a:lstStyle/>
          <a:p>
            <a:r>
              <a:rPr lang="es-AR"/>
              <a:t>Articulo 37</a:t>
            </a:r>
          </a:p>
        </p:txBody>
      </p:sp>
      <p:sp>
        <p:nvSpPr>
          <p:cNvPr id="5" name="Marcador de contenido 4">
            <a:extLst>
              <a:ext uri="{FF2B5EF4-FFF2-40B4-BE49-F238E27FC236}">
                <a16:creationId xmlns:a16="http://schemas.microsoft.com/office/drawing/2014/main" id="{3DF209ED-18DA-A24E-AE94-D648DAC3AEF3}"/>
              </a:ext>
            </a:extLst>
          </p:cNvPr>
          <p:cNvSpPr>
            <a:spLocks noGrp="1"/>
          </p:cNvSpPr>
          <p:nvPr>
            <p:ph idx="1"/>
          </p:nvPr>
        </p:nvSpPr>
        <p:spPr>
          <a:xfrm>
            <a:off x="3869268" y="864108"/>
            <a:ext cx="7315200" cy="2075035"/>
          </a:xfrm>
        </p:spPr>
        <p:txBody>
          <a:bodyPr/>
          <a:lstStyle/>
          <a:p>
            <a:r>
              <a:rPr lang="es-AR" sz="1800"/>
              <a:t>La cosa juzgada material implica que lo resuelto por el juez deviene en inmutable e irrevisable en otro procedimiento judicial </a:t>
            </a:r>
          </a:p>
          <a:p>
            <a:r>
              <a:rPr lang="es-AR" sz="1800"/>
              <a:t>la sentencia pasada en autoridad de cosa juzgada material, cede frente al dolo habido para obtenerla </a:t>
            </a:r>
          </a:p>
          <a:p>
            <a:pPr marL="0" indent="0">
              <a:buNone/>
            </a:pPr>
            <a:endParaRPr lang="es-AR"/>
          </a:p>
          <a:p>
            <a:pPr marL="0" indent="0">
              <a:buNone/>
            </a:pPr>
            <a:endParaRPr lang="es-AR"/>
          </a:p>
        </p:txBody>
      </p:sp>
      <p:sp>
        <p:nvSpPr>
          <p:cNvPr id="6" name="CuadroTexto 5">
            <a:extLst>
              <a:ext uri="{FF2B5EF4-FFF2-40B4-BE49-F238E27FC236}">
                <a16:creationId xmlns:a16="http://schemas.microsoft.com/office/drawing/2014/main" id="{4C536218-3A05-F640-8E1C-7F30B86269D6}"/>
              </a:ext>
            </a:extLst>
          </p:cNvPr>
          <p:cNvSpPr txBox="1"/>
          <p:nvPr/>
        </p:nvSpPr>
        <p:spPr>
          <a:xfrm>
            <a:off x="3869268" y="2301639"/>
            <a:ext cx="7315200" cy="244682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s-AR" sz="1500" u="sng"/>
              <a:t>RECURSO DE REVISION</a:t>
            </a:r>
          </a:p>
          <a:p>
            <a:pPr marL="285750" indent="-285750" algn="ctr">
              <a:buFont typeface="Arial" panose="020B0604020202020204" pitchFamily="34" charset="0"/>
              <a:buChar char="•"/>
            </a:pPr>
            <a:r>
              <a:rPr lang="es-AR" sz="1500"/>
              <a:t>La revisión </a:t>
            </a:r>
          </a:p>
          <a:p>
            <a:pPr marL="285750" indent="-285750" algn="ctr">
              <a:buFont typeface="Arial" panose="020B0604020202020204" pitchFamily="34" charset="0"/>
              <a:buChar char="•"/>
            </a:pPr>
            <a:r>
              <a:rPr lang="es-AR" sz="1500"/>
              <a:t>por el crédito </a:t>
            </a:r>
          </a:p>
          <a:p>
            <a:pPr marL="285750" indent="-285750" algn="ctr">
              <a:buFont typeface="Arial" panose="020B0604020202020204" pitchFamily="34" charset="0"/>
              <a:buChar char="•"/>
            </a:pPr>
            <a:r>
              <a:rPr lang="es-AR" sz="1500"/>
              <a:t>por el privilegio, conjunta o indistintamente</a:t>
            </a:r>
          </a:p>
          <a:p>
            <a:pPr marL="285750" indent="-285750" algn="ctr">
              <a:buFont typeface="Arial" panose="020B0604020202020204" pitchFamily="34" charset="0"/>
              <a:buChar char="•"/>
            </a:pPr>
            <a:endParaRPr lang="es-AR" sz="1500"/>
          </a:p>
          <a:p>
            <a:pPr marL="285750" indent="-285750" algn="ctr">
              <a:buFont typeface="Arial" panose="020B0604020202020204" pitchFamily="34" charset="0"/>
              <a:buChar char="•"/>
            </a:pPr>
            <a:r>
              <a:rPr lang="es-AR" sz="1500"/>
              <a:t>recurso propio excluyente previsto por la ley </a:t>
            </a:r>
            <a:r>
              <a:rPr lang="es-AR" sz="1500" b="1"/>
              <a:t>de </a:t>
            </a:r>
            <a:r>
              <a:rPr lang="es-AR" sz="1500"/>
              <a:t>concurso para impugnar la resolución de verificaciones de créditos</a:t>
            </a:r>
          </a:p>
          <a:p>
            <a:pPr marL="285750" indent="-285750" algn="ctr">
              <a:buFont typeface="Arial" panose="020B0604020202020204" pitchFamily="34" charset="0"/>
              <a:buChar char="•"/>
            </a:pPr>
            <a:r>
              <a:rPr lang="es-AR" sz="1500"/>
              <a:t> declarados admisibles </a:t>
            </a:r>
          </a:p>
          <a:p>
            <a:pPr marL="285750" indent="-285750" algn="ctr">
              <a:buFont typeface="Arial" panose="020B0604020202020204" pitchFamily="34" charset="0"/>
              <a:buChar char="•"/>
            </a:pPr>
            <a:r>
              <a:rPr lang="es-AR" sz="1500"/>
              <a:t>Inadmisibles</a:t>
            </a:r>
          </a:p>
          <a:p>
            <a:pPr marL="285750" indent="-285750">
              <a:buFont typeface="Arial" panose="020B0604020202020204" pitchFamily="34" charset="0"/>
              <a:buChar char="•"/>
            </a:pPr>
            <a:endParaRPr lang="es-AR"/>
          </a:p>
        </p:txBody>
      </p:sp>
      <p:sp>
        <p:nvSpPr>
          <p:cNvPr id="7" name="CuadroTexto 6">
            <a:extLst>
              <a:ext uri="{FF2B5EF4-FFF2-40B4-BE49-F238E27FC236}">
                <a16:creationId xmlns:a16="http://schemas.microsoft.com/office/drawing/2014/main" id="{E86DBACE-AF28-B340-8E05-6813A1D708FC}"/>
              </a:ext>
            </a:extLst>
          </p:cNvPr>
          <p:cNvSpPr txBox="1"/>
          <p:nvPr/>
        </p:nvSpPr>
        <p:spPr>
          <a:xfrm>
            <a:off x="3869268" y="5607673"/>
            <a:ext cx="7315200" cy="106182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just"/>
            <a:r>
              <a:rPr lang="es-AR" sz="1500"/>
              <a:t>Tienen eficacia provisional y limitada, admitiran impugnación dentro de los veinte días posteriores al dictado de la resolución de verificación si no existe impugnación, habrán quedado firmes </a:t>
            </a:r>
          </a:p>
          <a:p>
            <a:pPr algn="just"/>
            <a:endParaRPr lang="es-AR"/>
          </a:p>
        </p:txBody>
      </p:sp>
      <p:sp>
        <p:nvSpPr>
          <p:cNvPr id="8" name="Flecha abajo 7">
            <a:extLst>
              <a:ext uri="{FF2B5EF4-FFF2-40B4-BE49-F238E27FC236}">
                <a16:creationId xmlns:a16="http://schemas.microsoft.com/office/drawing/2014/main" id="{BCF79EA1-B957-9A40-89D7-F3E152D88279}"/>
              </a:ext>
            </a:extLst>
          </p:cNvPr>
          <p:cNvSpPr/>
          <p:nvPr/>
        </p:nvSpPr>
        <p:spPr>
          <a:xfrm>
            <a:off x="7116234" y="4859316"/>
            <a:ext cx="821268" cy="685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 name="Slide Number Placeholder 2">
            <a:extLst>
              <a:ext uri="{FF2B5EF4-FFF2-40B4-BE49-F238E27FC236}">
                <a16:creationId xmlns:a16="http://schemas.microsoft.com/office/drawing/2014/main" id="{90DD3DE1-151C-A740-B13A-33A1B5C671C1}"/>
              </a:ext>
            </a:extLst>
          </p:cNvPr>
          <p:cNvSpPr>
            <a:spLocks noGrp="1"/>
          </p:cNvSpPr>
          <p:nvPr>
            <p:ph type="sldNum" sz="quarter" idx="12"/>
          </p:nvPr>
        </p:nvSpPr>
        <p:spPr/>
        <p:txBody>
          <a:bodyPr/>
          <a:lstStyle/>
          <a:p>
            <a:fld id="{4FAB73BC-B049-4115-A692-8D63A059BFB8}" type="slidenum">
              <a:rPr lang="en-US" dirty="0"/>
              <a:pPr/>
              <a:t>20</a:t>
            </a:fld>
            <a:endParaRPr lang="en-US"/>
          </a:p>
        </p:txBody>
      </p:sp>
    </p:spTree>
    <p:extLst>
      <p:ext uri="{BB962C8B-B14F-4D97-AF65-F5344CB8AC3E}">
        <p14:creationId xmlns:p14="http://schemas.microsoft.com/office/powerpoint/2010/main" val="27894101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9632A8-CDBE-8440-BAB2-21A4772FF793}"/>
              </a:ext>
            </a:extLst>
          </p:cNvPr>
          <p:cNvSpPr>
            <a:spLocks noGrp="1"/>
          </p:cNvSpPr>
          <p:nvPr>
            <p:ph type="title"/>
          </p:nvPr>
        </p:nvSpPr>
        <p:spPr/>
        <p:txBody>
          <a:bodyPr/>
          <a:lstStyle/>
          <a:p>
            <a:r>
              <a:rPr lang="es-AR"/>
              <a:t>Articulo 37</a:t>
            </a:r>
          </a:p>
        </p:txBody>
      </p:sp>
      <p:sp>
        <p:nvSpPr>
          <p:cNvPr id="6" name="CuadroTexto 5">
            <a:extLst>
              <a:ext uri="{FF2B5EF4-FFF2-40B4-BE49-F238E27FC236}">
                <a16:creationId xmlns:a16="http://schemas.microsoft.com/office/drawing/2014/main" id="{4C536218-3A05-F640-8E1C-7F30B86269D6}"/>
              </a:ext>
            </a:extLst>
          </p:cNvPr>
          <p:cNvSpPr txBox="1"/>
          <p:nvPr/>
        </p:nvSpPr>
        <p:spPr>
          <a:xfrm>
            <a:off x="3705982" y="2377839"/>
            <a:ext cx="7315200" cy="170816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s-AR" sz="1500" u="sng"/>
              <a:t>LEGITIMACION ACTIVA</a:t>
            </a:r>
          </a:p>
          <a:p>
            <a:pPr algn="ctr"/>
            <a:r>
              <a:rPr lang="es-AR"/>
              <a:t>Incumbe al interesado</a:t>
            </a:r>
          </a:p>
          <a:p>
            <a:pPr marL="285750" indent="-285750" algn="ctr">
              <a:buFont typeface="Arial" panose="020B0604020202020204" pitchFamily="34" charset="0"/>
              <a:buChar char="•"/>
            </a:pPr>
            <a:r>
              <a:rPr lang="es-AR"/>
              <a:t>el concursado (o fallido), </a:t>
            </a:r>
          </a:p>
          <a:p>
            <a:pPr marL="285750" indent="-285750" algn="ctr">
              <a:buFont typeface="Arial" panose="020B0604020202020204" pitchFamily="34" charset="0"/>
              <a:buChar char="•"/>
            </a:pPr>
            <a:r>
              <a:rPr lang="es-AR"/>
              <a:t>el acreedor no verificado o no admitido,</a:t>
            </a:r>
          </a:p>
          <a:p>
            <a:pPr marL="285750" indent="-285750" algn="ctr">
              <a:buFont typeface="Arial" panose="020B0604020202020204" pitchFamily="34" charset="0"/>
              <a:buChar char="•"/>
            </a:pPr>
            <a:r>
              <a:rPr lang="es-AR"/>
              <a:t> o cualquier otro solicitante de verificación </a:t>
            </a:r>
          </a:p>
          <a:p>
            <a:pPr algn="ctr"/>
            <a:endParaRPr lang="es-AR"/>
          </a:p>
        </p:txBody>
      </p:sp>
      <p:sp>
        <p:nvSpPr>
          <p:cNvPr id="3" name="Slide Number Placeholder 2">
            <a:extLst>
              <a:ext uri="{FF2B5EF4-FFF2-40B4-BE49-F238E27FC236}">
                <a16:creationId xmlns:a16="http://schemas.microsoft.com/office/drawing/2014/main" id="{B7D6864E-017F-B075-0459-676A8DF65676}"/>
              </a:ext>
            </a:extLst>
          </p:cNvPr>
          <p:cNvSpPr>
            <a:spLocks noGrp="1"/>
          </p:cNvSpPr>
          <p:nvPr>
            <p:ph type="sldNum" sz="quarter" idx="12"/>
          </p:nvPr>
        </p:nvSpPr>
        <p:spPr/>
        <p:txBody>
          <a:bodyPr/>
          <a:lstStyle/>
          <a:p>
            <a:fld id="{4FAB73BC-B049-4115-A692-8D63A059BFB8}" type="slidenum">
              <a:rPr lang="en-US" dirty="0"/>
              <a:pPr/>
              <a:t>21</a:t>
            </a:fld>
            <a:endParaRPr lang="en-US"/>
          </a:p>
        </p:txBody>
      </p:sp>
    </p:spTree>
    <p:extLst>
      <p:ext uri="{BB962C8B-B14F-4D97-AF65-F5344CB8AC3E}">
        <p14:creationId xmlns:p14="http://schemas.microsoft.com/office/powerpoint/2010/main" val="14825129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99E5DD-4F96-F044-A914-498463281C75}"/>
              </a:ext>
            </a:extLst>
          </p:cNvPr>
          <p:cNvSpPr>
            <a:spLocks noGrp="1"/>
          </p:cNvSpPr>
          <p:nvPr>
            <p:ph type="title"/>
          </p:nvPr>
        </p:nvSpPr>
        <p:spPr>
          <a:xfrm>
            <a:off x="252918" y="1123837"/>
            <a:ext cx="3186967" cy="4601183"/>
          </a:xfrm>
        </p:spPr>
        <p:txBody>
          <a:bodyPr>
            <a:normAutofit/>
          </a:bodyPr>
          <a:lstStyle/>
          <a:p>
            <a:r>
              <a:rPr lang="es-AR" sz="3000"/>
              <a:t>JURISPRUDENCIA</a:t>
            </a:r>
          </a:p>
        </p:txBody>
      </p:sp>
      <p:sp>
        <p:nvSpPr>
          <p:cNvPr id="3" name="Marcador de contenido 2">
            <a:extLst>
              <a:ext uri="{FF2B5EF4-FFF2-40B4-BE49-F238E27FC236}">
                <a16:creationId xmlns:a16="http://schemas.microsoft.com/office/drawing/2014/main" id="{C364B789-0596-874C-BFE6-3F32F9D700F3}"/>
              </a:ext>
            </a:extLst>
          </p:cNvPr>
          <p:cNvSpPr>
            <a:spLocks noGrp="1"/>
          </p:cNvSpPr>
          <p:nvPr>
            <p:ph idx="1"/>
          </p:nvPr>
        </p:nvSpPr>
        <p:spPr>
          <a:xfrm>
            <a:off x="3934582" y="1321308"/>
            <a:ext cx="7315200" cy="5120640"/>
          </a:xfrm>
        </p:spPr>
        <p:txBody>
          <a:bodyPr>
            <a:normAutofit/>
          </a:bodyPr>
          <a:lstStyle/>
          <a:p>
            <a:pPr algn="just"/>
            <a:r>
              <a:rPr lang="es-AR" i="1"/>
              <a:t>PLENARIO RAFIKI</a:t>
            </a:r>
          </a:p>
          <a:p>
            <a:pPr algn="just"/>
            <a:r>
              <a:rPr lang="es-AR"/>
              <a:t>Un plenario convocado para expedirse sobre si el inicio del plazo previsto en el parrafo 2 del articulo en comentario se encuentra subordinado a la notificación de la resolución del art. 36 </a:t>
            </a:r>
          </a:p>
          <a:p>
            <a:pPr algn="just"/>
            <a:r>
              <a:rPr lang="es-AR"/>
              <a:t>Allí se dijo que el inicio de dicho plazo no se encuentra subordinado a tal notificación, cuando la resolución se dictó al décimo día de presentado el informe individual </a:t>
            </a:r>
          </a:p>
          <a:p>
            <a:pPr algn="just"/>
            <a:r>
              <a:rPr lang="es-AR"/>
              <a:t>Si la citada resolución hubiere sido dictada con anterioridad al tiempo en que previsiblemente debió ser producida, el plazo para interponer revisión se contará desde ese previsible momento.</a:t>
            </a:r>
          </a:p>
          <a:p>
            <a:pPr algn="just"/>
            <a:r>
              <a:rPr lang="es-AR"/>
              <a:t>El inicio del plazo previsto en el articulo se encuentra subordinado a la notificación por ministerio de la ley de la resolución del art. 36 de esa ley, cuando dicha resolución fue dictada con posterioridad al momento en que, previsiblemente, hubo de ser emitida. </a:t>
            </a:r>
          </a:p>
          <a:p>
            <a:pPr algn="just"/>
            <a:endParaRPr lang="es-AR"/>
          </a:p>
          <a:p>
            <a:endParaRPr lang="es-AR"/>
          </a:p>
          <a:p>
            <a:endParaRPr lang="es-AR"/>
          </a:p>
          <a:p>
            <a:endParaRPr lang="es-AR"/>
          </a:p>
        </p:txBody>
      </p:sp>
      <p:sp>
        <p:nvSpPr>
          <p:cNvPr id="4" name="Slide Number Placeholder 3">
            <a:extLst>
              <a:ext uri="{FF2B5EF4-FFF2-40B4-BE49-F238E27FC236}">
                <a16:creationId xmlns:a16="http://schemas.microsoft.com/office/drawing/2014/main" id="{7F9B8C24-4B80-8732-32BF-A5B738EFDF90}"/>
              </a:ext>
            </a:extLst>
          </p:cNvPr>
          <p:cNvSpPr>
            <a:spLocks noGrp="1"/>
          </p:cNvSpPr>
          <p:nvPr>
            <p:ph type="sldNum" sz="quarter" idx="12"/>
          </p:nvPr>
        </p:nvSpPr>
        <p:spPr/>
        <p:txBody>
          <a:bodyPr/>
          <a:lstStyle/>
          <a:p>
            <a:fld id="{4FAB73BC-B049-4115-A692-8D63A059BFB8}" type="slidenum">
              <a:rPr lang="en-US" dirty="0"/>
              <a:pPr/>
              <a:t>22</a:t>
            </a:fld>
            <a:endParaRPr lang="en-US"/>
          </a:p>
        </p:txBody>
      </p:sp>
    </p:spTree>
    <p:extLst>
      <p:ext uri="{BB962C8B-B14F-4D97-AF65-F5344CB8AC3E}">
        <p14:creationId xmlns:p14="http://schemas.microsoft.com/office/powerpoint/2010/main" val="3657495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DD9B24-1497-704A-B637-F7ECF42FB986}"/>
              </a:ext>
            </a:extLst>
          </p:cNvPr>
          <p:cNvSpPr>
            <a:spLocks noGrp="1"/>
          </p:cNvSpPr>
          <p:nvPr>
            <p:ph type="title"/>
          </p:nvPr>
        </p:nvSpPr>
        <p:spPr/>
        <p:txBody>
          <a:bodyPr/>
          <a:lstStyle/>
          <a:p>
            <a:r>
              <a:rPr lang="es-AR"/>
              <a:t>Articulo 38</a:t>
            </a:r>
          </a:p>
        </p:txBody>
      </p:sp>
      <p:sp>
        <p:nvSpPr>
          <p:cNvPr id="3" name="Marcador de contenido 2">
            <a:extLst>
              <a:ext uri="{FF2B5EF4-FFF2-40B4-BE49-F238E27FC236}">
                <a16:creationId xmlns:a16="http://schemas.microsoft.com/office/drawing/2014/main" id="{FDB261E6-9C8A-054B-ABBB-3A2E5B411009}"/>
              </a:ext>
            </a:extLst>
          </p:cNvPr>
          <p:cNvSpPr>
            <a:spLocks noGrp="1"/>
          </p:cNvSpPr>
          <p:nvPr>
            <p:ph idx="1"/>
          </p:nvPr>
        </p:nvSpPr>
        <p:spPr/>
        <p:txBody>
          <a:bodyPr/>
          <a:lstStyle/>
          <a:p>
            <a:r>
              <a:rPr lang="es-AR"/>
              <a:t>Invocación de dolo. Efectos. Las acciones por dolo a que se refiere el artículo precedente tramitan por vía ordinaria ante el juzgado del concurso, y caducan a los NOVENTA (90) días del la fecha en que se dictó la resolución judicial previstaen el artículo 36. La deducción de esta acción no impide el derecho del acreedor a obtener el cumplimiento del acuerdo, sin perjuicio de las medidas precautorias que puedan dictarse.</a:t>
            </a:r>
          </a:p>
          <a:p>
            <a:endParaRPr lang="es-AR"/>
          </a:p>
        </p:txBody>
      </p:sp>
      <p:sp>
        <p:nvSpPr>
          <p:cNvPr id="4" name="Slide Number Placeholder 3">
            <a:extLst>
              <a:ext uri="{FF2B5EF4-FFF2-40B4-BE49-F238E27FC236}">
                <a16:creationId xmlns:a16="http://schemas.microsoft.com/office/drawing/2014/main" id="{E8E875FF-DC25-40BC-16A7-F376773BF657}"/>
              </a:ext>
            </a:extLst>
          </p:cNvPr>
          <p:cNvSpPr>
            <a:spLocks noGrp="1"/>
          </p:cNvSpPr>
          <p:nvPr>
            <p:ph type="sldNum" sz="quarter" idx="12"/>
          </p:nvPr>
        </p:nvSpPr>
        <p:spPr/>
        <p:txBody>
          <a:bodyPr/>
          <a:lstStyle/>
          <a:p>
            <a:fld id="{4FAB73BC-B049-4115-A692-8D63A059BFB8}" type="slidenum">
              <a:rPr lang="en-US" dirty="0"/>
              <a:pPr/>
              <a:t>23</a:t>
            </a:fld>
            <a:endParaRPr lang="en-US"/>
          </a:p>
        </p:txBody>
      </p:sp>
    </p:spTree>
    <p:extLst>
      <p:ext uri="{BB962C8B-B14F-4D97-AF65-F5344CB8AC3E}">
        <p14:creationId xmlns:p14="http://schemas.microsoft.com/office/powerpoint/2010/main" val="42216132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DD9B24-1497-704A-B637-F7ECF42FB986}"/>
              </a:ext>
            </a:extLst>
          </p:cNvPr>
          <p:cNvSpPr>
            <a:spLocks noGrp="1"/>
          </p:cNvSpPr>
          <p:nvPr>
            <p:ph type="title"/>
          </p:nvPr>
        </p:nvSpPr>
        <p:spPr/>
        <p:txBody>
          <a:bodyPr/>
          <a:lstStyle/>
          <a:p>
            <a:r>
              <a:rPr lang="es-AR"/>
              <a:t>Articulo 38</a:t>
            </a:r>
          </a:p>
        </p:txBody>
      </p:sp>
      <p:sp>
        <p:nvSpPr>
          <p:cNvPr id="5" name="Marcador de contenido 4">
            <a:extLst>
              <a:ext uri="{FF2B5EF4-FFF2-40B4-BE49-F238E27FC236}">
                <a16:creationId xmlns:a16="http://schemas.microsoft.com/office/drawing/2014/main" id="{D03475FE-B992-F044-8394-66F8CCA5CDA8}"/>
              </a:ext>
            </a:extLst>
          </p:cNvPr>
          <p:cNvSpPr>
            <a:spLocks noGrp="1"/>
          </p:cNvSpPr>
          <p:nvPr>
            <p:ph idx="1"/>
          </p:nvPr>
        </p:nvSpPr>
        <p:spPr/>
        <p:txBody>
          <a:bodyPr/>
          <a:lstStyle/>
          <a:p>
            <a:r>
              <a:rPr lang="es-AR" i="1"/>
              <a:t>revocación </a:t>
            </a:r>
            <a:r>
              <a:rPr lang="es-AR"/>
              <a:t>de la </a:t>
            </a:r>
            <a:r>
              <a:rPr lang="es-AR" i="1"/>
              <a:t>cosa juzgada fraudulenta. </a:t>
            </a:r>
          </a:p>
          <a:p>
            <a:r>
              <a:rPr lang="es-AR"/>
              <a:t>El plazo para ejercer la acción es de noventa días</a:t>
            </a:r>
          </a:p>
          <a:p>
            <a:r>
              <a:rPr lang="es-AR"/>
              <a:t> El planteo de la revision no suspende el termino de la acción por dolo. </a:t>
            </a:r>
          </a:p>
          <a:p>
            <a:r>
              <a:rPr lang="es-AR"/>
              <a:t>Es este un plazo de </a:t>
            </a:r>
            <a:r>
              <a:rPr lang="es-AR" i="1"/>
              <a:t>caduci</a:t>
            </a:r>
            <a:r>
              <a:rPr lang="es-AR"/>
              <a:t>dad, no de </a:t>
            </a:r>
            <a:r>
              <a:rPr lang="es-AR" i="1"/>
              <a:t>prescripción; </a:t>
            </a:r>
            <a:endParaRPr lang="es-AR"/>
          </a:p>
          <a:p>
            <a:r>
              <a:rPr lang="es-AR"/>
              <a:t>no necesita ser invocado por su beneficiario y el juez lo debe hacer valer oficiosamente, desestimando liminarmente la pretensión revocatoria por dolo tardíamente postulada. </a:t>
            </a:r>
          </a:p>
          <a:p>
            <a:endParaRPr lang="es-AR"/>
          </a:p>
          <a:p>
            <a:endParaRPr lang="es-AR"/>
          </a:p>
        </p:txBody>
      </p:sp>
      <p:sp>
        <p:nvSpPr>
          <p:cNvPr id="3" name="Slide Number Placeholder 2">
            <a:extLst>
              <a:ext uri="{FF2B5EF4-FFF2-40B4-BE49-F238E27FC236}">
                <a16:creationId xmlns:a16="http://schemas.microsoft.com/office/drawing/2014/main" id="{3132E31C-A1FF-674F-B75A-CCEDA3DEEE94}"/>
              </a:ext>
            </a:extLst>
          </p:cNvPr>
          <p:cNvSpPr>
            <a:spLocks noGrp="1"/>
          </p:cNvSpPr>
          <p:nvPr>
            <p:ph type="sldNum" sz="quarter" idx="12"/>
          </p:nvPr>
        </p:nvSpPr>
        <p:spPr/>
        <p:txBody>
          <a:bodyPr/>
          <a:lstStyle/>
          <a:p>
            <a:fld id="{4FAB73BC-B049-4115-A692-8D63A059BFB8}" type="slidenum">
              <a:rPr lang="en-US" dirty="0"/>
              <a:pPr/>
              <a:t>24</a:t>
            </a:fld>
            <a:endParaRPr lang="en-US"/>
          </a:p>
        </p:txBody>
      </p:sp>
    </p:spTree>
    <p:extLst>
      <p:ext uri="{BB962C8B-B14F-4D97-AF65-F5344CB8AC3E}">
        <p14:creationId xmlns:p14="http://schemas.microsoft.com/office/powerpoint/2010/main" val="11166333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CBEBE7-3B01-FE46-B496-C3CD7CBCC72D}"/>
              </a:ext>
            </a:extLst>
          </p:cNvPr>
          <p:cNvSpPr>
            <a:spLocks noGrp="1"/>
          </p:cNvSpPr>
          <p:nvPr>
            <p:ph type="title"/>
          </p:nvPr>
        </p:nvSpPr>
        <p:spPr/>
        <p:txBody>
          <a:bodyPr/>
          <a:lstStyle/>
          <a:p>
            <a:r>
              <a:rPr lang="es-AR"/>
              <a:t>Articulo 39</a:t>
            </a:r>
          </a:p>
        </p:txBody>
      </p:sp>
      <p:sp>
        <p:nvSpPr>
          <p:cNvPr id="3" name="Marcador de contenido 2">
            <a:extLst>
              <a:ext uri="{FF2B5EF4-FFF2-40B4-BE49-F238E27FC236}">
                <a16:creationId xmlns:a16="http://schemas.microsoft.com/office/drawing/2014/main" id="{205ACD58-A1C4-1C4F-916F-9DE9707C3651}"/>
              </a:ext>
            </a:extLst>
          </p:cNvPr>
          <p:cNvSpPr>
            <a:spLocks noGrp="1"/>
          </p:cNvSpPr>
          <p:nvPr>
            <p:ph idx="1"/>
          </p:nvPr>
        </p:nvSpPr>
        <p:spPr/>
        <p:txBody>
          <a:bodyPr>
            <a:normAutofit fontScale="62500" lnSpcReduction="20000"/>
          </a:bodyPr>
          <a:lstStyle/>
          <a:p>
            <a:r>
              <a:rPr lang="es-AR"/>
              <a:t>ARTICULO 39: Oportunidad y contenido. Treinta (30) días después de presentado el informe individual de los créditos, el síndico debe presentar un informe general, el que contiene:</a:t>
            </a:r>
          </a:p>
          <a:p>
            <a:r>
              <a:rPr lang="es-AR"/>
              <a:t>1) El análisis de las causas del desequilibrio económico del deudor.</a:t>
            </a:r>
          </a:p>
          <a:p>
            <a:r>
              <a:rPr lang="es-AR"/>
              <a:t>2) La composición actualizada y detallada del activo, con la estimación de los valores probables de realización de cada rubro, incluyendo intangibles.</a:t>
            </a:r>
          </a:p>
          <a:p>
            <a:r>
              <a:rPr lang="es-AR"/>
              <a:t>3) La composición del pasivo, que </a:t>
            </a:r>
            <a:r>
              <a:rPr lang="es-AR" b="1"/>
              <a:t>incluye también, como previsión, detalle de los créditos que el deudor denunciara en su presentación y que no se hubieren presentado a verificar</a:t>
            </a:r>
            <a:r>
              <a:rPr lang="es-AR"/>
              <a:t>, así como los demás que resulten de la contabilidad o de otros elementos de juicio verosímiles.</a:t>
            </a:r>
          </a:p>
          <a:p>
            <a:r>
              <a:rPr lang="es-AR"/>
              <a:t>4) Enumeración de los libros de contabilidad, con dictamen sobre la regularidad, las deficiencias que se hubieran observado, y el cumplimiento de los artículos 43, 44 y 51 del Código de Comercio.</a:t>
            </a:r>
          </a:p>
          <a:p>
            <a:r>
              <a:rPr lang="es-AR"/>
              <a:t>5) La referencia sobre las inscripciones del deudor en los registros correspondientes y, en caso de sociedades, sobre las del contrato social y sus modificaciones, indicando el nombre y domicilio de los administradores y socios con responsabilidad ilimitada.</a:t>
            </a:r>
          </a:p>
          <a:p>
            <a:r>
              <a:rPr lang="es-AR"/>
              <a:t>6) La expresión de la época en que se produjo la cesación de pagos, hechos y circunstancias que fundamenten el dictamen.</a:t>
            </a:r>
          </a:p>
          <a:p>
            <a:r>
              <a:rPr lang="es-AR"/>
              <a:t>7) En caso de sociedades, debe informar si los socios realizaron regularmente sus aportes, y si existe responsabilidad patrimonial que se les pueda imputar por su actuación en tal carácter.</a:t>
            </a:r>
          </a:p>
          <a:p>
            <a:r>
              <a:rPr lang="es-AR"/>
              <a:t>8) La enumeración concreta de los actos que se consideren susceptibles de ser revocados, según lo disponen los artículos 118 y 119.</a:t>
            </a:r>
          </a:p>
          <a:p>
            <a:r>
              <a:rPr lang="es-AR"/>
              <a:t>9) Opinión fundada respecto del agrupamiento y clasificación que el deudor hubiere efectuado respecto de los acreedores.</a:t>
            </a:r>
          </a:p>
          <a:p>
            <a:r>
              <a:rPr lang="es-AR"/>
              <a:t>10) Deberá informar, si el deudor resulta pasible del trámite legal prevenido por el Capítulo III de la ley 25.156, por encontrarse comprendido en el artículo 8° de dicha norma.</a:t>
            </a:r>
          </a:p>
          <a:p>
            <a:endParaRPr lang="es-AR"/>
          </a:p>
        </p:txBody>
      </p:sp>
      <p:sp>
        <p:nvSpPr>
          <p:cNvPr id="4" name="Slide Number Placeholder 3">
            <a:extLst>
              <a:ext uri="{FF2B5EF4-FFF2-40B4-BE49-F238E27FC236}">
                <a16:creationId xmlns:a16="http://schemas.microsoft.com/office/drawing/2014/main" id="{FD660865-00CF-AC08-AE2E-6A384188787D}"/>
              </a:ext>
            </a:extLst>
          </p:cNvPr>
          <p:cNvSpPr>
            <a:spLocks noGrp="1"/>
          </p:cNvSpPr>
          <p:nvPr>
            <p:ph type="sldNum" sz="quarter" idx="12"/>
          </p:nvPr>
        </p:nvSpPr>
        <p:spPr/>
        <p:txBody>
          <a:bodyPr/>
          <a:lstStyle/>
          <a:p>
            <a:fld id="{4FAB73BC-B049-4115-A692-8D63A059BFB8}" type="slidenum">
              <a:rPr lang="en-US" dirty="0"/>
              <a:pPr/>
              <a:t>25</a:t>
            </a:fld>
            <a:endParaRPr lang="en-US"/>
          </a:p>
        </p:txBody>
      </p:sp>
    </p:spTree>
    <p:extLst>
      <p:ext uri="{BB962C8B-B14F-4D97-AF65-F5344CB8AC3E}">
        <p14:creationId xmlns:p14="http://schemas.microsoft.com/office/powerpoint/2010/main" val="35014879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CBEBE7-3B01-FE46-B496-C3CD7CBCC72D}"/>
              </a:ext>
            </a:extLst>
          </p:cNvPr>
          <p:cNvSpPr>
            <a:spLocks noGrp="1"/>
          </p:cNvSpPr>
          <p:nvPr>
            <p:ph type="title"/>
          </p:nvPr>
        </p:nvSpPr>
        <p:spPr/>
        <p:txBody>
          <a:bodyPr/>
          <a:lstStyle/>
          <a:p>
            <a:r>
              <a:rPr lang="es-AR"/>
              <a:t>Articulo 39</a:t>
            </a:r>
          </a:p>
        </p:txBody>
      </p:sp>
      <p:sp>
        <p:nvSpPr>
          <p:cNvPr id="5" name="Marcador de contenido 4">
            <a:extLst>
              <a:ext uri="{FF2B5EF4-FFF2-40B4-BE49-F238E27FC236}">
                <a16:creationId xmlns:a16="http://schemas.microsoft.com/office/drawing/2014/main" id="{4C2B785C-7849-534A-8CA7-F8FFC4F8671B}"/>
              </a:ext>
            </a:extLst>
          </p:cNvPr>
          <p:cNvSpPr>
            <a:spLocks noGrp="1"/>
          </p:cNvSpPr>
          <p:nvPr>
            <p:ph idx="1"/>
          </p:nvPr>
        </p:nvSpPr>
        <p:spPr/>
        <p:txBody>
          <a:bodyPr/>
          <a:lstStyle/>
          <a:p>
            <a:r>
              <a:rPr lang="es-AR"/>
              <a:t>Carácter fundamentalmente informativo, pues el juez podrá extraer, </a:t>
            </a:r>
          </a:p>
          <a:p>
            <a:r>
              <a:rPr lang="es-AR"/>
              <a:t>utilizarlos en la oportunidad del dictado de la resolución de categorización del art. 42</a:t>
            </a:r>
          </a:p>
          <a:p>
            <a:r>
              <a:rPr lang="es-AR"/>
              <a:t> y en la </a:t>
            </a:r>
            <a:r>
              <a:rPr lang="es-AR" b="1"/>
              <a:t>que </a:t>
            </a:r>
            <a:r>
              <a:rPr lang="es-AR"/>
              <a:t>fija la valuacibn de las cuotas sociales o acciones en el supuesto de salvataje </a:t>
            </a:r>
            <a:r>
              <a:rPr lang="es-AR" b="1" i="1"/>
              <a:t>o </a:t>
            </a:r>
            <a:r>
              <a:rPr lang="es-AR" i="1"/>
              <a:t>cramdown </a:t>
            </a:r>
          </a:p>
          <a:p>
            <a:r>
              <a:rPr lang="es-AR"/>
              <a:t>Para los acreedores, evidentemente, el informe general también es de suma importancia, pues les permite contar con elementos de discernimiento </a:t>
            </a:r>
            <a:r>
              <a:rPr lang="es-AR" b="1"/>
              <a:t>para </a:t>
            </a:r>
            <a:r>
              <a:rPr lang="es-AR"/>
              <a:t>la toma de decisiones relativas a la propuesta de acuerdo que presente el deudo </a:t>
            </a:r>
          </a:p>
          <a:p>
            <a:endParaRPr lang="es-AR"/>
          </a:p>
          <a:p>
            <a:endParaRPr lang="es-AR"/>
          </a:p>
        </p:txBody>
      </p:sp>
      <p:sp>
        <p:nvSpPr>
          <p:cNvPr id="3" name="Slide Number Placeholder 2">
            <a:extLst>
              <a:ext uri="{FF2B5EF4-FFF2-40B4-BE49-F238E27FC236}">
                <a16:creationId xmlns:a16="http://schemas.microsoft.com/office/drawing/2014/main" id="{099D715D-9D29-390F-DBDC-15EA9436E762}"/>
              </a:ext>
            </a:extLst>
          </p:cNvPr>
          <p:cNvSpPr>
            <a:spLocks noGrp="1"/>
          </p:cNvSpPr>
          <p:nvPr>
            <p:ph type="sldNum" sz="quarter" idx="12"/>
          </p:nvPr>
        </p:nvSpPr>
        <p:spPr/>
        <p:txBody>
          <a:bodyPr/>
          <a:lstStyle/>
          <a:p>
            <a:fld id="{4FAB73BC-B049-4115-A692-8D63A059BFB8}" type="slidenum">
              <a:rPr lang="en-US" dirty="0"/>
              <a:pPr/>
              <a:t>26</a:t>
            </a:fld>
            <a:endParaRPr lang="en-US"/>
          </a:p>
        </p:txBody>
      </p:sp>
    </p:spTree>
    <p:extLst>
      <p:ext uri="{BB962C8B-B14F-4D97-AF65-F5344CB8AC3E}">
        <p14:creationId xmlns:p14="http://schemas.microsoft.com/office/powerpoint/2010/main" val="13024531"/>
      </p:ext>
    </p:extLst>
  </p:cSld>
  <p:clrMapOvr>
    <a:masterClrMapping/>
  </p:clrMapOvr>
</p:sld>
</file>

<file path=ppt/theme/theme1.xml><?xml version="1.0" encoding="utf-8"?>
<a:theme xmlns:a="http://schemas.openxmlformats.org/drawingml/2006/main" name="Marco">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docProps/app.xml><?xml version="1.0" encoding="utf-8"?>
<Properties xmlns="http://schemas.openxmlformats.org/officeDocument/2006/extended-properties" xmlns:vt="http://schemas.openxmlformats.org/officeDocument/2006/docPropsVTypes">
  <Template>Marco</Template>
  <TotalTime>2</TotalTime>
  <Words>3332</Words>
  <Application>Microsoft Office PowerPoint</Application>
  <PresentationFormat>Panorámica</PresentationFormat>
  <Paragraphs>204</Paragraphs>
  <Slides>26</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26</vt:i4>
      </vt:variant>
    </vt:vector>
  </HeadingPairs>
  <TitlesOfParts>
    <vt:vector size="30" baseType="lpstr">
      <vt:lpstr>Arial</vt:lpstr>
      <vt:lpstr>Corbel</vt:lpstr>
      <vt:lpstr>Wingdings 2</vt:lpstr>
      <vt:lpstr>Marco</vt:lpstr>
      <vt:lpstr>Informes del sindico</vt:lpstr>
      <vt:lpstr>Articulo 33</vt:lpstr>
      <vt:lpstr>Articulo 33</vt:lpstr>
      <vt:lpstr>Facultades del sindico</vt:lpstr>
      <vt:lpstr>Legajo</vt:lpstr>
      <vt:lpstr>Jurisprudencia</vt:lpstr>
      <vt:lpstr>Articulo 34</vt:lpstr>
      <vt:lpstr>Articulo 34</vt:lpstr>
      <vt:lpstr>Plazo Observación</vt:lpstr>
      <vt:lpstr>Legitimados</vt:lpstr>
      <vt:lpstr>Articulo 35</vt:lpstr>
      <vt:lpstr>Articulo 35</vt:lpstr>
      <vt:lpstr>Jurisprudencia</vt:lpstr>
      <vt:lpstr>Articulo 36</vt:lpstr>
      <vt:lpstr>Articulo 36</vt:lpstr>
      <vt:lpstr>Articulo 36</vt:lpstr>
      <vt:lpstr>Resumen</vt:lpstr>
      <vt:lpstr>Articulo 36</vt:lpstr>
      <vt:lpstr>Articulo 37</vt:lpstr>
      <vt:lpstr>Articulo 37</vt:lpstr>
      <vt:lpstr>Articulo 37</vt:lpstr>
      <vt:lpstr>JURISPRUDENCIA</vt:lpstr>
      <vt:lpstr>Articulo 38</vt:lpstr>
      <vt:lpstr>Articulo 38</vt:lpstr>
      <vt:lpstr>Articulo 39</vt:lpstr>
      <vt:lpstr>Articulo 39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Informes del sindico</dc:title>
  <dc:creator>Microsoft Office User</dc:creator>
  <cp:lastModifiedBy>maximiliano romei</cp:lastModifiedBy>
  <cp:revision>4</cp:revision>
  <cp:lastPrinted>2022-02-07T07:11:32Z</cp:lastPrinted>
  <dcterms:created xsi:type="dcterms:W3CDTF">2020-04-06T19:12:10Z</dcterms:created>
  <dcterms:modified xsi:type="dcterms:W3CDTF">2024-07-17T19:27:15Z</dcterms:modified>
</cp:coreProperties>
</file>