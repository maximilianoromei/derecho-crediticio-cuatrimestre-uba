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Century Gothic"/>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3Tx4xCPGCprMWaFMxH7dxsv3R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enturyGothic-bold.fntdata"/><Relationship Id="rId10" Type="http://schemas.openxmlformats.org/officeDocument/2006/relationships/slide" Target="slides/slide5.xml"/><Relationship Id="rId32" Type="http://schemas.openxmlformats.org/officeDocument/2006/relationships/font" Target="fonts/CenturyGothic-regular.fntdata"/><Relationship Id="rId13" Type="http://schemas.openxmlformats.org/officeDocument/2006/relationships/slide" Target="slides/slide8.xml"/><Relationship Id="rId35" Type="http://schemas.openxmlformats.org/officeDocument/2006/relationships/font" Target="fonts/CenturyGothic-boldItalic.fntdata"/><Relationship Id="rId12" Type="http://schemas.openxmlformats.org/officeDocument/2006/relationships/slide" Target="slides/slide7.xml"/><Relationship Id="rId34" Type="http://schemas.openxmlformats.org/officeDocument/2006/relationships/font" Target="fonts/CenturyGothic-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8" name="Shape 38"/>
        <p:cNvGrpSpPr/>
        <p:nvPr/>
      </p:nvGrpSpPr>
      <p:grpSpPr>
        <a:xfrm>
          <a:off x="0" y="0"/>
          <a:ext cx="0" cy="0"/>
          <a:chOff x="0" y="0"/>
          <a:chExt cx="0" cy="0"/>
        </a:xfrm>
      </p:grpSpPr>
      <p:sp>
        <p:nvSpPr>
          <p:cNvPr id="39" name="Google Shape;39;p28"/>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8"/>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2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8"/>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5" name="Shape 45"/>
        <p:cNvGrpSpPr/>
        <p:nvPr/>
      </p:nvGrpSpPr>
      <p:grpSpPr>
        <a:xfrm>
          <a:off x="0" y="0"/>
          <a:ext cx="0" cy="0"/>
          <a:chOff x="0" y="0"/>
          <a:chExt cx="0" cy="0"/>
        </a:xfrm>
      </p:grpSpPr>
      <p:sp>
        <p:nvSpPr>
          <p:cNvPr id="46" name="Google Shape;46;p2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2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52" name="Shape 52"/>
        <p:cNvGrpSpPr/>
        <p:nvPr/>
      </p:nvGrpSpPr>
      <p:grpSpPr>
        <a:xfrm>
          <a:off x="0" y="0"/>
          <a:ext cx="0" cy="0"/>
          <a:chOff x="0" y="0"/>
          <a:chExt cx="0" cy="0"/>
        </a:xfrm>
      </p:grpSpPr>
      <p:sp>
        <p:nvSpPr>
          <p:cNvPr id="53" name="Google Shape;53;p32"/>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3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9" name="Shape 59"/>
        <p:cNvGrpSpPr/>
        <p:nvPr/>
      </p:nvGrpSpPr>
      <p:grpSpPr>
        <a:xfrm>
          <a:off x="0" y="0"/>
          <a:ext cx="0" cy="0"/>
          <a:chOff x="0" y="0"/>
          <a:chExt cx="0" cy="0"/>
        </a:xfrm>
      </p:grpSpPr>
      <p:sp>
        <p:nvSpPr>
          <p:cNvPr id="60" name="Google Shape;60;p3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3"/>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33"/>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3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7" name="Shape 67"/>
        <p:cNvGrpSpPr/>
        <p:nvPr/>
      </p:nvGrpSpPr>
      <p:grpSpPr>
        <a:xfrm>
          <a:off x="0" y="0"/>
          <a:ext cx="0" cy="0"/>
          <a:chOff x="0" y="0"/>
          <a:chExt cx="0" cy="0"/>
        </a:xfrm>
      </p:grpSpPr>
      <p:sp>
        <p:nvSpPr>
          <p:cNvPr id="68" name="Google Shape;68;p3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4"/>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34"/>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34"/>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34"/>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3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77" name="Shape 77"/>
        <p:cNvGrpSpPr/>
        <p:nvPr/>
      </p:nvGrpSpPr>
      <p:grpSpPr>
        <a:xfrm>
          <a:off x="0" y="0"/>
          <a:ext cx="0" cy="0"/>
          <a:chOff x="0" y="0"/>
          <a:chExt cx="0" cy="0"/>
        </a:xfrm>
      </p:grpSpPr>
      <p:sp>
        <p:nvSpPr>
          <p:cNvPr id="78" name="Google Shape;78;p3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83" name="Shape 83"/>
        <p:cNvGrpSpPr/>
        <p:nvPr/>
      </p:nvGrpSpPr>
      <p:grpSpPr>
        <a:xfrm>
          <a:off x="0" y="0"/>
          <a:ext cx="0" cy="0"/>
          <a:chOff x="0" y="0"/>
          <a:chExt cx="0" cy="0"/>
        </a:xfrm>
      </p:grpSpPr>
      <p:sp>
        <p:nvSpPr>
          <p:cNvPr id="84" name="Google Shape;84;p3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88" name="Shape 88"/>
        <p:cNvGrpSpPr/>
        <p:nvPr/>
      </p:nvGrpSpPr>
      <p:grpSpPr>
        <a:xfrm>
          <a:off x="0" y="0"/>
          <a:ext cx="0" cy="0"/>
          <a:chOff x="0" y="0"/>
          <a:chExt cx="0" cy="0"/>
        </a:xfrm>
      </p:grpSpPr>
      <p:sp>
        <p:nvSpPr>
          <p:cNvPr id="89" name="Google Shape;89;p37"/>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7"/>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37"/>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3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96" name="Shape 96"/>
        <p:cNvGrpSpPr/>
        <p:nvPr/>
      </p:nvGrpSpPr>
      <p:grpSpPr>
        <a:xfrm>
          <a:off x="0" y="0"/>
          <a:ext cx="0" cy="0"/>
          <a:chOff x="0" y="0"/>
          <a:chExt cx="0" cy="0"/>
        </a:xfrm>
      </p:grpSpPr>
      <p:sp>
        <p:nvSpPr>
          <p:cNvPr id="97" name="Google Shape;97;p38"/>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8"/>
          <p:cNvSpPr/>
          <p:nvPr>
            <p:ph idx="2" type="pic"/>
          </p:nvPr>
        </p:nvSpPr>
        <p:spPr>
          <a:xfrm>
            <a:off x="2589212" y="634965"/>
            <a:ext cx="8915400" cy="3854970"/>
          </a:xfrm>
          <a:prstGeom prst="rect">
            <a:avLst/>
          </a:prstGeom>
          <a:noFill/>
          <a:ln>
            <a:noFill/>
          </a:ln>
        </p:spPr>
      </p:sp>
      <p:sp>
        <p:nvSpPr>
          <p:cNvPr id="99" name="Google Shape;99;p38"/>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3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104" name="Shape 104"/>
        <p:cNvGrpSpPr/>
        <p:nvPr/>
      </p:nvGrpSpPr>
      <p:grpSpPr>
        <a:xfrm>
          <a:off x="0" y="0"/>
          <a:ext cx="0" cy="0"/>
          <a:chOff x="0" y="0"/>
          <a:chExt cx="0" cy="0"/>
        </a:xfrm>
      </p:grpSpPr>
      <p:sp>
        <p:nvSpPr>
          <p:cNvPr id="105" name="Google Shape;105;p39"/>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9"/>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3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11" name="Shape 111"/>
        <p:cNvGrpSpPr/>
        <p:nvPr/>
      </p:nvGrpSpPr>
      <p:grpSpPr>
        <a:xfrm>
          <a:off x="0" y="0"/>
          <a:ext cx="0" cy="0"/>
          <a:chOff x="0" y="0"/>
          <a:chExt cx="0" cy="0"/>
        </a:xfrm>
      </p:grpSpPr>
      <p:sp>
        <p:nvSpPr>
          <p:cNvPr id="112" name="Google Shape;112;p40"/>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0"/>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40"/>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4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4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
        <p:nvSpPr>
          <p:cNvPr id="119" name="Google Shape;119;p40"/>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chemeClr val="accent1"/>
                </a:solidFill>
                <a:latin typeface="Arial"/>
                <a:ea typeface="Arial"/>
                <a:cs typeface="Arial"/>
                <a:sym typeface="Arial"/>
              </a:rPr>
              <a:t>“</a:t>
            </a:r>
            <a:endParaRPr/>
          </a:p>
        </p:txBody>
      </p:sp>
      <p:sp>
        <p:nvSpPr>
          <p:cNvPr id="120" name="Google Shape;120;p40"/>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21" name="Shape 121"/>
        <p:cNvGrpSpPr/>
        <p:nvPr/>
      </p:nvGrpSpPr>
      <p:grpSpPr>
        <a:xfrm>
          <a:off x="0" y="0"/>
          <a:ext cx="0" cy="0"/>
          <a:chOff x="0" y="0"/>
          <a:chExt cx="0" cy="0"/>
        </a:xfrm>
      </p:grpSpPr>
      <p:sp>
        <p:nvSpPr>
          <p:cNvPr id="122" name="Google Shape;122;p41"/>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1"/>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4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28" name="Shape 128"/>
        <p:cNvGrpSpPr/>
        <p:nvPr/>
      </p:nvGrpSpPr>
      <p:grpSpPr>
        <a:xfrm>
          <a:off x="0" y="0"/>
          <a:ext cx="0" cy="0"/>
          <a:chOff x="0" y="0"/>
          <a:chExt cx="0" cy="0"/>
        </a:xfrm>
      </p:grpSpPr>
      <p:sp>
        <p:nvSpPr>
          <p:cNvPr id="129" name="Google Shape;129;p4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4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4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4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
        <p:nvSpPr>
          <p:cNvPr id="136" name="Google Shape;136;p4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chemeClr val="accent1"/>
                </a:solidFill>
                <a:latin typeface="Arial"/>
                <a:ea typeface="Arial"/>
                <a:cs typeface="Arial"/>
                <a:sym typeface="Arial"/>
              </a:rPr>
              <a:t>“</a:t>
            </a:r>
            <a:endParaRPr/>
          </a:p>
        </p:txBody>
      </p:sp>
      <p:sp>
        <p:nvSpPr>
          <p:cNvPr id="137" name="Google Shape;137;p4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38" name="Shape 138"/>
        <p:cNvGrpSpPr/>
        <p:nvPr/>
      </p:nvGrpSpPr>
      <p:grpSpPr>
        <a:xfrm>
          <a:off x="0" y="0"/>
          <a:ext cx="0" cy="0"/>
          <a:chOff x="0" y="0"/>
          <a:chExt cx="0" cy="0"/>
        </a:xfrm>
      </p:grpSpPr>
      <p:sp>
        <p:nvSpPr>
          <p:cNvPr id="139" name="Google Shape;139;p43"/>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4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4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4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4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4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46" name="Shape 146"/>
        <p:cNvGrpSpPr/>
        <p:nvPr/>
      </p:nvGrpSpPr>
      <p:grpSpPr>
        <a:xfrm>
          <a:off x="0" y="0"/>
          <a:ext cx="0" cy="0"/>
          <a:chOff x="0" y="0"/>
          <a:chExt cx="0" cy="0"/>
        </a:xfrm>
      </p:grpSpPr>
      <p:sp>
        <p:nvSpPr>
          <p:cNvPr id="147" name="Google Shape;147;p4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44"/>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4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4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4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53" name="Shape 153"/>
        <p:cNvGrpSpPr/>
        <p:nvPr/>
      </p:nvGrpSpPr>
      <p:grpSpPr>
        <a:xfrm>
          <a:off x="0" y="0"/>
          <a:ext cx="0" cy="0"/>
          <a:chOff x="0" y="0"/>
          <a:chExt cx="0" cy="0"/>
        </a:xfrm>
      </p:grpSpPr>
      <p:sp>
        <p:nvSpPr>
          <p:cNvPr id="154" name="Google Shape;154;p45"/>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5"/>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4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4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4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3" name="Shape 193"/>
        <p:cNvGrpSpPr/>
        <p:nvPr/>
      </p:nvGrpSpPr>
      <p:grpSpPr>
        <a:xfrm>
          <a:off x="0" y="0"/>
          <a:ext cx="0" cy="0"/>
          <a:chOff x="0" y="0"/>
          <a:chExt cx="0" cy="0"/>
        </a:xfrm>
      </p:grpSpPr>
      <p:sp>
        <p:nvSpPr>
          <p:cNvPr id="194" name="Google Shape;194;p3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96" name="Google Shape;196;p3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3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3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 name="Shape 5"/>
        <p:cNvGrpSpPr/>
        <p:nvPr/>
      </p:nvGrpSpPr>
      <p:grpSpPr>
        <a:xfrm>
          <a:off x="0" y="0"/>
          <a:ext cx="0" cy="0"/>
          <a:chOff x="0" y="0"/>
          <a:chExt cx="0" cy="0"/>
        </a:xfrm>
      </p:grpSpPr>
      <p:grpSp>
        <p:nvGrpSpPr>
          <p:cNvPr id="6" name="Google Shape;6;p27"/>
          <p:cNvGrpSpPr/>
          <p:nvPr/>
        </p:nvGrpSpPr>
        <p:grpSpPr>
          <a:xfrm>
            <a:off x="1" y="228600"/>
            <a:ext cx="2851516" cy="6638628"/>
            <a:chOff x="2487613" y="285750"/>
            <a:chExt cx="2428875" cy="5654676"/>
          </a:xfrm>
        </p:grpSpPr>
        <p:sp>
          <p:nvSpPr>
            <p:cNvPr id="7" name="Google Shape;7;p27"/>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7"/>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27"/>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7"/>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7"/>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7"/>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7"/>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7"/>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7"/>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7"/>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7"/>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7"/>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7"/>
          <p:cNvGrpSpPr/>
          <p:nvPr/>
        </p:nvGrpSpPr>
        <p:grpSpPr>
          <a:xfrm>
            <a:off x="27221" y="-786"/>
            <a:ext cx="2356674" cy="6854039"/>
            <a:chOff x="6627813" y="194833"/>
            <a:chExt cx="1952625" cy="5678918"/>
          </a:xfrm>
        </p:grpSpPr>
        <p:sp>
          <p:nvSpPr>
            <p:cNvPr id="20" name="Google Shape;20;p27"/>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7"/>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7"/>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7"/>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7"/>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7"/>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7"/>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7"/>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7"/>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7"/>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7"/>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7"/>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27"/>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27"/>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2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2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2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A19D8F"/>
            </a:gs>
            <a:gs pos="100000">
              <a:srgbClr val="746B4D"/>
            </a:gs>
          </a:gsLst>
          <a:path path="circle">
            <a:fillToRect b="100%" r="100%"/>
          </a:path>
          <a:tileRect l="-100%" t="-100%"/>
        </a:gradFill>
      </p:bgPr>
    </p:bg>
    <p:spTree>
      <p:nvGrpSpPr>
        <p:cNvPr id="160" name="Shape 160"/>
        <p:cNvGrpSpPr/>
        <p:nvPr/>
      </p:nvGrpSpPr>
      <p:grpSpPr>
        <a:xfrm>
          <a:off x="0" y="0"/>
          <a:ext cx="0" cy="0"/>
          <a:chOff x="0" y="0"/>
          <a:chExt cx="0" cy="0"/>
        </a:xfrm>
      </p:grpSpPr>
      <p:grpSp>
        <p:nvGrpSpPr>
          <p:cNvPr id="161" name="Google Shape;161;p30"/>
          <p:cNvGrpSpPr/>
          <p:nvPr/>
        </p:nvGrpSpPr>
        <p:grpSpPr>
          <a:xfrm>
            <a:off x="1" y="228600"/>
            <a:ext cx="2851516" cy="6638628"/>
            <a:chOff x="2487613" y="285750"/>
            <a:chExt cx="2428875" cy="5654676"/>
          </a:xfrm>
        </p:grpSpPr>
        <p:sp>
          <p:nvSpPr>
            <p:cNvPr id="162" name="Google Shape;162;p30"/>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0"/>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0"/>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0"/>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0"/>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0"/>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0"/>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0"/>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0"/>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0"/>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0"/>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0"/>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lt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30"/>
          <p:cNvGrpSpPr/>
          <p:nvPr/>
        </p:nvGrpSpPr>
        <p:grpSpPr>
          <a:xfrm>
            <a:off x="27221" y="-786"/>
            <a:ext cx="2356674" cy="6854039"/>
            <a:chOff x="6627813" y="194833"/>
            <a:chExt cx="1952625" cy="5678918"/>
          </a:xfrm>
        </p:grpSpPr>
        <p:sp>
          <p:nvSpPr>
            <p:cNvPr id="175" name="Google Shape;175;p30"/>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0"/>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0"/>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0"/>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0"/>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0"/>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0"/>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0"/>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0"/>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0"/>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0"/>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0"/>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30"/>
          <p:cNvSpPr/>
          <p:nvPr/>
        </p:nvSpPr>
        <p:spPr>
          <a:xfrm>
            <a:off x="0" y="0"/>
            <a:ext cx="18288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0"/>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FEFEFE"/>
              </a:buClr>
              <a:buSzPts val="3600"/>
              <a:buFont typeface="Century Gothic"/>
              <a:buNone/>
              <a:defRPr b="0" i="0" sz="3600" u="none" cap="none" strike="noStrike">
                <a:solidFill>
                  <a:srgbClr val="FEFEF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89" name="Google Shape;189;p30"/>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FEFEFE"/>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FEFEFE"/>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FEFEFE"/>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FEFEFE"/>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FEFEFE"/>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FEFEFE"/>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FEFEFE"/>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FEFEFE"/>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FEFEFE"/>
                </a:solidFill>
                <a:latin typeface="Century Gothic"/>
                <a:ea typeface="Century Gothic"/>
                <a:cs typeface="Century Gothic"/>
                <a:sym typeface="Century Gothic"/>
              </a:defRPr>
            </a:lvl9pPr>
          </a:lstStyle>
          <a:p/>
        </p:txBody>
      </p:sp>
      <p:sp>
        <p:nvSpPr>
          <p:cNvPr id="190" name="Google Shape;190;p3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900">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1" name="Google Shape;191;p3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2" name="Google Shape;192;p3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2000" u="none">
                <a:solidFill>
                  <a:srgbClr val="FEFFFF"/>
                </a:solidFill>
                <a:latin typeface="Century Gothic"/>
                <a:ea typeface="Century Gothic"/>
                <a:cs typeface="Century Gothic"/>
                <a:sym typeface="Century Gothic"/>
              </a:defRPr>
            </a:lvl1pPr>
            <a:lvl2pPr indent="0" lvl="1" marL="0" marR="0" rtl="0" algn="r">
              <a:spcBef>
                <a:spcPts val="0"/>
              </a:spcBef>
              <a:buNone/>
              <a:defRPr b="0" sz="2000" u="none">
                <a:solidFill>
                  <a:srgbClr val="FEFFFF"/>
                </a:solidFill>
                <a:latin typeface="Century Gothic"/>
                <a:ea typeface="Century Gothic"/>
                <a:cs typeface="Century Gothic"/>
                <a:sym typeface="Century Gothic"/>
              </a:defRPr>
            </a:lvl2pPr>
            <a:lvl3pPr indent="0" lvl="2" marL="0" marR="0" rtl="0" algn="r">
              <a:spcBef>
                <a:spcPts val="0"/>
              </a:spcBef>
              <a:buNone/>
              <a:defRPr b="0" sz="2000" u="none">
                <a:solidFill>
                  <a:srgbClr val="FEFFFF"/>
                </a:solidFill>
                <a:latin typeface="Century Gothic"/>
                <a:ea typeface="Century Gothic"/>
                <a:cs typeface="Century Gothic"/>
                <a:sym typeface="Century Gothic"/>
              </a:defRPr>
            </a:lvl3pPr>
            <a:lvl4pPr indent="0" lvl="3" marL="0" marR="0" rtl="0" algn="r">
              <a:spcBef>
                <a:spcPts val="0"/>
              </a:spcBef>
              <a:buNone/>
              <a:defRPr b="0" sz="2000" u="none">
                <a:solidFill>
                  <a:srgbClr val="FEFFFF"/>
                </a:solidFill>
                <a:latin typeface="Century Gothic"/>
                <a:ea typeface="Century Gothic"/>
                <a:cs typeface="Century Gothic"/>
                <a:sym typeface="Century Gothic"/>
              </a:defRPr>
            </a:lvl4pPr>
            <a:lvl5pPr indent="0" lvl="4" marL="0" marR="0" rtl="0" algn="r">
              <a:spcBef>
                <a:spcPts val="0"/>
              </a:spcBef>
              <a:buNone/>
              <a:defRPr b="0" sz="2000" u="none">
                <a:solidFill>
                  <a:srgbClr val="FEFFFF"/>
                </a:solidFill>
                <a:latin typeface="Century Gothic"/>
                <a:ea typeface="Century Gothic"/>
                <a:cs typeface="Century Gothic"/>
                <a:sym typeface="Century Gothic"/>
              </a:defRPr>
            </a:lvl5pPr>
            <a:lvl6pPr indent="0" lvl="5" marL="0" marR="0" rtl="0" algn="r">
              <a:spcBef>
                <a:spcPts val="0"/>
              </a:spcBef>
              <a:buNone/>
              <a:defRPr b="0" sz="2000" u="none">
                <a:solidFill>
                  <a:srgbClr val="FEFFFF"/>
                </a:solidFill>
                <a:latin typeface="Century Gothic"/>
                <a:ea typeface="Century Gothic"/>
                <a:cs typeface="Century Gothic"/>
                <a:sym typeface="Century Gothic"/>
              </a:defRPr>
            </a:lvl6pPr>
            <a:lvl7pPr indent="0" lvl="6" marL="0" marR="0" rtl="0" algn="r">
              <a:spcBef>
                <a:spcPts val="0"/>
              </a:spcBef>
              <a:buNone/>
              <a:defRPr b="0" sz="2000" u="none">
                <a:solidFill>
                  <a:srgbClr val="FEFFFF"/>
                </a:solidFill>
                <a:latin typeface="Century Gothic"/>
                <a:ea typeface="Century Gothic"/>
                <a:cs typeface="Century Gothic"/>
                <a:sym typeface="Century Gothic"/>
              </a:defRPr>
            </a:lvl7pPr>
            <a:lvl8pPr indent="0" lvl="7" marL="0" marR="0" rtl="0" algn="r">
              <a:spcBef>
                <a:spcPts val="0"/>
              </a:spcBef>
              <a:buNone/>
              <a:defRPr b="0" sz="2000" u="none">
                <a:solidFill>
                  <a:srgbClr val="FEFFFF"/>
                </a:solidFill>
                <a:latin typeface="Century Gothic"/>
                <a:ea typeface="Century Gothic"/>
                <a:cs typeface="Century Gothic"/>
                <a:sym typeface="Century Gothic"/>
              </a:defRPr>
            </a:lvl8pPr>
            <a:lvl9pPr indent="0" lvl="8" marL="0" marR="0" rtl="0" algn="r">
              <a:spcBef>
                <a:spcPts val="0"/>
              </a:spcBef>
              <a:buNone/>
              <a:defRPr b="0" sz="2000" u="non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203" name="Shape 203"/>
        <p:cNvGrpSpPr/>
        <p:nvPr/>
      </p:nvGrpSpPr>
      <p:grpSpPr>
        <a:xfrm>
          <a:off x="0" y="0"/>
          <a:ext cx="0" cy="0"/>
          <a:chOff x="0" y="0"/>
          <a:chExt cx="0" cy="0"/>
        </a:xfrm>
      </p:grpSpPr>
      <p:sp>
        <p:nvSpPr>
          <p:cNvPr id="204" name="Google Shape;204;p1"/>
          <p:cNvSpPr/>
          <p:nvPr/>
        </p:nvSpPr>
        <p:spPr>
          <a:xfrm>
            <a:off x="0" y="-1"/>
            <a:ext cx="12188952" cy="6858001"/>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nvGrpSpPr>
          <p:cNvPr id="205" name="Google Shape;205;p1"/>
          <p:cNvGrpSpPr/>
          <p:nvPr/>
        </p:nvGrpSpPr>
        <p:grpSpPr>
          <a:xfrm>
            <a:off x="3657608" y="228600"/>
            <a:ext cx="2851523" cy="6638625"/>
            <a:chOff x="2487613" y="285750"/>
            <a:chExt cx="2428875" cy="5654676"/>
          </a:xfrm>
        </p:grpSpPr>
        <p:sp>
          <p:nvSpPr>
            <p:cNvPr id="206" name="Google Shape;206;p1"/>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7" name="Google Shape;207;p1"/>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8" name="Google Shape;208;p1"/>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9" name="Google Shape;209;p1"/>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0" name="Google Shape;210;p1"/>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1" name="Google Shape;211;p1"/>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2" name="Google Shape;212;p1"/>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3" name="Google Shape;213;p1"/>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 name="Google Shape;214;p1"/>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5" name="Google Shape;215;p1"/>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6" name="Google Shape;216;p1"/>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7" name="Google Shape;217;p1"/>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218" name="Google Shape;218;p1"/>
          <p:cNvGrpSpPr/>
          <p:nvPr/>
        </p:nvGrpSpPr>
        <p:grpSpPr>
          <a:xfrm>
            <a:off x="3684823" y="-786"/>
            <a:ext cx="2356675" cy="6854040"/>
            <a:chOff x="6627813" y="194833"/>
            <a:chExt cx="1952625" cy="5678918"/>
          </a:xfrm>
        </p:grpSpPr>
        <p:sp>
          <p:nvSpPr>
            <p:cNvPr id="219" name="Google Shape;219;p1"/>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0" name="Google Shape;220;p1"/>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1" name="Google Shape;221;p1"/>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2" name="Google Shape;222;p1"/>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3" name="Google Shape;223;p1"/>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4" name="Google Shape;224;p1"/>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5" name="Google Shape;225;p1"/>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6" name="Google Shape;226;p1"/>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7" name="Google Shape;227;p1"/>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8" name="Google Shape;228;p1"/>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9" name="Google Shape;229;p1"/>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0" name="Google Shape;230;p1"/>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31" name="Google Shape;231;p1"/>
          <p:cNvSpPr txBox="1"/>
          <p:nvPr>
            <p:ph type="ctrTitle"/>
          </p:nvPr>
        </p:nvSpPr>
        <p:spPr>
          <a:xfrm>
            <a:off x="5825066" y="2514600"/>
            <a:ext cx="5681134"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62626"/>
              </a:buClr>
              <a:buSzPts val="4400"/>
              <a:buFont typeface="Century Gothic"/>
              <a:buNone/>
            </a:pPr>
            <a:r>
              <a:rPr lang="es-AR" sz="4400"/>
              <a:t>Teoría General de los Títulos Valores</a:t>
            </a:r>
            <a:endParaRPr/>
          </a:p>
        </p:txBody>
      </p:sp>
      <p:sp>
        <p:nvSpPr>
          <p:cNvPr id="232" name="Google Shape;232;p1"/>
          <p:cNvSpPr/>
          <p:nvPr/>
        </p:nvSpPr>
        <p:spPr>
          <a:xfrm>
            <a:off x="3657599"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3" name="Google Shape;233;p1"/>
          <p:cNvSpPr/>
          <p:nvPr/>
        </p:nvSpPr>
        <p:spPr>
          <a:xfrm>
            <a:off x="3657599"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descr="Gráfico en un documento con un bolígrafo" id="234" name="Google Shape;234;p1"/>
          <p:cNvPicPr preferRelativeResize="0"/>
          <p:nvPr/>
        </p:nvPicPr>
        <p:blipFill rotWithShape="1">
          <a:blip r:embed="rId3">
            <a:alphaModFix/>
          </a:blip>
          <a:srcRect b="-1" l="38946" r="25224" t="0"/>
          <a:stretch/>
        </p:blipFill>
        <p:spPr>
          <a:xfrm>
            <a:off x="-2650" y="10"/>
            <a:ext cx="3681047" cy="6857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31"/>
                                        </p:tgtEl>
                                        <p:attrNameLst>
                                          <p:attrName>style.visibility</p:attrName>
                                        </p:attrNameLst>
                                      </p:cBhvr>
                                      <p:to>
                                        <p:strVal val="visible"/>
                                      </p:to>
                                    </p:set>
                                    <p:animEffect filter="fade" transition="in">
                                      <p:cBhvr>
                                        <p:cTn dur="7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238" name="Shape 238"/>
        <p:cNvGrpSpPr/>
        <p:nvPr/>
      </p:nvGrpSpPr>
      <p:grpSpPr>
        <a:xfrm>
          <a:off x="0" y="0"/>
          <a:ext cx="0" cy="0"/>
          <a:chOff x="0" y="0"/>
          <a:chExt cx="0" cy="0"/>
        </a:xfrm>
      </p:grpSpPr>
      <p:sp>
        <p:nvSpPr>
          <p:cNvPr id="239" name="Google Shape;239;p2"/>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0" name="Google Shape;240;p2"/>
          <p:cNvSpPr txBox="1"/>
          <p:nvPr>
            <p:ph type="title"/>
          </p:nvPr>
        </p:nvSpPr>
        <p:spPr>
          <a:xfrm>
            <a:off x="1794897" y="624110"/>
            <a:ext cx="9712998"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Definición</a:t>
            </a:r>
            <a:endParaRPr/>
          </a:p>
        </p:txBody>
      </p:sp>
      <p:sp>
        <p:nvSpPr>
          <p:cNvPr id="241" name="Google Shape;241;p2"/>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2" name="Google Shape;242;p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nvGrpSpPr>
          <p:cNvPr id="243" name="Google Shape;243;p2"/>
          <p:cNvGrpSpPr/>
          <p:nvPr/>
        </p:nvGrpSpPr>
        <p:grpSpPr>
          <a:xfrm>
            <a:off x="1794897" y="2816748"/>
            <a:ext cx="8987404" cy="2466410"/>
            <a:chOff x="0" y="593765"/>
            <a:chExt cx="8987404" cy="2466410"/>
          </a:xfrm>
        </p:grpSpPr>
        <p:sp>
          <p:nvSpPr>
            <p:cNvPr id="244" name="Google Shape;244;p2"/>
            <p:cNvSpPr/>
            <p:nvPr/>
          </p:nvSpPr>
          <p:spPr>
            <a:xfrm>
              <a:off x="0" y="593765"/>
              <a:ext cx="8987404" cy="1096182"/>
            </a:xfrm>
            <a:prstGeom prst="roundRect">
              <a:avLst>
                <a:gd fmla="val 10000" name="adj"/>
              </a:avLst>
            </a:prstGeom>
            <a:solidFill>
              <a:srgbClr val="DD7C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
            <p:cNvSpPr/>
            <p:nvPr/>
          </p:nvSpPr>
          <p:spPr>
            <a:xfrm>
              <a:off x="331595" y="840406"/>
              <a:ext cx="602900" cy="6029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
            <p:cNvSpPr/>
            <p:nvPr/>
          </p:nvSpPr>
          <p:spPr>
            <a:xfrm>
              <a:off x="1266090" y="593765"/>
              <a:ext cx="7721313" cy="109618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
            <p:cNvSpPr txBox="1"/>
            <p:nvPr/>
          </p:nvSpPr>
          <p:spPr>
            <a:xfrm>
              <a:off x="1266090" y="593765"/>
              <a:ext cx="7721313" cy="1096182"/>
            </a:xfrm>
            <a:prstGeom prst="rect">
              <a:avLst/>
            </a:prstGeom>
            <a:noFill/>
            <a:ln>
              <a:noFill/>
            </a:ln>
          </p:spPr>
          <p:txBody>
            <a:bodyPr anchorCtr="0" anchor="ctr" bIns="116000" lIns="116000" spcFirstLastPara="1" rIns="116000" wrap="square" tIns="116000">
              <a:noAutofit/>
            </a:bodyPr>
            <a:lstStyle/>
            <a:p>
              <a:pPr indent="0" lvl="0" marL="0" marR="0" rtl="0" algn="l">
                <a:lnSpc>
                  <a:spcPct val="90000"/>
                </a:lnSpc>
                <a:spcBef>
                  <a:spcPts val="0"/>
                </a:spcBef>
                <a:spcAft>
                  <a:spcPts val="0"/>
                </a:spcAft>
                <a:buClr>
                  <a:schemeClr val="dk1"/>
                </a:buClr>
                <a:buSzPts val="2000"/>
                <a:buFont typeface="Century Gothic"/>
                <a:buNone/>
              </a:pPr>
              <a:r>
                <a:rPr lang="es-AR" sz="2000">
                  <a:solidFill>
                    <a:schemeClr val="dk1"/>
                  </a:solidFill>
                  <a:latin typeface="Century Gothic"/>
                  <a:ea typeface="Century Gothic"/>
                  <a:cs typeface="Century Gothic"/>
                  <a:sym typeface="Century Gothic"/>
                </a:rPr>
                <a:t>Instrumentos nacidos para posibilitar el desarrollo económico y mercantil a través de la movilización de créditos, recursos y riquezas.</a:t>
              </a:r>
              <a:endParaRPr sz="2000">
                <a:solidFill>
                  <a:schemeClr val="dk1"/>
                </a:solidFill>
                <a:latin typeface="Century Gothic"/>
                <a:ea typeface="Century Gothic"/>
                <a:cs typeface="Century Gothic"/>
                <a:sym typeface="Century Gothic"/>
              </a:endParaRPr>
            </a:p>
          </p:txBody>
        </p:sp>
        <p:sp>
          <p:nvSpPr>
            <p:cNvPr id="248" name="Google Shape;248;p2"/>
            <p:cNvSpPr/>
            <p:nvPr/>
          </p:nvSpPr>
          <p:spPr>
            <a:xfrm>
              <a:off x="0" y="1963993"/>
              <a:ext cx="8987404" cy="1096182"/>
            </a:xfrm>
            <a:prstGeom prst="roundRect">
              <a:avLst>
                <a:gd fmla="val 10000" name="adj"/>
              </a:avLst>
            </a:prstGeom>
            <a:solidFill>
              <a:srgbClr val="9F83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
            <p:cNvSpPr/>
            <p:nvPr/>
          </p:nvSpPr>
          <p:spPr>
            <a:xfrm>
              <a:off x="331595" y="2210634"/>
              <a:ext cx="602900" cy="6029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
            <p:cNvSpPr/>
            <p:nvPr/>
          </p:nvSpPr>
          <p:spPr>
            <a:xfrm>
              <a:off x="1266090" y="1963993"/>
              <a:ext cx="7721313" cy="109618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txBox="1"/>
            <p:nvPr/>
          </p:nvSpPr>
          <p:spPr>
            <a:xfrm>
              <a:off x="1266090" y="1963993"/>
              <a:ext cx="7721313" cy="1096182"/>
            </a:xfrm>
            <a:prstGeom prst="rect">
              <a:avLst/>
            </a:prstGeom>
            <a:noFill/>
            <a:ln>
              <a:noFill/>
            </a:ln>
          </p:spPr>
          <p:txBody>
            <a:bodyPr anchorCtr="0" anchor="ctr" bIns="116000" lIns="116000" spcFirstLastPara="1" rIns="116000" wrap="square" tIns="116000">
              <a:noAutofit/>
            </a:bodyPr>
            <a:lstStyle/>
            <a:p>
              <a:pPr indent="0" lvl="0" marL="0" marR="0" rtl="0" algn="l">
                <a:lnSpc>
                  <a:spcPct val="90000"/>
                </a:lnSpc>
                <a:spcBef>
                  <a:spcPts val="0"/>
                </a:spcBef>
                <a:spcAft>
                  <a:spcPts val="0"/>
                </a:spcAft>
                <a:buClr>
                  <a:schemeClr val="dk1"/>
                </a:buClr>
                <a:buSzPts val="2000"/>
                <a:buFont typeface="Century Gothic"/>
                <a:buNone/>
              </a:pPr>
              <a:r>
                <a:rPr lang="es-AR" sz="2000">
                  <a:solidFill>
                    <a:schemeClr val="dk1"/>
                  </a:solidFill>
                  <a:latin typeface="Century Gothic"/>
                  <a:ea typeface="Century Gothic"/>
                  <a:cs typeface="Century Gothic"/>
                  <a:sym typeface="Century Gothic"/>
                </a:rPr>
                <a:t>Función</a:t>
              </a:r>
              <a:r>
                <a:rPr lang="es-AR" sz="2000">
                  <a:solidFill>
                    <a:schemeClr val="dk1"/>
                  </a:solidFill>
                  <a:latin typeface="Century Gothic"/>
                  <a:ea typeface="Century Gothic"/>
                  <a:cs typeface="Century Gothic"/>
                  <a:sym typeface="Century Gothic"/>
                </a:rPr>
                <a:t> esencial es hacer </a:t>
              </a:r>
              <a:r>
                <a:rPr lang="es-AR" sz="2000">
                  <a:solidFill>
                    <a:schemeClr val="dk1"/>
                  </a:solidFill>
                  <a:latin typeface="Century Gothic"/>
                  <a:ea typeface="Century Gothic"/>
                  <a:cs typeface="Century Gothic"/>
                  <a:sym typeface="Century Gothic"/>
                </a:rPr>
                <a:t>más</a:t>
              </a:r>
              <a:r>
                <a:rPr lang="es-AR" sz="2000">
                  <a:solidFill>
                    <a:schemeClr val="dk1"/>
                  </a:solidFill>
                  <a:latin typeface="Century Gothic"/>
                  <a:ea typeface="Century Gothic"/>
                  <a:cs typeface="Century Gothic"/>
                  <a:sym typeface="Century Gothic"/>
                </a:rPr>
                <a:t> simple, segura, rápida y certera la circulación de la riqueza mobiliaria a través de un documento.</a:t>
              </a:r>
              <a:endParaRPr sz="2000">
                <a:solidFill>
                  <a:schemeClr val="dk1"/>
                </a:solidFill>
                <a:latin typeface="Century Gothic"/>
                <a:ea typeface="Century Gothic"/>
                <a:cs typeface="Century Gothic"/>
                <a:sym typeface="Century Gothic"/>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255" name="Shape 255"/>
        <p:cNvGrpSpPr/>
        <p:nvPr/>
      </p:nvGrpSpPr>
      <p:grpSpPr>
        <a:xfrm>
          <a:off x="0" y="0"/>
          <a:ext cx="0" cy="0"/>
          <a:chOff x="0" y="0"/>
          <a:chExt cx="0" cy="0"/>
        </a:xfrm>
      </p:grpSpPr>
      <p:sp>
        <p:nvSpPr>
          <p:cNvPr id="256" name="Google Shape;256;p3"/>
          <p:cNvSpPr/>
          <p:nvPr/>
        </p:nvSpPr>
        <p:spPr>
          <a:xfrm>
            <a:off x="2" y="0"/>
            <a:ext cx="12191998"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7" name="Google Shape;257;p3"/>
          <p:cNvSpPr txBox="1"/>
          <p:nvPr>
            <p:ph type="title"/>
          </p:nvPr>
        </p:nvSpPr>
        <p:spPr>
          <a:xfrm>
            <a:off x="3373062" y="624110"/>
            <a:ext cx="8131550"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Estructura</a:t>
            </a:r>
            <a:endParaRPr/>
          </a:p>
        </p:txBody>
      </p:sp>
      <p:sp>
        <p:nvSpPr>
          <p:cNvPr id="258" name="Google Shape;258;p3"/>
          <p:cNvSpPr/>
          <p:nvPr/>
        </p:nvSpPr>
        <p:spPr>
          <a:xfrm>
            <a:off x="1" y="0"/>
            <a:ext cx="2851515"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59" name="Google Shape;259;p3"/>
          <p:cNvGrpSpPr/>
          <p:nvPr/>
        </p:nvGrpSpPr>
        <p:grpSpPr>
          <a:xfrm>
            <a:off x="9" y="228600"/>
            <a:ext cx="2851523" cy="6638625"/>
            <a:chOff x="2487613" y="285750"/>
            <a:chExt cx="2428875" cy="5654676"/>
          </a:xfrm>
        </p:grpSpPr>
        <p:sp>
          <p:nvSpPr>
            <p:cNvPr id="260" name="Google Shape;260;p3"/>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1" name="Google Shape;261;p3"/>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2" name="Google Shape;262;p3"/>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3" name="Google Shape;263;p3"/>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4" name="Google Shape;264;p3"/>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5" name="Google Shape;265;p3"/>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6" name="Google Shape;266;p3"/>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7" name="Google Shape;267;p3"/>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8" name="Google Shape;268;p3"/>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9" name="Google Shape;269;p3"/>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0" name="Google Shape;270;p3"/>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1" name="Google Shape;271;p3"/>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272" name="Google Shape;272;p3"/>
          <p:cNvGrpSpPr/>
          <p:nvPr/>
        </p:nvGrpSpPr>
        <p:grpSpPr>
          <a:xfrm>
            <a:off x="27224" y="-786"/>
            <a:ext cx="2356675" cy="6854040"/>
            <a:chOff x="6627813" y="194833"/>
            <a:chExt cx="1952625" cy="5678918"/>
          </a:xfrm>
        </p:grpSpPr>
        <p:sp>
          <p:nvSpPr>
            <p:cNvPr id="273" name="Google Shape;273;p3"/>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4" name="Google Shape;274;p3"/>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5" name="Google Shape;275;p3"/>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6" name="Google Shape;276;p3"/>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7" name="Google Shape;277;p3"/>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8" name="Google Shape;278;p3"/>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9" name="Google Shape;279;p3"/>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0" name="Google Shape;280;p3"/>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1" name="Google Shape;281;p3"/>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2" name="Google Shape;282;p3"/>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3" name="Google Shape;283;p3"/>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4" name="Google Shape;284;p3"/>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85" name="Google Shape;285;p3"/>
          <p:cNvSpPr/>
          <p:nvPr/>
        </p:nvSpPr>
        <p:spPr>
          <a:xfrm flipH="1" rot="10800000">
            <a:off x="-159" y="3411452"/>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6" name="Google Shape;286;p3"/>
          <p:cNvSpPr txBox="1"/>
          <p:nvPr>
            <p:ph idx="1" type="body"/>
          </p:nvPr>
        </p:nvSpPr>
        <p:spPr>
          <a:xfrm>
            <a:off x="3373062" y="2133600"/>
            <a:ext cx="8131550" cy="3777622"/>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SzPts val="1800"/>
              <a:buChar char="🠶"/>
            </a:pPr>
            <a:r>
              <a:rPr lang="es-AR"/>
              <a:t>La teoría general está desarrollada en los arts. 1815 y 1829. Se contempla </a:t>
            </a:r>
            <a:endParaRPr/>
          </a:p>
          <a:p>
            <a:pPr indent="-285750" lvl="1" marL="742950" rtl="0" algn="l">
              <a:lnSpc>
                <a:spcPct val="90000"/>
              </a:lnSpc>
              <a:spcBef>
                <a:spcPts val="1000"/>
              </a:spcBef>
              <a:spcAft>
                <a:spcPts val="0"/>
              </a:spcAft>
              <a:buSzPts val="1600"/>
              <a:buChar char="🠶"/>
            </a:pPr>
            <a:r>
              <a:rPr lang="es-AR"/>
              <a:t>El concepto de título valor.</a:t>
            </a:r>
            <a:endParaRPr/>
          </a:p>
          <a:p>
            <a:pPr indent="-285750" lvl="1" marL="742950" rtl="0" algn="l">
              <a:lnSpc>
                <a:spcPct val="90000"/>
              </a:lnSpc>
              <a:spcBef>
                <a:spcPts val="1000"/>
              </a:spcBef>
              <a:spcAft>
                <a:spcPts val="0"/>
              </a:spcAft>
              <a:buSzPts val="1600"/>
              <a:buChar char="🠶"/>
            </a:pPr>
            <a:r>
              <a:rPr lang="es-AR"/>
              <a:t>Sus características generales.</a:t>
            </a:r>
            <a:endParaRPr/>
          </a:p>
          <a:p>
            <a:pPr indent="-285750" lvl="1" marL="742950" rtl="0" algn="l">
              <a:lnSpc>
                <a:spcPct val="90000"/>
              </a:lnSpc>
              <a:spcBef>
                <a:spcPts val="1000"/>
              </a:spcBef>
              <a:spcAft>
                <a:spcPts val="0"/>
              </a:spcAft>
              <a:buSzPts val="1600"/>
              <a:buChar char="🠶"/>
            </a:pPr>
            <a:r>
              <a:rPr lang="es-AR"/>
              <a:t>La libertad de creación.</a:t>
            </a:r>
            <a:endParaRPr/>
          </a:p>
          <a:p>
            <a:pPr indent="-285750" lvl="1" marL="742950" rtl="0" algn="l">
              <a:lnSpc>
                <a:spcPct val="90000"/>
              </a:lnSpc>
              <a:spcBef>
                <a:spcPts val="1000"/>
              </a:spcBef>
              <a:spcAft>
                <a:spcPts val="0"/>
              </a:spcAft>
              <a:buSzPts val="1600"/>
              <a:buChar char="🠶"/>
            </a:pPr>
            <a:r>
              <a:rPr lang="es-AR"/>
              <a:t>Excepciones o defensas que se pueden oponer ante el portador del </a:t>
            </a:r>
            <a:r>
              <a:rPr lang="es-AR"/>
              <a:t>título</a:t>
            </a:r>
            <a:r>
              <a:rPr lang="es-AR"/>
              <a:t> valor</a:t>
            </a:r>
            <a:endParaRPr/>
          </a:p>
          <a:p>
            <a:pPr indent="-285750" lvl="1" marL="742950" rtl="0" algn="l">
              <a:lnSpc>
                <a:spcPct val="90000"/>
              </a:lnSpc>
              <a:spcBef>
                <a:spcPts val="1000"/>
              </a:spcBef>
              <a:spcAft>
                <a:spcPts val="0"/>
              </a:spcAft>
              <a:buSzPts val="1600"/>
              <a:buChar char="🠶"/>
            </a:pPr>
            <a:r>
              <a:rPr lang="es-AR"/>
              <a:t>Modo de inscripción y efectos de las medidas precautorias sobre el titulo valor.</a:t>
            </a:r>
            <a:endParaRPr/>
          </a:p>
          <a:p>
            <a:pPr indent="-285750" lvl="1" marL="742950" rtl="0" algn="l">
              <a:lnSpc>
                <a:spcPct val="90000"/>
              </a:lnSpc>
              <a:spcBef>
                <a:spcPts val="1000"/>
              </a:spcBef>
              <a:spcAft>
                <a:spcPts val="0"/>
              </a:spcAft>
              <a:buSzPts val="1600"/>
              <a:buChar char="🠶"/>
            </a:pPr>
            <a:r>
              <a:rPr lang="es-AR"/>
              <a:t>Precisiones relativas a la firma y representación para la firma del titulo valor.</a:t>
            </a:r>
            <a:endParaRPr/>
          </a:p>
          <a:p>
            <a:pPr indent="-285750" lvl="1" marL="742950" rtl="0" algn="l">
              <a:lnSpc>
                <a:spcPct val="90000"/>
              </a:lnSpc>
              <a:spcBef>
                <a:spcPts val="1000"/>
              </a:spcBef>
              <a:spcAft>
                <a:spcPts val="0"/>
              </a:spcAft>
              <a:buSzPts val="1600"/>
              <a:buChar char="🠶"/>
            </a:pPr>
            <a:r>
              <a:rPr lang="es-AR"/>
              <a:t>Regulaciones en cuanto a la responsabilidad del creador del titulo valor.</a:t>
            </a:r>
            <a:endParaRPr/>
          </a:p>
          <a:p>
            <a:pPr indent="-184150" lvl="1" marL="742950" rtl="0" algn="l">
              <a:lnSpc>
                <a:spcPct val="90000"/>
              </a:lnSpc>
              <a:spcBef>
                <a:spcPts val="1000"/>
              </a:spcBef>
              <a:spcAft>
                <a:spcPts val="0"/>
              </a:spcAft>
              <a:buSzPts val="16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290" name="Shape 290"/>
        <p:cNvGrpSpPr/>
        <p:nvPr/>
      </p:nvGrpSpPr>
      <p:grpSpPr>
        <a:xfrm>
          <a:off x="0" y="0"/>
          <a:ext cx="0" cy="0"/>
          <a:chOff x="0" y="0"/>
          <a:chExt cx="0" cy="0"/>
        </a:xfrm>
      </p:grpSpPr>
      <p:pic>
        <p:nvPicPr>
          <p:cNvPr descr="Hombre escribiendo en la hoja de música" id="291" name="Google Shape;291;p4"/>
          <p:cNvPicPr preferRelativeResize="0"/>
          <p:nvPr/>
        </p:nvPicPr>
        <p:blipFill rotWithShape="1">
          <a:blip r:embed="rId3">
            <a:alphaModFix/>
          </a:blip>
          <a:srcRect b="-1" l="13941" r="11048" t="0"/>
          <a:stretch/>
        </p:blipFill>
        <p:spPr>
          <a:xfrm>
            <a:off x="4485557" y="10"/>
            <a:ext cx="7706443" cy="6857990"/>
          </a:xfrm>
          <a:prstGeom prst="rect">
            <a:avLst/>
          </a:prstGeom>
          <a:noFill/>
          <a:ln>
            <a:noFill/>
          </a:ln>
        </p:spPr>
      </p:pic>
      <p:sp>
        <p:nvSpPr>
          <p:cNvPr id="292" name="Google Shape;292;p4"/>
          <p:cNvSpPr/>
          <p:nvPr/>
        </p:nvSpPr>
        <p:spPr>
          <a:xfrm>
            <a:off x="0" y="0"/>
            <a:ext cx="8170246" cy="6858000"/>
          </a:xfrm>
          <a:custGeom>
            <a:rect b="b" l="l" r="r" t="t"/>
            <a:pathLst>
              <a:path extrusionOk="0" h="6858000" w="8170246">
                <a:moveTo>
                  <a:pt x="4738960" y="0"/>
                </a:moveTo>
                <a:lnTo>
                  <a:pt x="4862151" y="0"/>
                </a:lnTo>
                <a:cubicBezTo>
                  <a:pt x="4862151" y="0"/>
                  <a:pt x="4862151" y="0"/>
                  <a:pt x="8088169" y="3226735"/>
                </a:cubicBezTo>
                <a:cubicBezTo>
                  <a:pt x="8197606" y="3336196"/>
                  <a:pt x="8197606" y="3517045"/>
                  <a:pt x="8088169" y="3626507"/>
                </a:cubicBezTo>
                <a:cubicBezTo>
                  <a:pt x="8088169" y="3626507"/>
                  <a:pt x="8088169" y="3626507"/>
                  <a:pt x="4857393" y="6858000"/>
                </a:cubicBezTo>
                <a:cubicBezTo>
                  <a:pt x="4857393" y="6858000"/>
                  <a:pt x="4857393" y="6858000"/>
                  <a:pt x="4783581" y="6858000"/>
                </a:cubicBezTo>
                <a:lnTo>
                  <a:pt x="4734202" y="6858000"/>
                </a:lnTo>
                <a:cubicBezTo>
                  <a:pt x="7964978" y="3626507"/>
                  <a:pt x="7964978" y="3626507"/>
                  <a:pt x="7964978" y="3626507"/>
                </a:cubicBezTo>
                <a:cubicBezTo>
                  <a:pt x="8074415" y="3517045"/>
                  <a:pt x="8074415" y="3336196"/>
                  <a:pt x="7964978" y="3226735"/>
                </a:cubicBezTo>
                <a:cubicBezTo>
                  <a:pt x="4738960" y="0"/>
                  <a:pt x="4738960" y="0"/>
                  <a:pt x="4738960" y="0"/>
                </a:cubicBezTo>
                <a:close/>
                <a:moveTo>
                  <a:pt x="0" y="0"/>
                </a:moveTo>
                <a:lnTo>
                  <a:pt x="98791" y="0"/>
                </a:lnTo>
                <a:cubicBezTo>
                  <a:pt x="1075904" y="0"/>
                  <a:pt x="2469401" y="0"/>
                  <a:pt x="4456718" y="0"/>
                </a:cubicBezTo>
                <a:lnTo>
                  <a:pt x="4603489" y="0"/>
                </a:lnTo>
                <a:cubicBezTo>
                  <a:pt x="4603489" y="0"/>
                  <a:pt x="4603489" y="0"/>
                  <a:pt x="7829507" y="3226735"/>
                </a:cubicBezTo>
                <a:cubicBezTo>
                  <a:pt x="7938944" y="3336196"/>
                  <a:pt x="7938944" y="3517045"/>
                  <a:pt x="7829507" y="3626507"/>
                </a:cubicBezTo>
                <a:cubicBezTo>
                  <a:pt x="7829507" y="3626507"/>
                  <a:pt x="7829507" y="3626507"/>
                  <a:pt x="4598731" y="6858000"/>
                </a:cubicBezTo>
                <a:lnTo>
                  <a:pt x="4540663" y="6858000"/>
                </a:lnTo>
                <a:cubicBezTo>
                  <a:pt x="4077749" y="6858000"/>
                  <a:pt x="2938270" y="6858000"/>
                  <a:pt x="133398" y="6858000"/>
                </a:cubicBezTo>
                <a:lnTo>
                  <a:pt x="0" y="6858000"/>
                </a:lnTo>
                <a:close/>
              </a:path>
            </a:pathLst>
          </a:custGeom>
          <a:gradFill>
            <a:gsLst>
              <a:gs pos="0">
                <a:srgbClr val="FFFFFF"/>
              </a:gs>
              <a:gs pos="100000">
                <a:srgbClr val="DDE6C3"/>
              </a:gs>
            </a:gsLst>
            <a:path path="circle">
              <a:fillToRect b="100%" r="100%"/>
            </a:path>
            <a:tileRect l="-100%" t="-10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3" name="Google Shape;293;p4"/>
          <p:cNvSpPr txBox="1"/>
          <p:nvPr>
            <p:ph type="title"/>
          </p:nvPr>
        </p:nvSpPr>
        <p:spPr>
          <a:xfrm>
            <a:off x="535525" y="624110"/>
            <a:ext cx="4623955"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Concepto CCCN</a:t>
            </a:r>
            <a:endParaRPr/>
          </a:p>
        </p:txBody>
      </p:sp>
      <p:sp>
        <p:nvSpPr>
          <p:cNvPr id="294" name="Google Shape;294;p4"/>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5" name="Google Shape;295;p4"/>
          <p:cNvSpPr txBox="1"/>
          <p:nvPr>
            <p:ph idx="1" type="body"/>
          </p:nvPr>
        </p:nvSpPr>
        <p:spPr>
          <a:xfrm>
            <a:off x="531812" y="2133600"/>
            <a:ext cx="4625882"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s-AR"/>
              <a:t>ARTICULO 1815 - Los títulos valores incorporan una obligación incondicional e irrevocable de una prestación y otorgan a cada titular un derecho autónomo, sujeto a lo previsto en el artículo 1816…</a:t>
            </a:r>
            <a:endParaRPr/>
          </a:p>
          <a:p>
            <a:pPr indent="-342900" lvl="0" marL="342900" rtl="0" algn="l">
              <a:spcBef>
                <a:spcPts val="1000"/>
              </a:spcBef>
              <a:spcAft>
                <a:spcPts val="0"/>
              </a:spcAft>
              <a:buSzPts val="1800"/>
              <a:buChar char="🠶"/>
            </a:pPr>
            <a:r>
              <a:rPr lang="es-AR"/>
              <a:t>ANTECEDENTE </a:t>
            </a:r>
            <a:endParaRPr/>
          </a:p>
          <a:p>
            <a:pPr indent="-285750" lvl="1" marL="742950" rtl="0" algn="l">
              <a:spcBef>
                <a:spcPts val="1000"/>
              </a:spcBef>
              <a:spcAft>
                <a:spcPts val="0"/>
              </a:spcAft>
              <a:buSzPts val="1600"/>
              <a:buChar char="🠶"/>
            </a:pPr>
            <a:r>
              <a:rPr lang="es-AR"/>
              <a:t>el jurista italiano Vivante, lo definió como el documento necesario para ejercer el derecho literal y autónomo en él expresado.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299" name="Shape 299"/>
        <p:cNvGrpSpPr/>
        <p:nvPr/>
      </p:nvGrpSpPr>
      <p:grpSpPr>
        <a:xfrm>
          <a:off x="0" y="0"/>
          <a:ext cx="0" cy="0"/>
          <a:chOff x="0" y="0"/>
          <a:chExt cx="0" cy="0"/>
        </a:xfrm>
      </p:grpSpPr>
      <p:sp>
        <p:nvSpPr>
          <p:cNvPr id="300" name="Google Shape;300;p5"/>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01" name="Google Shape;301;p5"/>
          <p:cNvSpPr txBox="1"/>
          <p:nvPr>
            <p:ph type="title"/>
          </p:nvPr>
        </p:nvSpPr>
        <p:spPr>
          <a:xfrm>
            <a:off x="1794897" y="624110"/>
            <a:ext cx="9712998"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ESTRUCTURA DE LOS TITULOS</a:t>
            </a:r>
            <a:endParaRPr/>
          </a:p>
        </p:txBody>
      </p:sp>
      <p:sp>
        <p:nvSpPr>
          <p:cNvPr id="302" name="Google Shape;302;p5"/>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03" name="Google Shape;303;p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nvGrpSpPr>
          <p:cNvPr id="304" name="Google Shape;304;p5"/>
          <p:cNvGrpSpPr/>
          <p:nvPr/>
        </p:nvGrpSpPr>
        <p:grpSpPr>
          <a:xfrm>
            <a:off x="1797705" y="2283500"/>
            <a:ext cx="8981786" cy="3532905"/>
            <a:chOff x="2808" y="60517"/>
            <a:chExt cx="8981786" cy="3532905"/>
          </a:xfrm>
        </p:grpSpPr>
        <p:sp>
          <p:nvSpPr>
            <p:cNvPr id="305" name="Google Shape;305;p5"/>
            <p:cNvSpPr/>
            <p:nvPr/>
          </p:nvSpPr>
          <p:spPr>
            <a:xfrm>
              <a:off x="2808" y="60517"/>
              <a:ext cx="2738349" cy="511346"/>
            </a:xfrm>
            <a:prstGeom prst="rect">
              <a:avLst/>
            </a:prstGeom>
            <a:gradFill>
              <a:gsLst>
                <a:gs pos="0">
                  <a:srgbClr val="DF8A47"/>
                </a:gs>
                <a:gs pos="100000">
                  <a:srgbClr val="CC7213"/>
                </a:gs>
              </a:gsLst>
              <a:lin ang="5400000" scaled="0"/>
            </a:gradFill>
            <a:ln cap="rnd" cmpd="sng" w="9525">
              <a:solidFill>
                <a:srgbClr val="DD7C16"/>
              </a:solidFill>
              <a:prstDash val="solid"/>
              <a:round/>
              <a:headEnd len="sm" w="sm" type="none"/>
              <a:tailEnd len="sm" w="sm" type="none"/>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txBox="1"/>
            <p:nvPr/>
          </p:nvSpPr>
          <p:spPr>
            <a:xfrm>
              <a:off x="2808" y="60517"/>
              <a:ext cx="2738349" cy="511346"/>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Century Gothic"/>
                <a:buNone/>
              </a:pPr>
              <a:r>
                <a:rPr lang="es-AR" sz="1400">
                  <a:solidFill>
                    <a:schemeClr val="lt1"/>
                  </a:solidFill>
                  <a:latin typeface="Century Gothic"/>
                  <a:ea typeface="Century Gothic"/>
                  <a:cs typeface="Century Gothic"/>
                  <a:sym typeface="Century Gothic"/>
                </a:rPr>
                <a:t>La instrumentación</a:t>
              </a:r>
              <a:endParaRPr sz="1400">
                <a:solidFill>
                  <a:schemeClr val="lt1"/>
                </a:solidFill>
                <a:latin typeface="Century Gothic"/>
                <a:ea typeface="Century Gothic"/>
                <a:cs typeface="Century Gothic"/>
                <a:sym typeface="Century Gothic"/>
              </a:endParaRPr>
            </a:p>
          </p:txBody>
        </p:sp>
        <p:sp>
          <p:nvSpPr>
            <p:cNvPr id="307" name="Google Shape;307;p5"/>
            <p:cNvSpPr/>
            <p:nvPr/>
          </p:nvSpPr>
          <p:spPr>
            <a:xfrm>
              <a:off x="2808" y="571864"/>
              <a:ext cx="2738349" cy="3021558"/>
            </a:xfrm>
            <a:prstGeom prst="rect">
              <a:avLst/>
            </a:prstGeom>
            <a:solidFill>
              <a:srgbClr val="F2D7CB">
                <a:alpha val="89803"/>
              </a:srgbClr>
            </a:solidFill>
            <a:ln cap="rnd" cmpd="sng" w="9525">
              <a:solidFill>
                <a:srgbClr val="F2D7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txBox="1"/>
            <p:nvPr/>
          </p:nvSpPr>
          <p:spPr>
            <a:xfrm>
              <a:off x="2808" y="571864"/>
              <a:ext cx="2738349" cy="3021558"/>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documentos que poseen fuerte valor probatorio, </a:t>
              </a:r>
              <a:endParaRPr b="0" i="0" sz="14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1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Poseen, a su vez, carácter constitutivo en tanto su libramiento origina el derecho del portador legitimado a exigir el cumplimiento,</a:t>
              </a:r>
              <a:endParaRPr b="0" i="0" sz="14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1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función dispositiva porque debe detentarse su posesión material para poder ejercer los derechos</a:t>
              </a:r>
              <a:endParaRPr b="0" i="0" sz="1400" u="none" cap="none" strike="noStrike">
                <a:solidFill>
                  <a:schemeClr val="dk1"/>
                </a:solidFill>
                <a:latin typeface="Century Gothic"/>
                <a:ea typeface="Century Gothic"/>
                <a:cs typeface="Century Gothic"/>
                <a:sym typeface="Century Gothic"/>
              </a:endParaRPr>
            </a:p>
          </p:txBody>
        </p:sp>
        <p:sp>
          <p:nvSpPr>
            <p:cNvPr id="309" name="Google Shape;309;p5"/>
            <p:cNvSpPr/>
            <p:nvPr/>
          </p:nvSpPr>
          <p:spPr>
            <a:xfrm>
              <a:off x="3124527" y="60517"/>
              <a:ext cx="2738349" cy="511346"/>
            </a:xfrm>
            <a:prstGeom prst="rect">
              <a:avLst/>
            </a:prstGeom>
            <a:gradFill>
              <a:gsLst>
                <a:gs pos="0">
                  <a:srgbClr val="C19053"/>
                </a:gs>
                <a:gs pos="100000">
                  <a:srgbClr val="AE792F"/>
                </a:gs>
              </a:gsLst>
              <a:lin ang="5400000" scaled="0"/>
            </a:gradFill>
            <a:ln cap="rnd" cmpd="sng" w="9525">
              <a:solidFill>
                <a:srgbClr val="BC8334"/>
              </a:solidFill>
              <a:prstDash val="solid"/>
              <a:round/>
              <a:headEnd len="sm" w="sm" type="none"/>
              <a:tailEnd len="sm" w="sm" type="none"/>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txBox="1"/>
            <p:nvPr/>
          </p:nvSpPr>
          <p:spPr>
            <a:xfrm>
              <a:off x="3124527" y="60517"/>
              <a:ext cx="2738349" cy="511346"/>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Century Gothic"/>
                <a:buNone/>
              </a:pPr>
              <a:r>
                <a:rPr lang="es-AR" sz="1400">
                  <a:solidFill>
                    <a:schemeClr val="lt1"/>
                  </a:solidFill>
                  <a:latin typeface="Century Gothic"/>
                  <a:ea typeface="Century Gothic"/>
                  <a:cs typeface="Century Gothic"/>
                  <a:sym typeface="Century Gothic"/>
                </a:rPr>
                <a:t>La declaración obligacional cambiaria</a:t>
              </a:r>
              <a:endParaRPr sz="1400">
                <a:solidFill>
                  <a:schemeClr val="lt1"/>
                </a:solidFill>
                <a:latin typeface="Century Gothic"/>
                <a:ea typeface="Century Gothic"/>
                <a:cs typeface="Century Gothic"/>
                <a:sym typeface="Century Gothic"/>
              </a:endParaRPr>
            </a:p>
          </p:txBody>
        </p:sp>
        <p:sp>
          <p:nvSpPr>
            <p:cNvPr id="311" name="Google Shape;311;p5"/>
            <p:cNvSpPr/>
            <p:nvPr/>
          </p:nvSpPr>
          <p:spPr>
            <a:xfrm>
              <a:off x="3124527" y="571864"/>
              <a:ext cx="2738349" cy="3021558"/>
            </a:xfrm>
            <a:prstGeom prst="rect">
              <a:avLst/>
            </a:prstGeom>
            <a:solidFill>
              <a:srgbClr val="E8D8CB">
                <a:alpha val="89803"/>
              </a:srgbClr>
            </a:solidFill>
            <a:ln cap="rnd" cmpd="sng" w="9525">
              <a:solidFill>
                <a:srgbClr val="E8D8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txBox="1"/>
            <p:nvPr/>
          </p:nvSpPr>
          <p:spPr>
            <a:xfrm>
              <a:off x="3124527" y="571864"/>
              <a:ext cx="2738349" cy="3021558"/>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documento contiene una declaración de voluntad que es constitutiva dado que el derecho se constituye con el documento, y por ello el documento es necesario para ejercer los derechos que contiene</a:t>
              </a:r>
              <a:endParaRPr b="0" i="0" sz="14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1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declaración no es recepticia, dado que el emisor queda obligado sin necesidad de aceptación por el portador</a:t>
              </a:r>
              <a:endParaRPr b="0" i="0" sz="1400" u="none" cap="none" strike="noStrike">
                <a:solidFill>
                  <a:schemeClr val="dk1"/>
                </a:solidFill>
                <a:latin typeface="Century Gothic"/>
                <a:ea typeface="Century Gothic"/>
                <a:cs typeface="Century Gothic"/>
                <a:sym typeface="Century Gothic"/>
              </a:endParaRPr>
            </a:p>
          </p:txBody>
        </p:sp>
        <p:sp>
          <p:nvSpPr>
            <p:cNvPr id="313" name="Google Shape;313;p5"/>
            <p:cNvSpPr/>
            <p:nvPr/>
          </p:nvSpPr>
          <p:spPr>
            <a:xfrm>
              <a:off x="6246245" y="60517"/>
              <a:ext cx="2738349" cy="511346"/>
            </a:xfrm>
            <a:prstGeom prst="rect">
              <a:avLst/>
            </a:prstGeom>
            <a:gradFill>
              <a:gsLst>
                <a:gs pos="0">
                  <a:srgbClr val="A68D65"/>
                </a:gs>
                <a:gs pos="100000">
                  <a:srgbClr val="927749"/>
                </a:gs>
              </a:gsLst>
              <a:lin ang="5400000" scaled="0"/>
            </a:gradFill>
            <a:ln cap="rnd" cmpd="sng" w="9525">
              <a:solidFill>
                <a:srgbClr val="9E814F"/>
              </a:solidFill>
              <a:prstDash val="solid"/>
              <a:round/>
              <a:headEnd len="sm" w="sm" type="none"/>
              <a:tailEnd len="sm" w="sm" type="none"/>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txBox="1"/>
            <p:nvPr/>
          </p:nvSpPr>
          <p:spPr>
            <a:xfrm>
              <a:off x="6246245" y="60517"/>
              <a:ext cx="2738349" cy="511346"/>
            </a:xfrm>
            <a:prstGeom prst="rect">
              <a:avLst/>
            </a:prstGeom>
            <a:noFill/>
            <a:ln>
              <a:noFill/>
            </a:ln>
          </p:spPr>
          <p:txBody>
            <a:bodyPr anchorCtr="0" anchor="ctr" bIns="56875" lIns="99550" spcFirstLastPara="1" rIns="99550" wrap="square" tIns="56875">
              <a:noAutofit/>
            </a:bodyPr>
            <a:lstStyle/>
            <a:p>
              <a:pPr indent="0" lvl="0" marL="0" marR="0" rtl="0" algn="ctr">
                <a:lnSpc>
                  <a:spcPct val="90000"/>
                </a:lnSpc>
                <a:spcBef>
                  <a:spcPts val="0"/>
                </a:spcBef>
                <a:spcAft>
                  <a:spcPts val="0"/>
                </a:spcAft>
                <a:buClr>
                  <a:schemeClr val="lt1"/>
                </a:buClr>
                <a:buSzPts val="1400"/>
                <a:buFont typeface="Century Gothic"/>
                <a:buNone/>
              </a:pPr>
              <a:r>
                <a:rPr lang="es-AR" sz="1400">
                  <a:solidFill>
                    <a:schemeClr val="lt1"/>
                  </a:solidFill>
                  <a:latin typeface="Century Gothic"/>
                  <a:ea typeface="Century Gothic"/>
                  <a:cs typeface="Century Gothic"/>
                  <a:sym typeface="Century Gothic"/>
                </a:rPr>
                <a:t>Incorporación</a:t>
              </a:r>
              <a:endParaRPr sz="1400">
                <a:solidFill>
                  <a:schemeClr val="lt1"/>
                </a:solidFill>
                <a:latin typeface="Century Gothic"/>
                <a:ea typeface="Century Gothic"/>
                <a:cs typeface="Century Gothic"/>
                <a:sym typeface="Century Gothic"/>
              </a:endParaRPr>
            </a:p>
          </p:txBody>
        </p:sp>
        <p:sp>
          <p:nvSpPr>
            <p:cNvPr id="315" name="Google Shape;315;p5"/>
            <p:cNvSpPr/>
            <p:nvPr/>
          </p:nvSpPr>
          <p:spPr>
            <a:xfrm>
              <a:off x="6246245" y="571864"/>
              <a:ext cx="2738349" cy="3021558"/>
            </a:xfrm>
            <a:prstGeom prst="rect">
              <a:avLst/>
            </a:prstGeom>
            <a:solidFill>
              <a:srgbClr val="DDD7CF">
                <a:alpha val="89803"/>
              </a:srgbClr>
            </a:solidFill>
            <a:ln cap="rnd" cmpd="sng" w="9525">
              <a:solidFill>
                <a:srgbClr val="DDD7C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txBox="1"/>
            <p:nvPr/>
          </p:nvSpPr>
          <p:spPr>
            <a:xfrm>
              <a:off x="6246245" y="571864"/>
              <a:ext cx="2738349" cy="3021558"/>
            </a:xfrm>
            <a:prstGeom prst="rect">
              <a:avLst/>
            </a:prstGeom>
            <a:noFill/>
            <a:ln>
              <a:noFill/>
            </a:ln>
          </p:spPr>
          <p:txBody>
            <a:bodyPr anchorCtr="0" anchor="t" bIns="112000" lIns="74675" spcFirstLastPara="1" rIns="99550" wrap="square" tIns="74675">
              <a:noAutofit/>
            </a:bodyPr>
            <a:lstStyle/>
            <a:p>
              <a:pPr indent="-114300" lvl="1" marL="114300" marR="0" rtl="0" algn="l">
                <a:lnSpc>
                  <a:spcPct val="90000"/>
                </a:lnSpc>
                <a:spcBef>
                  <a:spcPts val="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Para ejercer el derecho incorporado, es imprescindible disponer del instrumento, y por ello finalmente, el título posee carácter declarativo, constitutivo (ver punto precedente) y dispositivo.</a:t>
              </a:r>
              <a:endParaRPr b="0" i="0" sz="1400" u="none" cap="none" strike="noStrike">
                <a:solidFill>
                  <a:schemeClr val="dk1"/>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320" name="Shape 320"/>
        <p:cNvGrpSpPr/>
        <p:nvPr/>
      </p:nvGrpSpPr>
      <p:grpSpPr>
        <a:xfrm>
          <a:off x="0" y="0"/>
          <a:ext cx="0" cy="0"/>
          <a:chOff x="0" y="0"/>
          <a:chExt cx="0" cy="0"/>
        </a:xfrm>
      </p:grpSpPr>
      <p:sp>
        <p:nvSpPr>
          <p:cNvPr id="321" name="Google Shape;321;p6"/>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2" name="Google Shape;322;p6"/>
          <p:cNvSpPr txBox="1"/>
          <p:nvPr>
            <p:ph type="title"/>
          </p:nvPr>
        </p:nvSpPr>
        <p:spPr>
          <a:xfrm>
            <a:off x="1794897" y="624110"/>
            <a:ext cx="9712998"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CARACTERES</a:t>
            </a:r>
            <a:endParaRPr/>
          </a:p>
        </p:txBody>
      </p:sp>
      <p:sp>
        <p:nvSpPr>
          <p:cNvPr id="323" name="Google Shape;323;p6"/>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4" name="Google Shape;324;p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nvGrpSpPr>
          <p:cNvPr id="325" name="Google Shape;325;p6"/>
          <p:cNvGrpSpPr/>
          <p:nvPr/>
        </p:nvGrpSpPr>
        <p:grpSpPr>
          <a:xfrm>
            <a:off x="1794897" y="2224767"/>
            <a:ext cx="8987403" cy="3650372"/>
            <a:chOff x="0" y="1784"/>
            <a:chExt cx="8987403" cy="3650372"/>
          </a:xfrm>
        </p:grpSpPr>
        <p:sp>
          <p:nvSpPr>
            <p:cNvPr id="326" name="Google Shape;326;p6"/>
            <p:cNvSpPr/>
            <p:nvPr/>
          </p:nvSpPr>
          <p:spPr>
            <a:xfrm rot="5400000">
              <a:off x="5640418" y="-2285415"/>
              <a:ext cx="942031" cy="5751938"/>
            </a:xfrm>
            <a:prstGeom prst="round2SameRect">
              <a:avLst>
                <a:gd fmla="val 16667" name="adj1"/>
                <a:gd fmla="val 0" name="adj2"/>
              </a:avLst>
            </a:prstGeom>
            <a:solidFill>
              <a:srgbClr val="F2D7CB">
                <a:alpha val="89803"/>
              </a:srgbClr>
            </a:solidFill>
            <a:ln cap="rnd" cmpd="sng" w="9525">
              <a:solidFill>
                <a:srgbClr val="F2D7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6"/>
            <p:cNvSpPr txBox="1"/>
            <p:nvPr/>
          </p:nvSpPr>
          <p:spPr>
            <a:xfrm>
              <a:off x="3235465" y="165524"/>
              <a:ext cx="5705952" cy="850059"/>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Ningún derecho que emane del título puede ejercerse sin la posesión del documento</a:t>
              </a:r>
              <a:endParaRPr b="0" i="0" sz="1400" u="none" cap="none" strike="noStrike">
                <a:solidFill>
                  <a:schemeClr val="dk1"/>
                </a:solidFill>
                <a:latin typeface="Century Gothic"/>
                <a:ea typeface="Century Gothic"/>
                <a:cs typeface="Century Gothic"/>
                <a:sym typeface="Century Gothic"/>
              </a:endParaRPr>
            </a:p>
          </p:txBody>
        </p:sp>
        <p:sp>
          <p:nvSpPr>
            <p:cNvPr id="328" name="Google Shape;328;p6"/>
            <p:cNvSpPr/>
            <p:nvPr/>
          </p:nvSpPr>
          <p:spPr>
            <a:xfrm>
              <a:off x="0" y="1784"/>
              <a:ext cx="3235465" cy="1177539"/>
            </a:xfrm>
            <a:prstGeom prst="roundRect">
              <a:avLst>
                <a:gd fmla="val 16667" name="adj"/>
              </a:avLst>
            </a:prstGeom>
            <a:gradFill>
              <a:gsLst>
                <a:gs pos="0">
                  <a:srgbClr val="DF8A47"/>
                </a:gs>
                <a:gs pos="100000">
                  <a:srgbClr val="CC7213"/>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txBox="1"/>
            <p:nvPr/>
          </p:nvSpPr>
          <p:spPr>
            <a:xfrm>
              <a:off x="57483" y="59267"/>
              <a:ext cx="3120499" cy="1062573"/>
            </a:xfrm>
            <a:prstGeom prst="rect">
              <a:avLst/>
            </a:prstGeom>
            <a:noFill/>
            <a:ln>
              <a:noFill/>
            </a:ln>
          </p:spPr>
          <p:txBody>
            <a:bodyPr anchorCtr="0" anchor="ctr" bIns="57150" lIns="114300" spcFirstLastPara="1" rIns="114300" wrap="square" tIns="57150">
              <a:noAutofit/>
            </a:bodyPr>
            <a:lstStyle/>
            <a:p>
              <a:pPr indent="0" lvl="0" marL="0" marR="0" rtl="0" algn="ctr">
                <a:lnSpc>
                  <a:spcPct val="90000"/>
                </a:lnSpc>
                <a:spcBef>
                  <a:spcPts val="0"/>
                </a:spcBef>
                <a:spcAft>
                  <a:spcPts val="0"/>
                </a:spcAft>
                <a:buClr>
                  <a:schemeClr val="lt1"/>
                </a:buClr>
                <a:buSzPts val="3000"/>
                <a:buFont typeface="Century Gothic"/>
                <a:buNone/>
              </a:pPr>
              <a:r>
                <a:rPr lang="es-AR" sz="3000">
                  <a:solidFill>
                    <a:schemeClr val="lt1"/>
                  </a:solidFill>
                  <a:latin typeface="Century Gothic"/>
                  <a:ea typeface="Century Gothic"/>
                  <a:cs typeface="Century Gothic"/>
                  <a:sym typeface="Century Gothic"/>
                </a:rPr>
                <a:t>Necesariedad</a:t>
              </a:r>
              <a:endParaRPr sz="3000">
                <a:solidFill>
                  <a:schemeClr val="lt1"/>
                </a:solidFill>
                <a:latin typeface="Century Gothic"/>
                <a:ea typeface="Century Gothic"/>
                <a:cs typeface="Century Gothic"/>
                <a:sym typeface="Century Gothic"/>
              </a:endParaRPr>
            </a:p>
          </p:txBody>
        </p:sp>
        <p:sp>
          <p:nvSpPr>
            <p:cNvPr id="330" name="Google Shape;330;p6"/>
            <p:cNvSpPr/>
            <p:nvPr/>
          </p:nvSpPr>
          <p:spPr>
            <a:xfrm rot="5400000">
              <a:off x="5640418" y="-1048998"/>
              <a:ext cx="942031" cy="5751938"/>
            </a:xfrm>
            <a:prstGeom prst="round2SameRect">
              <a:avLst>
                <a:gd fmla="val 16667" name="adj1"/>
                <a:gd fmla="val 0" name="adj2"/>
              </a:avLst>
            </a:prstGeom>
            <a:solidFill>
              <a:srgbClr val="E8D8CB">
                <a:alpha val="89803"/>
              </a:srgbClr>
            </a:solidFill>
            <a:ln cap="rnd" cmpd="sng" w="9525">
              <a:solidFill>
                <a:srgbClr val="E8D8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
            <p:cNvSpPr txBox="1"/>
            <p:nvPr/>
          </p:nvSpPr>
          <p:spPr>
            <a:xfrm>
              <a:off x="3235465" y="1401941"/>
              <a:ext cx="5705952" cy="850059"/>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implica que la extensión y el contenido del derecho expresado en el título, se constriñe estrictamente a su propio texto, sin que resulten admisibles referencias a otros documentos distintos</a:t>
              </a:r>
              <a:endParaRPr b="0" i="0" sz="1400" u="none" cap="none" strike="noStrike">
                <a:solidFill>
                  <a:schemeClr val="dk1"/>
                </a:solidFill>
                <a:latin typeface="Century Gothic"/>
                <a:ea typeface="Century Gothic"/>
                <a:cs typeface="Century Gothic"/>
                <a:sym typeface="Century Gothic"/>
              </a:endParaRPr>
            </a:p>
          </p:txBody>
        </p:sp>
        <p:sp>
          <p:nvSpPr>
            <p:cNvPr id="332" name="Google Shape;332;p6"/>
            <p:cNvSpPr/>
            <p:nvPr/>
          </p:nvSpPr>
          <p:spPr>
            <a:xfrm>
              <a:off x="0" y="1238200"/>
              <a:ext cx="3235465" cy="1177539"/>
            </a:xfrm>
            <a:prstGeom prst="roundRect">
              <a:avLst>
                <a:gd fmla="val 16667" name="adj"/>
              </a:avLst>
            </a:prstGeom>
            <a:gradFill>
              <a:gsLst>
                <a:gs pos="0">
                  <a:srgbClr val="C19053"/>
                </a:gs>
                <a:gs pos="100000">
                  <a:srgbClr val="AE792F"/>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6"/>
            <p:cNvSpPr txBox="1"/>
            <p:nvPr/>
          </p:nvSpPr>
          <p:spPr>
            <a:xfrm>
              <a:off x="57483" y="1295683"/>
              <a:ext cx="3120499" cy="1062573"/>
            </a:xfrm>
            <a:prstGeom prst="rect">
              <a:avLst/>
            </a:prstGeom>
            <a:noFill/>
            <a:ln>
              <a:noFill/>
            </a:ln>
          </p:spPr>
          <p:txBody>
            <a:bodyPr anchorCtr="0" anchor="ctr" bIns="57150" lIns="114300" spcFirstLastPara="1" rIns="114300" wrap="square" tIns="57150">
              <a:noAutofit/>
            </a:bodyPr>
            <a:lstStyle/>
            <a:p>
              <a:pPr indent="0" lvl="0" marL="0" marR="0" rtl="0" algn="ctr">
                <a:lnSpc>
                  <a:spcPct val="90000"/>
                </a:lnSpc>
                <a:spcBef>
                  <a:spcPts val="0"/>
                </a:spcBef>
                <a:spcAft>
                  <a:spcPts val="0"/>
                </a:spcAft>
                <a:buClr>
                  <a:schemeClr val="lt1"/>
                </a:buClr>
                <a:buSzPts val="3000"/>
                <a:buFont typeface="Century Gothic"/>
                <a:buNone/>
              </a:pPr>
              <a:r>
                <a:rPr lang="es-AR" sz="3000">
                  <a:solidFill>
                    <a:schemeClr val="lt1"/>
                  </a:solidFill>
                  <a:latin typeface="Century Gothic"/>
                  <a:ea typeface="Century Gothic"/>
                  <a:cs typeface="Century Gothic"/>
                  <a:sym typeface="Century Gothic"/>
                </a:rPr>
                <a:t>Literalidad</a:t>
              </a:r>
              <a:endParaRPr sz="3000">
                <a:solidFill>
                  <a:schemeClr val="lt1"/>
                </a:solidFill>
                <a:latin typeface="Century Gothic"/>
                <a:ea typeface="Century Gothic"/>
                <a:cs typeface="Century Gothic"/>
                <a:sym typeface="Century Gothic"/>
              </a:endParaRPr>
            </a:p>
          </p:txBody>
        </p:sp>
        <p:sp>
          <p:nvSpPr>
            <p:cNvPr id="334" name="Google Shape;334;p6"/>
            <p:cNvSpPr/>
            <p:nvPr/>
          </p:nvSpPr>
          <p:spPr>
            <a:xfrm rot="5400000">
              <a:off x="5640418" y="187417"/>
              <a:ext cx="942031" cy="5751938"/>
            </a:xfrm>
            <a:prstGeom prst="round2SameRect">
              <a:avLst>
                <a:gd fmla="val 16667" name="adj1"/>
                <a:gd fmla="val 0" name="adj2"/>
              </a:avLst>
            </a:prstGeom>
            <a:solidFill>
              <a:srgbClr val="DDD7CF">
                <a:alpha val="89803"/>
              </a:srgbClr>
            </a:solidFill>
            <a:ln cap="rnd" cmpd="sng" w="9525">
              <a:solidFill>
                <a:srgbClr val="DDD7C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6"/>
            <p:cNvSpPr txBox="1"/>
            <p:nvPr/>
          </p:nvSpPr>
          <p:spPr>
            <a:xfrm>
              <a:off x="3235465" y="2638356"/>
              <a:ext cx="5705952" cy="850059"/>
            </a:xfrm>
            <a:prstGeom prst="rect">
              <a:avLst/>
            </a:prstGeom>
            <a:noFill/>
            <a:ln>
              <a:noFill/>
            </a:ln>
          </p:spPr>
          <p:txBody>
            <a:bodyPr anchorCtr="0" anchor="ctr" bIns="26650" lIns="53325" spcFirstLastPara="1" rIns="53325" wrap="square" tIns="26650">
              <a:noAutofit/>
            </a:bodyPr>
            <a:lstStyle/>
            <a:p>
              <a:pPr indent="-114300" lvl="1" marL="114300" marR="0" rtl="0" algn="l">
                <a:lnSpc>
                  <a:spcPct val="90000"/>
                </a:lnSpc>
                <a:spcBef>
                  <a:spcPts val="0"/>
                </a:spcBef>
                <a:spcAft>
                  <a:spcPts val="0"/>
                </a:spcAft>
                <a:buClr>
                  <a:schemeClr val="dk1"/>
                </a:buClr>
                <a:buSzPts val="1400"/>
                <a:buFont typeface="Century Gothic"/>
                <a:buChar char="•"/>
              </a:pPr>
              <a:r>
                <a:rPr b="0" i="0" lang="es-AR" sz="1400" u="none" cap="none" strike="noStrike">
                  <a:solidFill>
                    <a:schemeClr val="dk1"/>
                  </a:solidFill>
                  <a:latin typeface="Century Gothic"/>
                  <a:ea typeface="Century Gothic"/>
                  <a:cs typeface="Century Gothic"/>
                  <a:sym typeface="Century Gothic"/>
                </a:rPr>
                <a:t>la circunstancia de que los títulos valores se hallen destinados a circular ha llevado a la necesidad de asegurar al sujeto que recibe el título que su adquisición es originaria y no derivada del transmitente o transmitentes anteriores.</a:t>
              </a:r>
              <a:endParaRPr b="0" i="0" sz="1400" u="none" cap="none" strike="noStrike">
                <a:solidFill>
                  <a:schemeClr val="dk1"/>
                </a:solidFill>
                <a:latin typeface="Century Gothic"/>
                <a:ea typeface="Century Gothic"/>
                <a:cs typeface="Century Gothic"/>
                <a:sym typeface="Century Gothic"/>
              </a:endParaRPr>
            </a:p>
          </p:txBody>
        </p:sp>
        <p:sp>
          <p:nvSpPr>
            <p:cNvPr id="336" name="Google Shape;336;p6"/>
            <p:cNvSpPr/>
            <p:nvPr/>
          </p:nvSpPr>
          <p:spPr>
            <a:xfrm>
              <a:off x="0" y="2474617"/>
              <a:ext cx="3235465" cy="1177539"/>
            </a:xfrm>
            <a:prstGeom prst="roundRect">
              <a:avLst>
                <a:gd fmla="val 16667" name="adj"/>
              </a:avLst>
            </a:prstGeom>
            <a:gradFill>
              <a:gsLst>
                <a:gs pos="0">
                  <a:srgbClr val="A68D65"/>
                </a:gs>
                <a:gs pos="100000">
                  <a:srgbClr val="927749"/>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6"/>
            <p:cNvSpPr txBox="1"/>
            <p:nvPr/>
          </p:nvSpPr>
          <p:spPr>
            <a:xfrm>
              <a:off x="57483" y="2532100"/>
              <a:ext cx="3120499" cy="1062573"/>
            </a:xfrm>
            <a:prstGeom prst="rect">
              <a:avLst/>
            </a:prstGeom>
            <a:noFill/>
            <a:ln>
              <a:noFill/>
            </a:ln>
          </p:spPr>
          <p:txBody>
            <a:bodyPr anchorCtr="0" anchor="ctr" bIns="57150" lIns="114300" spcFirstLastPara="1" rIns="114300" wrap="square" tIns="57150">
              <a:noAutofit/>
            </a:bodyPr>
            <a:lstStyle/>
            <a:p>
              <a:pPr indent="0" lvl="0" marL="0" marR="0" rtl="0" algn="ctr">
                <a:lnSpc>
                  <a:spcPct val="90000"/>
                </a:lnSpc>
                <a:spcBef>
                  <a:spcPts val="0"/>
                </a:spcBef>
                <a:spcAft>
                  <a:spcPts val="0"/>
                </a:spcAft>
                <a:buClr>
                  <a:schemeClr val="lt1"/>
                </a:buClr>
                <a:buSzPts val="3000"/>
                <a:buFont typeface="Century Gothic"/>
                <a:buNone/>
              </a:pPr>
              <a:r>
                <a:rPr lang="es-AR" sz="3000">
                  <a:solidFill>
                    <a:schemeClr val="lt1"/>
                  </a:solidFill>
                  <a:latin typeface="Century Gothic"/>
                  <a:ea typeface="Century Gothic"/>
                  <a:cs typeface="Century Gothic"/>
                  <a:sym typeface="Century Gothic"/>
                </a:rPr>
                <a:t>Autonomía</a:t>
              </a:r>
              <a:endParaRPr sz="3000">
                <a:solidFill>
                  <a:schemeClr val="lt1"/>
                </a:solidFill>
                <a:latin typeface="Century Gothic"/>
                <a:ea typeface="Century Gothic"/>
                <a:cs typeface="Century Gothic"/>
                <a:sym typeface="Century Gothic"/>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341" name="Shape 341"/>
        <p:cNvGrpSpPr/>
        <p:nvPr/>
      </p:nvGrpSpPr>
      <p:grpSpPr>
        <a:xfrm>
          <a:off x="0" y="0"/>
          <a:ext cx="0" cy="0"/>
          <a:chOff x="0" y="0"/>
          <a:chExt cx="0" cy="0"/>
        </a:xfrm>
      </p:grpSpPr>
      <p:sp>
        <p:nvSpPr>
          <p:cNvPr id="342" name="Google Shape;342;p7"/>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3" name="Google Shape;343;p7"/>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2700"/>
              <a:buFont typeface="Century Gothic"/>
              <a:buNone/>
            </a:pPr>
            <a:r>
              <a:rPr lang="es-AR" sz="2700">
                <a:solidFill>
                  <a:schemeClr val="lt1"/>
                </a:solidFill>
              </a:rPr>
              <a:t>OTROS CARACTERES</a:t>
            </a:r>
            <a:endParaRPr/>
          </a:p>
        </p:txBody>
      </p:sp>
      <p:sp>
        <p:nvSpPr>
          <p:cNvPr id="344" name="Google Shape;344;p7"/>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45" name="Google Shape;345;p7"/>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346" name="Google Shape;346;p7"/>
          <p:cNvGrpSpPr/>
          <p:nvPr/>
        </p:nvGrpSpPr>
        <p:grpSpPr>
          <a:xfrm>
            <a:off x="4713144" y="726265"/>
            <a:ext cx="6832212" cy="5095350"/>
            <a:chOff x="0" y="84714"/>
            <a:chExt cx="6832212" cy="5095350"/>
          </a:xfrm>
        </p:grpSpPr>
        <p:sp>
          <p:nvSpPr>
            <p:cNvPr id="347" name="Google Shape;347;p7"/>
            <p:cNvSpPr/>
            <p:nvPr/>
          </p:nvSpPr>
          <p:spPr>
            <a:xfrm>
              <a:off x="0" y="84714"/>
              <a:ext cx="6832212" cy="623610"/>
            </a:xfrm>
            <a:prstGeom prst="roundRect">
              <a:avLst>
                <a:gd fmla="val 16667" name="adj"/>
              </a:avLst>
            </a:prstGeom>
            <a:gradFill>
              <a:gsLst>
                <a:gs pos="0">
                  <a:srgbClr val="DF8A47"/>
                </a:gs>
                <a:gs pos="100000">
                  <a:srgbClr val="CC7213"/>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7"/>
            <p:cNvSpPr txBox="1"/>
            <p:nvPr/>
          </p:nvSpPr>
          <p:spPr>
            <a:xfrm>
              <a:off x="30442" y="115156"/>
              <a:ext cx="6771328" cy="562726"/>
            </a:xfrm>
            <a:prstGeom prst="rect">
              <a:avLst/>
            </a:prstGeom>
            <a:noFill/>
            <a:ln>
              <a:noFill/>
            </a:ln>
          </p:spPr>
          <p:txBody>
            <a:bodyPr anchorCtr="0" anchor="ctr"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entury Gothic"/>
                <a:buNone/>
              </a:pPr>
              <a:r>
                <a:rPr lang="es-AR" sz="2600">
                  <a:solidFill>
                    <a:schemeClr val="lt1"/>
                  </a:solidFill>
                  <a:latin typeface="Century Gothic"/>
                  <a:ea typeface="Century Gothic"/>
                  <a:cs typeface="Century Gothic"/>
                  <a:sym typeface="Century Gothic"/>
                </a:rPr>
                <a:t>Abstracción</a:t>
              </a:r>
              <a:endParaRPr sz="2600">
                <a:solidFill>
                  <a:schemeClr val="lt1"/>
                </a:solidFill>
                <a:latin typeface="Century Gothic"/>
                <a:ea typeface="Century Gothic"/>
                <a:cs typeface="Century Gothic"/>
                <a:sym typeface="Century Gothic"/>
              </a:endParaRPr>
            </a:p>
          </p:txBody>
        </p:sp>
        <p:sp>
          <p:nvSpPr>
            <p:cNvPr id="349" name="Google Shape;349;p7"/>
            <p:cNvSpPr/>
            <p:nvPr/>
          </p:nvSpPr>
          <p:spPr>
            <a:xfrm>
              <a:off x="0" y="708324"/>
              <a:ext cx="6832212" cy="15338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txBox="1"/>
            <p:nvPr/>
          </p:nvSpPr>
          <p:spPr>
            <a:xfrm>
              <a:off x="0" y="708324"/>
              <a:ext cx="6832212" cy="1533870"/>
            </a:xfrm>
            <a:prstGeom prst="rect">
              <a:avLst/>
            </a:prstGeom>
            <a:noFill/>
            <a:ln>
              <a:noFill/>
            </a:ln>
          </p:spPr>
          <p:txBody>
            <a:bodyPr anchorCtr="0" anchor="t" bIns="33000" lIns="216900" spcFirstLastPara="1" rIns="184900" wrap="square" tIns="33000">
              <a:noAutofit/>
            </a:bodyPr>
            <a:lstStyle/>
            <a:p>
              <a:pPr indent="-228600" lvl="1" marL="228600" marR="0" rtl="0" algn="l">
                <a:lnSpc>
                  <a:spcPct val="90000"/>
                </a:lnSpc>
                <a:spcBef>
                  <a:spcPts val="0"/>
                </a:spcBef>
                <a:spcAft>
                  <a:spcPts val="0"/>
                </a:spcAft>
                <a:buClr>
                  <a:schemeClr val="dk1"/>
                </a:buClr>
                <a:buSzPts val="2000"/>
                <a:buFont typeface="Century Gothic"/>
                <a:buChar char="•"/>
              </a:pPr>
              <a:r>
                <a:rPr b="0" i="0" lang="es-AR" sz="2000" u="none" cap="none" strike="noStrike">
                  <a:solidFill>
                    <a:schemeClr val="dk1"/>
                  </a:solidFill>
                  <a:latin typeface="Century Gothic"/>
                  <a:ea typeface="Century Gothic"/>
                  <a:cs typeface="Century Gothic"/>
                  <a:sym typeface="Century Gothic"/>
                </a:rPr>
                <a:t>El derecho incorporado al título puede ser exigido con independencia de la relación causal o negocio subyacente</a:t>
              </a:r>
              <a:endParaRPr b="0" i="0" sz="2000" u="none" cap="none" strike="noStrike">
                <a:solidFill>
                  <a:schemeClr val="dk1"/>
                </a:solidFill>
                <a:latin typeface="Century Gothic"/>
                <a:ea typeface="Century Gothic"/>
                <a:cs typeface="Century Gothic"/>
                <a:sym typeface="Century Gothic"/>
              </a:endParaRPr>
            </a:p>
            <a:p>
              <a:pPr indent="-228600" lvl="1" marL="228600" marR="0" rtl="0" algn="l">
                <a:lnSpc>
                  <a:spcPct val="90000"/>
                </a:lnSpc>
                <a:spcBef>
                  <a:spcPts val="400"/>
                </a:spcBef>
                <a:spcAft>
                  <a:spcPts val="0"/>
                </a:spcAft>
                <a:buClr>
                  <a:schemeClr val="dk1"/>
                </a:buClr>
                <a:buSzPts val="2000"/>
                <a:buFont typeface="Century Gothic"/>
                <a:buChar char="•"/>
              </a:pPr>
              <a:r>
                <a:rPr b="0" i="0" lang="es-AR" sz="2000" u="none" cap="none" strike="noStrike">
                  <a:solidFill>
                    <a:schemeClr val="dk1"/>
                  </a:solidFill>
                  <a:latin typeface="Century Gothic"/>
                  <a:ea typeface="Century Gothic"/>
                  <a:cs typeface="Century Gothic"/>
                  <a:sym typeface="Century Gothic"/>
                </a:rPr>
                <a:t>Ello no implica negar la causa sino desvincularla del propio título,</a:t>
              </a:r>
              <a:endParaRPr b="0" i="0" sz="2000" u="none" cap="none" strike="noStrike">
                <a:solidFill>
                  <a:schemeClr val="dk1"/>
                </a:solidFill>
                <a:latin typeface="Century Gothic"/>
                <a:ea typeface="Century Gothic"/>
                <a:cs typeface="Century Gothic"/>
                <a:sym typeface="Century Gothic"/>
              </a:endParaRPr>
            </a:p>
          </p:txBody>
        </p:sp>
        <p:sp>
          <p:nvSpPr>
            <p:cNvPr id="351" name="Google Shape;351;p7"/>
            <p:cNvSpPr/>
            <p:nvPr/>
          </p:nvSpPr>
          <p:spPr>
            <a:xfrm>
              <a:off x="0" y="2242194"/>
              <a:ext cx="6832212" cy="623610"/>
            </a:xfrm>
            <a:prstGeom prst="roundRect">
              <a:avLst>
                <a:gd fmla="val 16667" name="adj"/>
              </a:avLst>
            </a:prstGeom>
            <a:gradFill>
              <a:gsLst>
                <a:gs pos="0">
                  <a:srgbClr val="A68D65"/>
                </a:gs>
                <a:gs pos="100000">
                  <a:srgbClr val="927749"/>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txBox="1"/>
            <p:nvPr/>
          </p:nvSpPr>
          <p:spPr>
            <a:xfrm>
              <a:off x="30442" y="2272636"/>
              <a:ext cx="6771328" cy="562726"/>
            </a:xfrm>
            <a:prstGeom prst="rect">
              <a:avLst/>
            </a:prstGeom>
            <a:noFill/>
            <a:ln>
              <a:noFill/>
            </a:ln>
          </p:spPr>
          <p:txBody>
            <a:bodyPr anchorCtr="0" anchor="ctr"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entury Gothic"/>
                <a:buNone/>
              </a:pPr>
              <a:r>
                <a:rPr lang="es-AR" sz="2600">
                  <a:solidFill>
                    <a:schemeClr val="lt1"/>
                  </a:solidFill>
                  <a:latin typeface="Century Gothic"/>
                  <a:ea typeface="Century Gothic"/>
                  <a:cs typeface="Century Gothic"/>
                  <a:sym typeface="Century Gothic"/>
                </a:rPr>
                <a:t>Completividad</a:t>
              </a:r>
              <a:endParaRPr sz="2600">
                <a:solidFill>
                  <a:schemeClr val="lt1"/>
                </a:solidFill>
                <a:latin typeface="Century Gothic"/>
                <a:ea typeface="Century Gothic"/>
                <a:cs typeface="Century Gothic"/>
                <a:sym typeface="Century Gothic"/>
              </a:endParaRPr>
            </a:p>
          </p:txBody>
        </p:sp>
        <p:sp>
          <p:nvSpPr>
            <p:cNvPr id="353" name="Google Shape;353;p7"/>
            <p:cNvSpPr/>
            <p:nvPr/>
          </p:nvSpPr>
          <p:spPr>
            <a:xfrm>
              <a:off x="0" y="2865804"/>
              <a:ext cx="6832212" cy="23142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txBox="1"/>
            <p:nvPr/>
          </p:nvSpPr>
          <p:spPr>
            <a:xfrm>
              <a:off x="0" y="2865804"/>
              <a:ext cx="6832212" cy="2314260"/>
            </a:xfrm>
            <a:prstGeom prst="rect">
              <a:avLst/>
            </a:prstGeom>
            <a:noFill/>
            <a:ln>
              <a:noFill/>
            </a:ln>
          </p:spPr>
          <p:txBody>
            <a:bodyPr anchorCtr="0" anchor="t" bIns="33000" lIns="216900" spcFirstLastPara="1" rIns="184900" wrap="square" tIns="33000">
              <a:noAutofit/>
            </a:bodyPr>
            <a:lstStyle/>
            <a:p>
              <a:pPr indent="-228600" lvl="1" marL="228600" marR="0" rtl="0" algn="l">
                <a:lnSpc>
                  <a:spcPct val="90000"/>
                </a:lnSpc>
                <a:spcBef>
                  <a:spcPts val="0"/>
                </a:spcBef>
                <a:spcAft>
                  <a:spcPts val="0"/>
                </a:spcAft>
                <a:buClr>
                  <a:schemeClr val="dk1"/>
                </a:buClr>
                <a:buSzPts val="2000"/>
                <a:buFont typeface="Century Gothic"/>
                <a:buChar char="•"/>
              </a:pPr>
              <a:r>
                <a:rPr b="0" i="0" lang="es-AR" sz="2000" u="none" cap="none" strike="noStrike">
                  <a:solidFill>
                    <a:schemeClr val="dk1"/>
                  </a:solidFill>
                  <a:latin typeface="Century Gothic"/>
                  <a:ea typeface="Century Gothic"/>
                  <a:cs typeface="Century Gothic"/>
                  <a:sym typeface="Century Gothic"/>
                </a:rPr>
                <a:t>El título debe bastarse a sí mismo. No admite complementaciones con elementos externos extraños para que el portador pueda ejercer los derechos que de él emanan, y en caso de que se hubieran hecho constar en la letra, carecen de valor cambiario. Ello es consecuencia de la simpleza y celeridad buscada en la negociación de los títulos valores.</a:t>
              </a:r>
              <a:endParaRPr b="0" i="0" sz="2000" u="none" cap="none" strike="noStrike">
                <a:solidFill>
                  <a:schemeClr val="dk1"/>
                </a:solidFill>
                <a:latin typeface="Century Gothic"/>
                <a:ea typeface="Century Gothic"/>
                <a:cs typeface="Century Gothic"/>
                <a:sym typeface="Century Gothic"/>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358" name="Shape 358"/>
        <p:cNvGrpSpPr/>
        <p:nvPr/>
      </p:nvGrpSpPr>
      <p:grpSpPr>
        <a:xfrm>
          <a:off x="0" y="0"/>
          <a:ext cx="0" cy="0"/>
          <a:chOff x="0" y="0"/>
          <a:chExt cx="0" cy="0"/>
        </a:xfrm>
      </p:grpSpPr>
      <p:sp>
        <p:nvSpPr>
          <p:cNvPr id="359" name="Google Shape;359;p8"/>
          <p:cNvSpPr/>
          <p:nvPr/>
        </p:nvSpPr>
        <p:spPr>
          <a:xfrm>
            <a:off x="0" y="-786"/>
            <a:ext cx="12192000" cy="6854038"/>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0" name="Google Shape;360;p8"/>
          <p:cNvSpPr txBox="1"/>
          <p:nvPr>
            <p:ph type="title"/>
          </p:nvPr>
        </p:nvSpPr>
        <p:spPr>
          <a:xfrm>
            <a:off x="649224" y="645106"/>
            <a:ext cx="3650279" cy="125989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AUTONOMIA</a:t>
            </a:r>
            <a:endParaRPr/>
          </a:p>
        </p:txBody>
      </p:sp>
      <p:sp>
        <p:nvSpPr>
          <p:cNvPr id="361" name="Google Shape;361;p8"/>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2" name="Google Shape;362;p8"/>
          <p:cNvSpPr txBox="1"/>
          <p:nvPr>
            <p:ph idx="1" type="body"/>
          </p:nvPr>
        </p:nvSpPr>
        <p:spPr>
          <a:xfrm>
            <a:off x="649225" y="2133600"/>
            <a:ext cx="3650278" cy="37592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700"/>
              <a:buChar char="🠶"/>
            </a:pPr>
            <a:r>
              <a:rPr lang="es-AR" sz="1700"/>
              <a:t>ARTÍCULO 1816.- Autonomía. El portador de buena fe de un título valor que lo adquiere conforme con su ley de circulación, tiene un derecho autónomo, y le son inoponibles las defensas personales que pueden existir contra anteriores portadores. A los efectos de este artículo, el portador es de mala fe si al adquirir el título procede a sabiendas en perjuicio del deudor demandado. </a:t>
            </a:r>
            <a:endParaRPr/>
          </a:p>
        </p:txBody>
      </p:sp>
      <p:sp>
        <p:nvSpPr>
          <p:cNvPr id="363" name="Google Shape;363;p8"/>
          <p:cNvSpPr/>
          <p:nvPr/>
        </p:nvSpPr>
        <p:spPr>
          <a:xfrm>
            <a:off x="-1" y="6061223"/>
            <a:ext cx="1038036" cy="506277"/>
          </a:xfrm>
          <a:custGeom>
            <a:rect b="b" l="l" r="r" t="t"/>
            <a:pathLst>
              <a:path extrusionOk="0" h="506277" w="1038036">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Escalones de entrada y columnas de un edificio majestuoso en la ciudad" id="364" name="Google Shape;364;p8"/>
          <p:cNvPicPr preferRelativeResize="0"/>
          <p:nvPr/>
        </p:nvPicPr>
        <p:blipFill rotWithShape="1">
          <a:blip r:embed="rId3">
            <a:alphaModFix/>
          </a:blip>
          <a:srcRect b="2" l="11947" r="14299" t="0"/>
          <a:stretch/>
        </p:blipFill>
        <p:spPr>
          <a:xfrm>
            <a:off x="4619543" y="10"/>
            <a:ext cx="7572457" cy="68532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368" name="Shape 368"/>
        <p:cNvGrpSpPr/>
        <p:nvPr/>
      </p:nvGrpSpPr>
      <p:grpSpPr>
        <a:xfrm>
          <a:off x="0" y="0"/>
          <a:ext cx="0" cy="0"/>
          <a:chOff x="0" y="0"/>
          <a:chExt cx="0" cy="0"/>
        </a:xfrm>
      </p:grpSpPr>
      <p:sp>
        <p:nvSpPr>
          <p:cNvPr id="369" name="Google Shape;369;p9"/>
          <p:cNvSpPr txBox="1"/>
          <p:nvPr>
            <p:ph type="title"/>
          </p:nvPr>
        </p:nvSpPr>
        <p:spPr>
          <a:xfrm>
            <a:off x="1687669" y="624110"/>
            <a:ext cx="4137059"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200"/>
              <a:buFont typeface="Century Gothic"/>
              <a:buNone/>
            </a:pPr>
            <a:r>
              <a:rPr lang="es-AR" sz="3200"/>
              <a:t>AUTONOMIA</a:t>
            </a:r>
            <a:endParaRPr/>
          </a:p>
        </p:txBody>
      </p:sp>
      <p:sp>
        <p:nvSpPr>
          <p:cNvPr id="370" name="Google Shape;370;p9"/>
          <p:cNvSpPr txBox="1"/>
          <p:nvPr>
            <p:ph idx="1" type="body"/>
          </p:nvPr>
        </p:nvSpPr>
        <p:spPr>
          <a:xfrm>
            <a:off x="1683956" y="2133600"/>
            <a:ext cx="4140772"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s-AR" sz="1600">
                <a:solidFill>
                  <a:schemeClr val="dk1"/>
                </a:solidFill>
              </a:rPr>
              <a:t>para el adquirente del título importaba reconocerle un derecho propio independiente de la persona del transmitente o de los anteriores tenedores.</a:t>
            </a:r>
            <a:endParaRPr/>
          </a:p>
          <a:p>
            <a:pPr indent="-342900" lvl="0" marL="342900" rtl="0" algn="l">
              <a:spcBef>
                <a:spcPts val="1000"/>
              </a:spcBef>
              <a:spcAft>
                <a:spcPts val="0"/>
              </a:spcAft>
              <a:buSzPts val="1600"/>
              <a:buChar char="🠶"/>
            </a:pPr>
            <a:r>
              <a:rPr lang="es-AR" sz="1600">
                <a:solidFill>
                  <a:schemeClr val="dk1"/>
                </a:solidFill>
              </a:rPr>
              <a:t>El derecho no se transmite sino que se adquiere en forma originaria cada vez que es adquirido el documento, sin que interese la invalidez de alguna otra obligación cambiaria</a:t>
            </a:r>
            <a:endParaRPr/>
          </a:p>
        </p:txBody>
      </p:sp>
      <p:pic>
        <p:nvPicPr>
          <p:cNvPr descr="Líneas superpuestas vinculadas a una barra" id="371" name="Google Shape;371;p9"/>
          <p:cNvPicPr preferRelativeResize="0"/>
          <p:nvPr/>
        </p:nvPicPr>
        <p:blipFill rotWithShape="1">
          <a:blip r:embed="rId3">
            <a:alphaModFix/>
          </a:blip>
          <a:srcRect b="-1" l="17614" r="23012" t="0"/>
          <a:stretch/>
        </p:blipFill>
        <p:spPr>
          <a:xfrm>
            <a:off x="6091916" y="10"/>
            <a:ext cx="6100084" cy="68579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375" name="Shape 375"/>
        <p:cNvGrpSpPr/>
        <p:nvPr/>
      </p:nvGrpSpPr>
      <p:grpSpPr>
        <a:xfrm>
          <a:off x="0" y="0"/>
          <a:ext cx="0" cy="0"/>
          <a:chOff x="0" y="0"/>
          <a:chExt cx="0" cy="0"/>
        </a:xfrm>
      </p:grpSpPr>
      <p:sp>
        <p:nvSpPr>
          <p:cNvPr id="376" name="Google Shape;376;p10"/>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77" name="Google Shape;377;p10"/>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s-AR" sz="3200">
                <a:solidFill>
                  <a:schemeClr val="lt1"/>
                </a:solidFill>
              </a:rPr>
              <a:t>Tipos</a:t>
            </a:r>
            <a:endParaRPr/>
          </a:p>
        </p:txBody>
      </p:sp>
      <p:sp>
        <p:nvSpPr>
          <p:cNvPr id="378" name="Google Shape;378;p10"/>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79" name="Google Shape;379;p10"/>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380" name="Google Shape;380;p10"/>
          <p:cNvGrpSpPr/>
          <p:nvPr/>
        </p:nvGrpSpPr>
        <p:grpSpPr>
          <a:xfrm>
            <a:off x="4713144" y="641551"/>
            <a:ext cx="6832212" cy="5264778"/>
            <a:chOff x="0" y="0"/>
            <a:chExt cx="6832212" cy="5264778"/>
          </a:xfrm>
        </p:grpSpPr>
        <p:cxnSp>
          <p:nvCxnSpPr>
            <p:cNvPr id="381" name="Google Shape;381;p10"/>
            <p:cNvCxnSpPr/>
            <p:nvPr/>
          </p:nvCxnSpPr>
          <p:spPr>
            <a:xfrm>
              <a:off x="0" y="0"/>
              <a:ext cx="6832212" cy="0"/>
            </a:xfrm>
            <a:prstGeom prst="straightConnector1">
              <a:avLst/>
            </a:prstGeom>
            <a:gradFill>
              <a:gsLst>
                <a:gs pos="0">
                  <a:srgbClr val="847D66"/>
                </a:gs>
                <a:gs pos="100000">
                  <a:srgbClr val="6D664E"/>
                </a:gs>
              </a:gsLst>
              <a:lin ang="5400000" scaled="0"/>
            </a:gradFill>
            <a:ln cap="rnd" cmpd="sng" w="9525">
              <a:solidFill>
                <a:schemeClr val="dk2"/>
              </a:solidFill>
              <a:prstDash val="solid"/>
              <a:round/>
              <a:headEnd len="sm" w="sm" type="none"/>
              <a:tailEnd len="sm" w="sm" type="none"/>
            </a:ln>
            <a:effectLst>
              <a:outerShdw blurRad="38100" rotWithShape="0" dir="5400000" dist="25400">
                <a:srgbClr val="000000">
                  <a:alpha val="24705"/>
                </a:srgbClr>
              </a:outerShdw>
            </a:effectLst>
          </p:spPr>
        </p:cxnSp>
        <p:sp>
          <p:nvSpPr>
            <p:cNvPr id="382" name="Google Shape;382;p10"/>
            <p:cNvSpPr/>
            <p:nvPr/>
          </p:nvSpPr>
          <p:spPr>
            <a:xfrm>
              <a:off x="0" y="0"/>
              <a:ext cx="1366442" cy="263238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0"/>
            <p:cNvSpPr txBox="1"/>
            <p:nvPr/>
          </p:nvSpPr>
          <p:spPr>
            <a:xfrm>
              <a:off x="0" y="0"/>
              <a:ext cx="1366442" cy="2632389"/>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Century Gothic"/>
                <a:buNone/>
              </a:pPr>
              <a:r>
                <a:rPr lang="es-AR" sz="1900">
                  <a:solidFill>
                    <a:schemeClr val="dk1"/>
                  </a:solidFill>
                  <a:latin typeface="Century Gothic"/>
                  <a:ea typeface="Century Gothic"/>
                  <a:cs typeface="Century Gothic"/>
                  <a:sym typeface="Century Gothic"/>
                </a:rPr>
                <a:t>Cartulares</a:t>
              </a:r>
              <a:endParaRPr sz="1900">
                <a:solidFill>
                  <a:schemeClr val="dk1"/>
                </a:solidFill>
                <a:latin typeface="Century Gothic"/>
                <a:ea typeface="Century Gothic"/>
                <a:cs typeface="Century Gothic"/>
                <a:sym typeface="Century Gothic"/>
              </a:endParaRPr>
            </a:p>
          </p:txBody>
        </p:sp>
        <p:sp>
          <p:nvSpPr>
            <p:cNvPr id="384" name="Google Shape;384;p10"/>
            <p:cNvSpPr/>
            <p:nvPr/>
          </p:nvSpPr>
          <p:spPr>
            <a:xfrm>
              <a:off x="1468925" y="41131"/>
              <a:ext cx="5363286" cy="8226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txBox="1"/>
            <p:nvPr/>
          </p:nvSpPr>
          <p:spPr>
            <a:xfrm>
              <a:off x="1468925" y="41131"/>
              <a:ext cx="5363286" cy="822621"/>
            </a:xfrm>
            <a:prstGeom prst="rect">
              <a:avLst/>
            </a:prstGeom>
            <a:noFill/>
            <a:ln>
              <a:noFill/>
            </a:ln>
          </p:spPr>
          <p:txBody>
            <a:bodyPr anchorCtr="0" anchor="t"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Century Gothic"/>
                <a:buNone/>
              </a:pPr>
              <a:r>
                <a:rPr lang="es-AR" sz="1300">
                  <a:solidFill>
                    <a:schemeClr val="dk1"/>
                  </a:solidFill>
                  <a:latin typeface="Century Gothic"/>
                  <a:ea typeface="Century Gothic"/>
                  <a:cs typeface="Century Gothic"/>
                  <a:sym typeface="Century Gothic"/>
                </a:rPr>
                <a:t>Aquellos que representan un valor siendo el documento necesario para la transmisión, modificación y ejercicio del derecho</a:t>
              </a:r>
              <a:endParaRPr sz="1300">
                <a:solidFill>
                  <a:schemeClr val="dk1"/>
                </a:solidFill>
                <a:latin typeface="Century Gothic"/>
                <a:ea typeface="Century Gothic"/>
                <a:cs typeface="Century Gothic"/>
                <a:sym typeface="Century Gothic"/>
              </a:endParaRPr>
            </a:p>
          </p:txBody>
        </p:sp>
        <p:cxnSp>
          <p:nvCxnSpPr>
            <p:cNvPr id="386" name="Google Shape;386;p10"/>
            <p:cNvCxnSpPr/>
            <p:nvPr/>
          </p:nvCxnSpPr>
          <p:spPr>
            <a:xfrm>
              <a:off x="1366442" y="863752"/>
              <a:ext cx="5465769" cy="0"/>
            </a:xfrm>
            <a:prstGeom prst="straightConnector1">
              <a:avLst/>
            </a:prstGeom>
            <a:solidFill>
              <a:schemeClr val="dk2"/>
            </a:solidFill>
            <a:ln cap="rnd" cmpd="sng" w="15875">
              <a:solidFill>
                <a:srgbClr val="C9C7C1"/>
              </a:solidFill>
              <a:prstDash val="solid"/>
              <a:round/>
              <a:headEnd len="sm" w="sm" type="none"/>
              <a:tailEnd len="sm" w="sm" type="none"/>
            </a:ln>
          </p:spPr>
        </p:cxnSp>
        <p:sp>
          <p:nvSpPr>
            <p:cNvPr id="387" name="Google Shape;387;p10"/>
            <p:cNvSpPr/>
            <p:nvPr/>
          </p:nvSpPr>
          <p:spPr>
            <a:xfrm>
              <a:off x="1468925" y="904883"/>
              <a:ext cx="5363286" cy="8226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txBox="1"/>
            <p:nvPr/>
          </p:nvSpPr>
          <p:spPr>
            <a:xfrm>
              <a:off x="1468925" y="904883"/>
              <a:ext cx="5363286" cy="822621"/>
            </a:xfrm>
            <a:prstGeom prst="rect">
              <a:avLst/>
            </a:prstGeom>
            <a:noFill/>
            <a:ln>
              <a:noFill/>
            </a:ln>
          </p:spPr>
          <p:txBody>
            <a:bodyPr anchorCtr="0" anchor="t"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Century Gothic"/>
                <a:buNone/>
              </a:pPr>
              <a:r>
                <a:rPr lang="es-AR" sz="1300">
                  <a:solidFill>
                    <a:schemeClr val="dk1"/>
                  </a:solidFill>
                  <a:latin typeface="Century Gothic"/>
                  <a:ea typeface="Century Gothic"/>
                  <a:cs typeface="Century Gothic"/>
                  <a:sym typeface="Century Gothic"/>
                </a:rPr>
                <a:t>para el ejercicio de derechos que emanan de títulos materiales, es necesario detentar la posesión del documento. Cambiariamente ningún derecho puede reclamarse sin él</a:t>
              </a:r>
              <a:endParaRPr sz="1300">
                <a:solidFill>
                  <a:schemeClr val="dk1"/>
                </a:solidFill>
                <a:latin typeface="Century Gothic"/>
                <a:ea typeface="Century Gothic"/>
                <a:cs typeface="Century Gothic"/>
                <a:sym typeface="Century Gothic"/>
              </a:endParaRPr>
            </a:p>
          </p:txBody>
        </p:sp>
        <p:cxnSp>
          <p:nvCxnSpPr>
            <p:cNvPr id="389" name="Google Shape;389;p10"/>
            <p:cNvCxnSpPr/>
            <p:nvPr/>
          </p:nvCxnSpPr>
          <p:spPr>
            <a:xfrm>
              <a:off x="1366442" y="1727505"/>
              <a:ext cx="5465769" cy="0"/>
            </a:xfrm>
            <a:prstGeom prst="straightConnector1">
              <a:avLst/>
            </a:prstGeom>
            <a:solidFill>
              <a:schemeClr val="dk2"/>
            </a:solidFill>
            <a:ln cap="rnd" cmpd="sng" w="15875">
              <a:solidFill>
                <a:srgbClr val="C9C7C1"/>
              </a:solidFill>
              <a:prstDash val="solid"/>
              <a:round/>
              <a:headEnd len="sm" w="sm" type="none"/>
              <a:tailEnd len="sm" w="sm" type="none"/>
            </a:ln>
          </p:spPr>
        </p:cxnSp>
        <p:sp>
          <p:nvSpPr>
            <p:cNvPr id="390" name="Google Shape;390;p10"/>
            <p:cNvSpPr/>
            <p:nvPr/>
          </p:nvSpPr>
          <p:spPr>
            <a:xfrm>
              <a:off x="1468925" y="1768636"/>
              <a:ext cx="5363286" cy="8226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0"/>
            <p:cNvSpPr txBox="1"/>
            <p:nvPr/>
          </p:nvSpPr>
          <p:spPr>
            <a:xfrm>
              <a:off x="1468925" y="1768636"/>
              <a:ext cx="5363286" cy="822621"/>
            </a:xfrm>
            <a:prstGeom prst="rect">
              <a:avLst/>
            </a:prstGeom>
            <a:noFill/>
            <a:ln>
              <a:noFill/>
            </a:ln>
          </p:spPr>
          <p:txBody>
            <a:bodyPr anchorCtr="0" anchor="t"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Century Gothic"/>
                <a:buNone/>
              </a:pPr>
              <a:r>
                <a:rPr lang="es-AR" sz="1300">
                  <a:solidFill>
                    <a:schemeClr val="dk1"/>
                  </a:solidFill>
                  <a:latin typeface="Century Gothic"/>
                  <a:ea typeface="Century Gothic"/>
                  <a:cs typeface="Century Gothic"/>
                  <a:sym typeface="Century Gothic"/>
                </a:rPr>
                <a:t>Son ejemplos clásicos de esta modalidad, el endoso y el aval en la letra de cambio y el pagaré, que pueden insertarse en la prolongación debidamente unida</a:t>
              </a:r>
              <a:endParaRPr sz="1300">
                <a:solidFill>
                  <a:schemeClr val="dk1"/>
                </a:solidFill>
                <a:latin typeface="Century Gothic"/>
                <a:ea typeface="Century Gothic"/>
                <a:cs typeface="Century Gothic"/>
                <a:sym typeface="Century Gothic"/>
              </a:endParaRPr>
            </a:p>
          </p:txBody>
        </p:sp>
        <p:cxnSp>
          <p:nvCxnSpPr>
            <p:cNvPr id="392" name="Google Shape;392;p10"/>
            <p:cNvCxnSpPr/>
            <p:nvPr/>
          </p:nvCxnSpPr>
          <p:spPr>
            <a:xfrm>
              <a:off x="1366442" y="2591258"/>
              <a:ext cx="5465769" cy="0"/>
            </a:xfrm>
            <a:prstGeom prst="straightConnector1">
              <a:avLst/>
            </a:prstGeom>
            <a:solidFill>
              <a:schemeClr val="dk2"/>
            </a:solidFill>
            <a:ln cap="rnd" cmpd="sng" w="15875">
              <a:solidFill>
                <a:srgbClr val="C9C7C1"/>
              </a:solidFill>
              <a:prstDash val="solid"/>
              <a:round/>
              <a:headEnd len="sm" w="sm" type="none"/>
              <a:tailEnd len="sm" w="sm" type="none"/>
            </a:ln>
          </p:spPr>
        </p:cxnSp>
        <p:cxnSp>
          <p:nvCxnSpPr>
            <p:cNvPr id="393" name="Google Shape;393;p10"/>
            <p:cNvCxnSpPr/>
            <p:nvPr/>
          </p:nvCxnSpPr>
          <p:spPr>
            <a:xfrm>
              <a:off x="0" y="2632389"/>
              <a:ext cx="6832212" cy="0"/>
            </a:xfrm>
            <a:prstGeom prst="straightConnector1">
              <a:avLst/>
            </a:prstGeom>
            <a:gradFill>
              <a:gsLst>
                <a:gs pos="0">
                  <a:srgbClr val="847D66"/>
                </a:gs>
                <a:gs pos="100000">
                  <a:srgbClr val="6D664E"/>
                </a:gs>
              </a:gsLst>
              <a:lin ang="5400000" scaled="0"/>
            </a:gradFill>
            <a:ln cap="rnd" cmpd="sng" w="9525">
              <a:solidFill>
                <a:schemeClr val="dk2"/>
              </a:solidFill>
              <a:prstDash val="solid"/>
              <a:round/>
              <a:headEnd len="sm" w="sm" type="none"/>
              <a:tailEnd len="sm" w="sm" type="none"/>
            </a:ln>
            <a:effectLst>
              <a:outerShdw blurRad="38100" rotWithShape="0" dir="5400000" dist="25400">
                <a:srgbClr val="000000">
                  <a:alpha val="24705"/>
                </a:srgbClr>
              </a:outerShdw>
            </a:effectLst>
          </p:spPr>
        </p:cxnSp>
        <p:sp>
          <p:nvSpPr>
            <p:cNvPr id="394" name="Google Shape;394;p10"/>
            <p:cNvSpPr/>
            <p:nvPr/>
          </p:nvSpPr>
          <p:spPr>
            <a:xfrm>
              <a:off x="0" y="2632389"/>
              <a:ext cx="1366442" cy="263238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txBox="1"/>
            <p:nvPr/>
          </p:nvSpPr>
          <p:spPr>
            <a:xfrm>
              <a:off x="0" y="2632389"/>
              <a:ext cx="1366442" cy="2632389"/>
            </a:xfrm>
            <a:prstGeom prst="rect">
              <a:avLst/>
            </a:prstGeom>
            <a:noFill/>
            <a:ln>
              <a:noFill/>
            </a:ln>
          </p:spPr>
          <p:txBody>
            <a:bodyPr anchorCtr="0" anchor="t" bIns="72375" lIns="72375" spcFirstLastPara="1" rIns="72375" wrap="square" tIns="72375">
              <a:noAutofit/>
            </a:bodyPr>
            <a:lstStyle/>
            <a:p>
              <a:pPr indent="0" lvl="0" marL="0" marR="0" rtl="0" algn="l">
                <a:lnSpc>
                  <a:spcPct val="90000"/>
                </a:lnSpc>
                <a:spcBef>
                  <a:spcPts val="0"/>
                </a:spcBef>
                <a:spcAft>
                  <a:spcPts val="0"/>
                </a:spcAft>
                <a:buClr>
                  <a:schemeClr val="dk1"/>
                </a:buClr>
                <a:buSzPts val="1900"/>
                <a:buFont typeface="Century Gothic"/>
                <a:buNone/>
              </a:pPr>
              <a:r>
                <a:rPr lang="es-AR" sz="1900">
                  <a:solidFill>
                    <a:schemeClr val="dk1"/>
                  </a:solidFill>
                  <a:latin typeface="Century Gothic"/>
                  <a:ea typeface="Century Gothic"/>
                  <a:cs typeface="Century Gothic"/>
                  <a:sym typeface="Century Gothic"/>
                </a:rPr>
                <a:t>No cartulares</a:t>
              </a:r>
              <a:endParaRPr sz="1900">
                <a:solidFill>
                  <a:schemeClr val="dk1"/>
                </a:solidFill>
                <a:latin typeface="Century Gothic"/>
                <a:ea typeface="Century Gothic"/>
                <a:cs typeface="Century Gothic"/>
                <a:sym typeface="Century Gothic"/>
              </a:endParaRPr>
            </a:p>
          </p:txBody>
        </p:sp>
        <p:sp>
          <p:nvSpPr>
            <p:cNvPr id="396" name="Google Shape;396;p10"/>
            <p:cNvSpPr/>
            <p:nvPr/>
          </p:nvSpPr>
          <p:spPr>
            <a:xfrm>
              <a:off x="1468925" y="2673520"/>
              <a:ext cx="5363286" cy="8226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txBox="1"/>
            <p:nvPr/>
          </p:nvSpPr>
          <p:spPr>
            <a:xfrm>
              <a:off x="1468925" y="2673520"/>
              <a:ext cx="5363286" cy="822621"/>
            </a:xfrm>
            <a:prstGeom prst="rect">
              <a:avLst/>
            </a:prstGeom>
            <a:noFill/>
            <a:ln>
              <a:noFill/>
            </a:ln>
          </p:spPr>
          <p:txBody>
            <a:bodyPr anchorCtr="0" anchor="t"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Century Gothic"/>
                <a:buNone/>
              </a:pPr>
              <a:r>
                <a:rPr lang="es-AR" sz="1300">
                  <a:solidFill>
                    <a:schemeClr val="dk1"/>
                  </a:solidFill>
                  <a:latin typeface="Century Gothic"/>
                  <a:ea typeface="Century Gothic"/>
                  <a:cs typeface="Century Gothic"/>
                  <a:sym typeface="Century Gothic"/>
                </a:rPr>
                <a:t>Aquellos que en forma desmaterializada representan derechos o valores, no ya incorporados al titulo sino identificados en el instrumento de creación o emisión.</a:t>
              </a:r>
              <a:endParaRPr sz="1300">
                <a:solidFill>
                  <a:schemeClr val="dk1"/>
                </a:solidFill>
                <a:latin typeface="Century Gothic"/>
                <a:ea typeface="Century Gothic"/>
                <a:cs typeface="Century Gothic"/>
                <a:sym typeface="Century Gothic"/>
              </a:endParaRPr>
            </a:p>
          </p:txBody>
        </p:sp>
        <p:cxnSp>
          <p:nvCxnSpPr>
            <p:cNvPr id="398" name="Google Shape;398;p10"/>
            <p:cNvCxnSpPr/>
            <p:nvPr/>
          </p:nvCxnSpPr>
          <p:spPr>
            <a:xfrm>
              <a:off x="1366442" y="3496142"/>
              <a:ext cx="5465769" cy="0"/>
            </a:xfrm>
            <a:prstGeom prst="straightConnector1">
              <a:avLst/>
            </a:prstGeom>
            <a:solidFill>
              <a:schemeClr val="dk2"/>
            </a:solidFill>
            <a:ln cap="rnd" cmpd="sng" w="15875">
              <a:solidFill>
                <a:srgbClr val="C9C7C1"/>
              </a:solidFill>
              <a:prstDash val="solid"/>
              <a:round/>
              <a:headEnd len="sm" w="sm" type="none"/>
              <a:tailEnd len="sm" w="sm" type="none"/>
            </a:ln>
          </p:spPr>
        </p:cxnSp>
        <p:sp>
          <p:nvSpPr>
            <p:cNvPr id="399" name="Google Shape;399;p10"/>
            <p:cNvSpPr/>
            <p:nvPr/>
          </p:nvSpPr>
          <p:spPr>
            <a:xfrm>
              <a:off x="1468925" y="3537273"/>
              <a:ext cx="5363286" cy="8226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0"/>
            <p:cNvSpPr txBox="1"/>
            <p:nvPr/>
          </p:nvSpPr>
          <p:spPr>
            <a:xfrm>
              <a:off x="1468925" y="3537273"/>
              <a:ext cx="5363286" cy="822621"/>
            </a:xfrm>
            <a:prstGeom prst="rect">
              <a:avLst/>
            </a:prstGeom>
            <a:noFill/>
            <a:ln>
              <a:noFill/>
            </a:ln>
          </p:spPr>
          <p:txBody>
            <a:bodyPr anchorCtr="0" anchor="t"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Century Gothic"/>
                <a:buNone/>
              </a:pPr>
              <a:r>
                <a:rPr lang="es-AR" sz="1300">
                  <a:solidFill>
                    <a:schemeClr val="dk1"/>
                  </a:solidFill>
                  <a:latin typeface="Century Gothic"/>
                  <a:ea typeface="Century Gothic"/>
                  <a:cs typeface="Century Gothic"/>
                  <a:sym typeface="Century Gothic"/>
                </a:rPr>
                <a:t>Nacen de un instrumento de creacion</a:t>
              </a:r>
              <a:endParaRPr sz="1300">
                <a:solidFill>
                  <a:schemeClr val="dk1"/>
                </a:solidFill>
                <a:latin typeface="Century Gothic"/>
                <a:ea typeface="Century Gothic"/>
                <a:cs typeface="Century Gothic"/>
                <a:sym typeface="Century Gothic"/>
              </a:endParaRPr>
            </a:p>
          </p:txBody>
        </p:sp>
        <p:cxnSp>
          <p:nvCxnSpPr>
            <p:cNvPr id="401" name="Google Shape;401;p10"/>
            <p:cNvCxnSpPr/>
            <p:nvPr/>
          </p:nvCxnSpPr>
          <p:spPr>
            <a:xfrm>
              <a:off x="1366442" y="4359895"/>
              <a:ext cx="5465769" cy="0"/>
            </a:xfrm>
            <a:prstGeom prst="straightConnector1">
              <a:avLst/>
            </a:prstGeom>
            <a:solidFill>
              <a:schemeClr val="dk2"/>
            </a:solidFill>
            <a:ln cap="rnd" cmpd="sng" w="15875">
              <a:solidFill>
                <a:srgbClr val="C9C7C1"/>
              </a:solidFill>
              <a:prstDash val="solid"/>
              <a:round/>
              <a:headEnd len="sm" w="sm" type="none"/>
              <a:tailEnd len="sm" w="sm" type="none"/>
            </a:ln>
          </p:spPr>
        </p:cxnSp>
        <p:sp>
          <p:nvSpPr>
            <p:cNvPr id="402" name="Google Shape;402;p10"/>
            <p:cNvSpPr/>
            <p:nvPr/>
          </p:nvSpPr>
          <p:spPr>
            <a:xfrm>
              <a:off x="1468925" y="4401026"/>
              <a:ext cx="5363286" cy="82262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txBox="1"/>
            <p:nvPr/>
          </p:nvSpPr>
          <p:spPr>
            <a:xfrm>
              <a:off x="1468925" y="4401026"/>
              <a:ext cx="5363286" cy="822621"/>
            </a:xfrm>
            <a:prstGeom prst="rect">
              <a:avLst/>
            </a:prstGeom>
            <a:noFill/>
            <a:ln>
              <a:noFill/>
            </a:ln>
          </p:spPr>
          <p:txBody>
            <a:bodyPr anchorCtr="0" anchor="t"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Century Gothic"/>
                <a:buNone/>
              </a:pPr>
              <a:r>
                <a:rPr lang="es-AR" sz="1300">
                  <a:solidFill>
                    <a:schemeClr val="dk1"/>
                  </a:solidFill>
                  <a:latin typeface="Century Gothic"/>
                  <a:ea typeface="Century Gothic"/>
                  <a:cs typeface="Century Gothic"/>
                  <a:sym typeface="Century Gothic"/>
                </a:rPr>
                <a:t>Son anotados en registros. Circulan a través de inscripciones en este (registro).</a:t>
              </a:r>
              <a:endParaRPr sz="1300">
                <a:solidFill>
                  <a:schemeClr val="dk1"/>
                </a:solidFill>
                <a:latin typeface="Century Gothic"/>
                <a:ea typeface="Century Gothic"/>
                <a:cs typeface="Century Gothic"/>
                <a:sym typeface="Century Gothic"/>
              </a:endParaRPr>
            </a:p>
          </p:txBody>
        </p:sp>
        <p:cxnSp>
          <p:nvCxnSpPr>
            <p:cNvPr id="404" name="Google Shape;404;p10"/>
            <p:cNvCxnSpPr/>
            <p:nvPr/>
          </p:nvCxnSpPr>
          <p:spPr>
            <a:xfrm>
              <a:off x="1366442" y="5223647"/>
              <a:ext cx="5465769" cy="0"/>
            </a:xfrm>
            <a:prstGeom prst="straightConnector1">
              <a:avLst/>
            </a:prstGeom>
            <a:solidFill>
              <a:schemeClr val="dk2"/>
            </a:solidFill>
            <a:ln cap="rnd" cmpd="sng" w="15875">
              <a:solidFill>
                <a:srgbClr val="C9C7C1"/>
              </a:solidFill>
              <a:prstDash val="solid"/>
              <a:round/>
              <a:headEnd len="sm" w="sm" type="none"/>
              <a:tailEnd len="sm" w="sm" type="none"/>
            </a:ln>
          </p:spPr>
        </p:cxn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08" name="Shape 408"/>
        <p:cNvGrpSpPr/>
        <p:nvPr/>
      </p:nvGrpSpPr>
      <p:grpSpPr>
        <a:xfrm>
          <a:off x="0" y="0"/>
          <a:ext cx="0" cy="0"/>
          <a:chOff x="0" y="0"/>
          <a:chExt cx="0" cy="0"/>
        </a:xfrm>
      </p:grpSpPr>
      <p:sp>
        <p:nvSpPr>
          <p:cNvPr id="409" name="Google Shape;409;p11"/>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10" name="Google Shape;410;p11"/>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s-AR" sz="3200">
                <a:solidFill>
                  <a:schemeClr val="lt1"/>
                </a:solidFill>
              </a:rPr>
              <a:t>Titulo valor cartular</a:t>
            </a:r>
            <a:endParaRPr/>
          </a:p>
        </p:txBody>
      </p:sp>
      <p:sp>
        <p:nvSpPr>
          <p:cNvPr id="411" name="Google Shape;411;p11"/>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2" name="Google Shape;412;p11"/>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413" name="Google Shape;413;p11"/>
          <p:cNvGrpSpPr/>
          <p:nvPr/>
        </p:nvGrpSpPr>
        <p:grpSpPr>
          <a:xfrm>
            <a:off x="4713144" y="825445"/>
            <a:ext cx="6832212" cy="4896990"/>
            <a:chOff x="0" y="183894"/>
            <a:chExt cx="6832212" cy="4896990"/>
          </a:xfrm>
        </p:grpSpPr>
        <p:sp>
          <p:nvSpPr>
            <p:cNvPr id="414" name="Google Shape;414;p11"/>
            <p:cNvSpPr/>
            <p:nvPr/>
          </p:nvSpPr>
          <p:spPr>
            <a:xfrm>
              <a:off x="0" y="183894"/>
              <a:ext cx="6832212" cy="1179360"/>
            </a:xfrm>
            <a:prstGeom prst="roundRect">
              <a:avLst>
                <a:gd fmla="val 16667" name="adj"/>
              </a:avLst>
            </a:prstGeom>
            <a:gradFill>
              <a:gsLst>
                <a:gs pos="0">
                  <a:srgbClr val="DF8A47"/>
                </a:gs>
                <a:gs pos="100000">
                  <a:srgbClr val="CC7213"/>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txBox="1"/>
            <p:nvPr/>
          </p:nvSpPr>
          <p:spPr>
            <a:xfrm>
              <a:off x="57572" y="241466"/>
              <a:ext cx="6717068" cy="1064216"/>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entury Gothic"/>
                <a:buNone/>
              </a:pPr>
              <a:r>
                <a:rPr lang="es-AR" sz="2100">
                  <a:solidFill>
                    <a:schemeClr val="lt1"/>
                  </a:solidFill>
                  <a:latin typeface="Century Gothic"/>
                  <a:ea typeface="Century Gothic"/>
                  <a:cs typeface="Century Gothic"/>
                  <a:sym typeface="Century Gothic"/>
                </a:rPr>
                <a:t>En su estructura técnica son documentos (representación material de un hecho jurídicamente relevante) </a:t>
              </a:r>
              <a:endParaRPr sz="2100">
                <a:solidFill>
                  <a:schemeClr val="lt1"/>
                </a:solidFill>
                <a:latin typeface="Century Gothic"/>
                <a:ea typeface="Century Gothic"/>
                <a:cs typeface="Century Gothic"/>
                <a:sym typeface="Century Gothic"/>
              </a:endParaRPr>
            </a:p>
          </p:txBody>
        </p:sp>
        <p:sp>
          <p:nvSpPr>
            <p:cNvPr id="416" name="Google Shape;416;p11"/>
            <p:cNvSpPr/>
            <p:nvPr/>
          </p:nvSpPr>
          <p:spPr>
            <a:xfrm>
              <a:off x="0" y="1423734"/>
              <a:ext cx="6832212" cy="1179360"/>
            </a:xfrm>
            <a:prstGeom prst="roundRect">
              <a:avLst>
                <a:gd fmla="val 16667" name="adj"/>
              </a:avLst>
            </a:prstGeom>
            <a:gradFill>
              <a:gsLst>
                <a:gs pos="0">
                  <a:srgbClr val="A68D65"/>
                </a:gs>
                <a:gs pos="100000">
                  <a:srgbClr val="927749"/>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txBox="1"/>
            <p:nvPr/>
          </p:nvSpPr>
          <p:spPr>
            <a:xfrm>
              <a:off x="57572" y="1481306"/>
              <a:ext cx="6717068" cy="1064216"/>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entury Gothic"/>
                <a:buNone/>
              </a:pPr>
              <a:r>
                <a:rPr lang="es-AR" sz="2100">
                  <a:solidFill>
                    <a:schemeClr val="lt1"/>
                  </a:solidFill>
                  <a:latin typeface="Century Gothic"/>
                  <a:ea typeface="Century Gothic"/>
                  <a:cs typeface="Century Gothic"/>
                  <a:sym typeface="Century Gothic"/>
                </a:rPr>
                <a:t>Todo documento</a:t>
              </a:r>
              <a:endParaRPr sz="2100">
                <a:solidFill>
                  <a:schemeClr val="lt1"/>
                </a:solidFill>
                <a:latin typeface="Century Gothic"/>
                <a:ea typeface="Century Gothic"/>
                <a:cs typeface="Century Gothic"/>
                <a:sym typeface="Century Gothic"/>
              </a:endParaRPr>
            </a:p>
          </p:txBody>
        </p:sp>
        <p:sp>
          <p:nvSpPr>
            <p:cNvPr id="418" name="Google Shape;418;p11"/>
            <p:cNvSpPr/>
            <p:nvPr/>
          </p:nvSpPr>
          <p:spPr>
            <a:xfrm>
              <a:off x="0" y="2603094"/>
              <a:ext cx="6832212" cy="24777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txBox="1"/>
            <p:nvPr/>
          </p:nvSpPr>
          <p:spPr>
            <a:xfrm>
              <a:off x="0" y="2603094"/>
              <a:ext cx="6832212" cy="2477790"/>
            </a:xfrm>
            <a:prstGeom prst="rect">
              <a:avLst/>
            </a:prstGeom>
            <a:noFill/>
            <a:ln>
              <a:noFill/>
            </a:ln>
          </p:spPr>
          <p:txBody>
            <a:bodyPr anchorCtr="0" anchor="t" bIns="26650" lIns="216900" spcFirstLastPara="1" rIns="149350" wrap="square" tIns="26650">
              <a:noAutofit/>
            </a:bodyPr>
            <a:lstStyle/>
            <a:p>
              <a:pPr indent="-171450" lvl="1" marL="171450" marR="0" rtl="0" algn="l">
                <a:lnSpc>
                  <a:spcPct val="90000"/>
                </a:lnSpc>
                <a:spcBef>
                  <a:spcPts val="0"/>
                </a:spcBef>
                <a:spcAft>
                  <a:spcPts val="0"/>
                </a:spcAft>
                <a:buClr>
                  <a:schemeClr val="dk1"/>
                </a:buClr>
                <a:buSzPts val="1600"/>
                <a:buFont typeface="Century Gothic"/>
                <a:buChar char="•"/>
              </a:pPr>
              <a:r>
                <a:rPr b="0" i="0" lang="es-AR" sz="1600" u="none" cap="none" strike="noStrike">
                  <a:solidFill>
                    <a:schemeClr val="dk1"/>
                  </a:solidFill>
                  <a:latin typeface="Century Gothic"/>
                  <a:ea typeface="Century Gothic"/>
                  <a:cs typeface="Century Gothic"/>
                  <a:sym typeface="Century Gothic"/>
                </a:rPr>
                <a:t>es probatorio en tanto da cuenta y prueba una determinada situación de hecho o jurídica. Facilita la prueba del derecho, pero igual puede acreditarse por otros medios.</a:t>
              </a:r>
              <a:endParaRPr b="0" i="0" sz="1600" u="none" cap="none" strike="noStrike">
                <a:solidFill>
                  <a:schemeClr val="dk1"/>
                </a:solidFill>
                <a:latin typeface="Century Gothic"/>
                <a:ea typeface="Century Gothic"/>
                <a:cs typeface="Century Gothic"/>
                <a:sym typeface="Century Gothic"/>
              </a:endParaRPr>
            </a:p>
            <a:p>
              <a:pPr indent="-171450" lvl="1" marL="171450" marR="0" rtl="0" algn="l">
                <a:lnSpc>
                  <a:spcPct val="90000"/>
                </a:lnSpc>
                <a:spcBef>
                  <a:spcPts val="320"/>
                </a:spcBef>
                <a:spcAft>
                  <a:spcPts val="0"/>
                </a:spcAft>
                <a:buClr>
                  <a:schemeClr val="dk1"/>
                </a:buClr>
                <a:buSzPts val="1600"/>
                <a:buFont typeface="Century Gothic"/>
                <a:buChar char="•"/>
              </a:pPr>
              <a:r>
                <a:rPr b="0" i="0" lang="es-AR" sz="1600" u="none" cap="none" strike="noStrike">
                  <a:solidFill>
                    <a:schemeClr val="dk1"/>
                  </a:solidFill>
                  <a:latin typeface="Century Gothic"/>
                  <a:ea typeface="Century Gothic"/>
                  <a:cs typeface="Century Gothic"/>
                  <a:sym typeface="Century Gothic"/>
                </a:rPr>
                <a:t>Es dispositivo, es la expresión de la declaración que dispone el librador del titulo. Ademas porque es necesario disponer de él para el ejercicio del derecho.</a:t>
              </a:r>
              <a:endParaRPr b="0" i="0" sz="1600" u="none" cap="none" strike="noStrike">
                <a:solidFill>
                  <a:schemeClr val="dk1"/>
                </a:solidFill>
                <a:latin typeface="Century Gothic"/>
                <a:ea typeface="Century Gothic"/>
                <a:cs typeface="Century Gothic"/>
                <a:sym typeface="Century Gothic"/>
              </a:endParaRPr>
            </a:p>
            <a:p>
              <a:pPr indent="-171450" lvl="1" marL="171450" marR="0" rtl="0" algn="l">
                <a:lnSpc>
                  <a:spcPct val="90000"/>
                </a:lnSpc>
                <a:spcBef>
                  <a:spcPts val="320"/>
                </a:spcBef>
                <a:spcAft>
                  <a:spcPts val="0"/>
                </a:spcAft>
                <a:buClr>
                  <a:schemeClr val="dk1"/>
                </a:buClr>
                <a:buSzPts val="1600"/>
                <a:buFont typeface="Century Gothic"/>
                <a:buChar char="•"/>
              </a:pPr>
              <a:r>
                <a:rPr b="0" i="0" lang="es-AR" sz="1600" u="none" cap="none" strike="noStrike">
                  <a:solidFill>
                    <a:schemeClr val="dk1"/>
                  </a:solidFill>
                  <a:latin typeface="Century Gothic"/>
                  <a:ea typeface="Century Gothic"/>
                  <a:cs typeface="Century Gothic"/>
                  <a:sym typeface="Century Gothic"/>
                </a:rPr>
                <a:t>Es constitutivo. La existencia del documento es condición de existencia del derecho.</a:t>
              </a:r>
              <a:endParaRPr b="0" i="0" sz="1600" u="none" cap="none" strike="noStrike">
                <a:solidFill>
                  <a:schemeClr val="dk1"/>
                </a:solidFill>
                <a:latin typeface="Century Gothic"/>
                <a:ea typeface="Century Gothic"/>
                <a:cs typeface="Century Gothic"/>
                <a:sym typeface="Century Gothic"/>
              </a:endParaRPr>
            </a:p>
            <a:p>
              <a:pPr indent="-171450" lvl="1" marL="171450" marR="0" rtl="0" algn="l">
                <a:lnSpc>
                  <a:spcPct val="90000"/>
                </a:lnSpc>
                <a:spcBef>
                  <a:spcPts val="320"/>
                </a:spcBef>
                <a:spcAft>
                  <a:spcPts val="0"/>
                </a:spcAft>
                <a:buClr>
                  <a:schemeClr val="dk1"/>
                </a:buClr>
                <a:buSzPts val="1600"/>
                <a:buFont typeface="Century Gothic"/>
                <a:buChar char="•"/>
              </a:pPr>
              <a:r>
                <a:rPr b="0" i="0" lang="es-AR" sz="1600" u="none" cap="none" strike="noStrike">
                  <a:solidFill>
                    <a:schemeClr val="dk1"/>
                  </a:solidFill>
                  <a:latin typeface="Century Gothic"/>
                  <a:ea typeface="Century Gothic"/>
                  <a:cs typeface="Century Gothic"/>
                  <a:sym typeface="Century Gothic"/>
                </a:rPr>
                <a:t>Es accesorio al titulo. Quien tiene el titulo tiene el derecho y puede ejercerlo. Donde va el documento, va el derecho</a:t>
              </a:r>
              <a:endParaRPr b="0" i="0" sz="1600" u="none" cap="none" strike="noStrike">
                <a:solidFill>
                  <a:schemeClr val="dk1"/>
                </a:solidFill>
                <a:latin typeface="Century Gothic"/>
                <a:ea typeface="Century Gothic"/>
                <a:cs typeface="Century Gothic"/>
                <a:sym typeface="Century Gothic"/>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23" name="Shape 423"/>
        <p:cNvGrpSpPr/>
        <p:nvPr/>
      </p:nvGrpSpPr>
      <p:grpSpPr>
        <a:xfrm>
          <a:off x="0" y="0"/>
          <a:ext cx="0" cy="0"/>
          <a:chOff x="0" y="0"/>
          <a:chExt cx="0" cy="0"/>
        </a:xfrm>
      </p:grpSpPr>
      <p:sp>
        <p:nvSpPr>
          <p:cNvPr id="424" name="Google Shape;424;p12"/>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25" name="Google Shape;425;p12"/>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s-AR" sz="3200">
                <a:solidFill>
                  <a:schemeClr val="lt1"/>
                </a:solidFill>
              </a:rPr>
              <a:t>Titulo valor no cartular</a:t>
            </a:r>
            <a:endParaRPr/>
          </a:p>
        </p:txBody>
      </p:sp>
      <p:sp>
        <p:nvSpPr>
          <p:cNvPr id="426" name="Google Shape;426;p12"/>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27" name="Google Shape;427;p12"/>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28" name="Google Shape;428;p12"/>
          <p:cNvSpPr txBox="1"/>
          <p:nvPr>
            <p:ph idx="1" type="body"/>
          </p:nvPr>
        </p:nvSpPr>
        <p:spPr>
          <a:xfrm>
            <a:off x="4706578" y="589722"/>
            <a:ext cx="6798033" cy="5321500"/>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800"/>
              <a:buChar char="🠶"/>
            </a:pPr>
            <a:r>
              <a:rPr lang="es-AR"/>
              <a:t>Producto del fenómeno de desmaterialización del artículo 1836 CCCN.</a:t>
            </a:r>
            <a:endParaRPr/>
          </a:p>
          <a:p>
            <a:pPr indent="-342900" lvl="0" marL="342900" rtl="0" algn="l">
              <a:spcBef>
                <a:spcPts val="1000"/>
              </a:spcBef>
              <a:spcAft>
                <a:spcPts val="0"/>
              </a:spcAft>
              <a:buSzPts val="1800"/>
              <a:buChar char="🠶"/>
            </a:pPr>
            <a:r>
              <a:rPr lang="es-AR"/>
              <a:t>Funciona como un derecho valor que circula en forma autónoma a través de un sistema de registración.</a:t>
            </a:r>
            <a:endParaRPr/>
          </a:p>
          <a:p>
            <a:pPr indent="-342900" lvl="0" marL="342900" rtl="0" algn="l">
              <a:spcBef>
                <a:spcPts val="1000"/>
              </a:spcBef>
              <a:spcAft>
                <a:spcPts val="0"/>
              </a:spcAft>
              <a:buSzPts val="1800"/>
              <a:buChar char="🠶"/>
            </a:pPr>
            <a:r>
              <a:rPr lang="es-AR"/>
              <a:t>Art. 1850. si por disposición de ley o en instrumento de creación se expresa declaración de voluntad de obligarse de forma incondicional e irrevocable, </a:t>
            </a:r>
            <a:r>
              <a:rPr lang="es-AR" u="sng"/>
              <a:t>aunque no se incorpore a un documento, podrá disponerse la circulación autónoma d el derecho (1820)</a:t>
            </a:r>
            <a:endParaRPr/>
          </a:p>
          <a:p>
            <a:pPr indent="-342900" lvl="0" marL="342900" rtl="0" algn="l">
              <a:spcBef>
                <a:spcPts val="1000"/>
              </a:spcBef>
              <a:spcAft>
                <a:spcPts val="0"/>
              </a:spcAft>
              <a:buSzPts val="1800"/>
              <a:buChar char="🠶"/>
            </a:pPr>
            <a:r>
              <a:rPr lang="es-AR"/>
              <a:t>Art 1836 prevé la posibilidad de transformar títulos cartulares en no cartulares.</a:t>
            </a:r>
            <a:endParaRPr/>
          </a:p>
          <a:p>
            <a:pPr indent="-342900" lvl="0" marL="342900" rtl="0" algn="l">
              <a:spcBef>
                <a:spcPts val="1000"/>
              </a:spcBef>
              <a:spcAft>
                <a:spcPts val="0"/>
              </a:spcAft>
              <a:buSzPts val="1800"/>
              <a:buChar char="🠶"/>
            </a:pPr>
            <a:r>
              <a:rPr lang="es-AR"/>
              <a:t>Problema de acumulación de papel y custodia de cartulares propicio sistema de registraciones. Con el tiempo las registraciones pasaron a ser informáticas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32" name="Shape 432"/>
        <p:cNvGrpSpPr/>
        <p:nvPr/>
      </p:nvGrpSpPr>
      <p:grpSpPr>
        <a:xfrm>
          <a:off x="0" y="0"/>
          <a:ext cx="0" cy="0"/>
          <a:chOff x="0" y="0"/>
          <a:chExt cx="0" cy="0"/>
        </a:xfrm>
      </p:grpSpPr>
      <p:sp>
        <p:nvSpPr>
          <p:cNvPr id="433" name="Google Shape;433;p13"/>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34" name="Google Shape;434;p13"/>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s-AR" sz="3200">
                <a:solidFill>
                  <a:schemeClr val="lt1"/>
                </a:solidFill>
              </a:rPr>
              <a:t>Funciones de los títulos valores</a:t>
            </a:r>
            <a:endParaRPr/>
          </a:p>
        </p:txBody>
      </p:sp>
      <p:sp>
        <p:nvSpPr>
          <p:cNvPr id="435" name="Google Shape;435;p13"/>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36" name="Google Shape;436;p13"/>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37" name="Google Shape;437;p13"/>
          <p:cNvSpPr txBox="1"/>
          <p:nvPr/>
        </p:nvSpPr>
        <p:spPr>
          <a:xfrm>
            <a:off x="2544842" y="4531489"/>
            <a:ext cx="8915400" cy="1898248"/>
          </a:xfrm>
          <a:prstGeom prst="rect">
            <a:avLst/>
          </a:prstGeom>
          <a:noFill/>
          <a:ln>
            <a:noFill/>
          </a:ln>
        </p:spPr>
        <p:txBody>
          <a:bodyPr anchorCtr="0" anchor="t" bIns="45700" lIns="91425" spcFirstLastPara="1" rIns="91425" wrap="square" tIns="45700">
            <a:normAutofit/>
          </a:bodyPr>
          <a:lstStyle/>
          <a:p>
            <a:pPr indent="-228600" lvl="0" marL="342900" marR="0" rtl="0" algn="l">
              <a:spcBef>
                <a:spcPts val="0"/>
              </a:spcBef>
              <a:spcAft>
                <a:spcPts val="0"/>
              </a:spcAft>
              <a:buClr>
                <a:schemeClr val="accent1"/>
              </a:buClr>
              <a:buSzPts val="1800"/>
              <a:buFont typeface="Noto Sans Symbols"/>
              <a:buNone/>
            </a:pPr>
            <a:r>
              <a:t/>
            </a:r>
            <a:endParaRPr sz="1800">
              <a:solidFill>
                <a:srgbClr val="3F3F3F"/>
              </a:solidFill>
              <a:latin typeface="Century Gothic"/>
              <a:ea typeface="Century Gothic"/>
              <a:cs typeface="Century Gothic"/>
              <a:sym typeface="Century Gothic"/>
            </a:endParaRPr>
          </a:p>
        </p:txBody>
      </p:sp>
      <p:grpSp>
        <p:nvGrpSpPr>
          <p:cNvPr id="438" name="Google Shape;438;p13"/>
          <p:cNvGrpSpPr/>
          <p:nvPr/>
        </p:nvGrpSpPr>
        <p:grpSpPr>
          <a:xfrm>
            <a:off x="4713144" y="644121"/>
            <a:ext cx="6832211" cy="5259638"/>
            <a:chOff x="0" y="2570"/>
            <a:chExt cx="6832211" cy="5259638"/>
          </a:xfrm>
        </p:grpSpPr>
        <p:sp>
          <p:nvSpPr>
            <p:cNvPr id="439" name="Google Shape;439;p13"/>
            <p:cNvSpPr/>
            <p:nvPr/>
          </p:nvSpPr>
          <p:spPr>
            <a:xfrm>
              <a:off x="0" y="2570"/>
              <a:ext cx="2459596" cy="1696657"/>
            </a:xfrm>
            <a:prstGeom prst="roundRect">
              <a:avLst>
                <a:gd fmla="val 16667" name="adj"/>
              </a:avLst>
            </a:prstGeom>
            <a:gradFill>
              <a:gsLst>
                <a:gs pos="0">
                  <a:srgbClr val="DF8A47"/>
                </a:gs>
                <a:gs pos="100000">
                  <a:srgbClr val="CC7213"/>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txBox="1"/>
            <p:nvPr/>
          </p:nvSpPr>
          <p:spPr>
            <a:xfrm>
              <a:off x="82824" y="85394"/>
              <a:ext cx="2293948" cy="153100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Century Gothic"/>
                <a:buNone/>
              </a:pPr>
              <a:r>
                <a:rPr lang="es-AR" sz="1500">
                  <a:solidFill>
                    <a:schemeClr val="lt1"/>
                  </a:solidFill>
                  <a:latin typeface="Century Gothic"/>
                  <a:ea typeface="Century Gothic"/>
                  <a:cs typeface="Century Gothic"/>
                  <a:sym typeface="Century Gothic"/>
                </a:rPr>
                <a:t>Creacion jurídica</a:t>
              </a:r>
              <a:endParaRPr sz="1500">
                <a:solidFill>
                  <a:schemeClr val="lt1"/>
                </a:solidFill>
                <a:latin typeface="Century Gothic"/>
                <a:ea typeface="Century Gothic"/>
                <a:cs typeface="Century Gothic"/>
                <a:sym typeface="Century Gothic"/>
              </a:endParaRPr>
            </a:p>
          </p:txBody>
        </p:sp>
        <p:sp>
          <p:nvSpPr>
            <p:cNvPr id="441" name="Google Shape;441;p13"/>
            <p:cNvSpPr/>
            <p:nvPr/>
          </p:nvSpPr>
          <p:spPr>
            <a:xfrm rot="5400000">
              <a:off x="3967241" y="446081"/>
              <a:ext cx="1357325" cy="4372615"/>
            </a:xfrm>
            <a:prstGeom prst="round2SameRect">
              <a:avLst>
                <a:gd fmla="val 16667" name="adj1"/>
                <a:gd fmla="val 0" name="adj2"/>
              </a:avLst>
            </a:prstGeom>
            <a:solidFill>
              <a:srgbClr val="F2D7CB">
                <a:alpha val="89803"/>
              </a:srgbClr>
            </a:solidFill>
            <a:ln cap="rnd" cmpd="sng" w="9525">
              <a:solidFill>
                <a:srgbClr val="F2D7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txBox="1"/>
            <p:nvPr/>
          </p:nvSpPr>
          <p:spPr>
            <a:xfrm>
              <a:off x="2459597" y="2019985"/>
              <a:ext cx="4306356" cy="1224807"/>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Century Gothic"/>
                <a:buChar char="•"/>
              </a:pPr>
              <a:r>
                <a:rPr b="0" i="0" lang="es-AR" sz="1300" u="none" cap="none" strike="noStrike">
                  <a:solidFill>
                    <a:schemeClr val="dk1"/>
                  </a:solidFill>
                  <a:latin typeface="Century Gothic"/>
                  <a:ea typeface="Century Gothic"/>
                  <a:cs typeface="Century Gothic"/>
                  <a:sym typeface="Century Gothic"/>
                </a:rPr>
                <a:t>Legitimacion por la posesión. Condicion sine qua non</a:t>
              </a:r>
              <a:endParaRPr b="0" i="0" sz="13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195"/>
                </a:spcBef>
                <a:spcAft>
                  <a:spcPts val="0"/>
                </a:spcAft>
                <a:buClr>
                  <a:schemeClr val="dk1"/>
                </a:buClr>
                <a:buSzPts val="1300"/>
                <a:buFont typeface="Century Gothic"/>
                <a:buChar char="•"/>
              </a:pPr>
              <a:r>
                <a:rPr b="0" i="0" lang="es-AR" sz="1300" u="none" cap="none" strike="noStrike">
                  <a:solidFill>
                    <a:schemeClr val="dk1"/>
                  </a:solidFill>
                  <a:latin typeface="Century Gothic"/>
                  <a:ea typeface="Century Gothic"/>
                  <a:cs typeface="Century Gothic"/>
                  <a:sym typeface="Century Gothic"/>
                </a:rPr>
                <a:t>Literalidad. La vigencia y extensión de ese derecho se regirá exclusivamente por los términos escritos que resulten del titulo</a:t>
              </a:r>
              <a:endParaRPr b="0" i="0" sz="1300" u="none" cap="none" strike="noStrike">
                <a:solidFill>
                  <a:schemeClr val="dk1"/>
                </a:solidFill>
                <a:latin typeface="Century Gothic"/>
                <a:ea typeface="Century Gothic"/>
                <a:cs typeface="Century Gothic"/>
                <a:sym typeface="Century Gothic"/>
              </a:endParaRPr>
            </a:p>
          </p:txBody>
        </p:sp>
        <p:sp>
          <p:nvSpPr>
            <p:cNvPr id="443" name="Google Shape;443;p13"/>
            <p:cNvSpPr/>
            <p:nvPr/>
          </p:nvSpPr>
          <p:spPr>
            <a:xfrm>
              <a:off x="0" y="1784060"/>
              <a:ext cx="2459596" cy="1696657"/>
            </a:xfrm>
            <a:prstGeom prst="roundRect">
              <a:avLst>
                <a:gd fmla="val 16667" name="adj"/>
              </a:avLst>
            </a:prstGeom>
            <a:gradFill>
              <a:gsLst>
                <a:gs pos="0">
                  <a:srgbClr val="A78F65"/>
                </a:gs>
                <a:gs pos="100000">
                  <a:srgbClr val="937949"/>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txBox="1"/>
            <p:nvPr/>
          </p:nvSpPr>
          <p:spPr>
            <a:xfrm>
              <a:off x="82824" y="1866884"/>
              <a:ext cx="2293948" cy="153100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Century Gothic"/>
                <a:buNone/>
              </a:pPr>
              <a:r>
                <a:rPr lang="es-AR" sz="1500">
                  <a:solidFill>
                    <a:schemeClr val="lt1"/>
                  </a:solidFill>
                  <a:latin typeface="Century Gothic"/>
                  <a:ea typeface="Century Gothic"/>
                  <a:cs typeface="Century Gothic"/>
                  <a:sym typeface="Century Gothic"/>
                </a:rPr>
                <a:t>Dos elementos esenciales al titulo valor</a:t>
              </a:r>
              <a:endParaRPr sz="1500">
                <a:solidFill>
                  <a:schemeClr val="lt1"/>
                </a:solidFill>
                <a:latin typeface="Century Gothic"/>
                <a:ea typeface="Century Gothic"/>
                <a:cs typeface="Century Gothic"/>
                <a:sym typeface="Century Gothic"/>
              </a:endParaRPr>
            </a:p>
          </p:txBody>
        </p:sp>
        <p:sp>
          <p:nvSpPr>
            <p:cNvPr id="445" name="Google Shape;445;p13"/>
            <p:cNvSpPr/>
            <p:nvPr/>
          </p:nvSpPr>
          <p:spPr>
            <a:xfrm rot="5400000">
              <a:off x="3967241" y="2227571"/>
              <a:ext cx="1357325" cy="4372615"/>
            </a:xfrm>
            <a:prstGeom prst="round2SameRect">
              <a:avLst>
                <a:gd fmla="val 16667" name="adj1"/>
                <a:gd fmla="val 0" name="adj2"/>
              </a:avLst>
            </a:prstGeom>
            <a:solidFill>
              <a:srgbClr val="DFD8CE">
                <a:alpha val="89803"/>
              </a:srgbClr>
            </a:solidFill>
            <a:ln cap="rnd" cmpd="sng" w="9525">
              <a:solidFill>
                <a:srgbClr val="DFD8CE">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txBox="1"/>
            <p:nvPr/>
          </p:nvSpPr>
          <p:spPr>
            <a:xfrm>
              <a:off x="2459597" y="3801475"/>
              <a:ext cx="4306356" cy="1224807"/>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Century Gothic"/>
                <a:buChar char="•"/>
              </a:pPr>
              <a:r>
                <a:rPr b="0" i="0" lang="es-AR" sz="1300" u="none" cap="none" strike="noStrike">
                  <a:solidFill>
                    <a:schemeClr val="dk1"/>
                  </a:solidFill>
                  <a:latin typeface="Century Gothic"/>
                  <a:ea typeface="Century Gothic"/>
                  <a:cs typeface="Century Gothic"/>
                  <a:sym typeface="Century Gothic"/>
                </a:rPr>
                <a:t>Certeza en la adquisición del derecho.</a:t>
              </a:r>
              <a:endParaRPr b="0" i="0" sz="13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195"/>
                </a:spcBef>
                <a:spcAft>
                  <a:spcPts val="0"/>
                </a:spcAft>
                <a:buClr>
                  <a:schemeClr val="dk1"/>
                </a:buClr>
                <a:buSzPts val="1300"/>
                <a:buFont typeface="Century Gothic"/>
                <a:buChar char="•"/>
              </a:pPr>
              <a:r>
                <a:rPr b="0" i="0" lang="es-AR" sz="1300" u="none" cap="none" strike="noStrike">
                  <a:solidFill>
                    <a:schemeClr val="dk1"/>
                  </a:solidFill>
                  <a:latin typeface="Century Gothic"/>
                  <a:ea typeface="Century Gothic"/>
                  <a:cs typeface="Century Gothic"/>
                  <a:sym typeface="Century Gothic"/>
                </a:rPr>
                <a:t>Rapidez o celeridad en la circulación – minimo de formalidades.</a:t>
              </a:r>
              <a:endParaRPr b="0" i="0" sz="13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195"/>
                </a:spcBef>
                <a:spcAft>
                  <a:spcPts val="0"/>
                </a:spcAft>
                <a:buClr>
                  <a:schemeClr val="dk1"/>
                </a:buClr>
                <a:buSzPts val="1300"/>
                <a:buFont typeface="Century Gothic"/>
                <a:buChar char="•"/>
              </a:pPr>
              <a:r>
                <a:rPr b="0" i="0" lang="es-AR" sz="1300" u="none" cap="none" strike="noStrike">
                  <a:solidFill>
                    <a:schemeClr val="dk1"/>
                  </a:solidFill>
                  <a:latin typeface="Century Gothic"/>
                  <a:ea typeface="Century Gothic"/>
                  <a:cs typeface="Century Gothic"/>
                  <a:sym typeface="Century Gothic"/>
                </a:rPr>
                <a:t>Seguridad en la realización final – dotar de medios eficaces para el cobro en caso de incumplimiento.</a:t>
              </a:r>
              <a:endParaRPr b="0" i="0" sz="1300" u="none" cap="none" strike="noStrike">
                <a:solidFill>
                  <a:schemeClr val="dk1"/>
                </a:solidFill>
                <a:latin typeface="Century Gothic"/>
                <a:ea typeface="Century Gothic"/>
                <a:cs typeface="Century Gothic"/>
                <a:sym typeface="Century Gothic"/>
              </a:endParaRPr>
            </a:p>
          </p:txBody>
        </p:sp>
        <p:sp>
          <p:nvSpPr>
            <p:cNvPr id="447" name="Google Shape;447;p13"/>
            <p:cNvSpPr/>
            <p:nvPr/>
          </p:nvSpPr>
          <p:spPr>
            <a:xfrm>
              <a:off x="0" y="3565551"/>
              <a:ext cx="2459596" cy="1696657"/>
            </a:xfrm>
            <a:prstGeom prst="roundRect">
              <a:avLst>
                <a:gd fmla="val 16667" name="adj"/>
              </a:avLst>
            </a:prstGeom>
            <a:gradFill>
              <a:gsLst>
                <a:gs pos="0">
                  <a:srgbClr val="7E9165"/>
                </a:gs>
                <a:gs pos="100000">
                  <a:srgbClr val="677B4D"/>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txBox="1"/>
            <p:nvPr/>
          </p:nvSpPr>
          <p:spPr>
            <a:xfrm>
              <a:off x="82824" y="3648375"/>
              <a:ext cx="2293948" cy="153100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Century Gothic"/>
                <a:buNone/>
              </a:pPr>
              <a:r>
                <a:rPr lang="es-AR" sz="1500">
                  <a:solidFill>
                    <a:schemeClr val="lt1"/>
                  </a:solidFill>
                  <a:latin typeface="Century Gothic"/>
                  <a:ea typeface="Century Gothic"/>
                  <a:cs typeface="Century Gothic"/>
                  <a:sym typeface="Century Gothic"/>
                </a:rPr>
                <a:t>Funcion de dinamizador de la economía y multiplicador de los negocios debe cumplir con ciertos valores esenciales:</a:t>
              </a:r>
              <a:endParaRPr sz="1500">
                <a:solidFill>
                  <a:schemeClr val="lt1"/>
                </a:solidFill>
                <a:latin typeface="Century Gothic"/>
                <a:ea typeface="Century Gothic"/>
                <a:cs typeface="Century Gothic"/>
                <a:sym typeface="Century Gothic"/>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A19D8F"/>
            </a:gs>
            <a:gs pos="100000">
              <a:srgbClr val="746B4D"/>
            </a:gs>
          </a:gsLst>
          <a:path path="circle">
            <a:fillToRect b="100%" r="100%"/>
          </a:path>
          <a:tileRect l="-100%" t="-100%"/>
        </a:gradFill>
      </p:bgPr>
    </p:bg>
    <p:spTree>
      <p:nvGrpSpPr>
        <p:cNvPr id="452" name="Shape 452"/>
        <p:cNvGrpSpPr/>
        <p:nvPr/>
      </p:nvGrpSpPr>
      <p:grpSpPr>
        <a:xfrm>
          <a:off x="0" y="0"/>
          <a:ext cx="0" cy="0"/>
          <a:chOff x="0" y="0"/>
          <a:chExt cx="0" cy="0"/>
        </a:xfrm>
      </p:grpSpPr>
      <p:sp>
        <p:nvSpPr>
          <p:cNvPr id="453" name="Google Shape;453;p14"/>
          <p:cNvSpPr/>
          <p:nvPr/>
        </p:nvSpPr>
        <p:spPr>
          <a:xfrm>
            <a:off x="-7620" y="-1"/>
            <a:ext cx="12207240" cy="6858001"/>
          </a:xfrm>
          <a:prstGeom prst="rect">
            <a:avLst/>
          </a:prstGeom>
          <a:gradFill>
            <a:gsLst>
              <a:gs pos="0">
                <a:srgbClr val="A19D8F"/>
              </a:gs>
              <a:gs pos="100000">
                <a:srgbClr val="746B4D"/>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54" name="Google Shape;454;p14"/>
          <p:cNvSpPr/>
          <p:nvPr/>
        </p:nvSpPr>
        <p:spPr>
          <a:xfrm>
            <a:off x="-1" y="0"/>
            <a:ext cx="8229600" cy="6858000"/>
          </a:xfrm>
          <a:prstGeom prst="rect">
            <a:avLst/>
          </a:prstGeom>
          <a:solidFill>
            <a:srgbClr val="1A1E0D">
              <a:alpha val="8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Marca de exclamación sobre fondo amarillo" id="455" name="Google Shape;455;p14"/>
          <p:cNvPicPr preferRelativeResize="0"/>
          <p:nvPr/>
        </p:nvPicPr>
        <p:blipFill rotWithShape="1">
          <a:blip r:embed="rId3">
            <a:alphaModFix/>
          </a:blip>
          <a:srcRect b="0" l="34791" r="21875" t="0"/>
          <a:stretch/>
        </p:blipFill>
        <p:spPr>
          <a:xfrm>
            <a:off x="8229598" y="10"/>
            <a:ext cx="3962401" cy="6857990"/>
          </a:xfrm>
          <a:prstGeom prst="rect">
            <a:avLst/>
          </a:prstGeom>
          <a:noFill/>
          <a:ln>
            <a:noFill/>
          </a:ln>
        </p:spPr>
      </p:pic>
      <p:sp>
        <p:nvSpPr>
          <p:cNvPr id="456" name="Google Shape;456;p14"/>
          <p:cNvSpPr/>
          <p:nvPr/>
        </p:nvSpPr>
        <p:spPr>
          <a:xfrm>
            <a:off x="1" y="659027"/>
            <a:ext cx="9042690" cy="1035152"/>
          </a:xfrm>
          <a:custGeom>
            <a:rect b="b" l="l" r="r" t="t"/>
            <a:pathLst>
              <a:path extrusionOk="0" h="163" w="1902">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57" name="Google Shape;457;p14"/>
          <p:cNvSpPr txBox="1"/>
          <p:nvPr>
            <p:ph type="title"/>
          </p:nvPr>
        </p:nvSpPr>
        <p:spPr>
          <a:xfrm>
            <a:off x="541867" y="787400"/>
            <a:ext cx="7145866" cy="77893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EFFFF"/>
              </a:buClr>
              <a:buSzPts val="3200"/>
              <a:buFont typeface="Century Gothic"/>
              <a:buNone/>
            </a:pPr>
            <a:r>
              <a:rPr lang="es-AR" sz="3200">
                <a:solidFill>
                  <a:srgbClr val="FEFFFF"/>
                </a:solidFill>
              </a:rPr>
              <a:t>ENDOSO</a:t>
            </a:r>
            <a:endParaRPr/>
          </a:p>
        </p:txBody>
      </p:sp>
      <p:sp>
        <p:nvSpPr>
          <p:cNvPr id="458" name="Google Shape;458;p14"/>
          <p:cNvSpPr txBox="1"/>
          <p:nvPr>
            <p:ph idx="1" type="body"/>
          </p:nvPr>
        </p:nvSpPr>
        <p:spPr>
          <a:xfrm>
            <a:off x="541866" y="2032000"/>
            <a:ext cx="7145867" cy="38792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s-AR">
                <a:solidFill>
                  <a:srgbClr val="FEFFFF"/>
                </a:solidFill>
              </a:rPr>
              <a:t>ARTÍCULO 1839.- Endoso. El endoso debe constar en el título o en hoja de prolongación debidamente adherida e identificada y ser firmado por el endosante. Es válido el endoso aun sin mención del endosatario, o con la indicación “al portador”. El endoso al portador tiene los efectos del endoso en blanco. El endoso puede hacerse al creador del título valor o a cualquier otro obligado, quienes pueden endosar nuevamente el título valor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62" name="Shape 462"/>
        <p:cNvGrpSpPr/>
        <p:nvPr/>
      </p:nvGrpSpPr>
      <p:grpSpPr>
        <a:xfrm>
          <a:off x="0" y="0"/>
          <a:ext cx="0" cy="0"/>
          <a:chOff x="0" y="0"/>
          <a:chExt cx="0" cy="0"/>
        </a:xfrm>
      </p:grpSpPr>
      <p:sp>
        <p:nvSpPr>
          <p:cNvPr id="463" name="Google Shape;463;p15"/>
          <p:cNvSpPr txBox="1"/>
          <p:nvPr>
            <p:ph type="title"/>
          </p:nvPr>
        </p:nvSpPr>
        <p:spPr>
          <a:xfrm>
            <a:off x="1687669" y="624110"/>
            <a:ext cx="4137059"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200"/>
              <a:buFont typeface="Century Gothic"/>
              <a:buNone/>
            </a:pPr>
            <a:r>
              <a:rPr lang="es-AR" sz="3200"/>
              <a:t>ENDOSO</a:t>
            </a:r>
            <a:endParaRPr/>
          </a:p>
        </p:txBody>
      </p:sp>
      <p:sp>
        <p:nvSpPr>
          <p:cNvPr id="464" name="Google Shape;464;p15"/>
          <p:cNvSpPr txBox="1"/>
          <p:nvPr>
            <p:ph idx="1" type="body"/>
          </p:nvPr>
        </p:nvSpPr>
        <p:spPr>
          <a:xfrm>
            <a:off x="1683956" y="2133600"/>
            <a:ext cx="4140772" cy="377762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100"/>
              <a:buChar char="🠶"/>
            </a:pPr>
            <a:r>
              <a:rPr lang="es-AR" sz="1100">
                <a:solidFill>
                  <a:schemeClr val="dk1"/>
                </a:solidFill>
              </a:rPr>
              <a:t>ARTÍCULO 1838.- Tipificación. Es título valor a la orden el </a:t>
            </a:r>
            <a:r>
              <a:rPr b="1" lang="es-AR" sz="1100">
                <a:solidFill>
                  <a:schemeClr val="dk1"/>
                </a:solidFill>
              </a:rPr>
              <a:t>creado a favor de persona determinada</a:t>
            </a:r>
            <a:r>
              <a:rPr lang="es-AR" sz="1100">
                <a:solidFill>
                  <a:schemeClr val="dk1"/>
                </a:solidFill>
              </a:rPr>
              <a:t>. Sin necesidad de indicación especial, el título valor a la orden se transfiere mediante endoso. Si el creador del título valor incorpora la cláusula “no a la orden” o equivalentes, la transferencia del título valor debe hacerse conforme con las reglas de la cesión de derechos, y tiene los efectos propios de la cesión</a:t>
            </a:r>
            <a:endParaRPr/>
          </a:p>
          <a:p>
            <a:pPr indent="-342900" lvl="0" marL="342900" rtl="0" algn="l">
              <a:lnSpc>
                <a:spcPct val="90000"/>
              </a:lnSpc>
              <a:spcBef>
                <a:spcPts val="1000"/>
              </a:spcBef>
              <a:spcAft>
                <a:spcPts val="0"/>
              </a:spcAft>
              <a:buSzPts val="1100"/>
              <a:buChar char="🠶"/>
            </a:pPr>
            <a:r>
              <a:rPr lang="es-AR" sz="1100">
                <a:solidFill>
                  <a:schemeClr val="dk1"/>
                </a:solidFill>
              </a:rPr>
              <a:t>podemos conceptualizarlo como </a:t>
            </a:r>
            <a:endParaRPr/>
          </a:p>
          <a:p>
            <a:pPr indent="-285750" lvl="1" marL="742950" rtl="0" algn="l">
              <a:lnSpc>
                <a:spcPct val="90000"/>
              </a:lnSpc>
              <a:spcBef>
                <a:spcPts val="1000"/>
              </a:spcBef>
              <a:spcAft>
                <a:spcPts val="0"/>
              </a:spcAft>
              <a:buSzPts val="1100"/>
              <a:buChar char="🠶"/>
            </a:pPr>
            <a:r>
              <a:rPr lang="es-AR" sz="1100">
                <a:solidFill>
                  <a:schemeClr val="dk1"/>
                </a:solidFill>
              </a:rPr>
              <a:t>“un acto jurídico cambiario unilateral completo y formalmente accesorio, mediante el cual un sujeto llamado endosante transfiere a otro, denominado endosatario, la propiedad de un título circulatorio, la titularidad de los derechos que este confiere, y la legitimación para ejercer todas las potestades cartulares, convirtiéndose, a su vez, en garante del cumplimiento de la obligación cambiaria inserta en el documento</a:t>
            </a:r>
            <a:endParaRPr/>
          </a:p>
        </p:txBody>
      </p:sp>
      <p:pic>
        <p:nvPicPr>
          <p:cNvPr descr="Teclas de cajas registradoras antiguas" id="465" name="Google Shape;465;p15"/>
          <p:cNvPicPr preferRelativeResize="0"/>
          <p:nvPr/>
        </p:nvPicPr>
        <p:blipFill rotWithShape="1">
          <a:blip r:embed="rId3">
            <a:alphaModFix/>
          </a:blip>
          <a:srcRect b="0" l="18744" r="22105" t="0"/>
          <a:stretch/>
        </p:blipFill>
        <p:spPr>
          <a:xfrm>
            <a:off x="6091916" y="10"/>
            <a:ext cx="6100084" cy="685799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69" name="Shape 469"/>
        <p:cNvGrpSpPr/>
        <p:nvPr/>
      </p:nvGrpSpPr>
      <p:grpSpPr>
        <a:xfrm>
          <a:off x="0" y="0"/>
          <a:ext cx="0" cy="0"/>
          <a:chOff x="0" y="0"/>
          <a:chExt cx="0" cy="0"/>
        </a:xfrm>
      </p:grpSpPr>
      <p:pic>
        <p:nvPicPr>
          <p:cNvPr descr="Fórmulas químicas escritas en papel" id="470" name="Google Shape;470;p16"/>
          <p:cNvPicPr preferRelativeResize="0"/>
          <p:nvPr/>
        </p:nvPicPr>
        <p:blipFill rotWithShape="1">
          <a:blip r:embed="rId3">
            <a:alphaModFix/>
          </a:blip>
          <a:srcRect b="0" l="18168" r="18623" t="0"/>
          <a:stretch/>
        </p:blipFill>
        <p:spPr>
          <a:xfrm>
            <a:off x="4485557" y="10"/>
            <a:ext cx="7706443" cy="6857990"/>
          </a:xfrm>
          <a:prstGeom prst="rect">
            <a:avLst/>
          </a:prstGeom>
          <a:noFill/>
          <a:ln>
            <a:noFill/>
          </a:ln>
        </p:spPr>
      </p:pic>
      <p:sp>
        <p:nvSpPr>
          <p:cNvPr id="471" name="Google Shape;471;p16"/>
          <p:cNvSpPr/>
          <p:nvPr/>
        </p:nvSpPr>
        <p:spPr>
          <a:xfrm>
            <a:off x="0" y="0"/>
            <a:ext cx="8170246" cy="6858000"/>
          </a:xfrm>
          <a:custGeom>
            <a:rect b="b" l="l" r="r" t="t"/>
            <a:pathLst>
              <a:path extrusionOk="0" h="6858000" w="8170246">
                <a:moveTo>
                  <a:pt x="4738960" y="0"/>
                </a:moveTo>
                <a:lnTo>
                  <a:pt x="4862151" y="0"/>
                </a:lnTo>
                <a:cubicBezTo>
                  <a:pt x="4862151" y="0"/>
                  <a:pt x="4862151" y="0"/>
                  <a:pt x="8088169" y="3226735"/>
                </a:cubicBezTo>
                <a:cubicBezTo>
                  <a:pt x="8197606" y="3336196"/>
                  <a:pt x="8197606" y="3517045"/>
                  <a:pt x="8088169" y="3626507"/>
                </a:cubicBezTo>
                <a:cubicBezTo>
                  <a:pt x="8088169" y="3626507"/>
                  <a:pt x="8088169" y="3626507"/>
                  <a:pt x="4857393" y="6858000"/>
                </a:cubicBezTo>
                <a:cubicBezTo>
                  <a:pt x="4857393" y="6858000"/>
                  <a:pt x="4857393" y="6858000"/>
                  <a:pt x="4783581" y="6858000"/>
                </a:cubicBezTo>
                <a:lnTo>
                  <a:pt x="4734202" y="6858000"/>
                </a:lnTo>
                <a:cubicBezTo>
                  <a:pt x="7964978" y="3626507"/>
                  <a:pt x="7964978" y="3626507"/>
                  <a:pt x="7964978" y="3626507"/>
                </a:cubicBezTo>
                <a:cubicBezTo>
                  <a:pt x="8074415" y="3517045"/>
                  <a:pt x="8074415" y="3336196"/>
                  <a:pt x="7964978" y="3226735"/>
                </a:cubicBezTo>
                <a:cubicBezTo>
                  <a:pt x="4738960" y="0"/>
                  <a:pt x="4738960" y="0"/>
                  <a:pt x="4738960" y="0"/>
                </a:cubicBezTo>
                <a:close/>
                <a:moveTo>
                  <a:pt x="0" y="0"/>
                </a:moveTo>
                <a:lnTo>
                  <a:pt x="98791" y="0"/>
                </a:lnTo>
                <a:cubicBezTo>
                  <a:pt x="1075904" y="0"/>
                  <a:pt x="2469401" y="0"/>
                  <a:pt x="4456718" y="0"/>
                </a:cubicBezTo>
                <a:lnTo>
                  <a:pt x="4603489" y="0"/>
                </a:lnTo>
                <a:cubicBezTo>
                  <a:pt x="4603489" y="0"/>
                  <a:pt x="4603489" y="0"/>
                  <a:pt x="7829507" y="3226735"/>
                </a:cubicBezTo>
                <a:cubicBezTo>
                  <a:pt x="7938944" y="3336196"/>
                  <a:pt x="7938944" y="3517045"/>
                  <a:pt x="7829507" y="3626507"/>
                </a:cubicBezTo>
                <a:cubicBezTo>
                  <a:pt x="7829507" y="3626507"/>
                  <a:pt x="7829507" y="3626507"/>
                  <a:pt x="4598731" y="6858000"/>
                </a:cubicBezTo>
                <a:lnTo>
                  <a:pt x="4540663" y="6858000"/>
                </a:lnTo>
                <a:cubicBezTo>
                  <a:pt x="4077749" y="6858000"/>
                  <a:pt x="2938270" y="6858000"/>
                  <a:pt x="133398" y="6858000"/>
                </a:cubicBezTo>
                <a:lnTo>
                  <a:pt x="0" y="6858000"/>
                </a:lnTo>
                <a:close/>
              </a:path>
            </a:pathLst>
          </a:custGeom>
          <a:gradFill>
            <a:gsLst>
              <a:gs pos="0">
                <a:srgbClr val="FFFFFF"/>
              </a:gs>
              <a:gs pos="100000">
                <a:srgbClr val="DDE6C3"/>
              </a:gs>
            </a:gsLst>
            <a:path path="circle">
              <a:fillToRect b="100%" r="100%"/>
            </a:path>
            <a:tileRect l="-100%" t="-10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72" name="Google Shape;472;p16"/>
          <p:cNvSpPr txBox="1"/>
          <p:nvPr>
            <p:ph type="title"/>
          </p:nvPr>
        </p:nvSpPr>
        <p:spPr>
          <a:xfrm>
            <a:off x="535525" y="624110"/>
            <a:ext cx="4623955"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ENDOSO</a:t>
            </a:r>
            <a:endParaRPr/>
          </a:p>
        </p:txBody>
      </p:sp>
      <p:sp>
        <p:nvSpPr>
          <p:cNvPr id="473" name="Google Shape;473;p16"/>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74" name="Google Shape;474;p16"/>
          <p:cNvSpPr txBox="1"/>
          <p:nvPr>
            <p:ph idx="1" type="body"/>
          </p:nvPr>
        </p:nvSpPr>
        <p:spPr>
          <a:xfrm>
            <a:off x="531812" y="2133600"/>
            <a:ext cx="4625882" cy="3777622"/>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SzPts val="1500"/>
              <a:buChar char="🠶"/>
            </a:pPr>
            <a:r>
              <a:rPr lang="es-AR" sz="1500"/>
              <a:t>Posee tres efectos básicos: </a:t>
            </a:r>
            <a:endParaRPr/>
          </a:p>
          <a:p>
            <a:pPr indent="-285750" lvl="1" marL="742950" rtl="0" algn="l">
              <a:lnSpc>
                <a:spcPct val="90000"/>
              </a:lnSpc>
              <a:spcBef>
                <a:spcPts val="1000"/>
              </a:spcBef>
              <a:spcAft>
                <a:spcPts val="0"/>
              </a:spcAft>
              <a:buSzPts val="1500"/>
              <a:buChar char="🠶"/>
            </a:pPr>
            <a:r>
              <a:rPr lang="es-AR" sz="1500"/>
              <a:t>a. traslativo, que opera mediante la transmisión de derechos emergentes del título, y la tradición manual de él al endosatario; </a:t>
            </a:r>
            <a:endParaRPr/>
          </a:p>
          <a:p>
            <a:pPr indent="-285750" lvl="1" marL="742950" rtl="0" algn="l">
              <a:lnSpc>
                <a:spcPct val="90000"/>
              </a:lnSpc>
              <a:spcBef>
                <a:spcPts val="1000"/>
              </a:spcBef>
              <a:spcAft>
                <a:spcPts val="0"/>
              </a:spcAft>
              <a:buSzPts val="1500"/>
              <a:buChar char="🠶"/>
            </a:pPr>
            <a:r>
              <a:rPr lang="es-AR" sz="1500"/>
              <a:t>b. legitimante, al habilitar al receptor del título para ejercer tales derechos y acciones, para lo cual es necesario que posea el documento y justifique su derecho</a:t>
            </a:r>
            <a:endParaRPr/>
          </a:p>
          <a:p>
            <a:pPr indent="-285750" lvl="1" marL="742950" rtl="0" algn="l">
              <a:lnSpc>
                <a:spcPct val="90000"/>
              </a:lnSpc>
              <a:spcBef>
                <a:spcPts val="1000"/>
              </a:spcBef>
              <a:spcAft>
                <a:spcPts val="0"/>
              </a:spcAft>
              <a:buSzPts val="1500"/>
              <a:buChar char="🠶"/>
            </a:pPr>
            <a:r>
              <a:rPr lang="es-AR" sz="1500"/>
              <a:t>c. garantía o efecto constitutivo, ya que el endosante que coloca su firma en el instrumento, se adiciona a la garantía de pago frente al tercero portador legitimado, favoreciendo la circulación al ampliar el elenco de obligados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78" name="Shape 478"/>
        <p:cNvGrpSpPr/>
        <p:nvPr/>
      </p:nvGrpSpPr>
      <p:grpSpPr>
        <a:xfrm>
          <a:off x="0" y="0"/>
          <a:ext cx="0" cy="0"/>
          <a:chOff x="0" y="0"/>
          <a:chExt cx="0" cy="0"/>
        </a:xfrm>
      </p:grpSpPr>
      <p:sp>
        <p:nvSpPr>
          <p:cNvPr id="479" name="Google Shape;479;p17"/>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80" name="Google Shape;480;p17"/>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s-AR" sz="3200">
                <a:solidFill>
                  <a:schemeClr val="lt1"/>
                </a:solidFill>
              </a:rPr>
              <a:t>CLAUSULA NO A LA ORDEN</a:t>
            </a:r>
            <a:endParaRPr/>
          </a:p>
        </p:txBody>
      </p:sp>
      <p:sp>
        <p:nvSpPr>
          <p:cNvPr id="481" name="Google Shape;481;p17"/>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82" name="Google Shape;482;p17"/>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483" name="Google Shape;483;p17"/>
          <p:cNvGrpSpPr/>
          <p:nvPr/>
        </p:nvGrpSpPr>
        <p:grpSpPr>
          <a:xfrm>
            <a:off x="4713144" y="747826"/>
            <a:ext cx="6832212" cy="5052228"/>
            <a:chOff x="0" y="106275"/>
            <a:chExt cx="6832212" cy="5052228"/>
          </a:xfrm>
        </p:grpSpPr>
        <p:sp>
          <p:nvSpPr>
            <p:cNvPr id="484" name="Google Shape;484;p17"/>
            <p:cNvSpPr/>
            <p:nvPr/>
          </p:nvSpPr>
          <p:spPr>
            <a:xfrm>
              <a:off x="0" y="106275"/>
              <a:ext cx="6832212" cy="1653356"/>
            </a:xfrm>
            <a:prstGeom prst="roundRect">
              <a:avLst>
                <a:gd fmla="val 16667" name="adj"/>
              </a:avLst>
            </a:prstGeom>
            <a:gradFill>
              <a:gsLst>
                <a:gs pos="0">
                  <a:srgbClr val="9CB163"/>
                </a:gs>
                <a:gs pos="100000">
                  <a:srgbClr val="879D46"/>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txBox="1"/>
            <p:nvPr/>
          </p:nvSpPr>
          <p:spPr>
            <a:xfrm>
              <a:off x="80710" y="186985"/>
              <a:ext cx="6670792" cy="149193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entury Gothic"/>
                <a:buNone/>
              </a:pPr>
              <a:r>
                <a:rPr lang="es-AR" sz="1600">
                  <a:solidFill>
                    <a:schemeClr val="lt1"/>
                  </a:solidFill>
                  <a:latin typeface="Century Gothic"/>
                  <a:ea typeface="Century Gothic"/>
                  <a:cs typeface="Century Gothic"/>
                  <a:sym typeface="Century Gothic"/>
                </a:rPr>
                <a:t>Si el emitente del título lo desea, puede insertar la cláusula “no a la orden”</a:t>
              </a:r>
              <a:endParaRPr sz="1600">
                <a:solidFill>
                  <a:schemeClr val="lt1"/>
                </a:solidFill>
                <a:latin typeface="Century Gothic"/>
                <a:ea typeface="Century Gothic"/>
                <a:cs typeface="Century Gothic"/>
                <a:sym typeface="Century Gothic"/>
              </a:endParaRPr>
            </a:p>
          </p:txBody>
        </p:sp>
        <p:sp>
          <p:nvSpPr>
            <p:cNvPr id="486" name="Google Shape;486;p17"/>
            <p:cNvSpPr/>
            <p:nvPr/>
          </p:nvSpPr>
          <p:spPr>
            <a:xfrm>
              <a:off x="0" y="1805711"/>
              <a:ext cx="6832212" cy="1653356"/>
            </a:xfrm>
            <a:prstGeom prst="roundRect">
              <a:avLst>
                <a:gd fmla="val 16667" name="adj"/>
              </a:avLst>
            </a:prstGeom>
            <a:gradFill>
              <a:gsLst>
                <a:gs pos="0">
                  <a:srgbClr val="72B26E"/>
                </a:gs>
                <a:gs pos="100000">
                  <a:srgbClr val="579F52"/>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txBox="1"/>
            <p:nvPr/>
          </p:nvSpPr>
          <p:spPr>
            <a:xfrm>
              <a:off x="80710" y="1886421"/>
              <a:ext cx="6670792" cy="149193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entury Gothic"/>
                <a:buNone/>
              </a:pPr>
              <a:r>
                <a:rPr lang="es-AR" sz="1600">
                  <a:solidFill>
                    <a:schemeClr val="lt1"/>
                  </a:solidFill>
                  <a:latin typeface="Century Gothic"/>
                  <a:ea typeface="Century Gothic"/>
                  <a:cs typeface="Century Gothic"/>
                  <a:sym typeface="Century Gothic"/>
                </a:rPr>
                <a:t>En tal caso, el título puede transmitirse únicamente mediante las reglas de la cesión de derechos perdiendo el portador los beneficios de la autonomía cambiaria, por lo que el deudor podrá oponer al portador todas las defensas que tenía respecto de portadores anteriores</a:t>
              </a:r>
              <a:endParaRPr sz="1600">
                <a:solidFill>
                  <a:schemeClr val="lt1"/>
                </a:solidFill>
                <a:latin typeface="Century Gothic"/>
                <a:ea typeface="Century Gothic"/>
                <a:cs typeface="Century Gothic"/>
                <a:sym typeface="Century Gothic"/>
              </a:endParaRPr>
            </a:p>
          </p:txBody>
        </p:sp>
        <p:sp>
          <p:nvSpPr>
            <p:cNvPr id="488" name="Google Shape;488;p17"/>
            <p:cNvSpPr/>
            <p:nvPr/>
          </p:nvSpPr>
          <p:spPr>
            <a:xfrm>
              <a:off x="0" y="3505147"/>
              <a:ext cx="6832212" cy="1653356"/>
            </a:xfrm>
            <a:prstGeom prst="roundRect">
              <a:avLst>
                <a:gd fmla="val 16667" name="adj"/>
              </a:avLst>
            </a:prstGeom>
            <a:gradFill>
              <a:gsLst>
                <a:gs pos="0">
                  <a:srgbClr val="7BB39B"/>
                </a:gs>
                <a:gs pos="100000">
                  <a:srgbClr val="5DA385"/>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txBox="1"/>
            <p:nvPr/>
          </p:nvSpPr>
          <p:spPr>
            <a:xfrm>
              <a:off x="80710" y="3585857"/>
              <a:ext cx="6670792" cy="149193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entury Gothic"/>
                <a:buNone/>
              </a:pPr>
              <a:r>
                <a:rPr lang="es-AR" sz="1600">
                  <a:solidFill>
                    <a:schemeClr val="lt1"/>
                  </a:solidFill>
                  <a:latin typeface="Century Gothic"/>
                  <a:ea typeface="Century Gothic"/>
                  <a:cs typeface="Century Gothic"/>
                  <a:sym typeface="Century Gothic"/>
                </a:rPr>
                <a:t>Algunos autores sostienen que el documento que lleve la cláusula indicada no es un título valor, en tanto pierde no solo su carácter autónomo sino también su literalidad, dado que la medida del derecho no se rige solo por lo que resulta del propio instrumento, no bastando la exhibición del documento para ejercer el derecho sino que habrá de acompañarse el contrato de cesión</a:t>
              </a:r>
              <a:endParaRPr sz="1600">
                <a:solidFill>
                  <a:schemeClr val="lt1"/>
                </a:solidFill>
                <a:latin typeface="Century Gothic"/>
                <a:ea typeface="Century Gothic"/>
                <a:cs typeface="Century Gothic"/>
                <a:sym typeface="Century Gothic"/>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493" name="Shape 493"/>
        <p:cNvGrpSpPr/>
        <p:nvPr/>
      </p:nvGrpSpPr>
      <p:grpSpPr>
        <a:xfrm>
          <a:off x="0" y="0"/>
          <a:ext cx="0" cy="0"/>
          <a:chOff x="0" y="0"/>
          <a:chExt cx="0" cy="0"/>
        </a:xfrm>
      </p:grpSpPr>
      <p:sp>
        <p:nvSpPr>
          <p:cNvPr id="494" name="Google Shape;494;p18"/>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95" name="Google Shape;495;p18"/>
          <p:cNvSpPr txBox="1"/>
          <p:nvPr>
            <p:ph type="title"/>
          </p:nvPr>
        </p:nvSpPr>
        <p:spPr>
          <a:xfrm>
            <a:off x="1180627" y="3071596"/>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200"/>
              <a:buFont typeface="Century Gothic"/>
              <a:buNone/>
            </a:pPr>
            <a:r>
              <a:rPr lang="es-AR" sz="3200">
                <a:solidFill>
                  <a:schemeClr val="lt1"/>
                </a:solidFill>
              </a:rPr>
              <a:t>ENDOSO</a:t>
            </a:r>
            <a:endParaRPr/>
          </a:p>
        </p:txBody>
      </p:sp>
      <p:sp>
        <p:nvSpPr>
          <p:cNvPr id="496" name="Google Shape;496;p18"/>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97" name="Google Shape;497;p18"/>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498" name="Google Shape;498;p18"/>
          <p:cNvGrpSpPr/>
          <p:nvPr/>
        </p:nvGrpSpPr>
        <p:grpSpPr>
          <a:xfrm>
            <a:off x="4713144" y="1090900"/>
            <a:ext cx="6832212" cy="4366080"/>
            <a:chOff x="0" y="449349"/>
            <a:chExt cx="6832212" cy="4366080"/>
          </a:xfrm>
        </p:grpSpPr>
        <p:sp>
          <p:nvSpPr>
            <p:cNvPr id="499" name="Google Shape;499;p18"/>
            <p:cNvSpPr/>
            <p:nvPr/>
          </p:nvSpPr>
          <p:spPr>
            <a:xfrm>
              <a:off x="0" y="449349"/>
              <a:ext cx="6832212" cy="636480"/>
            </a:xfrm>
            <a:prstGeom prst="roundRect">
              <a:avLst>
                <a:gd fmla="val 16667" name="adj"/>
              </a:avLst>
            </a:prstGeom>
            <a:gradFill>
              <a:gsLst>
                <a:gs pos="0">
                  <a:srgbClr val="DF8A47"/>
                </a:gs>
                <a:gs pos="100000">
                  <a:srgbClr val="CC7213"/>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8"/>
            <p:cNvSpPr txBox="1"/>
            <p:nvPr/>
          </p:nvSpPr>
          <p:spPr>
            <a:xfrm>
              <a:off x="31070" y="480419"/>
              <a:ext cx="6770072" cy="574340"/>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entury Gothic"/>
                <a:buNone/>
              </a:pPr>
              <a:r>
                <a:rPr lang="es-AR" sz="1600">
                  <a:solidFill>
                    <a:schemeClr val="lt1"/>
                  </a:solidFill>
                  <a:latin typeface="Century Gothic"/>
                  <a:ea typeface="Century Gothic"/>
                  <a:cs typeface="Century Gothic"/>
                  <a:sym typeface="Century Gothic"/>
                </a:rPr>
                <a:t>el Código no limita la cantidad de endosos que puede contener el título, sin perjuicio de lo que prevean regímenes particulares</a:t>
              </a:r>
              <a:endParaRPr sz="1600">
                <a:solidFill>
                  <a:schemeClr val="lt1"/>
                </a:solidFill>
                <a:latin typeface="Century Gothic"/>
                <a:ea typeface="Century Gothic"/>
                <a:cs typeface="Century Gothic"/>
                <a:sym typeface="Century Gothic"/>
              </a:endParaRPr>
            </a:p>
          </p:txBody>
        </p:sp>
        <p:sp>
          <p:nvSpPr>
            <p:cNvPr id="501" name="Google Shape;501;p18"/>
            <p:cNvSpPr/>
            <p:nvPr/>
          </p:nvSpPr>
          <p:spPr>
            <a:xfrm>
              <a:off x="0" y="1131909"/>
              <a:ext cx="6832212" cy="636480"/>
            </a:xfrm>
            <a:prstGeom prst="roundRect">
              <a:avLst>
                <a:gd fmla="val 16667" name="adj"/>
              </a:avLst>
            </a:prstGeom>
            <a:gradFill>
              <a:gsLst>
                <a:gs pos="0">
                  <a:srgbClr val="A68D65"/>
                </a:gs>
                <a:gs pos="100000">
                  <a:srgbClr val="927749"/>
                </a:gs>
              </a:gsLst>
              <a:lin ang="5400000" scaled="0"/>
            </a:gradFill>
            <a:ln>
              <a:noFill/>
            </a:ln>
            <a:effectLst>
              <a:outerShdw blurRad="38100" rotWithShape="0" dir="5400000" dist="254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txBox="1"/>
            <p:nvPr/>
          </p:nvSpPr>
          <p:spPr>
            <a:xfrm>
              <a:off x="31070" y="1162979"/>
              <a:ext cx="6770072" cy="574340"/>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entury Gothic"/>
                <a:buNone/>
              </a:pPr>
              <a:r>
                <a:rPr lang="es-AR" sz="1600">
                  <a:solidFill>
                    <a:schemeClr val="lt1"/>
                  </a:solidFill>
                  <a:latin typeface="Century Gothic"/>
                  <a:ea typeface="Century Gothic"/>
                  <a:cs typeface="Century Gothic"/>
                  <a:sym typeface="Century Gothic"/>
                </a:rPr>
                <a:t>TIPOS</a:t>
              </a:r>
              <a:endParaRPr sz="1600">
                <a:solidFill>
                  <a:schemeClr val="lt1"/>
                </a:solidFill>
                <a:latin typeface="Century Gothic"/>
                <a:ea typeface="Century Gothic"/>
                <a:cs typeface="Century Gothic"/>
                <a:sym typeface="Century Gothic"/>
              </a:endParaRPr>
            </a:p>
          </p:txBody>
        </p:sp>
        <p:sp>
          <p:nvSpPr>
            <p:cNvPr id="503" name="Google Shape;503;p18"/>
            <p:cNvSpPr/>
            <p:nvPr/>
          </p:nvSpPr>
          <p:spPr>
            <a:xfrm>
              <a:off x="0" y="1768389"/>
              <a:ext cx="6832212" cy="30470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8"/>
            <p:cNvSpPr txBox="1"/>
            <p:nvPr/>
          </p:nvSpPr>
          <p:spPr>
            <a:xfrm>
              <a:off x="0" y="1768389"/>
              <a:ext cx="6832212" cy="3047040"/>
            </a:xfrm>
            <a:prstGeom prst="rect">
              <a:avLst/>
            </a:prstGeom>
            <a:noFill/>
            <a:ln>
              <a:noFill/>
            </a:ln>
          </p:spPr>
          <p:txBody>
            <a:bodyPr anchorCtr="0" anchor="t" bIns="20300" lIns="216900" spcFirstLastPara="1" rIns="113775" wrap="square" tIns="20300">
              <a:noAutofit/>
            </a:bodyPr>
            <a:lstStyle/>
            <a:p>
              <a:pPr indent="-114300" lvl="1" marL="114300" marR="0" rtl="0" algn="l">
                <a:lnSpc>
                  <a:spcPct val="90000"/>
                </a:lnSpc>
                <a:spcBef>
                  <a:spcPts val="0"/>
                </a:spcBef>
                <a:spcAft>
                  <a:spcPts val="0"/>
                </a:spcAft>
                <a:buClr>
                  <a:schemeClr val="dk1"/>
                </a:buClr>
                <a:buSzPts val="1200"/>
                <a:buFont typeface="Century Gothic"/>
                <a:buChar char="•"/>
              </a:pPr>
              <a:r>
                <a:rPr b="1" i="0" lang="es-AR" sz="1200" u="none" cap="none" strike="noStrike">
                  <a:solidFill>
                    <a:schemeClr val="dk1"/>
                  </a:solidFill>
                  <a:latin typeface="Century Gothic"/>
                  <a:ea typeface="Century Gothic"/>
                  <a:cs typeface="Century Gothic"/>
                  <a:sym typeface="Century Gothic"/>
                </a:rPr>
                <a:t>Endoso nominal</a:t>
              </a:r>
              <a:endParaRPr b="1" i="0" sz="1200" u="none" cap="none" strike="noStrike">
                <a:solidFill>
                  <a:schemeClr val="dk1"/>
                </a:solidFill>
                <a:latin typeface="Century Gothic"/>
                <a:ea typeface="Century Gothic"/>
                <a:cs typeface="Century Gothic"/>
                <a:sym typeface="Century Gothic"/>
              </a:endParaRPr>
            </a:p>
            <a:p>
              <a:pPr indent="-114300" lvl="2" marL="228600" marR="0" rtl="0" algn="l">
                <a:lnSpc>
                  <a:spcPct val="90000"/>
                </a:lnSpc>
                <a:spcBef>
                  <a:spcPts val="240"/>
                </a:spcBef>
                <a:spcAft>
                  <a:spcPts val="0"/>
                </a:spcAft>
                <a:buClr>
                  <a:schemeClr val="dk1"/>
                </a:buClr>
                <a:buSzPts val="1200"/>
                <a:buFont typeface="Century Gothic"/>
                <a:buChar char="•"/>
              </a:pPr>
              <a:r>
                <a:rPr b="0" i="0" lang="es-AR" sz="1200" u="none" cap="none" strike="noStrike">
                  <a:solidFill>
                    <a:schemeClr val="dk1"/>
                  </a:solidFill>
                  <a:latin typeface="Century Gothic"/>
                  <a:ea typeface="Century Gothic"/>
                  <a:cs typeface="Century Gothic"/>
                  <a:sym typeface="Century Gothic"/>
                </a:rPr>
                <a:t>Se emite a nombre de una persona determinada, humana o jurídica</a:t>
              </a:r>
              <a:endParaRPr b="0" i="0" sz="1200" u="none" cap="none" strike="noStrike">
                <a:solidFill>
                  <a:schemeClr val="dk1"/>
                </a:solidFill>
                <a:latin typeface="Century Gothic"/>
                <a:ea typeface="Century Gothic"/>
                <a:cs typeface="Century Gothic"/>
                <a:sym typeface="Century Gothic"/>
              </a:endParaRPr>
            </a:p>
            <a:p>
              <a:pPr indent="-114300" lvl="2" marL="228600" marR="0" rtl="0" algn="l">
                <a:lnSpc>
                  <a:spcPct val="90000"/>
                </a:lnSpc>
                <a:spcBef>
                  <a:spcPts val="240"/>
                </a:spcBef>
                <a:spcAft>
                  <a:spcPts val="0"/>
                </a:spcAft>
                <a:buClr>
                  <a:schemeClr val="dk1"/>
                </a:buClr>
                <a:buSzPts val="1200"/>
                <a:buFont typeface="Century Gothic"/>
                <a:buChar char="•"/>
              </a:pPr>
              <a:r>
                <a:rPr b="0" i="0" lang="es-AR" sz="1200" u="none" cap="none" strike="noStrike">
                  <a:solidFill>
                    <a:schemeClr val="dk1"/>
                  </a:solidFill>
                  <a:latin typeface="Century Gothic"/>
                  <a:ea typeface="Century Gothic"/>
                  <a:cs typeface="Century Gothic"/>
                  <a:sym typeface="Century Gothic"/>
                </a:rPr>
                <a:t>El único que podrá endosar nuevamente la letra en este caso será el endosatario beneficiario,</a:t>
              </a:r>
              <a:endParaRPr b="0" i="0" sz="12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40"/>
                </a:spcBef>
                <a:spcAft>
                  <a:spcPts val="0"/>
                </a:spcAft>
                <a:buClr>
                  <a:schemeClr val="dk1"/>
                </a:buClr>
                <a:buSzPts val="1200"/>
                <a:buFont typeface="Century Gothic"/>
                <a:buChar char="•"/>
              </a:pPr>
              <a:r>
                <a:rPr b="1" i="0" lang="es-AR" sz="1200" u="none" cap="none" strike="noStrike">
                  <a:solidFill>
                    <a:schemeClr val="dk1"/>
                  </a:solidFill>
                  <a:latin typeface="Century Gothic"/>
                  <a:ea typeface="Century Gothic"/>
                  <a:cs typeface="Century Gothic"/>
                  <a:sym typeface="Century Gothic"/>
                </a:rPr>
                <a:t>Endoso en blanco</a:t>
              </a:r>
              <a:endParaRPr b="1" i="0" sz="1200" u="none" cap="none" strike="noStrike">
                <a:solidFill>
                  <a:schemeClr val="dk1"/>
                </a:solidFill>
                <a:latin typeface="Century Gothic"/>
                <a:ea typeface="Century Gothic"/>
                <a:cs typeface="Century Gothic"/>
                <a:sym typeface="Century Gothic"/>
              </a:endParaRPr>
            </a:p>
            <a:p>
              <a:pPr indent="-114300" lvl="2" marL="228600" marR="0" rtl="0" algn="l">
                <a:lnSpc>
                  <a:spcPct val="90000"/>
                </a:lnSpc>
                <a:spcBef>
                  <a:spcPts val="240"/>
                </a:spcBef>
                <a:spcAft>
                  <a:spcPts val="0"/>
                </a:spcAft>
                <a:buClr>
                  <a:schemeClr val="dk1"/>
                </a:buClr>
                <a:buSzPts val="1200"/>
                <a:buFont typeface="Century Gothic"/>
                <a:buChar char="•"/>
              </a:pPr>
              <a:r>
                <a:rPr b="0" i="0" lang="es-AR" sz="1200" u="none" cap="none" strike="noStrike">
                  <a:solidFill>
                    <a:schemeClr val="dk1"/>
                  </a:solidFill>
                  <a:latin typeface="Century Gothic"/>
                  <a:ea typeface="Century Gothic"/>
                  <a:cs typeface="Century Gothic"/>
                  <a:sym typeface="Century Gothic"/>
                </a:rPr>
                <a:t>solo inserta su firma en el dorso del documento o en su prolongación, sin designar un beneficiario</a:t>
              </a:r>
              <a:endParaRPr b="0" i="0" sz="1200" u="none" cap="none" strike="noStrike">
                <a:solidFill>
                  <a:schemeClr val="dk1"/>
                </a:solidFill>
                <a:latin typeface="Century Gothic"/>
                <a:ea typeface="Century Gothic"/>
                <a:cs typeface="Century Gothic"/>
                <a:sym typeface="Century Gothic"/>
              </a:endParaRPr>
            </a:p>
            <a:p>
              <a:pPr indent="-114300" lvl="2" marL="228600" marR="0" rtl="0" algn="l">
                <a:lnSpc>
                  <a:spcPct val="90000"/>
                </a:lnSpc>
                <a:spcBef>
                  <a:spcPts val="240"/>
                </a:spcBef>
                <a:spcAft>
                  <a:spcPts val="0"/>
                </a:spcAft>
                <a:buClr>
                  <a:schemeClr val="dk1"/>
                </a:buClr>
                <a:buSzPts val="1200"/>
                <a:buFont typeface="Century Gothic"/>
                <a:buChar char="•"/>
              </a:pPr>
              <a:r>
                <a:rPr b="0" i="0" lang="es-AR" sz="1200" u="none" cap="none" strike="noStrike">
                  <a:solidFill>
                    <a:schemeClr val="dk1"/>
                  </a:solidFill>
                  <a:latin typeface="Century Gothic"/>
                  <a:ea typeface="Century Gothic"/>
                  <a:cs typeface="Century Gothic"/>
                  <a:sym typeface="Century Gothic"/>
                </a:rPr>
                <a:t>ARTÍCULO 1843.- Endoso en blanco. Si el título es endosado en blanco, el portador puede llenar el endoso con su nombre o con el de otra persona, o endosar nuevamente el título, o  transmitirlo a un tercero sin llenar el endoso o sin extender uno nuevo</a:t>
              </a:r>
              <a:endParaRPr b="0" i="0" sz="12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40"/>
                </a:spcBef>
                <a:spcAft>
                  <a:spcPts val="0"/>
                </a:spcAft>
                <a:buClr>
                  <a:schemeClr val="dk1"/>
                </a:buClr>
                <a:buSzPts val="1200"/>
                <a:buFont typeface="Century Gothic"/>
                <a:buChar char="•"/>
              </a:pPr>
              <a:r>
                <a:rPr b="1" i="0" lang="es-AR" sz="1200" u="none" cap="none" strike="noStrike">
                  <a:solidFill>
                    <a:schemeClr val="dk1"/>
                  </a:solidFill>
                  <a:latin typeface="Century Gothic"/>
                  <a:ea typeface="Century Gothic"/>
                  <a:cs typeface="Century Gothic"/>
                  <a:sym typeface="Century Gothic"/>
                </a:rPr>
                <a:t>Endoso al portador</a:t>
              </a:r>
              <a:endParaRPr b="1" i="0" sz="12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40"/>
                </a:spcBef>
                <a:spcAft>
                  <a:spcPts val="0"/>
                </a:spcAft>
                <a:buClr>
                  <a:schemeClr val="dk1"/>
                </a:buClr>
                <a:buSzPts val="1200"/>
                <a:buFont typeface="Century Gothic"/>
                <a:buChar char="•"/>
              </a:pPr>
              <a:r>
                <a:rPr b="0" i="0" lang="es-AR" sz="1200" u="none" cap="none" strike="noStrike">
                  <a:solidFill>
                    <a:schemeClr val="dk1"/>
                  </a:solidFill>
                  <a:latin typeface="Century Gothic"/>
                  <a:ea typeface="Century Gothic"/>
                  <a:cs typeface="Century Gothic"/>
                  <a:sym typeface="Century Gothic"/>
                </a:rPr>
                <a:t>Es asimilable al anterior en cuanto a sus efectos jurídicos</a:t>
              </a:r>
              <a:endParaRPr b="0" i="0" sz="1200" u="none" cap="none" strike="noStrike">
                <a:solidFill>
                  <a:schemeClr val="dk1"/>
                </a:solidFill>
                <a:latin typeface="Century Gothic"/>
                <a:ea typeface="Century Gothic"/>
                <a:cs typeface="Century Gothic"/>
                <a:sym typeface="Century Gothic"/>
              </a:endParaRPr>
            </a:p>
            <a:p>
              <a:pPr indent="-114300" lvl="1" marL="114300" marR="0" rtl="0" algn="l">
                <a:lnSpc>
                  <a:spcPct val="90000"/>
                </a:lnSpc>
                <a:spcBef>
                  <a:spcPts val="240"/>
                </a:spcBef>
                <a:spcAft>
                  <a:spcPts val="0"/>
                </a:spcAft>
                <a:buClr>
                  <a:schemeClr val="dk1"/>
                </a:buClr>
                <a:buSzPts val="1200"/>
                <a:buFont typeface="Century Gothic"/>
                <a:buChar char="•"/>
              </a:pPr>
              <a:r>
                <a:rPr b="0" i="0" lang="es-AR" sz="1200" u="none" cap="none" strike="noStrike">
                  <a:solidFill>
                    <a:schemeClr val="dk1"/>
                  </a:solidFill>
                  <a:latin typeface="Century Gothic"/>
                  <a:ea typeface="Century Gothic"/>
                  <a:cs typeface="Century Gothic"/>
                  <a:sym typeface="Century Gothic"/>
                </a:rPr>
                <a:t>Se diferencia del endoso en blanco en que puede incluir, junto con la firma del endosante, expresiones como “al portador”, “a la orden del portador”, “por endoso al portador” o similares</a:t>
              </a:r>
              <a:endParaRPr b="0" i="0" sz="1200" u="none" cap="none" strike="noStrike">
                <a:solidFill>
                  <a:schemeClr val="dk1"/>
                </a:solidFill>
                <a:latin typeface="Century Gothic"/>
                <a:ea typeface="Century Gothic"/>
                <a:cs typeface="Century Gothic"/>
                <a:sym typeface="Century Gothic"/>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08" name="Shape 508"/>
        <p:cNvGrpSpPr/>
        <p:nvPr/>
      </p:nvGrpSpPr>
      <p:grpSpPr>
        <a:xfrm>
          <a:off x="0" y="0"/>
          <a:ext cx="0" cy="0"/>
          <a:chOff x="0" y="0"/>
          <a:chExt cx="0" cy="0"/>
        </a:xfrm>
      </p:grpSpPr>
      <p:sp>
        <p:nvSpPr>
          <p:cNvPr id="509" name="Google Shape;509;p19"/>
          <p:cNvSpPr/>
          <p:nvPr/>
        </p:nvSpPr>
        <p:spPr>
          <a:xfrm>
            <a:off x="-7620" y="-1"/>
            <a:ext cx="12207240" cy="6858001"/>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510" name="Google Shape;510;p19"/>
          <p:cNvGrpSpPr/>
          <p:nvPr/>
        </p:nvGrpSpPr>
        <p:grpSpPr>
          <a:xfrm>
            <a:off x="4836169" y="228600"/>
            <a:ext cx="2851523" cy="6638625"/>
            <a:chOff x="2487613" y="285750"/>
            <a:chExt cx="2428875" cy="5654676"/>
          </a:xfrm>
        </p:grpSpPr>
        <p:sp>
          <p:nvSpPr>
            <p:cNvPr id="511" name="Google Shape;511;p19"/>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2" name="Google Shape;512;p19"/>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3" name="Google Shape;513;p19"/>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4" name="Google Shape;514;p19"/>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5" name="Google Shape;515;p19"/>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6" name="Google Shape;516;p19"/>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7" name="Google Shape;517;p19"/>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8" name="Google Shape;518;p19"/>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19" name="Google Shape;519;p19"/>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0" name="Google Shape;520;p19"/>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1" name="Google Shape;521;p19"/>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2" name="Google Shape;522;p19"/>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523" name="Google Shape;523;p19"/>
          <p:cNvGrpSpPr/>
          <p:nvPr/>
        </p:nvGrpSpPr>
        <p:grpSpPr>
          <a:xfrm>
            <a:off x="4677117" y="-786"/>
            <a:ext cx="2356675" cy="6854040"/>
            <a:chOff x="6627813" y="194833"/>
            <a:chExt cx="1952625" cy="5678918"/>
          </a:xfrm>
        </p:grpSpPr>
        <p:sp>
          <p:nvSpPr>
            <p:cNvPr id="524" name="Google Shape;524;p19"/>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5" name="Google Shape;525;p19"/>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6" name="Google Shape;526;p19"/>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7" name="Google Shape;527;p19"/>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8" name="Google Shape;528;p19"/>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29" name="Google Shape;529;p19"/>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0" name="Google Shape;530;p19"/>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1" name="Google Shape;531;p19"/>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2" name="Google Shape;532;p19"/>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3" name="Google Shape;533;p19"/>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4" name="Google Shape;534;p19"/>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35" name="Google Shape;535;p19"/>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536" name="Google Shape;536;p19"/>
          <p:cNvSpPr txBox="1"/>
          <p:nvPr>
            <p:ph type="title"/>
          </p:nvPr>
        </p:nvSpPr>
        <p:spPr>
          <a:xfrm>
            <a:off x="6483096" y="624110"/>
            <a:ext cx="5021516"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ENDOSO</a:t>
            </a:r>
            <a:endParaRPr/>
          </a:p>
        </p:txBody>
      </p:sp>
      <p:sp>
        <p:nvSpPr>
          <p:cNvPr id="537" name="Google Shape;537;p19"/>
          <p:cNvSpPr/>
          <p:nvPr/>
        </p:nvSpPr>
        <p:spPr>
          <a:xfrm>
            <a:off x="4645704"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38" name="Google Shape;538;p19"/>
          <p:cNvSpPr/>
          <p:nvPr/>
        </p:nvSpPr>
        <p:spPr>
          <a:xfrm flipH="1" rot="10800000">
            <a:off x="4645704"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descr="Marca de exclamación sobre fondo amarillo" id="539" name="Google Shape;539;p19"/>
          <p:cNvPicPr preferRelativeResize="0"/>
          <p:nvPr/>
        </p:nvPicPr>
        <p:blipFill rotWithShape="1">
          <a:blip r:embed="rId3">
            <a:alphaModFix/>
          </a:blip>
          <a:srcRect b="0" l="30917" r="17998" t="0"/>
          <a:stretch/>
        </p:blipFill>
        <p:spPr>
          <a:xfrm>
            <a:off x="-1555" y="1731"/>
            <a:ext cx="4671091" cy="6858000"/>
          </a:xfrm>
          <a:prstGeom prst="rect">
            <a:avLst/>
          </a:prstGeom>
          <a:noFill/>
          <a:ln>
            <a:noFill/>
          </a:ln>
        </p:spPr>
      </p:pic>
      <p:sp>
        <p:nvSpPr>
          <p:cNvPr id="540" name="Google Shape;540;p19"/>
          <p:cNvSpPr txBox="1"/>
          <p:nvPr>
            <p:ph idx="1" type="body"/>
          </p:nvPr>
        </p:nvSpPr>
        <p:spPr>
          <a:xfrm>
            <a:off x="6438191" y="2133600"/>
            <a:ext cx="5066419"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s-AR"/>
              <a:t>ARTÍCULO 1840.- Condición y endoso parcial. Cualquier condición puesta al endoso se tiene por no escrita. Es nulo el endoso parcial.</a:t>
            </a:r>
            <a:endParaRPr/>
          </a:p>
          <a:p>
            <a:pPr indent="-285750" lvl="1" marL="742950" rtl="0" algn="l">
              <a:spcBef>
                <a:spcPts val="1000"/>
              </a:spcBef>
              <a:spcAft>
                <a:spcPts val="0"/>
              </a:spcAft>
              <a:buSzPts val="1600"/>
              <a:buChar char="🠶"/>
            </a:pPr>
            <a:r>
              <a:rPr lang="es-AR"/>
              <a:t>La diferencia es que en el primer caso, la condición se tendrá por no escrita de manera que el endoso mantendrá vigor con sus efectos plenos y particulares de acuerdo a la clase de endoso de que se trate.</a:t>
            </a:r>
            <a:endParaRPr/>
          </a:p>
          <a:p>
            <a:pPr indent="-285750" lvl="1" marL="742950" rtl="0" algn="l">
              <a:spcBef>
                <a:spcPts val="1000"/>
              </a:spcBef>
              <a:spcAft>
                <a:spcPts val="0"/>
              </a:spcAft>
              <a:buSzPts val="1600"/>
              <a:buChar char="🠶"/>
            </a:pPr>
            <a:r>
              <a:rPr lang="es-AR"/>
              <a:t>En el caso de endoso parcial, el artículo dispone la sanción de nulidad.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44" name="Shape 544"/>
        <p:cNvGrpSpPr/>
        <p:nvPr/>
      </p:nvGrpSpPr>
      <p:grpSpPr>
        <a:xfrm>
          <a:off x="0" y="0"/>
          <a:ext cx="0" cy="0"/>
          <a:chOff x="0" y="0"/>
          <a:chExt cx="0" cy="0"/>
        </a:xfrm>
      </p:grpSpPr>
      <p:sp>
        <p:nvSpPr>
          <p:cNvPr id="545" name="Google Shape;545;p20"/>
          <p:cNvSpPr/>
          <p:nvPr/>
        </p:nvSpPr>
        <p:spPr>
          <a:xfrm>
            <a:off x="1" y="0"/>
            <a:ext cx="4654295"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46" name="Google Shape;546;p20"/>
          <p:cNvSpPr txBox="1"/>
          <p:nvPr>
            <p:ph type="title"/>
          </p:nvPr>
        </p:nvSpPr>
        <p:spPr>
          <a:xfrm>
            <a:off x="1433889" y="1059872"/>
            <a:ext cx="3012216" cy="48513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ENDOSO</a:t>
            </a:r>
            <a:endParaRPr/>
          </a:p>
        </p:txBody>
      </p:sp>
      <p:sp>
        <p:nvSpPr>
          <p:cNvPr id="547" name="Google Shape;547;p20"/>
          <p:cNvSpPr/>
          <p:nvPr/>
        </p:nvSpPr>
        <p:spPr>
          <a:xfrm flipH="1" rot="10800000">
            <a:off x="-159" y="1149203"/>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48" name="Google Shape;548;p20"/>
          <p:cNvSpPr txBox="1"/>
          <p:nvPr>
            <p:ph idx="1" type="body"/>
          </p:nvPr>
        </p:nvSpPr>
        <p:spPr>
          <a:xfrm>
            <a:off x="5280368" y="1059872"/>
            <a:ext cx="6224244" cy="48513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s-AR"/>
              <a:t>ARTÍCULO 1842.- Legitimación. El portador de un título a la orden queda legitimado para el ejercicio del derecho en él incorporado, por una serie no interrumpida de endosos formalmente válidos, aun cuando el último sea en blanco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52" name="Shape 552"/>
        <p:cNvGrpSpPr/>
        <p:nvPr/>
      </p:nvGrpSpPr>
      <p:grpSpPr>
        <a:xfrm>
          <a:off x="0" y="0"/>
          <a:ext cx="0" cy="0"/>
          <a:chOff x="0" y="0"/>
          <a:chExt cx="0" cy="0"/>
        </a:xfrm>
      </p:grpSpPr>
      <p:sp>
        <p:nvSpPr>
          <p:cNvPr id="553" name="Google Shape;553;p21"/>
          <p:cNvSpPr/>
          <p:nvPr/>
        </p:nvSpPr>
        <p:spPr>
          <a:xfrm>
            <a:off x="2" y="0"/>
            <a:ext cx="12191998"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54" name="Google Shape;554;p21"/>
          <p:cNvSpPr txBox="1"/>
          <p:nvPr>
            <p:ph type="title"/>
          </p:nvPr>
        </p:nvSpPr>
        <p:spPr>
          <a:xfrm>
            <a:off x="7855527" y="685800"/>
            <a:ext cx="3649085" cy="522542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ENDOSO EN PROCURACION</a:t>
            </a:r>
            <a:endParaRPr/>
          </a:p>
        </p:txBody>
      </p:sp>
      <p:sp>
        <p:nvSpPr>
          <p:cNvPr id="555" name="Google Shape;555;p21"/>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56" name="Google Shape;556;p21"/>
          <p:cNvSpPr txBox="1"/>
          <p:nvPr>
            <p:ph idx="1" type="body"/>
          </p:nvPr>
        </p:nvSpPr>
        <p:spPr>
          <a:xfrm>
            <a:off x="1101554" y="685800"/>
            <a:ext cx="5970162" cy="5225422"/>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800"/>
              <a:buChar char="🠶"/>
            </a:pPr>
            <a:r>
              <a:rPr lang="es-AR"/>
              <a:t>ARTÍCULO 1844.- Endoso en procuración. Si el endoso contiene la cláusula “en procuración” u otra similar, el endosatario puede ejercer, incluso judicialmente, todos los derechos inherentes al título valor, pero sólo puede endosarlo en procuración. Los obligados sólo pueden oponer al endosatario en procuración las excepciones que pueden ser opuestas al endosante. La eficacia del endoso en procuración no cesa por muerte o incapacidad sobrevenida del endosante.</a:t>
            </a:r>
            <a:endParaRPr/>
          </a:p>
          <a:p>
            <a:pPr indent="-342900" lvl="0" marL="342900" rtl="0" algn="l">
              <a:spcBef>
                <a:spcPts val="1000"/>
              </a:spcBef>
              <a:spcAft>
                <a:spcPts val="0"/>
              </a:spcAft>
              <a:buSzPts val="1800"/>
              <a:buChar char="🠶"/>
            </a:pPr>
            <a:r>
              <a:rPr lang="es-AR"/>
              <a:t>el endosante transmite al endosatario la legitimación para el ejercicio de los derechos y acciones que surgen del título, pero mantiene la titularidad de ellos. La circulación regular queda, entonces, limitada.</a:t>
            </a:r>
            <a:endParaRPr/>
          </a:p>
        </p:txBody>
      </p:sp>
      <p:cxnSp>
        <p:nvCxnSpPr>
          <p:cNvPr id="557" name="Google Shape;557;p21"/>
          <p:cNvCxnSpPr/>
          <p:nvPr/>
        </p:nvCxnSpPr>
        <p:spPr>
          <a:xfrm>
            <a:off x="7536041" y="1871831"/>
            <a:ext cx="0" cy="3200400"/>
          </a:xfrm>
          <a:prstGeom prst="straightConnector1">
            <a:avLst/>
          </a:prstGeom>
          <a:noFill/>
          <a:ln cap="flat" cmpd="sng" w="15875">
            <a:solidFill>
              <a:schemeClr val="accent5"/>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61" name="Shape 561"/>
        <p:cNvGrpSpPr/>
        <p:nvPr/>
      </p:nvGrpSpPr>
      <p:grpSpPr>
        <a:xfrm>
          <a:off x="0" y="0"/>
          <a:ext cx="0" cy="0"/>
          <a:chOff x="0" y="0"/>
          <a:chExt cx="0" cy="0"/>
        </a:xfrm>
      </p:grpSpPr>
      <p:sp>
        <p:nvSpPr>
          <p:cNvPr id="562" name="Google Shape;562;p22"/>
          <p:cNvSpPr/>
          <p:nvPr/>
        </p:nvSpPr>
        <p:spPr>
          <a:xfrm>
            <a:off x="2" y="0"/>
            <a:ext cx="12191998"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63" name="Google Shape;563;p22"/>
          <p:cNvSpPr txBox="1"/>
          <p:nvPr>
            <p:ph type="title"/>
          </p:nvPr>
        </p:nvSpPr>
        <p:spPr>
          <a:xfrm>
            <a:off x="3373062" y="624110"/>
            <a:ext cx="8131550"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ENDOSO</a:t>
            </a:r>
            <a:endParaRPr/>
          </a:p>
        </p:txBody>
      </p:sp>
      <p:sp>
        <p:nvSpPr>
          <p:cNvPr id="564" name="Google Shape;564;p22"/>
          <p:cNvSpPr/>
          <p:nvPr/>
        </p:nvSpPr>
        <p:spPr>
          <a:xfrm>
            <a:off x="1" y="0"/>
            <a:ext cx="2851515"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565" name="Google Shape;565;p22"/>
          <p:cNvGrpSpPr/>
          <p:nvPr/>
        </p:nvGrpSpPr>
        <p:grpSpPr>
          <a:xfrm>
            <a:off x="9" y="228600"/>
            <a:ext cx="2851523" cy="6638625"/>
            <a:chOff x="2487613" y="285750"/>
            <a:chExt cx="2428875" cy="5654676"/>
          </a:xfrm>
        </p:grpSpPr>
        <p:sp>
          <p:nvSpPr>
            <p:cNvPr id="566" name="Google Shape;566;p22"/>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67" name="Google Shape;567;p22"/>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68" name="Google Shape;568;p22"/>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69" name="Google Shape;569;p22"/>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0" name="Google Shape;570;p22"/>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1" name="Google Shape;571;p22"/>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2" name="Google Shape;572;p22"/>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3" name="Google Shape;573;p22"/>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4" name="Google Shape;574;p22"/>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5" name="Google Shape;575;p22"/>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6" name="Google Shape;576;p22"/>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77" name="Google Shape;577;p22"/>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rgbClr val="B1AB92">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578" name="Google Shape;578;p22"/>
          <p:cNvGrpSpPr/>
          <p:nvPr/>
        </p:nvGrpSpPr>
        <p:grpSpPr>
          <a:xfrm>
            <a:off x="27224" y="-786"/>
            <a:ext cx="2356675" cy="6854040"/>
            <a:chOff x="6627813" y="194833"/>
            <a:chExt cx="1952625" cy="5678918"/>
          </a:xfrm>
        </p:grpSpPr>
        <p:sp>
          <p:nvSpPr>
            <p:cNvPr id="579" name="Google Shape;579;p22"/>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0" name="Google Shape;580;p22"/>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1" name="Google Shape;581;p22"/>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2" name="Google Shape;582;p22"/>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3" name="Google Shape;583;p22"/>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4" name="Google Shape;584;p22"/>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5" name="Google Shape;585;p22"/>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6" name="Google Shape;586;p22"/>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7" name="Google Shape;587;p22"/>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8" name="Google Shape;588;p22"/>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89" name="Google Shape;589;p22"/>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90" name="Google Shape;590;p22"/>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rgbClr val="58533E">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591" name="Google Shape;591;p22"/>
          <p:cNvSpPr/>
          <p:nvPr/>
        </p:nvSpPr>
        <p:spPr>
          <a:xfrm flipH="1" rot="10800000">
            <a:off x="-159" y="3411452"/>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592" name="Google Shape;592;p22"/>
          <p:cNvSpPr txBox="1"/>
          <p:nvPr>
            <p:ph idx="1" type="body"/>
          </p:nvPr>
        </p:nvSpPr>
        <p:spPr>
          <a:xfrm>
            <a:off x="3373062" y="2133600"/>
            <a:ext cx="813155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s-AR"/>
              <a:t>ARTÍCULO 1846.- Responsabilidad. Excepto cláusula expresa, el endosante responde por el cumplimiento de la obligación incorporada. En cualquier caso, el endosante puede excluir total o parcialmente su responsabilidad mediante cláusula expresa.</a:t>
            </a:r>
            <a:endParaRPr/>
          </a:p>
          <a:p>
            <a:pPr indent="-342900" lvl="0" marL="342900" rtl="0" algn="l">
              <a:spcBef>
                <a:spcPts val="1000"/>
              </a:spcBef>
              <a:spcAft>
                <a:spcPts val="0"/>
              </a:spcAft>
              <a:buSzPts val="1800"/>
              <a:buChar char="🠶"/>
            </a:pPr>
            <a:r>
              <a:rPr lang="es-AR"/>
              <a:t>El principio general que se desprende de la disposición, es que todo endosante del documento responde por el cumplimiento de la obligación; más tal responsabilidad no quedará incluida en el régimen de las obligaciones solidarias</a:t>
            </a:r>
            <a:endParaRPr/>
          </a:p>
          <a:p>
            <a:pPr indent="-342900" lvl="0" marL="342900" rtl="0" algn="l">
              <a:spcBef>
                <a:spcPts val="1000"/>
              </a:spcBef>
              <a:spcAft>
                <a:spcPts val="0"/>
              </a:spcAft>
              <a:buSzPts val="1800"/>
              <a:buChar char="🠶"/>
            </a:pPr>
            <a:r>
              <a:rPr lang="es-AR"/>
              <a:t>el endosante puede excluirse de la obligación de responder mediante la inserción de una cláusula expresa “sin garantía”, “sin responsabilidad” o similar, que será solo válida respecto de él y no de otros firmantes de la letra por sus efectos liberatorios personales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96" name="Shape 596"/>
        <p:cNvGrpSpPr/>
        <p:nvPr/>
      </p:nvGrpSpPr>
      <p:grpSpPr>
        <a:xfrm>
          <a:off x="0" y="0"/>
          <a:ext cx="0" cy="0"/>
          <a:chOff x="0" y="0"/>
          <a:chExt cx="0" cy="0"/>
        </a:xfrm>
      </p:grpSpPr>
      <p:sp>
        <p:nvSpPr>
          <p:cNvPr id="597" name="Google Shape;597;p23"/>
          <p:cNvSpPr/>
          <p:nvPr/>
        </p:nvSpPr>
        <p:spPr>
          <a:xfrm>
            <a:off x="1" y="0"/>
            <a:ext cx="4654295"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598" name="Google Shape;598;p23"/>
          <p:cNvSpPr txBox="1"/>
          <p:nvPr>
            <p:ph type="title"/>
          </p:nvPr>
        </p:nvSpPr>
        <p:spPr>
          <a:xfrm>
            <a:off x="1433889" y="1059872"/>
            <a:ext cx="3012216" cy="48513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TITULOS NO CARTULARES</a:t>
            </a:r>
            <a:endParaRPr/>
          </a:p>
        </p:txBody>
      </p:sp>
      <p:sp>
        <p:nvSpPr>
          <p:cNvPr id="599" name="Google Shape;599;p23"/>
          <p:cNvSpPr/>
          <p:nvPr/>
        </p:nvSpPr>
        <p:spPr>
          <a:xfrm flipH="1" rot="10800000">
            <a:off x="-159" y="1149203"/>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00" name="Google Shape;600;p23"/>
          <p:cNvSpPr txBox="1"/>
          <p:nvPr>
            <p:ph idx="1" type="body"/>
          </p:nvPr>
        </p:nvSpPr>
        <p:spPr>
          <a:xfrm>
            <a:off x="5280368" y="1059872"/>
            <a:ext cx="6224244" cy="485135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400"/>
              <a:buChar char="🠶"/>
            </a:pPr>
            <a:r>
              <a:rPr lang="es-AR" sz="1400"/>
              <a:t>ARTÍCULO 1850.- Régimen. Cuando por disposición legal o cuando en el instrumento de creación se </a:t>
            </a:r>
            <a:r>
              <a:rPr b="1" lang="es-AR" sz="1400"/>
              <a:t>inserta una declaración expresa de voluntad de obligarse de manera incondicional e irrevocable, aunque la prestación no se incorpore a un documento, puede establecerse la circulación autónoma del derecho</a:t>
            </a:r>
            <a:r>
              <a:rPr lang="es-AR" sz="1400"/>
              <a:t>, con sujeción a lo dispuesto en el artículo 1820.</a:t>
            </a:r>
            <a:endParaRPr/>
          </a:p>
          <a:p>
            <a:pPr indent="-342900" lvl="0" marL="342900" rtl="0" algn="l">
              <a:lnSpc>
                <a:spcPct val="90000"/>
              </a:lnSpc>
              <a:spcBef>
                <a:spcPts val="1000"/>
              </a:spcBef>
              <a:spcAft>
                <a:spcPts val="0"/>
              </a:spcAft>
              <a:buSzPts val="1400"/>
              <a:buChar char="🠶"/>
            </a:pPr>
            <a:r>
              <a:rPr lang="es-AR" sz="1400"/>
              <a:t> La transmisión o constitución de derechos reales sobre el título valor, los gravámenes, secuestros, medidas precautorias y cualquier otra afectación de los derechos conferidos por el título valor deben efectuarse mediante asientos en registros especiales que debe llevar el emisor o, en nombre de éste, una caja de valores, una entidad financiera autorizada o un escribano de registro, momento a partir del cual la afectación produce efectos frente a terceros. </a:t>
            </a:r>
            <a:endParaRPr/>
          </a:p>
          <a:p>
            <a:pPr indent="-342900" lvl="0" marL="342900" rtl="0" algn="l">
              <a:lnSpc>
                <a:spcPct val="90000"/>
              </a:lnSpc>
              <a:spcBef>
                <a:spcPts val="1000"/>
              </a:spcBef>
              <a:spcAft>
                <a:spcPts val="0"/>
              </a:spcAft>
              <a:buSzPts val="1400"/>
              <a:buChar char="🠶"/>
            </a:pPr>
            <a:r>
              <a:rPr lang="es-AR" sz="1400"/>
              <a:t>A los efectos de determinar el alcance de los derechos emergentes del título valor así creado debe estarse al instrumento de creación, que debe tener fecha cierta. Si el título valor es admitido a la oferta pública es suficiente su inscripción ante la autoridad de contralor y en las bolsas o mercados en los que se negocia. Se aplica respecto del tercero que adquiera el título valor lo dispuesto por los artículos 1816 y 1819.</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604" name="Shape 604"/>
        <p:cNvGrpSpPr/>
        <p:nvPr/>
      </p:nvGrpSpPr>
      <p:grpSpPr>
        <a:xfrm>
          <a:off x="0" y="0"/>
          <a:ext cx="0" cy="0"/>
          <a:chOff x="0" y="0"/>
          <a:chExt cx="0" cy="0"/>
        </a:xfrm>
      </p:grpSpPr>
      <p:sp>
        <p:nvSpPr>
          <p:cNvPr id="605" name="Google Shape;605;p24"/>
          <p:cNvSpPr/>
          <p:nvPr/>
        </p:nvSpPr>
        <p:spPr>
          <a:xfrm>
            <a:off x="1" y="0"/>
            <a:ext cx="405907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606" name="Google Shape;606;p24"/>
          <p:cNvSpPr txBox="1"/>
          <p:nvPr>
            <p:ph type="title"/>
          </p:nvPr>
        </p:nvSpPr>
        <p:spPr>
          <a:xfrm>
            <a:off x="1259893" y="3101093"/>
            <a:ext cx="2454052" cy="30293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2700"/>
              <a:buFont typeface="Century Gothic"/>
              <a:buNone/>
            </a:pPr>
            <a:r>
              <a:rPr lang="es-AR" sz="2700">
                <a:solidFill>
                  <a:schemeClr val="lt1"/>
                </a:solidFill>
              </a:rPr>
              <a:t>TITULOS NO CARTULARES</a:t>
            </a:r>
            <a:endParaRPr/>
          </a:p>
        </p:txBody>
      </p:sp>
      <p:sp>
        <p:nvSpPr>
          <p:cNvPr id="607" name="Google Shape;607;p24"/>
          <p:cNvSpPr/>
          <p:nvPr/>
        </p:nvSpPr>
        <p:spPr>
          <a:xfrm flipH="1" rot="10800000">
            <a:off x="-159" y="3179901"/>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08" name="Google Shape;608;p24"/>
          <p:cNvSpPr/>
          <p:nvPr/>
        </p:nvSpPr>
        <p:spPr>
          <a:xfrm>
            <a:off x="4795736" y="0"/>
            <a:ext cx="7396264" cy="6858000"/>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609" name="Google Shape;609;p24"/>
          <p:cNvSpPr txBox="1"/>
          <p:nvPr>
            <p:ph idx="1" type="body"/>
          </p:nvPr>
        </p:nvSpPr>
        <p:spPr>
          <a:xfrm>
            <a:off x="4706578" y="589722"/>
            <a:ext cx="6798033" cy="5321500"/>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SzPts val="1300"/>
              <a:buChar char="🠶"/>
            </a:pPr>
            <a:r>
              <a:rPr lang="es-AR" sz="1300"/>
              <a:t>Las necesidades del tráfico mercantil tuvieron que ir adaptándose a los avances de la tecnología y de las comunicaciones</a:t>
            </a:r>
            <a:endParaRPr/>
          </a:p>
          <a:p>
            <a:pPr indent="-342900" lvl="0" marL="342900" rtl="0" algn="l">
              <a:lnSpc>
                <a:spcPct val="90000"/>
              </a:lnSpc>
              <a:spcBef>
                <a:spcPts val="1000"/>
              </a:spcBef>
              <a:spcAft>
                <a:spcPts val="0"/>
              </a:spcAft>
              <a:buSzPts val="1300"/>
              <a:buChar char="🠶"/>
            </a:pPr>
            <a:r>
              <a:rPr lang="es-AR" sz="1300"/>
              <a:t>Las empresas venden y ponen en circulación los títulos que emiten, que son adquiridos por personas ubicadas del otro lado del planeta, y ello ha llevado al fenómeno conocido como la “desmaterialización” de los títulos de crédito</a:t>
            </a:r>
            <a:endParaRPr/>
          </a:p>
          <a:p>
            <a:pPr indent="-342900" lvl="0" marL="342900" rtl="0" algn="l">
              <a:lnSpc>
                <a:spcPct val="90000"/>
              </a:lnSpc>
              <a:spcBef>
                <a:spcPts val="1000"/>
              </a:spcBef>
              <a:spcAft>
                <a:spcPts val="0"/>
              </a:spcAft>
              <a:buSzPts val="1300"/>
              <a:buChar char="🠶"/>
            </a:pPr>
            <a:r>
              <a:rPr lang="es-AR" sz="1300"/>
              <a:t>Estos títulos ya no requieren del sustrato material como medio para ejercer los derechos que le son propios ni impide que se continúen las ventajas derivadas de la autonomía en la circulación, marcando tendencia hacia la coexistencia en un primer momento para dar paso luego al reemplazo absoluto de los títulos cartulares. </a:t>
            </a:r>
            <a:endParaRPr/>
          </a:p>
          <a:p>
            <a:pPr indent="-342900" lvl="0" marL="342900" rtl="0" algn="l">
              <a:lnSpc>
                <a:spcPct val="90000"/>
              </a:lnSpc>
              <a:spcBef>
                <a:spcPts val="1000"/>
              </a:spcBef>
              <a:spcAft>
                <a:spcPts val="0"/>
              </a:spcAft>
              <a:buSzPts val="1300"/>
              <a:buChar char="🠶"/>
            </a:pPr>
            <a:r>
              <a:rPr lang="es-AR" sz="1300"/>
              <a:t>Desaparece la noción de posesión física del documento; el portador legitimado se hará a lo sumo un comprobante de apertura de la cuenta otorgado por el emisor o un certificado en términos del art. 1850 CCyC.</a:t>
            </a:r>
            <a:endParaRPr/>
          </a:p>
          <a:p>
            <a:pPr indent="-342900" lvl="0" marL="342900" rtl="0" algn="l">
              <a:lnSpc>
                <a:spcPct val="90000"/>
              </a:lnSpc>
              <a:spcBef>
                <a:spcPts val="1000"/>
              </a:spcBef>
              <a:spcAft>
                <a:spcPts val="0"/>
              </a:spcAft>
              <a:buSzPts val="1300"/>
              <a:buChar char="🠶"/>
            </a:pPr>
            <a:r>
              <a:rPr lang="es-AR" sz="1300"/>
              <a:t>El originante debe llevar un registro especial en el que se anoten las circunstancias atinentes a la circulación del título, constitución de derechos reales, gravámenes y medidas precautorias o cualquier otra afectación de sus derechos. </a:t>
            </a:r>
            <a:endParaRPr/>
          </a:p>
          <a:p>
            <a:pPr indent="-342900" lvl="0" marL="342900" rtl="0" algn="l">
              <a:lnSpc>
                <a:spcPct val="90000"/>
              </a:lnSpc>
              <a:spcBef>
                <a:spcPts val="1000"/>
              </a:spcBef>
              <a:spcAft>
                <a:spcPts val="0"/>
              </a:spcAft>
              <a:buSzPts val="1300"/>
              <a:buChar char="🠶"/>
            </a:pPr>
            <a:r>
              <a:rPr lang="es-AR" sz="1300"/>
              <a:t>El registro puede ser encargado a una caja de valores, a una entidad financiera autorizada o a un escribano, pero en cualquier caso es responsable el emisor por anomalías, fallas, ausencias, registros erróneos, etc., ya que la norma alude a la posibilidad de que los indicados intervengan exclusivamente en nombre de este</a:t>
            </a:r>
            <a:endParaRPr sz="1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613" name="Shape 613"/>
        <p:cNvGrpSpPr/>
        <p:nvPr/>
      </p:nvGrpSpPr>
      <p:grpSpPr>
        <a:xfrm>
          <a:off x="0" y="0"/>
          <a:ext cx="0" cy="0"/>
          <a:chOff x="0" y="0"/>
          <a:chExt cx="0" cy="0"/>
        </a:xfrm>
      </p:grpSpPr>
      <p:sp>
        <p:nvSpPr>
          <p:cNvPr id="614" name="Google Shape;614;p25"/>
          <p:cNvSpPr/>
          <p:nvPr/>
        </p:nvSpPr>
        <p:spPr>
          <a:xfrm>
            <a:off x="-7620" y="-1"/>
            <a:ext cx="12207240" cy="6858001"/>
          </a:xfrm>
          <a:prstGeom prst="rect">
            <a:avLst/>
          </a:prstGeom>
          <a:gradFill>
            <a:gsLst>
              <a:gs pos="0">
                <a:srgbClr val="FFFFFF"/>
              </a:gs>
              <a:gs pos="100000">
                <a:srgbClr val="DDE6C3"/>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615" name="Google Shape;615;p25"/>
          <p:cNvGrpSpPr/>
          <p:nvPr/>
        </p:nvGrpSpPr>
        <p:grpSpPr>
          <a:xfrm>
            <a:off x="4836169" y="228600"/>
            <a:ext cx="2851523" cy="6638625"/>
            <a:chOff x="2487613" y="285750"/>
            <a:chExt cx="2428875" cy="5654676"/>
          </a:xfrm>
        </p:grpSpPr>
        <p:sp>
          <p:nvSpPr>
            <p:cNvPr id="616" name="Google Shape;616;p25"/>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17" name="Google Shape;617;p25"/>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18" name="Google Shape;618;p25"/>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19" name="Google Shape;619;p25"/>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0" name="Google Shape;620;p25"/>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1" name="Google Shape;621;p25"/>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2" name="Google Shape;622;p25"/>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3" name="Google Shape;623;p25"/>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4" name="Google Shape;624;p25"/>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5" name="Google Shape;625;p25"/>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6" name="Google Shape;626;p25"/>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7" name="Google Shape;627;p25"/>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628" name="Google Shape;628;p25"/>
          <p:cNvGrpSpPr/>
          <p:nvPr/>
        </p:nvGrpSpPr>
        <p:grpSpPr>
          <a:xfrm>
            <a:off x="4677117" y="-786"/>
            <a:ext cx="2356675" cy="6854040"/>
            <a:chOff x="6627813" y="194833"/>
            <a:chExt cx="1952625" cy="5678918"/>
          </a:xfrm>
        </p:grpSpPr>
        <p:sp>
          <p:nvSpPr>
            <p:cNvPr id="629" name="Google Shape;629;p25"/>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0" name="Google Shape;630;p25"/>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1" name="Google Shape;631;p25"/>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2" name="Google Shape;632;p25"/>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3" name="Google Shape;633;p25"/>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4" name="Google Shape;634;p25"/>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5" name="Google Shape;635;p25"/>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6" name="Google Shape;636;p25"/>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7" name="Google Shape;637;p25"/>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8" name="Google Shape;638;p25"/>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9" name="Google Shape;639;p25"/>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40" name="Google Shape;640;p25"/>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641" name="Google Shape;641;p25"/>
          <p:cNvSpPr/>
          <p:nvPr/>
        </p:nvSpPr>
        <p:spPr>
          <a:xfrm>
            <a:off x="4645704"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642" name="Google Shape;642;p25"/>
          <p:cNvSpPr/>
          <p:nvPr/>
        </p:nvSpPr>
        <p:spPr>
          <a:xfrm flipH="1" rot="10800000">
            <a:off x="4645704"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descr="Escalones de entrada y columnas de un edificio majestuoso en la ciudad" id="643" name="Google Shape;643;p25"/>
          <p:cNvPicPr preferRelativeResize="0"/>
          <p:nvPr/>
        </p:nvPicPr>
        <p:blipFill rotWithShape="1">
          <a:blip r:embed="rId3">
            <a:alphaModFix/>
          </a:blip>
          <a:srcRect b="-2" l="26093" r="28441" t="0"/>
          <a:stretch/>
        </p:blipFill>
        <p:spPr>
          <a:xfrm>
            <a:off x="-1555" y="1731"/>
            <a:ext cx="4671091" cy="6858000"/>
          </a:xfrm>
          <a:prstGeom prst="rect">
            <a:avLst/>
          </a:prstGeom>
          <a:noFill/>
          <a:ln>
            <a:noFill/>
          </a:ln>
        </p:spPr>
      </p:pic>
      <p:sp>
        <p:nvSpPr>
          <p:cNvPr id="644" name="Google Shape;644;p25"/>
          <p:cNvSpPr txBox="1"/>
          <p:nvPr>
            <p:ph idx="1" type="body"/>
          </p:nvPr>
        </p:nvSpPr>
        <p:spPr>
          <a:xfrm>
            <a:off x="6438191" y="2133600"/>
            <a:ext cx="5066419" cy="377762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300"/>
              <a:buChar char="🠶"/>
            </a:pPr>
            <a:r>
              <a:rPr lang="es-AR" sz="1300"/>
              <a:t>ARTÍCULO 1820.- Libertad de creación. Cualquier persona puede crear y emitir títulos valores en los tipos y condiciones que elija. Se comprende en esta facultad la denominación del tipo o clase de título, su forma de circulación con arreglo a las leyes generales, sus garantías, rescates, plazos, su calidad de convertible o no en otra clase de título, derechos de los terceros titulares y demás regulaciones que hacen a la configuración de los derechos de las partes interesadas, que deben expresarse con claridad y no prestarse a confusión con el tipo, denominación y condiciones de los títulos valores especialmente previstos en la legislación vigente. </a:t>
            </a:r>
            <a:r>
              <a:rPr b="1" lang="es-AR" sz="1300"/>
              <a:t>Sólo pueden emitirse títulos valores abstractos no regulados por la ley </a:t>
            </a:r>
            <a:r>
              <a:rPr lang="es-AR" sz="1300"/>
              <a:t>cuando se destinan a ofertas públicas, con el cumplimiento de los recaudos de la legislación específica; y también cuando los emisores son entidades financieras, de seguros o fiduciarios financieros registrados ante el organismo de contralor de los mercados de valores.</a:t>
            </a:r>
            <a:endParaRPr sz="13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648" name="Shape 648"/>
        <p:cNvGrpSpPr/>
        <p:nvPr/>
      </p:nvGrpSpPr>
      <p:grpSpPr>
        <a:xfrm>
          <a:off x="0" y="0"/>
          <a:ext cx="0" cy="0"/>
          <a:chOff x="0" y="0"/>
          <a:chExt cx="0" cy="0"/>
        </a:xfrm>
      </p:grpSpPr>
      <p:sp>
        <p:nvSpPr>
          <p:cNvPr id="649" name="Google Shape;649;p26"/>
          <p:cNvSpPr/>
          <p:nvPr/>
        </p:nvSpPr>
        <p:spPr>
          <a:xfrm>
            <a:off x="1" y="0"/>
            <a:ext cx="4654295"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650" name="Google Shape;650;p26"/>
          <p:cNvSpPr txBox="1"/>
          <p:nvPr>
            <p:ph type="title"/>
          </p:nvPr>
        </p:nvSpPr>
        <p:spPr>
          <a:xfrm>
            <a:off x="1433889" y="1059872"/>
            <a:ext cx="3012216" cy="48513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Amplitud creativa</a:t>
            </a:r>
            <a:endParaRPr/>
          </a:p>
        </p:txBody>
      </p:sp>
      <p:sp>
        <p:nvSpPr>
          <p:cNvPr id="651" name="Google Shape;651;p26"/>
          <p:cNvSpPr/>
          <p:nvPr/>
        </p:nvSpPr>
        <p:spPr>
          <a:xfrm flipH="1" rot="10800000">
            <a:off x="-159" y="1149203"/>
            <a:ext cx="1098194" cy="514066"/>
          </a:xfrm>
          <a:custGeom>
            <a:rect b="b" l="l" r="r" t="t"/>
            <a:pathLst>
              <a:path extrusionOk="0" h="10168" w="6883">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52" name="Google Shape;652;p26"/>
          <p:cNvSpPr txBox="1"/>
          <p:nvPr>
            <p:ph idx="1" type="body"/>
          </p:nvPr>
        </p:nvSpPr>
        <p:spPr>
          <a:xfrm>
            <a:off x="5280368" y="1059872"/>
            <a:ext cx="6224244" cy="48513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s-AR"/>
              <a:t>límite único el impuesto por la ley, el orden público, la moral y las buenas costumbres, de conformidad con lo que señala el art. 958 CCyC</a:t>
            </a:r>
            <a:endParaRPr/>
          </a:p>
          <a:p>
            <a:pPr indent="-342900" lvl="0" marL="342900" rtl="0" algn="l">
              <a:spcBef>
                <a:spcPts val="1000"/>
              </a:spcBef>
              <a:spcAft>
                <a:spcPts val="0"/>
              </a:spcAft>
              <a:buSzPts val="1800"/>
              <a:buChar char="🠶"/>
            </a:pPr>
            <a:r>
              <a:rPr lang="es-AR"/>
              <a:t>se enmarca dentro de la impronta de la autonomía de la voluntad</a:t>
            </a:r>
            <a:endParaRPr/>
          </a:p>
          <a:p>
            <a:pPr indent="-342900" lvl="0" marL="342900" rtl="0" algn="l">
              <a:spcBef>
                <a:spcPts val="1000"/>
              </a:spcBef>
              <a:spcAft>
                <a:spcPts val="0"/>
              </a:spcAft>
              <a:buSzPts val="1800"/>
              <a:buChar char="🠶"/>
            </a:pPr>
            <a:r>
              <a:rPr lang="es-AR"/>
              <a:t>si se trata de títulos abstractos, solo se autoriza la emisión de aquellos regulados por ley salvo </a:t>
            </a:r>
            <a:endParaRPr/>
          </a:p>
          <a:p>
            <a:pPr indent="-285750" lvl="1" marL="742950" rtl="0" algn="l">
              <a:spcBef>
                <a:spcPts val="1000"/>
              </a:spcBef>
              <a:spcAft>
                <a:spcPts val="0"/>
              </a:spcAft>
              <a:buSzPts val="1600"/>
              <a:buChar char="🠶"/>
            </a:pPr>
            <a:r>
              <a:rPr lang="es-AR"/>
              <a:t>el caso de oferta pública o </a:t>
            </a:r>
            <a:endParaRPr/>
          </a:p>
          <a:p>
            <a:pPr indent="-285750" lvl="1" marL="742950" rtl="0" algn="l">
              <a:spcBef>
                <a:spcPts val="1000"/>
              </a:spcBef>
              <a:spcAft>
                <a:spcPts val="0"/>
              </a:spcAft>
              <a:buSzPts val="1600"/>
              <a:buChar char="🠶"/>
            </a:pPr>
            <a:r>
              <a:rPr lang="es-AR"/>
              <a:t>cuando los emisores sean entidades financieras o de seguros, </a:t>
            </a:r>
            <a:endParaRPr/>
          </a:p>
          <a:p>
            <a:pPr indent="-285750" lvl="1" marL="742950" rtl="0" algn="l">
              <a:spcBef>
                <a:spcPts val="1000"/>
              </a:spcBef>
              <a:spcAft>
                <a:spcPts val="0"/>
              </a:spcAft>
              <a:buSzPts val="1600"/>
              <a:buChar char="🠶"/>
            </a:pPr>
            <a:r>
              <a:rPr lang="es-AR"/>
              <a:t>o fiduciarios financieros registrados ante el organismo de control. </a:t>
            </a:r>
            <a:endParaRPr/>
          </a:p>
          <a:p>
            <a:pPr indent="-285750" lvl="1" marL="742950" rtl="0" algn="l">
              <a:spcBef>
                <a:spcPts val="1000"/>
              </a:spcBef>
              <a:spcAft>
                <a:spcPts val="0"/>
              </a:spcAft>
              <a:buSzPts val="1600"/>
              <a:buChar char="🠶"/>
            </a:pPr>
            <a:r>
              <a:rPr b="1" lang="es-AR"/>
              <a:t>De manera tal que el margen librado a la posibilidad de creación, se halla muy acotado</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Espiral">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spiral">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2017-09-06T14:07:54Z</dcterms:created>
  <dc:creator>Maximiliano Romei</dc:creator>
</cp:coreProperties>
</file>