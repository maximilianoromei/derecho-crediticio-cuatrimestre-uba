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6858000" cx="12192000"/>
  <p:notesSz cx="6858000" cy="9144000"/>
  <p:embeddedFontLst>
    <p:embeddedFont>
      <p:font typeface="Gill Sans"/>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j/vD/eJsw6t9vcb6av/bxc5Bdj8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GillSans-regular.fntdata"/><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customschemas.google.com/relationships/presentationmetadata" Target="metadata"/><Relationship Id="rId14" Type="http://schemas.openxmlformats.org/officeDocument/2006/relationships/slide" Target="slides/slide10.xml"/><Relationship Id="rId36" Type="http://schemas.openxmlformats.org/officeDocument/2006/relationships/font" Target="fonts/GillSans-bold.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5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5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5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y objetos">
  <p:cSld name="1_Título y objetos">
    <p:spTree>
      <p:nvGrpSpPr>
        <p:cNvPr id="23" name="Shape 23"/>
        <p:cNvGrpSpPr/>
        <p:nvPr/>
      </p:nvGrpSpPr>
      <p:grpSpPr>
        <a:xfrm>
          <a:off x="0" y="0"/>
          <a:ext cx="0" cy="0"/>
          <a:chOff x="0" y="0"/>
          <a:chExt cx="0" cy="0"/>
        </a:xfrm>
      </p:grpSpPr>
      <p:pic>
        <p:nvPicPr>
          <p:cNvPr descr="Droplets-HD-Content-R1d.png" id="24" name="Google Shape;24;p6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5" name="Google Shape;25;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61"/>
          <p:cNvSpPr txBox="1"/>
          <p:nvPr>
            <p:ph idx="1" type="body"/>
          </p:nvPr>
        </p:nvSpPr>
        <p:spPr>
          <a:xfrm>
            <a:off x="913774" y="2367092"/>
            <a:ext cx="10363826" cy="34241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0" name="Shape 30"/>
        <p:cNvGrpSpPr/>
        <p:nvPr/>
      </p:nvGrpSpPr>
      <p:grpSpPr>
        <a:xfrm>
          <a:off x="0" y="0"/>
          <a:ext cx="0" cy="0"/>
          <a:chOff x="0" y="0"/>
          <a:chExt cx="0" cy="0"/>
        </a:xfrm>
      </p:grpSpPr>
      <p:sp>
        <p:nvSpPr>
          <p:cNvPr id="31" name="Google Shape;31;p6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6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3" name="Google Shape;33;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6" name="Shape 36"/>
        <p:cNvGrpSpPr/>
        <p:nvPr/>
      </p:nvGrpSpPr>
      <p:grpSpPr>
        <a:xfrm>
          <a:off x="0" y="0"/>
          <a:ext cx="0" cy="0"/>
          <a:chOff x="0" y="0"/>
          <a:chExt cx="0" cy="0"/>
        </a:xfrm>
      </p:grpSpPr>
      <p:sp>
        <p:nvSpPr>
          <p:cNvPr id="37" name="Google Shape;37;p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6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3" name="Shape 43"/>
        <p:cNvGrpSpPr/>
        <p:nvPr/>
      </p:nvGrpSpPr>
      <p:grpSpPr>
        <a:xfrm>
          <a:off x="0" y="0"/>
          <a:ext cx="0" cy="0"/>
          <a:chOff x="0" y="0"/>
          <a:chExt cx="0" cy="0"/>
        </a:xfrm>
      </p:grpSpPr>
      <p:sp>
        <p:nvSpPr>
          <p:cNvPr id="44" name="Google Shape;44;p6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6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6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6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6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2" name="Shape 52"/>
        <p:cNvGrpSpPr/>
        <p:nvPr/>
      </p:nvGrpSpPr>
      <p:grpSpPr>
        <a:xfrm>
          <a:off x="0" y="0"/>
          <a:ext cx="0" cy="0"/>
          <a:chOff x="0" y="0"/>
          <a:chExt cx="0" cy="0"/>
        </a:xfrm>
      </p:grpSpPr>
      <p:sp>
        <p:nvSpPr>
          <p:cNvPr id="53" name="Google Shape;53;p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7" name="Shape 57"/>
        <p:cNvGrpSpPr/>
        <p:nvPr/>
      </p:nvGrpSpPr>
      <p:grpSpPr>
        <a:xfrm>
          <a:off x="0" y="0"/>
          <a:ext cx="0" cy="0"/>
          <a:chOff x="0" y="0"/>
          <a:chExt cx="0" cy="0"/>
        </a:xfrm>
      </p:grpSpPr>
      <p:sp>
        <p:nvSpPr>
          <p:cNvPr id="58" name="Google Shape;58;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1" name="Shape 61"/>
        <p:cNvGrpSpPr/>
        <p:nvPr/>
      </p:nvGrpSpPr>
      <p:grpSpPr>
        <a:xfrm>
          <a:off x="0" y="0"/>
          <a:ext cx="0" cy="0"/>
          <a:chOff x="0" y="0"/>
          <a:chExt cx="0" cy="0"/>
        </a:xfrm>
      </p:grpSpPr>
      <p:sp>
        <p:nvSpPr>
          <p:cNvPr id="62" name="Google Shape;62;p6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6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4" name="Google Shape;64;p6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8" name="Shape 68"/>
        <p:cNvGrpSpPr/>
        <p:nvPr/>
      </p:nvGrpSpPr>
      <p:grpSpPr>
        <a:xfrm>
          <a:off x="0" y="0"/>
          <a:ext cx="0" cy="0"/>
          <a:chOff x="0" y="0"/>
          <a:chExt cx="0" cy="0"/>
        </a:xfrm>
      </p:grpSpPr>
      <p:sp>
        <p:nvSpPr>
          <p:cNvPr id="69" name="Google Shape;69;p6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68"/>
          <p:cNvSpPr/>
          <p:nvPr>
            <p:ph idx="2" type="pic"/>
          </p:nvPr>
        </p:nvSpPr>
        <p:spPr>
          <a:xfrm>
            <a:off x="5183188" y="987425"/>
            <a:ext cx="6172200" cy="4873625"/>
          </a:xfrm>
          <a:prstGeom prst="rect">
            <a:avLst/>
          </a:prstGeom>
          <a:noFill/>
          <a:ln>
            <a:noFill/>
          </a:ln>
        </p:spPr>
      </p:sp>
      <p:sp>
        <p:nvSpPr>
          <p:cNvPr id="71" name="Google Shape;71;p6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5" name="Shape 75"/>
        <p:cNvGrpSpPr/>
        <p:nvPr/>
      </p:nvGrpSpPr>
      <p:grpSpPr>
        <a:xfrm>
          <a:off x="0" y="0"/>
          <a:ext cx="0" cy="0"/>
          <a:chOff x="0" y="0"/>
          <a:chExt cx="0" cy="0"/>
        </a:xfrm>
      </p:grpSpPr>
      <p:sp>
        <p:nvSpPr>
          <p:cNvPr id="76" name="Google Shape;76;p6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6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1" name="Shape 81"/>
        <p:cNvGrpSpPr/>
        <p:nvPr/>
      </p:nvGrpSpPr>
      <p:grpSpPr>
        <a:xfrm>
          <a:off x="0" y="0"/>
          <a:ext cx="0" cy="0"/>
          <a:chOff x="0" y="0"/>
          <a:chExt cx="0" cy="0"/>
        </a:xfrm>
      </p:grpSpPr>
      <p:sp>
        <p:nvSpPr>
          <p:cNvPr id="82" name="Google Shape;82;p7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7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5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sp>
        <p:nvSpPr>
          <p:cNvPr id="91" name="Google Shape;91;p26"/>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2" name="Google Shape;92;p26"/>
          <p:cNvSpPr/>
          <p:nvPr/>
        </p:nvSpPr>
        <p:spPr>
          <a:xfrm>
            <a:off x="0" y="0"/>
            <a:ext cx="12192000"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3" name="Google Shape;93;p26"/>
          <p:cNvSpPr/>
          <p:nvPr/>
        </p:nvSpPr>
        <p:spPr>
          <a:xfrm>
            <a:off x="0" y="0"/>
            <a:ext cx="12192000"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 name="Google Shape;94;p26"/>
          <p:cNvSpPr/>
          <p:nvPr/>
        </p:nvSpPr>
        <p:spPr>
          <a:xfrm>
            <a:off x="2815929" y="148929"/>
            <a:ext cx="6560142" cy="6560142"/>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 name="Google Shape;95;p26"/>
          <p:cNvSpPr txBox="1"/>
          <p:nvPr>
            <p:ph type="ctrTitle"/>
          </p:nvPr>
        </p:nvSpPr>
        <p:spPr>
          <a:xfrm>
            <a:off x="3315031" y="1380754"/>
            <a:ext cx="5561938" cy="2513516"/>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Concurso por agrupamiento</a:t>
            </a:r>
            <a:endParaRPr/>
          </a:p>
        </p:txBody>
      </p:sp>
      <p:sp>
        <p:nvSpPr>
          <p:cNvPr id="96" name="Google Shape;96;p26"/>
          <p:cNvSpPr txBox="1"/>
          <p:nvPr>
            <p:ph idx="1" type="subTitle"/>
          </p:nvPr>
        </p:nvSpPr>
        <p:spPr>
          <a:xfrm>
            <a:off x="3315031" y="4076802"/>
            <a:ext cx="5561938" cy="1534587"/>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Arts. 65 al 68 </a:t>
            </a:r>
            <a:endParaRPr/>
          </a:p>
        </p:txBody>
      </p:sp>
      <p:sp>
        <p:nvSpPr>
          <p:cNvPr id="97" name="Google Shape;97;p26"/>
          <p:cNvSpPr/>
          <p:nvPr/>
        </p:nvSpPr>
        <p:spPr>
          <a:xfrm flipH="1" rot="-1577571">
            <a:off x="2494119" y="6170"/>
            <a:ext cx="6816262" cy="6816262"/>
          </a:xfrm>
          <a:prstGeom prst="arc">
            <a:avLst>
              <a:gd fmla="val 16200000" name="adj1"/>
              <a:gd fmla="val 20093138" name="adj2"/>
            </a:avLst>
          </a:prstGeom>
          <a:noFill/>
          <a:ln cap="rnd" cmpd="sng" w="127000">
            <a:solidFill>
              <a:schemeClr val="accent4">
                <a:alpha val="94901"/>
              </a:schemeClr>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8" name="Google Shape;98;p26"/>
          <p:cNvSpPr/>
          <p:nvPr/>
        </p:nvSpPr>
        <p:spPr>
          <a:xfrm>
            <a:off x="8200995" y="5310973"/>
            <a:ext cx="705948" cy="686798"/>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7"/>
          <p:cNvSpPr txBox="1"/>
          <p:nvPr>
            <p:ph type="title"/>
          </p:nvPr>
        </p:nvSpPr>
        <p:spPr>
          <a:xfrm>
            <a:off x="913775" y="618518"/>
            <a:ext cx="10364451" cy="87777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Peticion </a:t>
            </a:r>
            <a:endParaRPr/>
          </a:p>
        </p:txBody>
      </p:sp>
      <p:sp>
        <p:nvSpPr>
          <p:cNvPr id="104" name="Google Shape;104;p27"/>
          <p:cNvSpPr txBox="1"/>
          <p:nvPr>
            <p:ph idx="1" type="body"/>
          </p:nvPr>
        </p:nvSpPr>
        <p:spPr>
          <a:xfrm>
            <a:off x="913774" y="1496292"/>
            <a:ext cx="10363826" cy="429490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Conjunto económico</a:t>
            </a:r>
            <a:endParaRPr/>
          </a:p>
          <a:p>
            <a:pPr indent="-228600" lvl="1" marL="685800" rtl="0" algn="l">
              <a:lnSpc>
                <a:spcPct val="90000"/>
              </a:lnSpc>
              <a:spcBef>
                <a:spcPts val="500"/>
              </a:spcBef>
              <a:spcAft>
                <a:spcPts val="0"/>
              </a:spcAft>
              <a:buClr>
                <a:schemeClr val="dk1"/>
              </a:buClr>
              <a:buSzPts val="2400"/>
              <a:buChar char="•"/>
            </a:pPr>
            <a:r>
              <a:rPr lang="en-US"/>
              <a:t>Al menos 1 de los concursados en cesación de pagos</a:t>
            </a:r>
            <a:endParaRPr/>
          </a:p>
          <a:p>
            <a:pPr indent="-228600" lvl="1" marL="685800" rtl="0" algn="l">
              <a:lnSpc>
                <a:spcPct val="90000"/>
              </a:lnSpc>
              <a:spcBef>
                <a:spcPts val="500"/>
              </a:spcBef>
              <a:spcAft>
                <a:spcPts val="0"/>
              </a:spcAft>
              <a:buClr>
                <a:schemeClr val="dk1"/>
              </a:buClr>
              <a:buSzPts val="2400"/>
              <a:buChar char="•"/>
            </a:pPr>
            <a:r>
              <a:rPr lang="en-US"/>
              <a:t>Requisitos</a:t>
            </a:r>
            <a:endParaRPr/>
          </a:p>
          <a:p>
            <a:pPr indent="-228600" lvl="2" marL="1143000" rtl="0" algn="l">
              <a:lnSpc>
                <a:spcPct val="90000"/>
              </a:lnSpc>
              <a:spcBef>
                <a:spcPts val="500"/>
              </a:spcBef>
              <a:spcAft>
                <a:spcPts val="0"/>
              </a:spcAft>
              <a:buClr>
                <a:schemeClr val="dk1"/>
              </a:buClr>
              <a:buSzPts val="2000"/>
              <a:buChar char="•"/>
            </a:pPr>
            <a:r>
              <a:rPr lang="en-US"/>
              <a:t>Permanencia – preservar actividad</a:t>
            </a:r>
            <a:endParaRPr/>
          </a:p>
          <a:p>
            <a:pPr indent="-228600" lvl="2" marL="1143000" rtl="0" algn="l">
              <a:lnSpc>
                <a:spcPct val="90000"/>
              </a:lnSpc>
              <a:spcBef>
                <a:spcPts val="500"/>
              </a:spcBef>
              <a:spcAft>
                <a:spcPts val="0"/>
              </a:spcAft>
              <a:buClr>
                <a:schemeClr val="dk1"/>
              </a:buClr>
              <a:buSzPts val="2000"/>
              <a:buChar char="•"/>
            </a:pPr>
            <a:r>
              <a:rPr lang="en-US"/>
              <a:t>Exteriorización</a:t>
            </a:r>
            <a:endParaRPr/>
          </a:p>
          <a:p>
            <a:pPr indent="0" lvl="2" marL="914400" rtl="0" algn="l">
              <a:lnSpc>
                <a:spcPct val="90000"/>
              </a:lnSpc>
              <a:spcBef>
                <a:spcPts val="500"/>
              </a:spcBef>
              <a:spcAft>
                <a:spcPts val="0"/>
              </a:spcAft>
              <a:buClr>
                <a:schemeClr val="dk1"/>
              </a:buClr>
              <a:buSzPts val="2000"/>
              <a:buNone/>
            </a:pPr>
            <a:r>
              <a:t/>
            </a:r>
            <a:endParaRPr/>
          </a:p>
          <a:p>
            <a:pPr indent="-228600" lvl="2" marL="1143000" rtl="0" algn="l">
              <a:lnSpc>
                <a:spcPct val="90000"/>
              </a:lnSpc>
              <a:spcBef>
                <a:spcPts val="500"/>
              </a:spcBef>
              <a:spcAft>
                <a:spcPts val="0"/>
              </a:spcAft>
              <a:buClr>
                <a:schemeClr val="dk1"/>
              </a:buClr>
              <a:buSzPts val="2000"/>
              <a:buChar char="•"/>
            </a:pPr>
            <a:r>
              <a:rPr lang="en-US"/>
              <a:t>Concursamiento de todos los integrantes</a:t>
            </a:r>
            <a:endParaRPr/>
          </a:p>
          <a:p>
            <a:pPr indent="-228600" lvl="3" marL="1600200" rtl="0" algn="l">
              <a:lnSpc>
                <a:spcPct val="90000"/>
              </a:lnSpc>
              <a:spcBef>
                <a:spcPts val="500"/>
              </a:spcBef>
              <a:spcAft>
                <a:spcPts val="0"/>
              </a:spcAft>
              <a:buClr>
                <a:schemeClr val="dk1"/>
              </a:buClr>
              <a:buSzPts val="1800"/>
              <a:buChar char="•"/>
            </a:pPr>
            <a:r>
              <a:rPr lang="en-US"/>
              <a:t>Situaciones</a:t>
            </a:r>
            <a:endParaRPr/>
          </a:p>
          <a:p>
            <a:pPr indent="-114300" lvl="3" marL="1600200" rtl="0" algn="l">
              <a:lnSpc>
                <a:spcPct val="90000"/>
              </a:lnSpc>
              <a:spcBef>
                <a:spcPts val="500"/>
              </a:spcBef>
              <a:spcAft>
                <a:spcPts val="0"/>
              </a:spcAft>
              <a:buClr>
                <a:schemeClr val="dk1"/>
              </a:buClr>
              <a:buSzPts val="1800"/>
              <a:buNone/>
            </a:pPr>
            <a:r>
              <a:t/>
            </a:r>
            <a:endParaRPr/>
          </a:p>
          <a:p>
            <a:pPr indent="-228600" lvl="3" marL="1600200" rtl="0" algn="l">
              <a:lnSpc>
                <a:spcPct val="90000"/>
              </a:lnSpc>
              <a:spcBef>
                <a:spcPts val="500"/>
              </a:spcBef>
              <a:spcAft>
                <a:spcPts val="0"/>
              </a:spcAft>
              <a:buClr>
                <a:schemeClr val="dk1"/>
              </a:buClr>
              <a:buSzPts val="1800"/>
              <a:buChar char="•"/>
            </a:pPr>
            <a:r>
              <a:rPr lang="en-US"/>
              <a:t>En caso de desisitimiento de 1. concursamiento individual. </a:t>
            </a:r>
            <a:endParaRPr/>
          </a:p>
          <a:p>
            <a:pPr indent="0" lvl="2" marL="914400" rtl="0" algn="l">
              <a:lnSpc>
                <a:spcPct val="90000"/>
              </a:lnSpc>
              <a:spcBef>
                <a:spcPts val="500"/>
              </a:spcBef>
              <a:spcAft>
                <a:spcPts val="0"/>
              </a:spcAft>
              <a:buClr>
                <a:schemeClr val="dk1"/>
              </a:buClr>
              <a:buSzPts val="2000"/>
              <a:buNone/>
            </a:pPr>
            <a:r>
              <a:t/>
            </a:r>
            <a:endParaRPr/>
          </a:p>
        </p:txBody>
      </p:sp>
      <p:sp>
        <p:nvSpPr>
          <p:cNvPr id="105" name="Google Shape;105;p27"/>
          <p:cNvSpPr txBox="1"/>
          <p:nvPr/>
        </p:nvSpPr>
        <p:spPr>
          <a:xfrm>
            <a:off x="3853578" y="4036712"/>
            <a:ext cx="2861953" cy="55399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000"/>
              <a:buFont typeface="Arial"/>
              <a:buChar char="•"/>
            </a:pPr>
            <a:r>
              <a:rPr lang="en-US" sz="1000">
                <a:solidFill>
                  <a:schemeClr val="dk1"/>
                </a:solidFill>
                <a:latin typeface="Calibri"/>
                <a:ea typeface="Calibri"/>
                <a:cs typeface="Calibri"/>
                <a:sym typeface="Calibri"/>
              </a:rPr>
              <a:t>Se presenten todos.</a:t>
            </a:r>
            <a:endParaRPr/>
          </a:p>
          <a:p>
            <a:pPr indent="-285750" lvl="0" marL="285750" marR="0" rtl="0" algn="l">
              <a:spcBef>
                <a:spcPts val="0"/>
              </a:spcBef>
              <a:spcAft>
                <a:spcPts val="0"/>
              </a:spcAft>
              <a:buClr>
                <a:schemeClr val="dk1"/>
              </a:buClr>
              <a:buSzPts val="1000"/>
              <a:buFont typeface="Arial"/>
              <a:buChar char="•"/>
            </a:pPr>
            <a:r>
              <a:rPr lang="en-US" sz="1000">
                <a:solidFill>
                  <a:schemeClr val="dk1"/>
                </a:solidFill>
                <a:latin typeface="Calibri"/>
                <a:ea typeface="Calibri"/>
                <a:cs typeface="Calibri"/>
                <a:sym typeface="Calibri"/>
              </a:rPr>
              <a:t>Se presenten algunos. No detectado por juez</a:t>
            </a:r>
            <a:endParaRPr/>
          </a:p>
          <a:p>
            <a:pPr indent="-285750" lvl="0" marL="285750" marR="0" rtl="0" algn="l">
              <a:spcBef>
                <a:spcPts val="0"/>
              </a:spcBef>
              <a:spcAft>
                <a:spcPts val="0"/>
              </a:spcAft>
              <a:buClr>
                <a:schemeClr val="dk1"/>
              </a:buClr>
              <a:buSzPts val="1000"/>
              <a:buFont typeface="Arial"/>
              <a:buChar char="•"/>
            </a:pPr>
            <a:r>
              <a:rPr lang="en-US" sz="1000">
                <a:solidFill>
                  <a:schemeClr val="dk1"/>
                </a:solidFill>
                <a:latin typeface="Calibri"/>
                <a:ea typeface="Calibri"/>
                <a:cs typeface="Calibri"/>
                <a:sym typeface="Calibri"/>
              </a:rPr>
              <a:t>Se presenten todos. Detectado por juez </a:t>
            </a:r>
            <a:endParaRPr sz="1000">
              <a:solidFill>
                <a:schemeClr val="dk1"/>
              </a:solidFill>
              <a:latin typeface="Calibri"/>
              <a:ea typeface="Calibri"/>
              <a:cs typeface="Calibri"/>
              <a:sym typeface="Calibri"/>
            </a:endParaRPr>
          </a:p>
        </p:txBody>
      </p:sp>
      <p:sp>
        <p:nvSpPr>
          <p:cNvPr id="106" name="Google Shape;106;p27"/>
          <p:cNvSpPr/>
          <p:nvPr/>
        </p:nvSpPr>
        <p:spPr>
          <a:xfrm>
            <a:off x="3791793" y="4096986"/>
            <a:ext cx="45719" cy="433450"/>
          </a:xfrm>
          <a:prstGeom prst="lef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27"/>
          <p:cNvSpPr txBox="1"/>
          <p:nvPr/>
        </p:nvSpPr>
        <p:spPr>
          <a:xfrm>
            <a:off x="3921860" y="3043827"/>
            <a:ext cx="2725387" cy="553998"/>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000"/>
              <a:buFont typeface="Arial"/>
              <a:buChar char="•"/>
            </a:pPr>
            <a:r>
              <a:rPr lang="en-US" sz="1000">
                <a:solidFill>
                  <a:schemeClr val="dk1"/>
                </a:solidFill>
                <a:latin typeface="Calibri"/>
                <a:ea typeface="Calibri"/>
                <a:cs typeface="Calibri"/>
                <a:sym typeface="Calibri"/>
              </a:rPr>
              <a:t>Estados Contables (Ley).</a:t>
            </a:r>
            <a:endParaRPr/>
          </a:p>
          <a:p>
            <a:pPr indent="-171450" lvl="0" marL="171450" marR="0" rtl="0" algn="l">
              <a:spcBef>
                <a:spcPts val="0"/>
              </a:spcBef>
              <a:spcAft>
                <a:spcPts val="0"/>
              </a:spcAft>
              <a:buClr>
                <a:schemeClr val="dk1"/>
              </a:buClr>
              <a:buSzPts val="1000"/>
              <a:buFont typeface="Arial"/>
              <a:buChar char="•"/>
            </a:pPr>
            <a:r>
              <a:rPr lang="en-US" sz="1000">
                <a:solidFill>
                  <a:schemeClr val="dk1"/>
                </a:solidFill>
                <a:latin typeface="Calibri"/>
                <a:ea typeface="Calibri"/>
                <a:cs typeface="Calibri"/>
                <a:sym typeface="Calibri"/>
              </a:rPr>
              <a:t>Inscripción Registral (UTE).</a:t>
            </a:r>
            <a:endParaRPr/>
          </a:p>
          <a:p>
            <a:pPr indent="-171450" lvl="0" marL="171450" marR="0" rtl="0" algn="l">
              <a:spcBef>
                <a:spcPts val="0"/>
              </a:spcBef>
              <a:spcAft>
                <a:spcPts val="0"/>
              </a:spcAft>
              <a:buClr>
                <a:schemeClr val="dk1"/>
              </a:buClr>
              <a:buSzPts val="1000"/>
              <a:buFont typeface="Arial"/>
              <a:buChar char="•"/>
            </a:pPr>
            <a:r>
              <a:rPr lang="en-US" sz="1000">
                <a:solidFill>
                  <a:schemeClr val="dk1"/>
                </a:solidFill>
                <a:latin typeface="Calibri"/>
                <a:ea typeface="Calibri"/>
                <a:cs typeface="Calibri"/>
                <a:sym typeface="Calibri"/>
              </a:rPr>
              <a:t>Publicidad Ad Hoc. </a:t>
            </a:r>
            <a:endParaRPr sz="1000">
              <a:solidFill>
                <a:schemeClr val="dk1"/>
              </a:solidFill>
              <a:latin typeface="Calibri"/>
              <a:ea typeface="Calibri"/>
              <a:cs typeface="Calibri"/>
              <a:sym typeface="Calibri"/>
            </a:endParaRPr>
          </a:p>
        </p:txBody>
      </p:sp>
      <p:sp>
        <p:nvSpPr>
          <p:cNvPr id="108" name="Google Shape;108;p27"/>
          <p:cNvSpPr/>
          <p:nvPr/>
        </p:nvSpPr>
        <p:spPr>
          <a:xfrm>
            <a:off x="3791793" y="3075709"/>
            <a:ext cx="45719" cy="421574"/>
          </a:xfrm>
          <a:prstGeom prst="lef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 name="Shape 112"/>
        <p:cNvGrpSpPr/>
        <p:nvPr/>
      </p:nvGrpSpPr>
      <p:grpSpPr>
        <a:xfrm>
          <a:off x="0" y="0"/>
          <a:ext cx="0" cy="0"/>
          <a:chOff x="0" y="0"/>
          <a:chExt cx="0" cy="0"/>
        </a:xfrm>
      </p:grpSpPr>
      <p:sp>
        <p:nvSpPr>
          <p:cNvPr id="113" name="Google Shape;113;p28"/>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 name="Google Shape;114;p28"/>
          <p:cNvSpPr/>
          <p:nvPr/>
        </p:nvSpPr>
        <p:spPr>
          <a:xfrm>
            <a:off x="707393" y="847600"/>
            <a:ext cx="4619938" cy="4619938"/>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 name="Google Shape;115;p28"/>
          <p:cNvSpPr txBox="1"/>
          <p:nvPr>
            <p:ph type="title"/>
          </p:nvPr>
        </p:nvSpPr>
        <p:spPr>
          <a:xfrm>
            <a:off x="1389278" y="1233241"/>
            <a:ext cx="3240506" cy="406462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lang="en-US">
                <a:solidFill>
                  <a:srgbClr val="FFFFFF"/>
                </a:solidFill>
              </a:rPr>
              <a:t>GRUPO ECONOMICO</a:t>
            </a:r>
            <a:endParaRPr>
              <a:solidFill>
                <a:srgbClr val="FFFFFF"/>
              </a:solidFill>
            </a:endParaRPr>
          </a:p>
        </p:txBody>
      </p:sp>
      <p:sp>
        <p:nvSpPr>
          <p:cNvPr id="116" name="Google Shape;116;p28"/>
          <p:cNvSpPr/>
          <p:nvPr/>
        </p:nvSpPr>
        <p:spPr>
          <a:xfrm flipH="1">
            <a:off x="530529" y="0"/>
            <a:ext cx="1155142" cy="591009"/>
          </a:xfrm>
          <a:custGeom>
            <a:rect b="b" l="l" r="r" t="t"/>
            <a:pathLst>
              <a:path extrusionOk="0" h="591009" w="1155142">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 name="Google Shape;117;p28"/>
          <p:cNvSpPr/>
          <p:nvPr/>
        </p:nvSpPr>
        <p:spPr>
          <a:xfrm flipH="1">
            <a:off x="3961511" y="-1"/>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28"/>
          <p:cNvSpPr/>
          <p:nvPr/>
        </p:nvSpPr>
        <p:spPr>
          <a:xfrm flipH="1">
            <a:off x="0" y="2936831"/>
            <a:ext cx="159741" cy="552996"/>
          </a:xfrm>
          <a:custGeom>
            <a:rect b="b" l="l" r="r" t="t"/>
            <a:pathLst>
              <a:path extrusionOk="0" h="552996" w="159741">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 name="Google Shape;119;p28"/>
          <p:cNvSpPr txBox="1"/>
          <p:nvPr>
            <p:ph idx="1" type="body"/>
          </p:nvPr>
        </p:nvSpPr>
        <p:spPr>
          <a:xfrm>
            <a:off x="6096000" y="820880"/>
            <a:ext cx="5257799" cy="488935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HORMISUR SA s/quiebra</a:t>
            </a:r>
            <a:endParaRPr/>
          </a:p>
          <a:p>
            <a:pPr indent="-228600" lvl="0" marL="228600" rtl="0" algn="l">
              <a:lnSpc>
                <a:spcPct val="90000"/>
              </a:lnSpc>
              <a:spcBef>
                <a:spcPts val="1000"/>
              </a:spcBef>
              <a:spcAft>
                <a:spcPts val="0"/>
              </a:spcAft>
              <a:buClr>
                <a:schemeClr val="dk1"/>
              </a:buClr>
              <a:buSzPts val="2800"/>
              <a:buChar char="•"/>
            </a:pPr>
            <a:r>
              <a:rPr lang="en-US"/>
              <a:t>Jocri sa s/ concurso preventivo</a:t>
            </a:r>
            <a:endParaRPr/>
          </a:p>
          <a:p>
            <a:pPr indent="-228600" lvl="0" marL="228600" rtl="0" algn="l">
              <a:lnSpc>
                <a:spcPct val="90000"/>
              </a:lnSpc>
              <a:spcBef>
                <a:spcPts val="1000"/>
              </a:spcBef>
              <a:spcAft>
                <a:spcPts val="0"/>
              </a:spcAft>
              <a:buClr>
                <a:schemeClr val="dk1"/>
              </a:buClr>
              <a:buSzPts val="2800"/>
              <a:buChar char="•"/>
            </a:pPr>
            <a:r>
              <a:rPr lang="en-US"/>
              <a:t>Osmata s/ concurso preventivo</a:t>
            </a:r>
            <a:endParaRPr/>
          </a:p>
          <a:p>
            <a:pPr indent="-228600" lvl="1" marL="685800" rtl="0" algn="l">
              <a:lnSpc>
                <a:spcPct val="90000"/>
              </a:lnSpc>
              <a:spcBef>
                <a:spcPts val="500"/>
              </a:spcBef>
              <a:spcAft>
                <a:spcPts val="0"/>
              </a:spcAft>
              <a:buClr>
                <a:schemeClr val="dk1"/>
              </a:buClr>
              <a:buSzPts val="2400"/>
              <a:buChar char="•"/>
            </a:pPr>
            <a:r>
              <a:rPr lang="en-US"/>
              <a:t>Requisitos agrupamiento</a:t>
            </a:r>
            <a:endParaRPr/>
          </a:p>
          <a:p>
            <a:pPr indent="-228600" lvl="2" marL="1143000" rtl="0" algn="l">
              <a:lnSpc>
                <a:spcPct val="90000"/>
              </a:lnSpc>
              <a:spcBef>
                <a:spcPts val="500"/>
              </a:spcBef>
              <a:spcAft>
                <a:spcPts val="0"/>
              </a:spcAft>
              <a:buClr>
                <a:schemeClr val="dk1"/>
              </a:buClr>
              <a:buSzPts val="2000"/>
              <a:buChar char="•"/>
            </a:pPr>
            <a:r>
              <a:rPr lang="en-US"/>
              <a:t>Pluralidad de sujetos</a:t>
            </a:r>
            <a:endParaRPr/>
          </a:p>
          <a:p>
            <a:pPr indent="-228600" lvl="2" marL="1143000" rtl="0" algn="l">
              <a:lnSpc>
                <a:spcPct val="90000"/>
              </a:lnSpc>
              <a:spcBef>
                <a:spcPts val="500"/>
              </a:spcBef>
              <a:spcAft>
                <a:spcPts val="0"/>
              </a:spcAft>
              <a:buClr>
                <a:schemeClr val="dk1"/>
              </a:buClr>
              <a:buSzPts val="2000"/>
              <a:buChar char="•"/>
            </a:pPr>
            <a:r>
              <a:rPr lang="en-US"/>
              <a:t>Rel de subordinación y dirección unificada </a:t>
            </a:r>
            <a:endParaRPr/>
          </a:p>
          <a:p>
            <a:pPr indent="-228600" lvl="2" marL="1143000" rtl="0" algn="l">
              <a:lnSpc>
                <a:spcPct val="90000"/>
              </a:lnSpc>
              <a:spcBef>
                <a:spcPts val="500"/>
              </a:spcBef>
              <a:spcAft>
                <a:spcPts val="0"/>
              </a:spcAft>
              <a:buClr>
                <a:schemeClr val="dk1"/>
              </a:buClr>
              <a:buSzPts val="2000"/>
              <a:buChar char="•"/>
            </a:pPr>
            <a:r>
              <a:rPr lang="en-US"/>
              <a:t>Explotacion de act. Mercantiles integradas o rel entre si</a:t>
            </a:r>
            <a:endParaRPr/>
          </a:p>
          <a:p>
            <a:pPr indent="-228600" lvl="2" marL="1143000" rtl="0" algn="l">
              <a:lnSpc>
                <a:spcPct val="90000"/>
              </a:lnSpc>
              <a:spcBef>
                <a:spcPts val="500"/>
              </a:spcBef>
              <a:spcAft>
                <a:spcPts val="0"/>
              </a:spcAft>
              <a:buClr>
                <a:schemeClr val="dk1"/>
              </a:buClr>
              <a:buSzPts val="2000"/>
              <a:buChar char="•"/>
            </a:pPr>
            <a:r>
              <a:rPr lang="en-US"/>
              <a:t>Permanencia en el tiempo</a:t>
            </a:r>
            <a:endParaRPr/>
          </a:p>
          <a:p>
            <a:pPr indent="-228600" lvl="2" marL="1143000" rtl="0" algn="l">
              <a:lnSpc>
                <a:spcPct val="90000"/>
              </a:lnSpc>
              <a:spcBef>
                <a:spcPts val="500"/>
              </a:spcBef>
              <a:spcAft>
                <a:spcPts val="0"/>
              </a:spcAft>
              <a:buClr>
                <a:schemeClr val="dk1"/>
              </a:buClr>
              <a:buSzPts val="2000"/>
              <a:buChar char="•"/>
            </a:pPr>
            <a:r>
              <a:rPr lang="en-US"/>
              <a:t>exteriorizacion</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20" name="Google Shape;120;p28"/>
          <p:cNvSpPr/>
          <p:nvPr/>
        </p:nvSpPr>
        <p:spPr>
          <a:xfrm flipH="1">
            <a:off x="0" y="5835649"/>
            <a:ext cx="1548180" cy="1022351"/>
          </a:xfrm>
          <a:custGeom>
            <a:rect b="b" l="l" r="r" t="t"/>
            <a:pathLst>
              <a:path extrusionOk="0" h="1022351" w="1548180">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28"/>
          <p:cNvSpPr/>
          <p:nvPr/>
        </p:nvSpPr>
        <p:spPr>
          <a:xfrm flipH="1">
            <a:off x="3405056" y="5717905"/>
            <a:ext cx="1771609" cy="1140095"/>
          </a:xfrm>
          <a:custGeom>
            <a:rect b="b" l="l" r="r" t="t"/>
            <a:pathLst>
              <a:path extrusionOk="0" h="1140095" w="1771609">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28"/>
          <p:cNvSpPr/>
          <p:nvPr/>
        </p:nvSpPr>
        <p:spPr>
          <a:xfrm flipH="1">
            <a:off x="4132972" y="6258755"/>
            <a:ext cx="1565940" cy="599245"/>
          </a:xfrm>
          <a:custGeom>
            <a:rect b="b" l="l" r="r" t="t"/>
            <a:pathLst>
              <a:path extrusionOk="0" h="599245" w="1565940">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6" name="Shape 126"/>
        <p:cNvGrpSpPr/>
        <p:nvPr/>
      </p:nvGrpSpPr>
      <p:grpSpPr>
        <a:xfrm>
          <a:off x="0" y="0"/>
          <a:ext cx="0" cy="0"/>
          <a:chOff x="0" y="0"/>
          <a:chExt cx="0" cy="0"/>
        </a:xfrm>
      </p:grpSpPr>
      <p:sp>
        <p:nvSpPr>
          <p:cNvPr id="127" name="Google Shape;127;p29"/>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8" name="Google Shape;128;p29"/>
          <p:cNvSpPr/>
          <p:nvPr/>
        </p:nvSpPr>
        <p:spPr>
          <a:xfrm>
            <a:off x="10208695" y="1"/>
            <a:ext cx="1135066" cy="477997"/>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 name="Google Shape;129;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Cesación de pagos</a:t>
            </a:r>
            <a:endParaRPr/>
          </a:p>
        </p:txBody>
      </p:sp>
      <p:sp>
        <p:nvSpPr>
          <p:cNvPr id="130" name="Google Shape;130;p29"/>
          <p:cNvSpPr/>
          <p:nvPr/>
        </p:nvSpPr>
        <p:spPr>
          <a:xfrm flipH="1" rot="-5400000">
            <a:off x="555710" y="2183223"/>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Condición de concurso por agrupamiento. que al menos 1 se encuentre en este estado. Afecte al resto del grupo.</a:t>
            </a:r>
            <a:endParaRPr/>
          </a:p>
          <a:p>
            <a:pPr indent="-228600" lvl="0" marL="228600" rtl="0" algn="l">
              <a:lnSpc>
                <a:spcPct val="90000"/>
              </a:lnSpc>
              <a:spcBef>
                <a:spcPts val="1000"/>
              </a:spcBef>
              <a:spcAft>
                <a:spcPts val="0"/>
              </a:spcAft>
              <a:buClr>
                <a:schemeClr val="dk1"/>
              </a:buClr>
              <a:buSzPts val="2800"/>
              <a:buChar char="•"/>
            </a:pPr>
            <a:r>
              <a:rPr lang="en-US"/>
              <a:t>Excepción a la regla del articulo 1.</a:t>
            </a:r>
            <a:endParaRPr/>
          </a:p>
          <a:p>
            <a:pPr indent="-228600" lvl="0" marL="228600" rtl="0" algn="l">
              <a:lnSpc>
                <a:spcPct val="90000"/>
              </a:lnSpc>
              <a:spcBef>
                <a:spcPts val="1000"/>
              </a:spcBef>
              <a:spcAft>
                <a:spcPts val="0"/>
              </a:spcAft>
              <a:buClr>
                <a:schemeClr val="dk1"/>
              </a:buClr>
              <a:buSzPts val="2800"/>
              <a:buChar char="•"/>
            </a:pPr>
            <a:r>
              <a:rPr lang="en-US"/>
              <a:t>Integración empresarial.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5" name="Shape 135"/>
        <p:cNvGrpSpPr/>
        <p:nvPr/>
      </p:nvGrpSpPr>
      <p:grpSpPr>
        <a:xfrm>
          <a:off x="0" y="0"/>
          <a:ext cx="0" cy="0"/>
          <a:chOff x="0" y="0"/>
          <a:chExt cx="0" cy="0"/>
        </a:xfrm>
      </p:grpSpPr>
      <p:sp>
        <p:nvSpPr>
          <p:cNvPr id="136" name="Google Shape;136;p30"/>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 name="Google Shape;137;p30"/>
          <p:cNvSpPr txBox="1"/>
          <p:nvPr>
            <p:ph type="title"/>
          </p:nvPr>
        </p:nvSpPr>
        <p:spPr>
          <a:xfrm>
            <a:off x="838200" y="365125"/>
            <a:ext cx="5558489"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competencia</a:t>
            </a:r>
            <a:endParaRPr/>
          </a:p>
        </p:txBody>
      </p:sp>
      <p:sp>
        <p:nvSpPr>
          <p:cNvPr id="138" name="Google Shape;138;p30"/>
          <p:cNvSpPr/>
          <p:nvPr/>
        </p:nvSpPr>
        <p:spPr>
          <a:xfrm>
            <a:off x="10208695" y="1"/>
            <a:ext cx="1135066" cy="477997"/>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 name="Google Shape;139;p30"/>
          <p:cNvSpPr txBox="1"/>
          <p:nvPr>
            <p:ph idx="1" type="body"/>
          </p:nvPr>
        </p:nvSpPr>
        <p:spPr>
          <a:xfrm>
            <a:off x="838200" y="1825625"/>
            <a:ext cx="5558489"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500"/>
              <a:buChar char="•"/>
            </a:pPr>
            <a:r>
              <a:rPr lang="en-US" sz="1500"/>
              <a:t>El juez al que correspondiera entender en el concurso de la persona con activo mas importante (ultimo balance).</a:t>
            </a:r>
            <a:endParaRPr/>
          </a:p>
          <a:p>
            <a:pPr indent="-228600" lvl="0" marL="228600" rtl="0" algn="l">
              <a:lnSpc>
                <a:spcPct val="90000"/>
              </a:lnSpc>
              <a:spcBef>
                <a:spcPts val="1000"/>
              </a:spcBef>
              <a:spcAft>
                <a:spcPts val="0"/>
              </a:spcAft>
              <a:buClr>
                <a:schemeClr val="dk1"/>
              </a:buClr>
              <a:buSzPts val="1500"/>
              <a:buChar char="•"/>
            </a:pPr>
            <a:r>
              <a:rPr lang="en-US" sz="1500"/>
              <a:t>Argenblue s.a. s/ concurso preventivo</a:t>
            </a:r>
            <a:endParaRPr/>
          </a:p>
          <a:p>
            <a:pPr indent="-228600" lvl="1" marL="685800" rtl="0" algn="l">
              <a:lnSpc>
                <a:spcPct val="90000"/>
              </a:lnSpc>
              <a:spcBef>
                <a:spcPts val="500"/>
              </a:spcBef>
              <a:spcAft>
                <a:spcPts val="0"/>
              </a:spcAft>
              <a:buClr>
                <a:schemeClr val="dk1"/>
              </a:buClr>
              <a:buSzPts val="1500"/>
              <a:buChar char="•"/>
            </a:pPr>
            <a:r>
              <a:rPr lang="en-US" sz="1500"/>
              <a:t>Conjunto economico</a:t>
            </a:r>
            <a:endParaRPr sz="1500"/>
          </a:p>
          <a:p>
            <a:pPr indent="-228600" lvl="1" marL="685800" rtl="0" algn="l">
              <a:lnSpc>
                <a:spcPct val="90000"/>
              </a:lnSpc>
              <a:spcBef>
                <a:spcPts val="500"/>
              </a:spcBef>
              <a:spcAft>
                <a:spcPts val="0"/>
              </a:spcAft>
              <a:buClr>
                <a:schemeClr val="dk1"/>
              </a:buClr>
              <a:buSzPts val="1500"/>
              <a:buChar char="•"/>
            </a:pPr>
            <a:r>
              <a:rPr lang="en-US" sz="1500"/>
              <a:t>Controlante en caba (menor activo) controlada en san Luis</a:t>
            </a:r>
            <a:endParaRPr/>
          </a:p>
          <a:p>
            <a:pPr indent="-228600" lvl="1" marL="685800" rtl="0" algn="l">
              <a:lnSpc>
                <a:spcPct val="90000"/>
              </a:lnSpc>
              <a:spcBef>
                <a:spcPts val="500"/>
              </a:spcBef>
              <a:spcAft>
                <a:spcPts val="0"/>
              </a:spcAft>
              <a:buClr>
                <a:schemeClr val="dk1"/>
              </a:buClr>
              <a:buSzPts val="1500"/>
              <a:buChar char="•"/>
            </a:pPr>
            <a:r>
              <a:rPr lang="en-US" sz="1500"/>
              <a:t> corresponde comparar balances individuales – no consolidado en cuyo caso se iria siempre al foro de la controlante</a:t>
            </a:r>
            <a:endParaRPr/>
          </a:p>
          <a:p>
            <a:pPr indent="-228600" lvl="1" marL="685800" rtl="0" algn="l">
              <a:lnSpc>
                <a:spcPct val="90000"/>
              </a:lnSpc>
              <a:spcBef>
                <a:spcPts val="500"/>
              </a:spcBef>
              <a:spcAft>
                <a:spcPts val="0"/>
              </a:spcAft>
              <a:buClr>
                <a:schemeClr val="dk1"/>
              </a:buClr>
              <a:buSzPts val="1500"/>
              <a:buChar char="•"/>
            </a:pPr>
            <a:r>
              <a:rPr lang="en-US" sz="1500"/>
              <a:t>En este caso – apelación – solo 8 de 395 acreedores están en san Luis</a:t>
            </a:r>
            <a:endParaRPr/>
          </a:p>
          <a:p>
            <a:pPr indent="-228600" lvl="1" marL="685800" rtl="0" algn="l">
              <a:lnSpc>
                <a:spcPct val="90000"/>
              </a:lnSpc>
              <a:spcBef>
                <a:spcPts val="500"/>
              </a:spcBef>
              <a:spcAft>
                <a:spcPts val="0"/>
              </a:spcAft>
              <a:buClr>
                <a:schemeClr val="dk1"/>
              </a:buClr>
              <a:buSzPts val="1500"/>
              <a:buChar char="•"/>
            </a:pPr>
            <a:r>
              <a:rPr lang="en-US" sz="1500"/>
              <a:t>Se hizo lugar</a:t>
            </a:r>
            <a:endParaRPr sz="1500"/>
          </a:p>
        </p:txBody>
      </p:sp>
      <p:sp>
        <p:nvSpPr>
          <p:cNvPr id="140" name="Google Shape;140;p30"/>
          <p:cNvSpPr/>
          <p:nvPr/>
        </p:nvSpPr>
        <p:spPr>
          <a:xfrm>
            <a:off x="6821310" y="2624479"/>
            <a:ext cx="812427" cy="812427"/>
          </a:xfrm>
          <a:prstGeom prst="ellipse">
            <a:avLst/>
          </a:prstGeom>
          <a:noFill/>
          <a:ln cap="flat" cmpd="sng" w="1270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 name="Google Shape;141;p30"/>
          <p:cNvSpPr/>
          <p:nvPr/>
        </p:nvSpPr>
        <p:spPr>
          <a:xfrm rot="-5400000">
            <a:off x="8912417" y="1218531"/>
            <a:ext cx="2387600" cy="2387600"/>
          </a:xfrm>
          <a:prstGeom prst="blockArc">
            <a:avLst>
              <a:gd fmla="val 10800000" name="adj1"/>
              <a:gd fmla="val 0" name="adj2"/>
              <a:gd fmla="val 25000" name="adj3"/>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30"/>
          <p:cNvSpPr/>
          <p:nvPr/>
        </p:nvSpPr>
        <p:spPr>
          <a:xfrm>
            <a:off x="6821310" y="0"/>
            <a:ext cx="2315251" cy="1550992"/>
          </a:xfrm>
          <a:custGeom>
            <a:rect b="b" l="l" r="r" t="t"/>
            <a:pathLst>
              <a:path extrusionOk="0" h="1550992" w="2315251">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43" name="Google Shape;143;p30"/>
          <p:cNvCxnSpPr/>
          <p:nvPr/>
        </p:nvCxnSpPr>
        <p:spPr>
          <a:xfrm>
            <a:off x="11724638" y="1331572"/>
            <a:ext cx="0" cy="1597708"/>
          </a:xfrm>
          <a:prstGeom prst="straightConnector1">
            <a:avLst/>
          </a:prstGeom>
          <a:noFill/>
          <a:ln cap="rnd" cmpd="sng" w="127000">
            <a:solidFill>
              <a:schemeClr val="accent4"/>
            </a:solidFill>
            <a:prstDash val="dash"/>
            <a:miter lim="800000"/>
            <a:headEnd len="sm" w="sm" type="none"/>
            <a:tailEnd len="sm" w="sm" type="none"/>
          </a:ln>
        </p:spPr>
      </p:cxnSp>
      <p:sp>
        <p:nvSpPr>
          <p:cNvPr id="144" name="Google Shape;144;p30"/>
          <p:cNvSpPr/>
          <p:nvPr/>
        </p:nvSpPr>
        <p:spPr>
          <a:xfrm>
            <a:off x="11005550" y="4112081"/>
            <a:ext cx="1186451" cy="1771650"/>
          </a:xfrm>
          <a:custGeom>
            <a:rect b="b" l="l" r="r" t="t"/>
            <a:pathLst>
              <a:path extrusionOk="0" h="1771650" w="1186451">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 name="Google Shape;145;p30"/>
          <p:cNvSpPr/>
          <p:nvPr/>
        </p:nvSpPr>
        <p:spPr>
          <a:xfrm rot="-607105">
            <a:off x="6086940" y="4145122"/>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30"/>
          <p:cNvSpPr/>
          <p:nvPr/>
        </p:nvSpPr>
        <p:spPr>
          <a:xfrm>
            <a:off x="6821310" y="4962670"/>
            <a:ext cx="2643352" cy="1895331"/>
          </a:xfrm>
          <a:custGeom>
            <a:rect b="b" l="l" r="r" t="t"/>
            <a:pathLst>
              <a:path extrusionOk="0" h="1895331" w="2643352">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0" name="Shape 150"/>
        <p:cNvGrpSpPr/>
        <p:nvPr/>
      </p:nvGrpSpPr>
      <p:grpSpPr>
        <a:xfrm>
          <a:off x="0" y="0"/>
          <a:ext cx="0" cy="0"/>
          <a:chOff x="0" y="0"/>
          <a:chExt cx="0" cy="0"/>
        </a:xfrm>
      </p:grpSpPr>
      <p:sp>
        <p:nvSpPr>
          <p:cNvPr id="151" name="Google Shape;151;p31"/>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 name="Google Shape;152;p31"/>
          <p:cNvSpPr/>
          <p:nvPr/>
        </p:nvSpPr>
        <p:spPr>
          <a:xfrm>
            <a:off x="740546" y="1011045"/>
            <a:ext cx="4369859" cy="4369859"/>
          </a:xfrm>
          <a:prstGeom prst="roundRect">
            <a:avLst>
              <a:gd fmla="val 2757"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 name="Google Shape;153;p31"/>
          <p:cNvSpPr txBox="1"/>
          <p:nvPr>
            <p:ph type="title"/>
          </p:nvPr>
        </p:nvSpPr>
        <p:spPr>
          <a:xfrm>
            <a:off x="956826" y="1112969"/>
            <a:ext cx="3937298" cy="416601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lang="en-US">
                <a:solidFill>
                  <a:srgbClr val="FFFFFF"/>
                </a:solidFill>
              </a:rPr>
              <a:t>Art 67	</a:t>
            </a:r>
            <a:endParaRPr>
              <a:solidFill>
                <a:srgbClr val="FFFFFF"/>
              </a:solidFill>
            </a:endParaRPr>
          </a:p>
        </p:txBody>
      </p:sp>
      <p:sp>
        <p:nvSpPr>
          <p:cNvPr id="154" name="Google Shape;154;p31"/>
          <p:cNvSpPr/>
          <p:nvPr/>
        </p:nvSpPr>
        <p:spPr>
          <a:xfrm flipH="1">
            <a:off x="530529" y="0"/>
            <a:ext cx="1155142" cy="591009"/>
          </a:xfrm>
          <a:custGeom>
            <a:rect b="b" l="l" r="r" t="t"/>
            <a:pathLst>
              <a:path extrusionOk="0" h="591009" w="1155142">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 name="Google Shape;155;p31"/>
          <p:cNvSpPr/>
          <p:nvPr/>
        </p:nvSpPr>
        <p:spPr>
          <a:xfrm flipH="1">
            <a:off x="3961511" y="-1"/>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31"/>
          <p:cNvSpPr/>
          <p:nvPr/>
        </p:nvSpPr>
        <p:spPr>
          <a:xfrm flipH="1">
            <a:off x="0" y="2936831"/>
            <a:ext cx="159741" cy="552996"/>
          </a:xfrm>
          <a:custGeom>
            <a:rect b="b" l="l" r="r" t="t"/>
            <a:pathLst>
              <a:path extrusionOk="0" h="552996" w="159741">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 name="Google Shape;157;p31"/>
          <p:cNvSpPr txBox="1"/>
          <p:nvPr>
            <p:ph idx="1" type="body"/>
          </p:nvPr>
        </p:nvSpPr>
        <p:spPr>
          <a:xfrm>
            <a:off x="6096000" y="820880"/>
            <a:ext cx="5257799" cy="488935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Sindicatura única – para todo el agrupamiento – posibilidad de plural (art 253)</a:t>
            </a:r>
            <a:endParaRPr/>
          </a:p>
          <a:p>
            <a:pPr indent="-228600" lvl="0" marL="228600" rtl="0" algn="l">
              <a:lnSpc>
                <a:spcPct val="90000"/>
              </a:lnSpc>
              <a:spcBef>
                <a:spcPts val="1000"/>
              </a:spcBef>
              <a:spcAft>
                <a:spcPts val="0"/>
              </a:spcAft>
              <a:buClr>
                <a:schemeClr val="dk1"/>
              </a:buClr>
              <a:buSzPts val="2800"/>
              <a:buChar char="•"/>
            </a:pPr>
            <a:r>
              <a:rPr lang="en-US"/>
              <a:t>Creditos entre concursados – no habilitados para votar</a:t>
            </a:r>
            <a:endParaRPr/>
          </a:p>
          <a:p>
            <a:pPr indent="-228600" lvl="0" marL="228600" rtl="0" algn="l">
              <a:lnSpc>
                <a:spcPct val="90000"/>
              </a:lnSpc>
              <a:spcBef>
                <a:spcPts val="1000"/>
              </a:spcBef>
              <a:spcAft>
                <a:spcPts val="0"/>
              </a:spcAft>
              <a:buClr>
                <a:schemeClr val="dk1"/>
              </a:buClr>
              <a:buSzPts val="2800"/>
              <a:buChar char="•"/>
            </a:pPr>
            <a:r>
              <a:rPr lang="en-US"/>
              <a:t>Tramite</a:t>
            </a:r>
            <a:endParaRPr/>
          </a:p>
          <a:p>
            <a:pPr indent="-228600" lvl="1" marL="685800" rtl="0" algn="l">
              <a:lnSpc>
                <a:spcPct val="90000"/>
              </a:lnSpc>
              <a:spcBef>
                <a:spcPts val="500"/>
              </a:spcBef>
              <a:spcAft>
                <a:spcPts val="0"/>
              </a:spcAft>
              <a:buClr>
                <a:schemeClr val="dk1"/>
              </a:buClr>
              <a:buSzPts val="2400"/>
              <a:buChar char="•"/>
            </a:pPr>
            <a:r>
              <a:rPr lang="en-US"/>
              <a:t>Un proceso por cada persona</a:t>
            </a:r>
            <a:endParaRPr/>
          </a:p>
          <a:p>
            <a:pPr indent="-228600" lvl="1" marL="685800" rtl="0" algn="l">
              <a:lnSpc>
                <a:spcPct val="90000"/>
              </a:lnSpc>
              <a:spcBef>
                <a:spcPts val="500"/>
              </a:spcBef>
              <a:spcAft>
                <a:spcPts val="0"/>
              </a:spcAft>
              <a:buClr>
                <a:schemeClr val="dk1"/>
              </a:buClr>
              <a:buSzPts val="2400"/>
              <a:buChar char="•"/>
            </a:pPr>
            <a:r>
              <a:rPr lang="en-US"/>
              <a:t>Informe general será único</a:t>
            </a:r>
            <a:endParaRPr/>
          </a:p>
          <a:p>
            <a:pPr indent="-228600" lvl="1" marL="685800" rtl="0" algn="l">
              <a:lnSpc>
                <a:spcPct val="90000"/>
              </a:lnSpc>
              <a:spcBef>
                <a:spcPts val="500"/>
              </a:spcBef>
              <a:spcAft>
                <a:spcPts val="0"/>
              </a:spcAft>
              <a:buClr>
                <a:schemeClr val="dk1"/>
              </a:buClr>
              <a:buSzPts val="2400"/>
              <a:buChar char="•"/>
            </a:pPr>
            <a:r>
              <a:rPr lang="en-US"/>
              <a:t>Acreedores de cualesquiera de los concursador podrá realizar observaciones e impugnaciones</a:t>
            </a:r>
            <a:endParaRPr/>
          </a:p>
          <a:p>
            <a:pPr indent="-76200" lvl="1" marL="685800" rtl="0" algn="l">
              <a:lnSpc>
                <a:spcPct val="90000"/>
              </a:lnSpc>
              <a:spcBef>
                <a:spcPts val="500"/>
              </a:spcBef>
              <a:spcAft>
                <a:spcPts val="0"/>
              </a:spcAft>
              <a:buClr>
                <a:schemeClr val="dk1"/>
              </a:buClr>
              <a:buSzPts val="2400"/>
              <a:buNone/>
            </a:pPr>
            <a:r>
              <a:t/>
            </a:r>
            <a:endParaRPr/>
          </a:p>
        </p:txBody>
      </p:sp>
      <p:sp>
        <p:nvSpPr>
          <p:cNvPr id="158" name="Google Shape;158;p31"/>
          <p:cNvSpPr/>
          <p:nvPr/>
        </p:nvSpPr>
        <p:spPr>
          <a:xfrm flipH="1">
            <a:off x="0" y="5835649"/>
            <a:ext cx="1548180" cy="1022351"/>
          </a:xfrm>
          <a:custGeom>
            <a:rect b="b" l="l" r="r" t="t"/>
            <a:pathLst>
              <a:path extrusionOk="0" h="1022351" w="1548180">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31"/>
          <p:cNvSpPr/>
          <p:nvPr/>
        </p:nvSpPr>
        <p:spPr>
          <a:xfrm flipH="1">
            <a:off x="3418308" y="5717905"/>
            <a:ext cx="1771609" cy="1140095"/>
          </a:xfrm>
          <a:custGeom>
            <a:rect b="b" l="l" r="r" t="t"/>
            <a:pathLst>
              <a:path extrusionOk="0" h="1140095" w="1771609">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31"/>
          <p:cNvSpPr/>
          <p:nvPr/>
        </p:nvSpPr>
        <p:spPr>
          <a:xfrm flipH="1">
            <a:off x="4132972" y="6258755"/>
            <a:ext cx="1565940" cy="599245"/>
          </a:xfrm>
          <a:custGeom>
            <a:rect b="b" l="l" r="r" t="t"/>
            <a:pathLst>
              <a:path extrusionOk="0" h="599245" w="1565940">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4" name="Shape 164"/>
        <p:cNvGrpSpPr/>
        <p:nvPr/>
      </p:nvGrpSpPr>
      <p:grpSpPr>
        <a:xfrm>
          <a:off x="0" y="0"/>
          <a:ext cx="0" cy="0"/>
          <a:chOff x="0" y="0"/>
          <a:chExt cx="0" cy="0"/>
        </a:xfrm>
      </p:grpSpPr>
      <p:sp>
        <p:nvSpPr>
          <p:cNvPr id="165" name="Google Shape;165;p32"/>
          <p:cNvSpPr/>
          <p:nvPr/>
        </p:nvSpPr>
        <p:spPr>
          <a:xfrm>
            <a:off x="6096000" y="0"/>
            <a:ext cx="6096000" cy="6858000"/>
          </a:xfrm>
          <a:prstGeom prst="rect">
            <a:avLst/>
          </a:prstGeom>
          <a:solidFill>
            <a:schemeClr val="dk1">
              <a:alpha val="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 name="Google Shape;166;p32"/>
          <p:cNvSpPr/>
          <p:nvPr/>
        </p:nvSpPr>
        <p:spPr>
          <a:xfrm>
            <a:off x="1453478" y="0"/>
            <a:ext cx="4657389"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 name="Google Shape;167;p32"/>
          <p:cNvSpPr txBox="1"/>
          <p:nvPr>
            <p:ph type="title"/>
          </p:nvPr>
        </p:nvSpPr>
        <p:spPr>
          <a:xfrm>
            <a:off x="1901162" y="3050434"/>
            <a:ext cx="3722933" cy="757130"/>
          </a:xfrm>
          <a:prstGeom prst="rect">
            <a:avLst/>
          </a:prstGeom>
          <a:noFill/>
          <a:ln cap="sq" cmpd="sng" w="25400">
            <a:solidFill>
              <a:srgbClr val="FFFFFF"/>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800"/>
              <a:buFont typeface="Calibri"/>
              <a:buNone/>
            </a:pPr>
            <a:r>
              <a:rPr lang="en-US" sz="2800">
                <a:solidFill>
                  <a:srgbClr val="FFFFFF"/>
                </a:solidFill>
                <a:latin typeface="Calibri"/>
                <a:ea typeface="Calibri"/>
                <a:cs typeface="Calibri"/>
                <a:sym typeface="Calibri"/>
              </a:rPr>
              <a:t>Propuesta</a:t>
            </a:r>
            <a:endParaRPr/>
          </a:p>
        </p:txBody>
      </p:sp>
      <p:sp>
        <p:nvSpPr>
          <p:cNvPr id="168" name="Google Shape;168;p32"/>
          <p:cNvSpPr/>
          <p:nvPr/>
        </p:nvSpPr>
        <p:spPr>
          <a:xfrm>
            <a:off x="0" y="0"/>
            <a:ext cx="1453478" cy="6858000"/>
          </a:xfrm>
          <a:prstGeom prst="rect">
            <a:avLst/>
          </a:prstGeom>
          <a:solidFill>
            <a:srgbClr val="404040">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 name="Google Shape;169;p32"/>
          <p:cNvSpPr txBox="1"/>
          <p:nvPr>
            <p:ph idx="1" type="body"/>
          </p:nvPr>
        </p:nvSpPr>
        <p:spPr>
          <a:xfrm>
            <a:off x="6574536" y="640080"/>
            <a:ext cx="5053066" cy="254660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100"/>
              <a:buChar char="•"/>
            </a:pPr>
            <a:r>
              <a:rPr lang="en-US" sz="1100"/>
              <a:t>A elección de los concursados puede ser separadas o unificadas</a:t>
            </a:r>
            <a:endParaRPr sz="1100"/>
          </a:p>
          <a:p>
            <a:pPr indent="-228600" lvl="0" marL="228600" rtl="0" algn="l">
              <a:lnSpc>
                <a:spcPct val="90000"/>
              </a:lnSpc>
              <a:spcBef>
                <a:spcPts val="1000"/>
              </a:spcBef>
              <a:spcAft>
                <a:spcPts val="0"/>
              </a:spcAft>
              <a:buClr>
                <a:schemeClr val="dk1"/>
              </a:buClr>
              <a:buSzPts val="1100"/>
              <a:buChar char="•"/>
            </a:pPr>
            <a:r>
              <a:rPr lang="en-US" sz="1100" u="sng"/>
              <a:t>Propuesta unificada</a:t>
            </a:r>
            <a:endParaRPr sz="1100" u="sng"/>
          </a:p>
          <a:p>
            <a:pPr indent="-228600" lvl="0" marL="228600" rtl="0" algn="l">
              <a:lnSpc>
                <a:spcPct val="90000"/>
              </a:lnSpc>
              <a:spcBef>
                <a:spcPts val="1000"/>
              </a:spcBef>
              <a:spcAft>
                <a:spcPts val="0"/>
              </a:spcAft>
              <a:buClr>
                <a:schemeClr val="dk1"/>
              </a:buClr>
              <a:buSzPts val="1100"/>
              <a:buChar char="•"/>
            </a:pPr>
            <a:r>
              <a:rPr lang="en-US" sz="1100"/>
              <a:t>Podrán proponer categorías de acreedores </a:t>
            </a:r>
            <a:endParaRPr/>
          </a:p>
          <a:p>
            <a:pPr indent="-228600" lvl="0" marL="228600" rtl="0" algn="l">
              <a:lnSpc>
                <a:spcPct val="90000"/>
              </a:lnSpc>
              <a:spcBef>
                <a:spcPts val="1000"/>
              </a:spcBef>
              <a:spcAft>
                <a:spcPts val="0"/>
              </a:spcAft>
              <a:buClr>
                <a:schemeClr val="dk1"/>
              </a:buClr>
              <a:buSzPts val="1100"/>
              <a:buChar char="•"/>
            </a:pPr>
            <a:r>
              <a:rPr lang="en-US" sz="1100"/>
              <a:t>Aprobación – mayorías del art 45</a:t>
            </a:r>
            <a:endParaRPr/>
          </a:p>
          <a:p>
            <a:pPr indent="-228600" lvl="0" marL="228600" rtl="0" algn="l">
              <a:lnSpc>
                <a:spcPct val="90000"/>
              </a:lnSpc>
              <a:spcBef>
                <a:spcPts val="1000"/>
              </a:spcBef>
              <a:spcAft>
                <a:spcPts val="0"/>
              </a:spcAft>
              <a:buClr>
                <a:schemeClr val="dk1"/>
              </a:buClr>
              <a:buSzPts val="1100"/>
              <a:buChar char="•"/>
            </a:pPr>
            <a:r>
              <a:rPr lang="en-US" sz="1100"/>
              <a:t>No obtención de las mayorías  – quiebra de todos los concursados</a:t>
            </a:r>
            <a:endParaRPr sz="1100"/>
          </a:p>
          <a:p>
            <a:pPr indent="-228600" lvl="0" marL="228600" rtl="0" algn="l">
              <a:lnSpc>
                <a:spcPct val="90000"/>
              </a:lnSpc>
              <a:spcBef>
                <a:spcPts val="1000"/>
              </a:spcBef>
              <a:spcAft>
                <a:spcPts val="0"/>
              </a:spcAft>
              <a:buClr>
                <a:schemeClr val="dk1"/>
              </a:buClr>
              <a:buSzPts val="1100"/>
              <a:buChar char="•"/>
            </a:pPr>
            <a:r>
              <a:rPr lang="en-US" sz="1100"/>
              <a:t>Quiebra en etapa de cumplimiento de uno de los concursados – quiebra de todos</a:t>
            </a:r>
            <a:endParaRPr sz="1100"/>
          </a:p>
          <a:p>
            <a:pPr indent="-228600" lvl="0" marL="228600" rtl="0" algn="l">
              <a:lnSpc>
                <a:spcPct val="90000"/>
              </a:lnSpc>
              <a:spcBef>
                <a:spcPts val="1000"/>
              </a:spcBef>
              <a:spcAft>
                <a:spcPts val="0"/>
              </a:spcAft>
              <a:buClr>
                <a:schemeClr val="dk1"/>
              </a:buClr>
              <a:buSzPts val="1100"/>
              <a:buChar char="•"/>
            </a:pPr>
            <a:r>
              <a:rPr lang="en-US" sz="1100"/>
              <a:t>También aprobada si </a:t>
            </a:r>
            <a:endParaRPr/>
          </a:p>
          <a:p>
            <a:pPr indent="-228600" lvl="1" marL="685800" rtl="0" algn="l">
              <a:lnSpc>
                <a:spcPct val="90000"/>
              </a:lnSpc>
              <a:spcBef>
                <a:spcPts val="500"/>
              </a:spcBef>
              <a:spcAft>
                <a:spcPts val="0"/>
              </a:spcAft>
              <a:buClr>
                <a:schemeClr val="dk1"/>
              </a:buClr>
              <a:buSzPts val="1100"/>
              <a:buChar char="•"/>
            </a:pPr>
            <a:r>
              <a:rPr lang="en-US" sz="1100"/>
              <a:t>75 % capital con derecho a voto sobre todos los concursados</a:t>
            </a:r>
            <a:endParaRPr sz="1100"/>
          </a:p>
          <a:p>
            <a:pPr indent="-228600" lvl="1" marL="685800" rtl="0" algn="l">
              <a:lnSpc>
                <a:spcPct val="90000"/>
              </a:lnSpc>
              <a:spcBef>
                <a:spcPts val="500"/>
              </a:spcBef>
              <a:spcAft>
                <a:spcPts val="0"/>
              </a:spcAft>
              <a:buClr>
                <a:schemeClr val="dk1"/>
              </a:buClr>
              <a:buSzPts val="1100"/>
              <a:buChar char="•"/>
            </a:pPr>
            <a:r>
              <a:rPr lang="en-US" sz="1100"/>
              <a:t>No menos del 50 % dentro de cada categoría </a:t>
            </a:r>
            <a:endParaRPr/>
          </a:p>
          <a:p>
            <a:pPr indent="-158750" lvl="1" marL="685800" rtl="0" algn="l">
              <a:lnSpc>
                <a:spcPct val="90000"/>
              </a:lnSpc>
              <a:spcBef>
                <a:spcPts val="500"/>
              </a:spcBef>
              <a:spcAft>
                <a:spcPts val="0"/>
              </a:spcAft>
              <a:buClr>
                <a:schemeClr val="dk1"/>
              </a:buClr>
              <a:buSzPts val="1100"/>
              <a:buNone/>
            </a:pPr>
            <a:r>
              <a:t/>
            </a:r>
            <a:endParaRPr sz="1100"/>
          </a:p>
        </p:txBody>
      </p:sp>
      <p:sp>
        <p:nvSpPr>
          <p:cNvPr id="170" name="Google Shape;170;p32"/>
          <p:cNvSpPr txBox="1"/>
          <p:nvPr/>
        </p:nvSpPr>
        <p:spPr>
          <a:xfrm>
            <a:off x="6570204" y="3671315"/>
            <a:ext cx="5057398" cy="1221407"/>
          </a:xfrm>
          <a:prstGeom prst="rect">
            <a:avLst/>
          </a:prstGeom>
          <a:noFill/>
          <a:ln>
            <a:noFill/>
          </a:ln>
        </p:spPr>
        <p:txBody>
          <a:bodyPr anchorCtr="0" anchor="t" bIns="45700" lIns="91425" spcFirstLastPara="1" rIns="91425" wrap="square" tIns="45700">
            <a:normAutofit/>
          </a:bodyPr>
          <a:lstStyle/>
          <a:p>
            <a:pPr indent="-171450" lvl="0" marL="171450" marR="0" rtl="0" algn="l">
              <a:lnSpc>
                <a:spcPct val="90000"/>
              </a:lnSpc>
              <a:spcBef>
                <a:spcPts val="0"/>
              </a:spcBef>
              <a:spcAft>
                <a:spcPts val="0"/>
              </a:spcAft>
              <a:buClr>
                <a:schemeClr val="dk1"/>
              </a:buClr>
              <a:buSzPts val="2000"/>
              <a:buFont typeface="Arial"/>
              <a:buChar char="•"/>
            </a:pPr>
            <a:r>
              <a:rPr b="1" lang="en-US" sz="2000" u="sng">
                <a:solidFill>
                  <a:schemeClr val="dk1"/>
                </a:solidFill>
                <a:latin typeface="Calibri"/>
                <a:ea typeface="Calibri"/>
                <a:cs typeface="Calibri"/>
                <a:sym typeface="Calibri"/>
              </a:rPr>
              <a:t>Permite compensación de excedentes</a:t>
            </a:r>
            <a:endParaRPr b="1" sz="2000" u="sng">
              <a:solidFill>
                <a:schemeClr val="dk1"/>
              </a:solidFill>
              <a:latin typeface="Calibri"/>
              <a:ea typeface="Calibri"/>
              <a:cs typeface="Calibri"/>
              <a:sym typeface="Calibri"/>
            </a:endParaRPr>
          </a:p>
          <a:p>
            <a:pPr indent="-171450" lvl="0" marL="171450" marR="0" rtl="0" algn="l">
              <a:lnSpc>
                <a:spcPct val="90000"/>
              </a:lnSpc>
              <a:spcBef>
                <a:spcPts val="600"/>
              </a:spcBef>
              <a:spcAft>
                <a:spcPts val="0"/>
              </a:spcAft>
              <a:buClr>
                <a:schemeClr val="dk1"/>
              </a:buClr>
              <a:buSzPts val="2000"/>
              <a:buFont typeface="Arial"/>
              <a:buChar char="•"/>
            </a:pPr>
            <a:r>
              <a:rPr b="1" lang="en-US" sz="2000" u="sng">
                <a:solidFill>
                  <a:schemeClr val="dk1"/>
                </a:solidFill>
                <a:latin typeface="Calibri"/>
                <a:ea typeface="Calibri"/>
                <a:cs typeface="Calibri"/>
                <a:sym typeface="Calibri"/>
              </a:rPr>
              <a:t>Cálculos solo sobre capital y no sobre personas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Propuesta unificada</a:t>
            </a:r>
            <a:endParaRPr/>
          </a:p>
        </p:txBody>
      </p:sp>
      <p:sp>
        <p:nvSpPr>
          <p:cNvPr id="176" name="Google Shape;176;p33"/>
          <p:cNvSpPr txBox="1"/>
          <p:nvPr>
            <p:ph idx="1" type="body"/>
          </p:nvPr>
        </p:nvSpPr>
        <p:spPr>
          <a:xfrm>
            <a:off x="913774" y="2367092"/>
            <a:ext cx="10363826" cy="3424107"/>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Categoria QUIROGRAFARIOS COMERCIALES</a:t>
            </a:r>
            <a:endParaRPr/>
          </a:p>
          <a:p>
            <a:pPr indent="-228600" lvl="0" marL="228600" rtl="0" algn="l">
              <a:lnSpc>
                <a:spcPct val="90000"/>
              </a:lnSpc>
              <a:spcBef>
                <a:spcPts val="1000"/>
              </a:spcBef>
              <a:spcAft>
                <a:spcPts val="0"/>
              </a:spcAft>
              <a:buClr>
                <a:schemeClr val="dk1"/>
              </a:buClr>
              <a:buSzPct val="100000"/>
              <a:buChar char="•"/>
            </a:pPr>
            <a:r>
              <a:rPr lang="en-US"/>
              <a:t>A 500 VOTA POSITIVO</a:t>
            </a:r>
            <a:endParaRPr/>
          </a:p>
          <a:p>
            <a:pPr indent="-228600" lvl="0" marL="228600" rtl="0" algn="l">
              <a:lnSpc>
                <a:spcPct val="90000"/>
              </a:lnSpc>
              <a:spcBef>
                <a:spcPts val="1000"/>
              </a:spcBef>
              <a:spcAft>
                <a:spcPts val="0"/>
              </a:spcAft>
              <a:buClr>
                <a:schemeClr val="dk1"/>
              </a:buClr>
              <a:buSzPct val="100000"/>
              <a:buChar char="•"/>
            </a:pPr>
            <a:r>
              <a:rPr lang="en-US"/>
              <a:t>B 300</a:t>
            </a:r>
            <a:endParaRPr/>
          </a:p>
          <a:p>
            <a:pPr indent="-228600" lvl="0" marL="228600" rtl="0" algn="l">
              <a:lnSpc>
                <a:spcPct val="90000"/>
              </a:lnSpc>
              <a:spcBef>
                <a:spcPts val="1000"/>
              </a:spcBef>
              <a:spcAft>
                <a:spcPts val="0"/>
              </a:spcAft>
              <a:buClr>
                <a:schemeClr val="dk1"/>
              </a:buClr>
              <a:buSzPct val="100000"/>
              <a:buChar char="•"/>
            </a:pPr>
            <a:r>
              <a:rPr lang="en-US"/>
              <a:t>C 200 </a:t>
            </a:r>
            <a:endParaRPr/>
          </a:p>
          <a:p>
            <a:pPr indent="-228600" lvl="0" marL="228600" rtl="0" algn="l">
              <a:lnSpc>
                <a:spcPct val="90000"/>
              </a:lnSpc>
              <a:spcBef>
                <a:spcPts val="1000"/>
              </a:spcBef>
              <a:spcAft>
                <a:spcPts val="0"/>
              </a:spcAft>
              <a:buClr>
                <a:schemeClr val="dk1"/>
              </a:buClr>
              <a:buSzPct val="100000"/>
              <a:buChar char="•"/>
            </a:pPr>
            <a:r>
              <a:rPr lang="en-US"/>
              <a:t>Categoria QUIROGRAFARIOS FINANCIEROS</a:t>
            </a:r>
            <a:endParaRPr/>
          </a:p>
          <a:p>
            <a:pPr indent="-228600" lvl="0" marL="228600" rtl="0" algn="l">
              <a:lnSpc>
                <a:spcPct val="90000"/>
              </a:lnSpc>
              <a:spcBef>
                <a:spcPts val="1000"/>
              </a:spcBef>
              <a:spcAft>
                <a:spcPts val="0"/>
              </a:spcAft>
              <a:buClr>
                <a:schemeClr val="dk1"/>
              </a:buClr>
              <a:buSzPct val="100000"/>
              <a:buChar char="•"/>
            </a:pPr>
            <a:r>
              <a:rPr lang="en-US"/>
              <a:t>D 8000 VOTA POSITIVO</a:t>
            </a:r>
            <a:endParaRPr/>
          </a:p>
          <a:p>
            <a:pPr indent="-228600" lvl="0" marL="228600" rtl="0" algn="l">
              <a:lnSpc>
                <a:spcPct val="90000"/>
              </a:lnSpc>
              <a:spcBef>
                <a:spcPts val="1000"/>
              </a:spcBef>
              <a:spcAft>
                <a:spcPts val="0"/>
              </a:spcAft>
              <a:buClr>
                <a:schemeClr val="dk1"/>
              </a:buClr>
              <a:buSzPct val="100000"/>
              <a:buChar char="•"/>
            </a:pPr>
            <a:r>
              <a:rPr lang="en-US"/>
              <a:t>E 1500</a:t>
            </a:r>
            <a:endParaRPr/>
          </a:p>
          <a:p>
            <a:pPr indent="-228600" lvl="0" marL="228600" rtl="0" algn="l">
              <a:lnSpc>
                <a:spcPct val="90000"/>
              </a:lnSpc>
              <a:spcBef>
                <a:spcPts val="1000"/>
              </a:spcBef>
              <a:spcAft>
                <a:spcPts val="0"/>
              </a:spcAft>
              <a:buClr>
                <a:schemeClr val="dk1"/>
              </a:buClr>
              <a:buSzPct val="100000"/>
              <a:buChar char="•"/>
            </a:pPr>
            <a:r>
              <a:rPr lang="en-US"/>
              <a:t>F 500 </a:t>
            </a:r>
            <a:endParaRPr/>
          </a:p>
        </p:txBody>
      </p:sp>
      <p:sp>
        <p:nvSpPr>
          <p:cNvPr id="177" name="Google Shape;177;p33"/>
          <p:cNvSpPr/>
          <p:nvPr/>
        </p:nvSpPr>
        <p:spPr>
          <a:xfrm>
            <a:off x="8195310" y="1554480"/>
            <a:ext cx="3451860" cy="4177665"/>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CRITERIOS PARA HOMOLOGAR</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75% CAP QUIROGRAFARIO TOTAL (S/11000) IGUAL A 8250</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50% CADA CATEGORIA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Propuesta unificada bis</a:t>
            </a:r>
            <a:endParaRPr/>
          </a:p>
        </p:txBody>
      </p:sp>
      <p:sp>
        <p:nvSpPr>
          <p:cNvPr id="183" name="Google Shape;183;p34"/>
          <p:cNvSpPr txBox="1"/>
          <p:nvPr>
            <p:ph idx="1" type="body"/>
          </p:nvPr>
        </p:nvSpPr>
        <p:spPr>
          <a:xfrm>
            <a:off x="913774" y="2367092"/>
            <a:ext cx="10363826" cy="3424107"/>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b="1" lang="en-US"/>
              <a:t>Categoria QUIROGRAFARIOS COMERCIALES</a:t>
            </a:r>
            <a:endParaRPr/>
          </a:p>
          <a:p>
            <a:pPr indent="-228600" lvl="0" marL="228600" rtl="0" algn="l">
              <a:lnSpc>
                <a:spcPct val="90000"/>
              </a:lnSpc>
              <a:spcBef>
                <a:spcPts val="1000"/>
              </a:spcBef>
              <a:spcAft>
                <a:spcPts val="0"/>
              </a:spcAft>
              <a:buClr>
                <a:schemeClr val="dk1"/>
              </a:buClr>
              <a:buSzPct val="100000"/>
              <a:buChar char="•"/>
            </a:pPr>
            <a:r>
              <a:rPr lang="en-US"/>
              <a:t>A 600</a:t>
            </a:r>
            <a:endParaRPr/>
          </a:p>
          <a:p>
            <a:pPr indent="-228600" lvl="0" marL="228600" rtl="0" algn="l">
              <a:lnSpc>
                <a:spcPct val="90000"/>
              </a:lnSpc>
              <a:spcBef>
                <a:spcPts val="1000"/>
              </a:spcBef>
              <a:spcAft>
                <a:spcPts val="0"/>
              </a:spcAft>
              <a:buClr>
                <a:schemeClr val="dk1"/>
              </a:buClr>
              <a:buSzPct val="100000"/>
              <a:buChar char="•"/>
            </a:pPr>
            <a:r>
              <a:rPr lang="en-US"/>
              <a:t>B 200 VOTA POSITIVO</a:t>
            </a:r>
            <a:endParaRPr/>
          </a:p>
          <a:p>
            <a:pPr indent="-228600" lvl="0" marL="228600" rtl="0" algn="l">
              <a:lnSpc>
                <a:spcPct val="90000"/>
              </a:lnSpc>
              <a:spcBef>
                <a:spcPts val="1000"/>
              </a:spcBef>
              <a:spcAft>
                <a:spcPts val="0"/>
              </a:spcAft>
              <a:buClr>
                <a:schemeClr val="dk1"/>
              </a:buClr>
              <a:buSzPct val="100000"/>
              <a:buChar char="•"/>
            </a:pPr>
            <a:r>
              <a:rPr lang="en-US"/>
              <a:t>C 200 VOTA POSITIVO</a:t>
            </a:r>
            <a:endParaRPr/>
          </a:p>
          <a:p>
            <a:pPr indent="-228600" lvl="0" marL="228600" rtl="0" algn="l">
              <a:lnSpc>
                <a:spcPct val="90000"/>
              </a:lnSpc>
              <a:spcBef>
                <a:spcPts val="1000"/>
              </a:spcBef>
              <a:spcAft>
                <a:spcPts val="0"/>
              </a:spcAft>
              <a:buClr>
                <a:schemeClr val="dk1"/>
              </a:buClr>
              <a:buSzPct val="100000"/>
              <a:buChar char="•"/>
            </a:pPr>
            <a:r>
              <a:rPr b="1" lang="en-US"/>
              <a:t>Categoria QUIROGRAFARIOS FINANCIEROS</a:t>
            </a:r>
            <a:endParaRPr/>
          </a:p>
          <a:p>
            <a:pPr indent="-228600" lvl="0" marL="228600" rtl="0" algn="l">
              <a:lnSpc>
                <a:spcPct val="90000"/>
              </a:lnSpc>
              <a:spcBef>
                <a:spcPts val="1000"/>
              </a:spcBef>
              <a:spcAft>
                <a:spcPts val="0"/>
              </a:spcAft>
              <a:buClr>
                <a:schemeClr val="dk1"/>
              </a:buClr>
              <a:buSzPct val="100000"/>
              <a:buChar char="•"/>
            </a:pPr>
            <a:r>
              <a:rPr lang="en-US"/>
              <a:t>D 8000 VOTA POSITIVO</a:t>
            </a:r>
            <a:endParaRPr/>
          </a:p>
          <a:p>
            <a:pPr indent="-228600" lvl="0" marL="228600" rtl="0" algn="l">
              <a:lnSpc>
                <a:spcPct val="90000"/>
              </a:lnSpc>
              <a:spcBef>
                <a:spcPts val="1000"/>
              </a:spcBef>
              <a:spcAft>
                <a:spcPts val="0"/>
              </a:spcAft>
              <a:buClr>
                <a:schemeClr val="dk1"/>
              </a:buClr>
              <a:buSzPct val="100000"/>
              <a:buChar char="•"/>
            </a:pPr>
            <a:r>
              <a:rPr lang="en-US"/>
              <a:t>E 1500 VOTA POSITIVO</a:t>
            </a:r>
            <a:endParaRPr/>
          </a:p>
          <a:p>
            <a:pPr indent="-228600" lvl="0" marL="228600" rtl="0" algn="l">
              <a:lnSpc>
                <a:spcPct val="90000"/>
              </a:lnSpc>
              <a:spcBef>
                <a:spcPts val="1000"/>
              </a:spcBef>
              <a:spcAft>
                <a:spcPts val="0"/>
              </a:spcAft>
              <a:buClr>
                <a:schemeClr val="dk1"/>
              </a:buClr>
              <a:buSzPct val="100000"/>
              <a:buChar char="•"/>
            </a:pPr>
            <a:r>
              <a:rPr lang="en-US"/>
              <a:t>F 500 VOTA POSITIVO</a:t>
            </a:r>
            <a:endParaRPr/>
          </a:p>
        </p:txBody>
      </p:sp>
      <p:sp>
        <p:nvSpPr>
          <p:cNvPr id="184" name="Google Shape;184;p34"/>
          <p:cNvSpPr/>
          <p:nvPr/>
        </p:nvSpPr>
        <p:spPr>
          <a:xfrm>
            <a:off x="8195310" y="1554480"/>
            <a:ext cx="3451860" cy="4177665"/>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CRITERIOS PARA HOMOLOGAR</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75% CAP QUIROGRAFARIO TOTAL (S/11000) IGUAL A 8250</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50% CADA CATEGORIA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8" name="Shape 188"/>
        <p:cNvGrpSpPr/>
        <p:nvPr/>
      </p:nvGrpSpPr>
      <p:grpSpPr>
        <a:xfrm>
          <a:off x="0" y="0"/>
          <a:ext cx="0" cy="0"/>
          <a:chOff x="0" y="0"/>
          <a:chExt cx="0" cy="0"/>
        </a:xfrm>
      </p:grpSpPr>
      <p:sp>
        <p:nvSpPr>
          <p:cNvPr id="189" name="Google Shape;189;p35"/>
          <p:cNvSpPr/>
          <p:nvPr/>
        </p:nvSpPr>
        <p:spPr>
          <a:xfrm>
            <a:off x="6096000" y="0"/>
            <a:ext cx="6096000" cy="6858000"/>
          </a:xfrm>
          <a:prstGeom prst="rect">
            <a:avLst/>
          </a:prstGeom>
          <a:solidFill>
            <a:schemeClr val="dk1">
              <a:alpha val="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0" name="Google Shape;190;p35"/>
          <p:cNvSpPr/>
          <p:nvPr/>
        </p:nvSpPr>
        <p:spPr>
          <a:xfrm>
            <a:off x="1453478" y="0"/>
            <a:ext cx="4657389"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1" name="Google Shape;191;p35"/>
          <p:cNvSpPr txBox="1"/>
          <p:nvPr>
            <p:ph type="title"/>
          </p:nvPr>
        </p:nvSpPr>
        <p:spPr>
          <a:xfrm>
            <a:off x="1901162" y="3050434"/>
            <a:ext cx="3722933" cy="757130"/>
          </a:xfrm>
          <a:prstGeom prst="rect">
            <a:avLst/>
          </a:prstGeom>
          <a:noFill/>
          <a:ln cap="sq" cmpd="sng" w="25400">
            <a:solidFill>
              <a:srgbClr val="FFFFFF"/>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800"/>
              <a:buFont typeface="Calibri"/>
              <a:buNone/>
            </a:pPr>
            <a:r>
              <a:rPr lang="en-US" sz="2800">
                <a:solidFill>
                  <a:srgbClr val="FFFFFF"/>
                </a:solidFill>
                <a:latin typeface="Calibri"/>
                <a:ea typeface="Calibri"/>
                <a:cs typeface="Calibri"/>
                <a:sym typeface="Calibri"/>
              </a:rPr>
              <a:t>Propuesta</a:t>
            </a:r>
            <a:endParaRPr/>
          </a:p>
        </p:txBody>
      </p:sp>
      <p:sp>
        <p:nvSpPr>
          <p:cNvPr id="192" name="Google Shape;192;p35"/>
          <p:cNvSpPr/>
          <p:nvPr/>
        </p:nvSpPr>
        <p:spPr>
          <a:xfrm>
            <a:off x="0" y="0"/>
            <a:ext cx="1453478" cy="6858000"/>
          </a:xfrm>
          <a:prstGeom prst="rect">
            <a:avLst/>
          </a:prstGeom>
          <a:solidFill>
            <a:srgbClr val="404040">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3" name="Google Shape;193;p35"/>
          <p:cNvSpPr txBox="1"/>
          <p:nvPr>
            <p:ph idx="1" type="body"/>
          </p:nvPr>
        </p:nvSpPr>
        <p:spPr>
          <a:xfrm>
            <a:off x="6617467" y="2100744"/>
            <a:ext cx="5053066" cy="298783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050"/>
              <a:buChar char="•"/>
            </a:pPr>
            <a:r>
              <a:rPr lang="en-US" sz="1050"/>
              <a:t>La aprobación de estas propuestas requiere las mayorías del artículo 45. Sin embargo, también se considerarán aprobadas si las hubieran votado favorablemente no menos del SETENTA Y CINCO POR CIENTO (75 %) del total del capital con derecho a voto computado sobre todos los concursados, y no menos del CINCUENTA POR CIENTO (50%) del capital dentro de cada una de las categorías.</a:t>
            </a:r>
            <a:endParaRPr/>
          </a:p>
          <a:p>
            <a:pPr indent="-228600" lvl="0" marL="228600" rtl="0" algn="l">
              <a:lnSpc>
                <a:spcPct val="90000"/>
              </a:lnSpc>
              <a:spcBef>
                <a:spcPts val="1000"/>
              </a:spcBef>
              <a:spcAft>
                <a:spcPts val="0"/>
              </a:spcAft>
              <a:buClr>
                <a:schemeClr val="dk1"/>
              </a:buClr>
              <a:buSzPts val="1050"/>
              <a:buChar char="•"/>
            </a:pPr>
            <a:r>
              <a:rPr lang="en-US" sz="1050"/>
              <a:t>La falta de obtención de las mayorías importará la declaración en quiebra de todos los concursados. El mismo efecto produce la declaración de quiebra de uno de los concursados durante la etapa de cumplimiento del acuerdo preventivo.</a:t>
            </a:r>
            <a:endParaRPr/>
          </a:p>
          <a:p>
            <a:pPr indent="-228600" lvl="0" marL="228600" rtl="0" algn="l">
              <a:lnSpc>
                <a:spcPct val="90000"/>
              </a:lnSpc>
              <a:spcBef>
                <a:spcPts val="1000"/>
              </a:spcBef>
              <a:spcAft>
                <a:spcPts val="0"/>
              </a:spcAft>
              <a:buClr>
                <a:schemeClr val="dk1"/>
              </a:buClr>
              <a:buSzPts val="1050"/>
              <a:buChar char="•"/>
            </a:pPr>
            <a:r>
              <a:rPr lang="en-US" sz="1050"/>
              <a:t>Propuestas Individuales. Si las propuestas se refieren a cada concursado individualmente, la aprobación requiere la mayoría del artículo 45 en cada concurso. No se aplica a este caso lo previsto en el último párrafo del apartado precedente.</a:t>
            </a:r>
            <a:endParaRPr/>
          </a:p>
          <a:p>
            <a:pPr indent="-228600" lvl="0" marL="228600" rtl="0" algn="l">
              <a:lnSpc>
                <a:spcPct val="90000"/>
              </a:lnSpc>
              <a:spcBef>
                <a:spcPts val="1000"/>
              </a:spcBef>
              <a:spcAft>
                <a:spcPts val="0"/>
              </a:spcAft>
              <a:buClr>
                <a:schemeClr val="dk1"/>
              </a:buClr>
              <a:buSzPts val="1050"/>
              <a:buChar char="•"/>
            </a:pPr>
            <a:r>
              <a:rPr lang="en-US" sz="1050"/>
              <a:t>Créditos entre concursados. Los créditos entre integrantes del agrupamiento o sus cesionarios dentro de los DOS (2) años anteriores a la presentación no tendrán derecho a voto. El acuerdo puede prever la extinción total o parcial de estos créditos, su subordinación u otra forma de tratamiento particular.</a:t>
            </a:r>
            <a:endParaRPr/>
          </a:p>
          <a:p>
            <a:pPr indent="-158750" lvl="1" marL="685800" rtl="0" algn="l">
              <a:lnSpc>
                <a:spcPct val="90000"/>
              </a:lnSpc>
              <a:spcBef>
                <a:spcPts val="500"/>
              </a:spcBef>
              <a:spcAft>
                <a:spcPts val="0"/>
              </a:spcAft>
              <a:buClr>
                <a:schemeClr val="dk1"/>
              </a:buClr>
              <a:buSzPts val="1100"/>
              <a:buNone/>
            </a:pPr>
            <a:r>
              <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7" name="Shape 197"/>
        <p:cNvGrpSpPr/>
        <p:nvPr/>
      </p:nvGrpSpPr>
      <p:grpSpPr>
        <a:xfrm>
          <a:off x="0" y="0"/>
          <a:ext cx="0" cy="0"/>
          <a:chOff x="0" y="0"/>
          <a:chExt cx="0" cy="0"/>
        </a:xfrm>
      </p:grpSpPr>
      <p:sp>
        <p:nvSpPr>
          <p:cNvPr id="198" name="Google Shape;198;p36"/>
          <p:cNvSpPr/>
          <p:nvPr/>
        </p:nvSpPr>
        <p:spPr>
          <a:xfrm>
            <a:off x="0" y="0"/>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9" name="Google Shape;199;p36"/>
          <p:cNvSpPr/>
          <p:nvPr/>
        </p:nvSpPr>
        <p:spPr>
          <a:xfrm>
            <a:off x="305" y="0"/>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0" name="Google Shape;200;p36"/>
          <p:cNvSpPr txBox="1"/>
          <p:nvPr>
            <p:ph type="ctrTitle"/>
          </p:nvPr>
        </p:nvSpPr>
        <p:spPr>
          <a:xfrm>
            <a:off x="804672" y="4267832"/>
            <a:ext cx="4805996" cy="129711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3700"/>
              <a:buFont typeface="Gill Sans"/>
              <a:buNone/>
            </a:pPr>
            <a:r>
              <a:rPr b="0" i="0" lang="en-US" sz="3700">
                <a:solidFill>
                  <a:schemeClr val="dk2"/>
                </a:solidFill>
                <a:latin typeface="Gill Sans"/>
                <a:ea typeface="Gill Sans"/>
                <a:cs typeface="Gill Sans"/>
                <a:sym typeface="Gill Sans"/>
              </a:rPr>
              <a:t>ACUERDO PREVENTIVO EXTRAJUDICIAL</a:t>
            </a:r>
            <a:endParaRPr sz="3700">
              <a:solidFill>
                <a:schemeClr val="dk2"/>
              </a:solidFill>
            </a:endParaRPr>
          </a:p>
        </p:txBody>
      </p:sp>
      <p:sp>
        <p:nvSpPr>
          <p:cNvPr id="201" name="Google Shape;201;p36"/>
          <p:cNvSpPr txBox="1"/>
          <p:nvPr>
            <p:ph idx="1" type="subTitle"/>
          </p:nvPr>
        </p:nvSpPr>
        <p:spPr>
          <a:xfrm>
            <a:off x="804672" y="3428999"/>
            <a:ext cx="4805691" cy="83883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2000"/>
              <a:buNone/>
            </a:pPr>
            <a:r>
              <a:rPr lang="en-US" sz="2000">
                <a:solidFill>
                  <a:schemeClr val="dk2"/>
                </a:solidFill>
              </a:rPr>
              <a:t>Arts. 69 al 76 </a:t>
            </a:r>
            <a:endParaRPr sz="2000">
              <a:solidFill>
                <a:schemeClr val="dk2"/>
              </a:solidFill>
            </a:endParaRPr>
          </a:p>
        </p:txBody>
      </p:sp>
      <p:grpSp>
        <p:nvGrpSpPr>
          <p:cNvPr id="202" name="Google Shape;202;p36"/>
          <p:cNvGrpSpPr/>
          <p:nvPr/>
        </p:nvGrpSpPr>
        <p:grpSpPr>
          <a:xfrm>
            <a:off x="6101023" y="52996"/>
            <a:ext cx="6093363" cy="6805005"/>
            <a:chOff x="6101023" y="52996"/>
            <a:chExt cx="6093363" cy="6805005"/>
          </a:xfrm>
        </p:grpSpPr>
        <p:sp>
          <p:nvSpPr>
            <p:cNvPr id="203" name="Google Shape;203;p36"/>
            <p:cNvSpPr/>
            <p:nvPr/>
          </p:nvSpPr>
          <p:spPr>
            <a:xfrm>
              <a:off x="6101024" y="52997"/>
              <a:ext cx="6093362" cy="6805004"/>
            </a:xfrm>
            <a:custGeom>
              <a:rect b="b" l="l" r="r" t="t"/>
              <a:pathLst>
                <a:path extrusionOk="0" h="6578439" w="5890490">
                  <a:moveTo>
                    <a:pt x="3517682" y="0"/>
                  </a:moveTo>
                  <a:cubicBezTo>
                    <a:pt x="4402016" y="0"/>
                    <a:pt x="5213741" y="315483"/>
                    <a:pt x="5849513" y="841730"/>
                  </a:cubicBezTo>
                  <a:lnTo>
                    <a:pt x="5890490" y="879060"/>
                  </a:lnTo>
                  <a:lnTo>
                    <a:pt x="5890490" y="1816052"/>
                  </a:lnTo>
                  <a:lnTo>
                    <a:pt x="5856961" y="1771023"/>
                  </a:lnTo>
                  <a:cubicBezTo>
                    <a:pt x="5793650" y="1694076"/>
                    <a:pt x="5726429" y="1619959"/>
                    <a:pt x="5655397" y="1548813"/>
                  </a:cubicBezTo>
                  <a:cubicBezTo>
                    <a:pt x="5082208" y="974906"/>
                    <a:pt x="4322973" y="658717"/>
                    <a:pt x="3517682" y="658717"/>
                  </a:cubicBezTo>
                  <a:cubicBezTo>
                    <a:pt x="3085520" y="658717"/>
                    <a:pt x="2718488" y="721533"/>
                    <a:pt x="2395696" y="850721"/>
                  </a:cubicBezTo>
                  <a:cubicBezTo>
                    <a:pt x="2079132" y="977407"/>
                    <a:pt x="1792668" y="1173626"/>
                    <a:pt x="1519955" y="1450441"/>
                  </a:cubicBezTo>
                  <a:cubicBezTo>
                    <a:pt x="1330275" y="1642840"/>
                    <a:pt x="1263719" y="1756094"/>
                    <a:pt x="1223630" y="1841430"/>
                  </a:cubicBezTo>
                  <a:cubicBezTo>
                    <a:pt x="1166545" y="1962981"/>
                    <a:pt x="1128532" y="2116663"/>
                    <a:pt x="1075857" y="2329343"/>
                  </a:cubicBezTo>
                  <a:cubicBezTo>
                    <a:pt x="1008652" y="2601153"/>
                    <a:pt x="916537" y="2973574"/>
                    <a:pt x="731010" y="3483744"/>
                  </a:cubicBezTo>
                  <a:cubicBezTo>
                    <a:pt x="617488" y="3795981"/>
                    <a:pt x="620731" y="4121653"/>
                    <a:pt x="741000" y="4479719"/>
                  </a:cubicBezTo>
                  <a:cubicBezTo>
                    <a:pt x="847257" y="4796172"/>
                    <a:pt x="1045888" y="5129481"/>
                    <a:pt x="1315615" y="5443827"/>
                  </a:cubicBezTo>
                  <a:cubicBezTo>
                    <a:pt x="1630753" y="5810980"/>
                    <a:pt x="1945371" y="6077784"/>
                    <a:pt x="2277503" y="6259386"/>
                  </a:cubicBezTo>
                  <a:cubicBezTo>
                    <a:pt x="2637530" y="6456133"/>
                    <a:pt x="3017536" y="6551739"/>
                    <a:pt x="3439448" y="6551739"/>
                  </a:cubicBezTo>
                  <a:cubicBezTo>
                    <a:pt x="3781571" y="6551739"/>
                    <a:pt x="4089573" y="6457449"/>
                    <a:pt x="4408732" y="6255172"/>
                  </a:cubicBezTo>
                  <a:cubicBezTo>
                    <a:pt x="4738010" y="6046310"/>
                    <a:pt x="5050941" y="5739207"/>
                    <a:pt x="5343243" y="5442509"/>
                  </a:cubicBezTo>
                  <a:cubicBezTo>
                    <a:pt x="5479860" y="5303970"/>
                    <a:pt x="5614918" y="5178206"/>
                    <a:pt x="5745566" y="5056656"/>
                  </a:cubicBezTo>
                  <a:lnTo>
                    <a:pt x="5890490" y="4920880"/>
                  </a:lnTo>
                  <a:lnTo>
                    <a:pt x="5890490" y="5821966"/>
                  </a:lnTo>
                  <a:lnTo>
                    <a:pt x="5802002"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3"/>
                  </a:srgbClr>
                </a:gs>
                <a:gs pos="2000">
                  <a:srgbClr val="FFFFFF">
                    <a:alpha val="9803"/>
                  </a:srgbClr>
                </a:gs>
                <a:gs pos="16000">
                  <a:srgbClr val="70AD47">
                    <a:alpha val="4705"/>
                  </a:srgbClr>
                </a:gs>
                <a:gs pos="85000">
                  <a:srgbClr val="4472C4">
                    <a:alpha val="4705"/>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4" name="Google Shape;204;p36"/>
            <p:cNvSpPr/>
            <p:nvPr/>
          </p:nvSpPr>
          <p:spPr>
            <a:xfrm>
              <a:off x="6101025"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3"/>
                  </a:srgbClr>
                </a:gs>
                <a:gs pos="2000">
                  <a:srgbClr val="FFFFFF">
                    <a:alpha val="9803"/>
                  </a:srgbClr>
                </a:gs>
                <a:gs pos="16000">
                  <a:srgbClr val="70AD47">
                    <a:alpha val="4705"/>
                  </a:srgbClr>
                </a:gs>
                <a:gs pos="85000">
                  <a:srgbClr val="4472C4">
                    <a:alpha val="4705"/>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5" name="Google Shape;205;p36"/>
            <p:cNvSpPr/>
            <p:nvPr/>
          </p:nvSpPr>
          <p:spPr>
            <a:xfrm>
              <a:off x="6101023"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chemeClr val="lt1"/>
                </a:gs>
                <a:gs pos="2000">
                  <a:schemeClr val="lt1"/>
                </a:gs>
                <a:gs pos="16000">
                  <a:srgbClr val="70AD47">
                    <a:alpha val="9803"/>
                  </a:srgbClr>
                </a:gs>
                <a:gs pos="85000">
                  <a:srgbClr val="4472C4">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 name="Google Shape;206;p36"/>
            <p:cNvSpPr/>
            <p:nvPr/>
          </p:nvSpPr>
          <p:spPr>
            <a:xfrm>
              <a:off x="6101024"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3"/>
                  </a:srgbClr>
                </a:gs>
                <a:gs pos="2000">
                  <a:srgbClr val="FFFFFF">
                    <a:alpha val="9803"/>
                  </a:srgbClr>
                </a:gs>
                <a:gs pos="16000">
                  <a:srgbClr val="70AD47">
                    <a:alpha val="4705"/>
                  </a:srgbClr>
                </a:gs>
                <a:gs pos="85000">
                  <a:srgbClr val="4472C4">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pic>
        <p:nvPicPr>
          <p:cNvPr descr="Compromisos" id="207" name="Google Shape;207;p36"/>
          <p:cNvPicPr preferRelativeResize="0"/>
          <p:nvPr/>
        </p:nvPicPr>
        <p:blipFill rotWithShape="1">
          <a:blip r:embed="rId3">
            <a:alphaModFix/>
          </a:blip>
          <a:srcRect b="0" l="0" r="0" t="0"/>
          <a:stretch/>
        </p:blipFill>
        <p:spPr>
          <a:xfrm>
            <a:off x="7729652" y="1859078"/>
            <a:ext cx="3821102" cy="382110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1" name="Shape 211"/>
        <p:cNvGrpSpPr/>
        <p:nvPr/>
      </p:nvGrpSpPr>
      <p:grpSpPr>
        <a:xfrm>
          <a:off x="0" y="0"/>
          <a:ext cx="0" cy="0"/>
          <a:chOff x="0" y="0"/>
          <a:chExt cx="0" cy="0"/>
        </a:xfrm>
      </p:grpSpPr>
      <p:sp>
        <p:nvSpPr>
          <p:cNvPr id="212" name="Google Shape;212;p3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3" name="Google Shape;213;p37"/>
          <p:cNvSpPr/>
          <p:nvPr/>
        </p:nvSpPr>
        <p:spPr>
          <a:xfrm>
            <a:off x="199528" y="554152"/>
            <a:ext cx="5742189" cy="5742189"/>
          </a:xfrm>
          <a:prstGeom prst="ellipse">
            <a:avLst/>
          </a:prstGeom>
          <a:gradFill>
            <a:gsLst>
              <a:gs pos="0">
                <a:schemeClr val="accent1"/>
              </a:gs>
              <a:gs pos="100000">
                <a:schemeClr val="accent2"/>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4" name="Google Shape;214;p37"/>
          <p:cNvSpPr txBox="1"/>
          <p:nvPr>
            <p:ph type="title"/>
          </p:nvPr>
        </p:nvSpPr>
        <p:spPr>
          <a:xfrm>
            <a:off x="1245072" y="1289765"/>
            <a:ext cx="3651101" cy="42709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5600"/>
              <a:buFont typeface="Calibri"/>
              <a:buNone/>
            </a:pPr>
            <a:r>
              <a:rPr lang="en-US" sz="5600">
                <a:solidFill>
                  <a:srgbClr val="FFFFFF"/>
                </a:solidFill>
              </a:rPr>
              <a:t>APE</a:t>
            </a:r>
            <a:endParaRPr sz="5600">
              <a:solidFill>
                <a:srgbClr val="FFFFFF"/>
              </a:solidFill>
            </a:endParaRPr>
          </a:p>
        </p:txBody>
      </p:sp>
      <p:sp>
        <p:nvSpPr>
          <p:cNvPr id="215" name="Google Shape;215;p37"/>
          <p:cNvSpPr/>
          <p:nvPr/>
        </p:nvSpPr>
        <p:spPr>
          <a:xfrm>
            <a:off x="1123493" y="374394"/>
            <a:ext cx="171515" cy="171515"/>
          </a:xfrm>
          <a:custGeom>
            <a:rect b="b" l="l" r="r" t="t"/>
            <a:pathLst>
              <a:path extrusionOk="0" h="171515" w="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p37"/>
          <p:cNvSpPr/>
          <p:nvPr/>
        </p:nvSpPr>
        <p:spPr>
          <a:xfrm>
            <a:off x="550109" y="1084507"/>
            <a:ext cx="157545" cy="157545"/>
          </a:xfrm>
          <a:custGeom>
            <a:rect b="b" l="l" r="r" t="t"/>
            <a:pathLst>
              <a:path extrusionOk="0" h="157545" w="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37"/>
          <p:cNvSpPr txBox="1"/>
          <p:nvPr>
            <p:ph idx="1" type="body"/>
          </p:nvPr>
        </p:nvSpPr>
        <p:spPr>
          <a:xfrm>
            <a:off x="6297233" y="518400"/>
            <a:ext cx="4771607" cy="583794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solidFill>
                  <a:schemeClr val="dk1"/>
                </a:solidFill>
              </a:rPr>
              <a:t>Grispo dice que no queda duda alguna de que en el caso de los acuerdos preventivos extrajudiciales, nos encontramos frente a un contrato. Afirma que se está frente a un </a:t>
            </a:r>
            <a:r>
              <a:rPr b="1" lang="en-US" sz="2000" u="sng">
                <a:solidFill>
                  <a:schemeClr val="dk1"/>
                </a:solidFill>
              </a:rPr>
              <a:t>contrato plurilateral</a:t>
            </a:r>
            <a:r>
              <a:rPr lang="en-US" sz="2000">
                <a:solidFill>
                  <a:schemeClr val="dk1"/>
                </a:solidFill>
              </a:rPr>
              <a:t>, dada la multiplicidad de partes que pueden concurrir a formar la voluntad en los acuerdos de este tipo y que son contratos a título oneroso, dado que las ventajas que se procuran las partes contratantes son concedidas a cambio de recíprocas contraprestaciones.</a:t>
            </a:r>
            <a:endParaRPr sz="2000">
              <a:solidFill>
                <a:schemeClr val="dk1"/>
              </a:solidFill>
            </a:endParaRPr>
          </a:p>
        </p:txBody>
      </p:sp>
      <p:sp>
        <p:nvSpPr>
          <p:cNvPr id="218" name="Google Shape;218;p37"/>
          <p:cNvSpPr/>
          <p:nvPr/>
        </p:nvSpPr>
        <p:spPr>
          <a:xfrm>
            <a:off x="5436547" y="5751820"/>
            <a:ext cx="112426" cy="112426"/>
          </a:xfrm>
          <a:custGeom>
            <a:rect b="b" l="l" r="r" t="t"/>
            <a:pathLst>
              <a:path extrusionOk="0" h="112426" w="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19" name="Google Shape;219;p37"/>
          <p:cNvCxnSpPr/>
          <p:nvPr/>
        </p:nvCxnSpPr>
        <p:spPr>
          <a:xfrm>
            <a:off x="11586162" y="3610394"/>
            <a:ext cx="0" cy="3238728"/>
          </a:xfrm>
          <a:prstGeom prst="straightConnector1">
            <a:avLst/>
          </a:prstGeom>
          <a:noFill/>
          <a:ln cap="sq" cmpd="sng" w="25400">
            <a:solidFill>
              <a:schemeClr val="accent1"/>
            </a:solidFill>
            <a:prstDash val="solid"/>
            <a:bevel/>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3" name="Shape 223"/>
        <p:cNvGrpSpPr/>
        <p:nvPr/>
      </p:nvGrpSpPr>
      <p:grpSpPr>
        <a:xfrm>
          <a:off x="0" y="0"/>
          <a:ext cx="0" cy="0"/>
          <a:chOff x="0" y="0"/>
          <a:chExt cx="0" cy="0"/>
        </a:xfrm>
      </p:grpSpPr>
      <p:sp>
        <p:nvSpPr>
          <p:cNvPr id="224" name="Google Shape;224;p38"/>
          <p:cNvSpPr/>
          <p:nvPr/>
        </p:nvSpPr>
        <p:spPr>
          <a:xfrm>
            <a:off x="0" y="1"/>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 name="Google Shape;225;p38"/>
          <p:cNvSpPr/>
          <p:nvPr/>
        </p:nvSpPr>
        <p:spPr>
          <a:xfrm>
            <a:off x="305" y="0"/>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lt1"/>
              </a:solidFill>
              <a:latin typeface="Calibri"/>
              <a:ea typeface="Calibri"/>
              <a:cs typeface="Calibri"/>
              <a:sym typeface="Calibri"/>
            </a:endParaRPr>
          </a:p>
        </p:txBody>
      </p:sp>
      <p:sp>
        <p:nvSpPr>
          <p:cNvPr id="226" name="Google Shape;226;p38"/>
          <p:cNvSpPr txBox="1"/>
          <p:nvPr>
            <p:ph type="title"/>
          </p:nvPr>
        </p:nvSpPr>
        <p:spPr>
          <a:xfrm>
            <a:off x="1179226" y="1280679"/>
            <a:ext cx="9833548" cy="1325563"/>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2"/>
              </a:buClr>
              <a:buSzPts val="3600"/>
              <a:buFont typeface="Calibri"/>
              <a:buNone/>
            </a:pPr>
            <a:r>
              <a:rPr lang="en-US" sz="3600">
                <a:solidFill>
                  <a:schemeClr val="dk2"/>
                </a:solidFill>
              </a:rPr>
              <a:t>Legitimado </a:t>
            </a:r>
            <a:endParaRPr sz="3600">
              <a:solidFill>
                <a:schemeClr val="dk2"/>
              </a:solidFill>
            </a:endParaRPr>
          </a:p>
        </p:txBody>
      </p:sp>
      <p:grpSp>
        <p:nvGrpSpPr>
          <p:cNvPr id="227" name="Google Shape;227;p38"/>
          <p:cNvGrpSpPr/>
          <p:nvPr/>
        </p:nvGrpSpPr>
        <p:grpSpPr>
          <a:xfrm>
            <a:off x="8289890" y="0"/>
            <a:ext cx="3902110" cy="2382977"/>
            <a:chOff x="6867015" y="-1"/>
            <a:chExt cx="5324985" cy="3251912"/>
          </a:xfrm>
        </p:grpSpPr>
        <p:sp>
          <p:nvSpPr>
            <p:cNvPr id="228" name="Google Shape;228;p38"/>
            <p:cNvSpPr/>
            <p:nvPr/>
          </p:nvSpPr>
          <p:spPr>
            <a:xfrm>
              <a:off x="6867015" y="-1"/>
              <a:ext cx="5324985" cy="3251912"/>
            </a:xfrm>
            <a:custGeom>
              <a:rect b="b" l="l" r="r" t="t"/>
              <a:pathLst>
                <a:path extrusionOk="0" h="3251912" w="5324985">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0">
                  <a:srgbClr val="FFFFFF">
                    <a:alpha val="9803"/>
                  </a:srgbClr>
                </a:gs>
                <a:gs pos="2000">
                  <a:srgbClr val="FFFFFF">
                    <a:alpha val="9803"/>
                  </a:srgbClr>
                </a:gs>
                <a:gs pos="16000">
                  <a:srgbClr val="70AD47">
                    <a:alpha val="9803"/>
                  </a:srgbClr>
                </a:gs>
                <a:gs pos="85000">
                  <a:srgbClr val="4472C4">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9" name="Google Shape;229;p38"/>
            <p:cNvSpPr/>
            <p:nvPr/>
          </p:nvSpPr>
          <p:spPr>
            <a:xfrm>
              <a:off x="6916467" y="-1"/>
              <a:ext cx="5275533" cy="2980757"/>
            </a:xfrm>
            <a:custGeom>
              <a:rect b="b" l="l" r="r" t="t"/>
              <a:pathLst>
                <a:path extrusionOk="0" h="2980757" w="5275533">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0">
                  <a:srgbClr val="FFFFFF">
                    <a:alpha val="9803"/>
                  </a:srgbClr>
                </a:gs>
                <a:gs pos="2000">
                  <a:srgbClr val="FFFFFF">
                    <a:alpha val="9803"/>
                  </a:srgbClr>
                </a:gs>
                <a:gs pos="16000">
                  <a:srgbClr val="70AD47">
                    <a:alpha val="9803"/>
                  </a:srgbClr>
                </a:gs>
                <a:gs pos="85000">
                  <a:srgbClr val="4472C4">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0" name="Google Shape;230;p38"/>
            <p:cNvSpPr/>
            <p:nvPr/>
          </p:nvSpPr>
          <p:spPr>
            <a:xfrm>
              <a:off x="6921214" y="-1"/>
              <a:ext cx="5270786" cy="2927775"/>
            </a:xfrm>
            <a:custGeom>
              <a:rect b="b" l="l" r="r" t="t"/>
              <a:pathLst>
                <a:path extrusionOk="0" h="2927775" w="5270786">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0">
                  <a:srgbClr val="FFFFFF">
                    <a:alpha val="9803"/>
                  </a:srgbClr>
                </a:gs>
                <a:gs pos="2000">
                  <a:srgbClr val="FFFFFF">
                    <a:alpha val="9803"/>
                  </a:srgbClr>
                </a:gs>
                <a:gs pos="16000">
                  <a:srgbClr val="70AD47">
                    <a:alpha val="9803"/>
                  </a:srgbClr>
                </a:gs>
                <a:gs pos="85000">
                  <a:srgbClr val="4472C4">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1" name="Google Shape;231;p38"/>
            <p:cNvSpPr/>
            <p:nvPr/>
          </p:nvSpPr>
          <p:spPr>
            <a:xfrm>
              <a:off x="6921214" y="-1"/>
              <a:ext cx="5270786" cy="2927775"/>
            </a:xfrm>
            <a:custGeom>
              <a:rect b="b" l="l" r="r" t="t"/>
              <a:pathLst>
                <a:path extrusionOk="0" h="2927775" w="5270786">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0">
                  <a:srgbClr val="FFFFFF">
                    <a:alpha val="9803"/>
                  </a:srgbClr>
                </a:gs>
                <a:gs pos="2000">
                  <a:srgbClr val="FFFFFF">
                    <a:alpha val="9803"/>
                  </a:srgbClr>
                </a:gs>
                <a:gs pos="16000">
                  <a:srgbClr val="70AD47">
                    <a:alpha val="9803"/>
                  </a:srgbClr>
                </a:gs>
                <a:gs pos="85000">
                  <a:srgbClr val="4472C4">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32" name="Google Shape;232;p38"/>
          <p:cNvSpPr txBox="1"/>
          <p:nvPr>
            <p:ph idx="1" type="body"/>
          </p:nvPr>
        </p:nvSpPr>
        <p:spPr>
          <a:xfrm>
            <a:off x="1179226" y="2890979"/>
            <a:ext cx="9833548" cy="269397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2"/>
              </a:buClr>
              <a:buSzPts val="1800"/>
              <a:buChar char="•"/>
            </a:pPr>
            <a:r>
              <a:rPr b="0" i="0" lang="en-US" sz="1800">
                <a:solidFill>
                  <a:schemeClr val="dk2"/>
                </a:solidFill>
                <a:latin typeface="Gill Sans"/>
                <a:ea typeface="Gill Sans"/>
                <a:cs typeface="Gill Sans"/>
                <a:sym typeface="Gill Sans"/>
              </a:rPr>
              <a:t>ARTICULO 69: Legitimado. El deudor que se encontrare en cesación de pagos o en dificultades económicas o financieras de carácter general, puede celebrar un acuerdo con sus acreedores y someterlo a homologación judicial.</a:t>
            </a:r>
            <a:endParaRPr sz="1800">
              <a:solidFill>
                <a:schemeClr val="dk2"/>
              </a:solidFill>
            </a:endParaRPr>
          </a:p>
        </p:txBody>
      </p:sp>
      <p:grpSp>
        <p:nvGrpSpPr>
          <p:cNvPr id="233" name="Google Shape;233;p38"/>
          <p:cNvGrpSpPr/>
          <p:nvPr/>
        </p:nvGrpSpPr>
        <p:grpSpPr>
          <a:xfrm flipH="1" rot="10800000">
            <a:off x="0" y="4682671"/>
            <a:ext cx="2898948" cy="2175328"/>
            <a:chOff x="-305" y="-1"/>
            <a:chExt cx="3832880" cy="2876136"/>
          </a:xfrm>
        </p:grpSpPr>
        <p:sp>
          <p:nvSpPr>
            <p:cNvPr id="234" name="Google Shape;234;p38"/>
            <p:cNvSpPr/>
            <p:nvPr/>
          </p:nvSpPr>
          <p:spPr>
            <a:xfrm>
              <a:off x="305" y="1"/>
              <a:ext cx="3815424" cy="2653659"/>
            </a:xfrm>
            <a:custGeom>
              <a:rect b="b" l="l" r="r" t="t"/>
              <a:pathLst>
                <a:path extrusionOk="0" h="2653659" w="3815424">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0">
                  <a:srgbClr val="FFFFFF">
                    <a:alpha val="9803"/>
                  </a:srgbClr>
                </a:gs>
                <a:gs pos="2000">
                  <a:srgbClr val="FFFFFF">
                    <a:alpha val="9803"/>
                  </a:srgbClr>
                </a:gs>
                <a:gs pos="16000">
                  <a:srgbClr val="70AD47">
                    <a:alpha val="9803"/>
                  </a:srgbClr>
                </a:gs>
                <a:gs pos="85000">
                  <a:srgbClr val="4472C4">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 name="Google Shape;235;p38"/>
            <p:cNvSpPr/>
            <p:nvPr/>
          </p:nvSpPr>
          <p:spPr>
            <a:xfrm>
              <a:off x="305" y="-1"/>
              <a:ext cx="3815424" cy="2653660"/>
            </a:xfrm>
            <a:custGeom>
              <a:rect b="b" l="l" r="r" t="t"/>
              <a:pathLst>
                <a:path extrusionOk="0" h="2653660" w="3815424">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0">
                  <a:srgbClr val="FFFFFF">
                    <a:alpha val="9803"/>
                  </a:srgbClr>
                </a:gs>
                <a:gs pos="2000">
                  <a:srgbClr val="FFFFFF">
                    <a:alpha val="9803"/>
                  </a:srgbClr>
                </a:gs>
                <a:gs pos="16000">
                  <a:srgbClr val="70AD47">
                    <a:alpha val="9803"/>
                  </a:srgbClr>
                </a:gs>
                <a:gs pos="85000">
                  <a:srgbClr val="4472C4">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 name="Google Shape;236;p38"/>
            <p:cNvSpPr/>
            <p:nvPr/>
          </p:nvSpPr>
          <p:spPr>
            <a:xfrm>
              <a:off x="-305" y="1"/>
              <a:ext cx="3815986" cy="2675935"/>
            </a:xfrm>
            <a:custGeom>
              <a:rect b="b" l="l" r="r" t="t"/>
              <a:pathLst>
                <a:path extrusionOk="0" h="2675935" w="3815986">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0">
                  <a:srgbClr val="FFFFFF">
                    <a:alpha val="9803"/>
                  </a:srgbClr>
                </a:gs>
                <a:gs pos="2000">
                  <a:srgbClr val="FFFFFF">
                    <a:alpha val="9803"/>
                  </a:srgbClr>
                </a:gs>
                <a:gs pos="16000">
                  <a:srgbClr val="70AD47">
                    <a:alpha val="9803"/>
                  </a:srgbClr>
                </a:gs>
                <a:gs pos="85000">
                  <a:srgbClr val="4472C4">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 name="Google Shape;237;p38"/>
            <p:cNvSpPr/>
            <p:nvPr/>
          </p:nvSpPr>
          <p:spPr>
            <a:xfrm>
              <a:off x="305" y="-1"/>
              <a:ext cx="3832270" cy="2876136"/>
            </a:xfrm>
            <a:custGeom>
              <a:rect b="b" l="l" r="r" t="t"/>
              <a:pathLst>
                <a:path extrusionOk="0" h="2876136" w="3832270">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0">
                  <a:srgbClr val="FFFFFF">
                    <a:alpha val="9803"/>
                  </a:srgbClr>
                </a:gs>
                <a:gs pos="2000">
                  <a:srgbClr val="FFFFFF">
                    <a:alpha val="9803"/>
                  </a:srgbClr>
                </a:gs>
                <a:gs pos="16000">
                  <a:srgbClr val="70AD47">
                    <a:alpha val="9803"/>
                  </a:srgbClr>
                </a:gs>
                <a:gs pos="85000">
                  <a:srgbClr val="4472C4">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1" name="Shape 241"/>
        <p:cNvGrpSpPr/>
        <p:nvPr/>
      </p:nvGrpSpPr>
      <p:grpSpPr>
        <a:xfrm>
          <a:off x="0" y="0"/>
          <a:ext cx="0" cy="0"/>
          <a:chOff x="0" y="0"/>
          <a:chExt cx="0" cy="0"/>
        </a:xfrm>
      </p:grpSpPr>
      <p:sp>
        <p:nvSpPr>
          <p:cNvPr id="242" name="Google Shape;242;p39"/>
          <p:cNvSpPr/>
          <p:nvPr/>
        </p:nvSpPr>
        <p:spPr>
          <a:xfrm>
            <a:off x="6096000" y="0"/>
            <a:ext cx="6096000" cy="6858000"/>
          </a:xfrm>
          <a:prstGeom prst="rect">
            <a:avLst/>
          </a:prstGeom>
          <a:solidFill>
            <a:schemeClr val="dk1">
              <a:alpha val="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3" name="Google Shape;243;p39"/>
          <p:cNvSpPr/>
          <p:nvPr/>
        </p:nvSpPr>
        <p:spPr>
          <a:xfrm>
            <a:off x="1453478" y="0"/>
            <a:ext cx="4657389"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4" name="Google Shape;244;p39"/>
          <p:cNvSpPr txBox="1"/>
          <p:nvPr>
            <p:ph type="title"/>
          </p:nvPr>
        </p:nvSpPr>
        <p:spPr>
          <a:xfrm>
            <a:off x="1901162" y="3050434"/>
            <a:ext cx="3722933" cy="757130"/>
          </a:xfrm>
          <a:prstGeom prst="rect">
            <a:avLst/>
          </a:prstGeom>
          <a:noFill/>
          <a:ln cap="sq" cmpd="sng" w="25400">
            <a:solidFill>
              <a:srgbClr val="FFFFFF"/>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800"/>
              <a:buFont typeface="Calibri"/>
              <a:buNone/>
            </a:pPr>
            <a:r>
              <a:rPr lang="en-US" sz="2800">
                <a:solidFill>
                  <a:srgbClr val="FFFFFF"/>
                </a:solidFill>
                <a:latin typeface="Calibri"/>
                <a:ea typeface="Calibri"/>
                <a:cs typeface="Calibri"/>
                <a:sym typeface="Calibri"/>
              </a:rPr>
              <a:t>APE</a:t>
            </a:r>
            <a:endParaRPr/>
          </a:p>
        </p:txBody>
      </p:sp>
      <p:sp>
        <p:nvSpPr>
          <p:cNvPr id="245" name="Google Shape;245;p39"/>
          <p:cNvSpPr/>
          <p:nvPr/>
        </p:nvSpPr>
        <p:spPr>
          <a:xfrm>
            <a:off x="0" y="0"/>
            <a:ext cx="1453478" cy="6858000"/>
          </a:xfrm>
          <a:prstGeom prst="rect">
            <a:avLst/>
          </a:prstGeom>
          <a:solidFill>
            <a:srgbClr val="404040">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 name="Google Shape;246;p39"/>
          <p:cNvSpPr txBox="1"/>
          <p:nvPr>
            <p:ph idx="1" type="body"/>
          </p:nvPr>
        </p:nvSpPr>
        <p:spPr>
          <a:xfrm>
            <a:off x="6574536" y="640080"/>
            <a:ext cx="5053066" cy="254660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600"/>
              <a:buChar char="•"/>
            </a:pPr>
            <a:r>
              <a:rPr lang="en-US" sz="1600"/>
              <a:t>son </a:t>
            </a:r>
            <a:r>
              <a:rPr b="1" lang="en-US" sz="1600" u="sng"/>
              <a:t>sujetos legitimados </a:t>
            </a:r>
            <a:r>
              <a:rPr lang="en-US" sz="1600"/>
              <a:t>(presupuesto subjetivo)para concretar un acuerdo preventivo extrajudicial todos los deudores que puedan requerir concurso preventivo</a:t>
            </a:r>
            <a:endParaRPr/>
          </a:p>
          <a:p>
            <a:pPr indent="-228600" lvl="0" marL="228600" rtl="0" algn="l">
              <a:lnSpc>
                <a:spcPct val="90000"/>
              </a:lnSpc>
              <a:spcBef>
                <a:spcPts val="1000"/>
              </a:spcBef>
              <a:spcAft>
                <a:spcPts val="0"/>
              </a:spcAft>
              <a:buClr>
                <a:schemeClr val="dk1"/>
              </a:buClr>
              <a:buSzPts val="1600"/>
              <a:buChar char="•"/>
            </a:pPr>
            <a:r>
              <a:rPr lang="en-US" sz="1600"/>
              <a:t>se está frente a un acuerdo que impone el régimen de mayorías sobre la totalidad de los acreedores</a:t>
            </a:r>
            <a:endParaRPr/>
          </a:p>
          <a:p>
            <a:pPr indent="-228600" lvl="0" marL="228600" rtl="0" algn="l">
              <a:lnSpc>
                <a:spcPct val="90000"/>
              </a:lnSpc>
              <a:spcBef>
                <a:spcPts val="1000"/>
              </a:spcBef>
              <a:spcAft>
                <a:spcPts val="0"/>
              </a:spcAft>
              <a:buClr>
                <a:schemeClr val="dk1"/>
              </a:buClr>
              <a:buSzPts val="1600"/>
              <a:buChar char="•"/>
            </a:pPr>
            <a:r>
              <a:rPr b="1" lang="en-US" sz="1600" u="sng"/>
              <a:t>presupuesto objetivo </a:t>
            </a:r>
            <a:r>
              <a:rPr lang="en-US" sz="1600"/>
              <a:t>del acuerdo preventivo extrajudicial la necesidad de que el deudor se encuentre en estado de cesación de pagos o tenga dificultades económicas o financieras de carácter general</a:t>
            </a:r>
            <a:endParaRPr/>
          </a:p>
        </p:txBody>
      </p:sp>
      <p:sp>
        <p:nvSpPr>
          <p:cNvPr id="247" name="Google Shape;247;p39"/>
          <p:cNvSpPr txBox="1"/>
          <p:nvPr/>
        </p:nvSpPr>
        <p:spPr>
          <a:xfrm>
            <a:off x="6570204" y="3671315"/>
            <a:ext cx="5057398" cy="1532697"/>
          </a:xfrm>
          <a:prstGeom prst="rect">
            <a:avLst/>
          </a:prstGeom>
          <a:solidFill>
            <a:srgbClr val="F7CAAC"/>
          </a:solid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i="1" lang="en-US" sz="2000">
                <a:solidFill>
                  <a:schemeClr val="dk1"/>
                </a:solidFill>
                <a:latin typeface="Calibri"/>
                <a:ea typeface="Calibri"/>
                <a:cs typeface="Calibri"/>
                <a:sym typeface="Calibri"/>
              </a:rPr>
              <a:t>Rouillon explica que las dificultades económicas y financieras de carácter general suponían una variante intermedia anterior a la definición de la insolvencia</a:t>
            </a:r>
            <a:endParaRPr i="1" sz="20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1" name="Shape 251"/>
        <p:cNvGrpSpPr/>
        <p:nvPr/>
      </p:nvGrpSpPr>
      <p:grpSpPr>
        <a:xfrm>
          <a:off x="0" y="0"/>
          <a:ext cx="0" cy="0"/>
          <a:chOff x="0" y="0"/>
          <a:chExt cx="0" cy="0"/>
        </a:xfrm>
      </p:grpSpPr>
      <p:sp>
        <p:nvSpPr>
          <p:cNvPr id="252" name="Google Shape;252;p40"/>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3" name="Google Shape;253;p40"/>
          <p:cNvSpPr/>
          <p:nvPr/>
        </p:nvSpPr>
        <p:spPr>
          <a:xfrm>
            <a:off x="1" y="0"/>
            <a:ext cx="4167271" cy="6858000"/>
          </a:xfrm>
          <a:custGeom>
            <a:rect b="b" l="l" r="r" t="t"/>
            <a:pathLst>
              <a:path extrusionOk="0" h="6858000" w="4167271">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4" name="Google Shape;254;p40"/>
          <p:cNvSpPr txBox="1"/>
          <p:nvPr>
            <p:ph type="title"/>
          </p:nvPr>
        </p:nvSpPr>
        <p:spPr>
          <a:xfrm>
            <a:off x="686834" y="1153572"/>
            <a:ext cx="3200400" cy="44611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lang="en-US">
                <a:solidFill>
                  <a:srgbClr val="FFFFFF"/>
                </a:solidFill>
              </a:rPr>
              <a:t>Forma </a:t>
            </a:r>
            <a:endParaRPr>
              <a:solidFill>
                <a:srgbClr val="FFFFFF"/>
              </a:solidFill>
            </a:endParaRPr>
          </a:p>
        </p:txBody>
      </p:sp>
      <p:sp>
        <p:nvSpPr>
          <p:cNvPr id="255" name="Google Shape;255;p40"/>
          <p:cNvSpPr/>
          <p:nvPr/>
        </p:nvSpPr>
        <p:spPr>
          <a:xfrm flipH="1" rot="10800000">
            <a:off x="7550402" y="2455479"/>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40"/>
          <p:cNvSpPr txBox="1"/>
          <p:nvPr>
            <p:ph idx="1" type="body"/>
          </p:nvPr>
        </p:nvSpPr>
        <p:spPr>
          <a:xfrm>
            <a:off x="4447308" y="591344"/>
            <a:ext cx="6906491" cy="5585619"/>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0" i="0" lang="en-US">
                <a:latin typeface="Gill Sans"/>
                <a:ea typeface="Gill Sans"/>
                <a:cs typeface="Gill Sans"/>
                <a:sym typeface="Gill Sans"/>
              </a:rPr>
              <a:t>ARTICULO 70: Forma. El acuerdo puede ser otorgado en instrumento privado, debiendo la firma de las partes y las representaciones invocadas estar certificadas por escribano público. Los documentos habilitantes de los firmantes, o copia autenticada de ellos, deberán agregarse al instrumento.</a:t>
            </a:r>
            <a:endParaRPr/>
          </a:p>
          <a:p>
            <a:pPr indent="0" lvl="0" marL="0" rtl="0" algn="just">
              <a:lnSpc>
                <a:spcPct val="90000"/>
              </a:lnSpc>
              <a:spcBef>
                <a:spcPts val="1000"/>
              </a:spcBef>
              <a:spcAft>
                <a:spcPts val="0"/>
              </a:spcAft>
              <a:buClr>
                <a:srgbClr val="000000"/>
              </a:buClr>
              <a:buSzPts val="2800"/>
              <a:buNone/>
            </a:pPr>
            <a:r>
              <a:rPr lang="en-US">
                <a:solidFill>
                  <a:srgbClr val="000000"/>
                </a:solidFill>
                <a:latin typeface="Gill Sans"/>
                <a:ea typeface="Gill Sans"/>
                <a:cs typeface="Gill Sans"/>
                <a:sym typeface="Gill Sans"/>
              </a:rPr>
              <a:t>   </a:t>
            </a:r>
            <a:r>
              <a:rPr b="0" i="0" lang="en-US">
                <a:solidFill>
                  <a:srgbClr val="000000"/>
                </a:solidFill>
                <a:latin typeface="Gill Sans"/>
                <a:ea typeface="Gill Sans"/>
                <a:cs typeface="Gill Sans"/>
                <a:sym typeface="Gill Sans"/>
              </a:rPr>
              <a:t>No es necesario que la firma de los       acreedores sea puesta el mismo día.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0" name="Shape 260"/>
        <p:cNvGrpSpPr/>
        <p:nvPr/>
      </p:nvGrpSpPr>
      <p:grpSpPr>
        <a:xfrm>
          <a:off x="0" y="0"/>
          <a:ext cx="0" cy="0"/>
          <a:chOff x="0" y="0"/>
          <a:chExt cx="0" cy="0"/>
        </a:xfrm>
      </p:grpSpPr>
      <p:sp>
        <p:nvSpPr>
          <p:cNvPr id="261" name="Google Shape;261;p41"/>
          <p:cNvSpPr/>
          <p:nvPr/>
        </p:nvSpPr>
        <p:spPr>
          <a:xfrm>
            <a:off x="0" y="0"/>
            <a:ext cx="12192000"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2" name="Google Shape;262;p41"/>
          <p:cNvSpPr/>
          <p:nvPr/>
        </p:nvSpPr>
        <p:spPr>
          <a:xfrm flipH="1">
            <a:off x="505262" y="859948"/>
            <a:ext cx="2987899" cy="2987899"/>
          </a:xfrm>
          <a:prstGeom prst="arc">
            <a:avLst>
              <a:gd fmla="val 14612914"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3" name="Google Shape;263;p41"/>
          <p:cNvSpPr txBox="1"/>
          <p:nvPr>
            <p:ph type="title"/>
          </p:nvPr>
        </p:nvSpPr>
        <p:spPr>
          <a:xfrm>
            <a:off x="838200" y="643467"/>
            <a:ext cx="2951205" cy="557106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lang="en-US">
                <a:solidFill>
                  <a:srgbClr val="FFFFFF"/>
                </a:solidFill>
              </a:rPr>
              <a:t>Forma	</a:t>
            </a:r>
            <a:endParaRPr>
              <a:solidFill>
                <a:srgbClr val="FFFFFF"/>
              </a:solidFill>
            </a:endParaRPr>
          </a:p>
        </p:txBody>
      </p:sp>
      <p:sp>
        <p:nvSpPr>
          <p:cNvPr id="264" name="Google Shape;264;p41"/>
          <p:cNvSpPr/>
          <p:nvPr/>
        </p:nvSpPr>
        <p:spPr>
          <a:xfrm>
            <a:off x="4485452" y="434266"/>
            <a:ext cx="7217701" cy="5922084"/>
          </a:xfrm>
          <a:prstGeom prst="roundRect">
            <a:avLst>
              <a:gd fmla="val 3174" name="adj"/>
            </a:avLst>
          </a:prstGeom>
          <a:solidFill>
            <a:schemeClr val="lt1">
              <a:alpha val="9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65" name="Google Shape;265;p41"/>
          <p:cNvGrpSpPr/>
          <p:nvPr/>
        </p:nvGrpSpPr>
        <p:grpSpPr>
          <a:xfrm>
            <a:off x="4763911" y="609600"/>
            <a:ext cx="6735443" cy="5564602"/>
            <a:chOff x="0" y="0"/>
            <a:chExt cx="6735443" cy="5564602"/>
          </a:xfrm>
        </p:grpSpPr>
        <p:cxnSp>
          <p:nvCxnSpPr>
            <p:cNvPr id="266" name="Google Shape;266;p41"/>
            <p:cNvCxnSpPr/>
            <p:nvPr/>
          </p:nvCxnSpPr>
          <p:spPr>
            <a:xfrm>
              <a:off x="0" y="0"/>
              <a:ext cx="6735443" cy="0"/>
            </a:xfrm>
            <a:prstGeom prst="straightConnector1">
              <a:avLst/>
            </a:prstGeom>
            <a:solidFill>
              <a:schemeClr val="dk2"/>
            </a:solidFill>
            <a:ln cap="flat" cmpd="sng" w="12700">
              <a:solidFill>
                <a:schemeClr val="dk2"/>
              </a:solidFill>
              <a:prstDash val="solid"/>
              <a:miter lim="800000"/>
              <a:headEnd len="sm" w="sm" type="none"/>
              <a:tailEnd len="sm" w="sm" type="none"/>
            </a:ln>
          </p:spPr>
        </p:cxnSp>
        <p:sp>
          <p:nvSpPr>
            <p:cNvPr id="267" name="Google Shape;267;p41"/>
            <p:cNvSpPr/>
            <p:nvPr/>
          </p:nvSpPr>
          <p:spPr>
            <a:xfrm>
              <a:off x="0" y="0"/>
              <a:ext cx="6735443" cy="278230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41"/>
            <p:cNvSpPr txBox="1"/>
            <p:nvPr/>
          </p:nvSpPr>
          <p:spPr>
            <a:xfrm>
              <a:off x="0" y="0"/>
              <a:ext cx="6735443" cy="2782301"/>
            </a:xfrm>
            <a:prstGeom prst="rect">
              <a:avLst/>
            </a:prstGeom>
            <a:noFill/>
            <a:ln>
              <a:noFill/>
            </a:ln>
          </p:spPr>
          <p:txBody>
            <a:bodyPr anchorCtr="0" anchor="t" bIns="114300" lIns="114300" spcFirstLastPara="1" rIns="114300" wrap="square" tIns="114300">
              <a:noAutofit/>
            </a:bodyPr>
            <a:lstStyle/>
            <a:p>
              <a:pPr indent="0" lvl="0" marL="0" marR="0" rtl="0" algn="l">
                <a:lnSpc>
                  <a:spcPct val="90000"/>
                </a:lnSpc>
                <a:spcBef>
                  <a:spcPts val="0"/>
                </a:spcBef>
                <a:spcAft>
                  <a:spcPts val="0"/>
                </a:spcAft>
                <a:buClr>
                  <a:schemeClr val="dk1"/>
                </a:buClr>
                <a:buSzPts val="3000"/>
                <a:buFont typeface="Calibri"/>
                <a:buNone/>
              </a:pPr>
              <a:r>
                <a:rPr lang="en-US" sz="3000">
                  <a:solidFill>
                    <a:schemeClr val="dk1"/>
                  </a:solidFill>
                  <a:latin typeface="Calibri"/>
                  <a:ea typeface="Calibri"/>
                  <a:cs typeface="Calibri"/>
                  <a:sym typeface="Calibri"/>
                </a:rPr>
                <a:t>constituye un negocio jurídico abierto en el que normalmente interviene una pluralidad de partes y de allí la necesidad de que pueda ser otorgado en uno o varios instrumentos independientes.</a:t>
              </a:r>
              <a:endParaRPr sz="3000">
                <a:solidFill>
                  <a:schemeClr val="dk1"/>
                </a:solidFill>
                <a:latin typeface="Calibri"/>
                <a:ea typeface="Calibri"/>
                <a:cs typeface="Calibri"/>
                <a:sym typeface="Calibri"/>
              </a:endParaRPr>
            </a:p>
          </p:txBody>
        </p:sp>
        <p:cxnSp>
          <p:nvCxnSpPr>
            <p:cNvPr id="269" name="Google Shape;269;p41"/>
            <p:cNvCxnSpPr/>
            <p:nvPr/>
          </p:nvCxnSpPr>
          <p:spPr>
            <a:xfrm>
              <a:off x="0" y="2782301"/>
              <a:ext cx="6735443" cy="0"/>
            </a:xfrm>
            <a:prstGeom prst="straightConnector1">
              <a:avLst/>
            </a:prstGeom>
            <a:solidFill>
              <a:schemeClr val="dk2"/>
            </a:solidFill>
            <a:ln cap="flat" cmpd="sng" w="12700">
              <a:solidFill>
                <a:schemeClr val="dk2"/>
              </a:solidFill>
              <a:prstDash val="solid"/>
              <a:miter lim="800000"/>
              <a:headEnd len="sm" w="sm" type="none"/>
              <a:tailEnd len="sm" w="sm" type="none"/>
            </a:ln>
          </p:spPr>
        </p:cxnSp>
        <p:sp>
          <p:nvSpPr>
            <p:cNvPr id="270" name="Google Shape;270;p41"/>
            <p:cNvSpPr/>
            <p:nvPr/>
          </p:nvSpPr>
          <p:spPr>
            <a:xfrm>
              <a:off x="0" y="2782301"/>
              <a:ext cx="6735443" cy="278230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41"/>
            <p:cNvSpPr txBox="1"/>
            <p:nvPr/>
          </p:nvSpPr>
          <p:spPr>
            <a:xfrm>
              <a:off x="0" y="2782301"/>
              <a:ext cx="6735443" cy="2782301"/>
            </a:xfrm>
            <a:prstGeom prst="rect">
              <a:avLst/>
            </a:prstGeom>
            <a:noFill/>
            <a:ln>
              <a:noFill/>
            </a:ln>
          </p:spPr>
          <p:txBody>
            <a:bodyPr anchorCtr="0" anchor="t" bIns="114300" lIns="114300" spcFirstLastPara="1" rIns="114300" wrap="square" tIns="114300">
              <a:noAutofit/>
            </a:bodyPr>
            <a:lstStyle/>
            <a:p>
              <a:pPr indent="0" lvl="0" marL="0" marR="0" rtl="0" algn="l">
                <a:lnSpc>
                  <a:spcPct val="90000"/>
                </a:lnSpc>
                <a:spcBef>
                  <a:spcPts val="0"/>
                </a:spcBef>
                <a:spcAft>
                  <a:spcPts val="0"/>
                </a:spcAft>
                <a:buClr>
                  <a:schemeClr val="dk1"/>
                </a:buClr>
                <a:buSzPts val="3000"/>
                <a:buFont typeface="Calibri"/>
                <a:buNone/>
              </a:pPr>
              <a:r>
                <a:rPr lang="en-US" sz="3000">
                  <a:solidFill>
                    <a:schemeClr val="dk1"/>
                  </a:solidFill>
                  <a:latin typeface="Calibri"/>
                  <a:ea typeface="Calibri"/>
                  <a:cs typeface="Calibri"/>
                  <a:sym typeface="Calibri"/>
                </a:rPr>
                <a:t>Las características del acuerdo preventivo extrajudicial hacen innecesario que las firmas de los acreedores sean puestas el mismo día. </a:t>
              </a:r>
              <a:endParaRPr sz="3000">
                <a:solidFill>
                  <a:schemeClr val="dk1"/>
                </a:solidFill>
                <a:latin typeface="Calibri"/>
                <a:ea typeface="Calibri"/>
                <a:cs typeface="Calibri"/>
                <a:sym typeface="Calibri"/>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5" name="Shape 275"/>
        <p:cNvGrpSpPr/>
        <p:nvPr/>
      </p:nvGrpSpPr>
      <p:grpSpPr>
        <a:xfrm>
          <a:off x="0" y="0"/>
          <a:ext cx="0" cy="0"/>
          <a:chOff x="0" y="0"/>
          <a:chExt cx="0" cy="0"/>
        </a:xfrm>
      </p:grpSpPr>
      <p:sp>
        <p:nvSpPr>
          <p:cNvPr id="276" name="Google Shape;276;p42"/>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7" name="Google Shape;277;p42"/>
          <p:cNvSpPr/>
          <p:nvPr/>
        </p:nvSpPr>
        <p:spPr>
          <a:xfrm>
            <a:off x="707393" y="847600"/>
            <a:ext cx="4619938" cy="4619938"/>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8" name="Google Shape;278;p42"/>
          <p:cNvSpPr txBox="1"/>
          <p:nvPr>
            <p:ph type="title"/>
          </p:nvPr>
        </p:nvSpPr>
        <p:spPr>
          <a:xfrm>
            <a:off x="1389278" y="1233241"/>
            <a:ext cx="3240506" cy="406462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Gill Sans"/>
              <a:buNone/>
            </a:pPr>
            <a:r>
              <a:rPr b="0" i="0" lang="en-US">
                <a:solidFill>
                  <a:srgbClr val="FFFFFF"/>
                </a:solidFill>
                <a:latin typeface="Gill Sans"/>
                <a:ea typeface="Gill Sans"/>
                <a:cs typeface="Gill Sans"/>
                <a:sym typeface="Gill Sans"/>
              </a:rPr>
              <a:t>Libertad de contenido</a:t>
            </a:r>
            <a:endParaRPr>
              <a:solidFill>
                <a:srgbClr val="FFFFFF"/>
              </a:solidFill>
            </a:endParaRPr>
          </a:p>
        </p:txBody>
      </p:sp>
      <p:sp>
        <p:nvSpPr>
          <p:cNvPr id="279" name="Google Shape;279;p42"/>
          <p:cNvSpPr/>
          <p:nvPr/>
        </p:nvSpPr>
        <p:spPr>
          <a:xfrm flipH="1">
            <a:off x="530529" y="0"/>
            <a:ext cx="1155142" cy="591009"/>
          </a:xfrm>
          <a:custGeom>
            <a:rect b="b" l="l" r="r" t="t"/>
            <a:pathLst>
              <a:path extrusionOk="0" h="591009" w="1155142">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0" name="Google Shape;280;p42"/>
          <p:cNvSpPr/>
          <p:nvPr/>
        </p:nvSpPr>
        <p:spPr>
          <a:xfrm flipH="1">
            <a:off x="3961511" y="-1"/>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42"/>
          <p:cNvSpPr/>
          <p:nvPr/>
        </p:nvSpPr>
        <p:spPr>
          <a:xfrm flipH="1">
            <a:off x="0" y="2936831"/>
            <a:ext cx="159741" cy="552996"/>
          </a:xfrm>
          <a:custGeom>
            <a:rect b="b" l="l" r="r" t="t"/>
            <a:pathLst>
              <a:path extrusionOk="0" h="552996" w="159741">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2" name="Google Shape;282;p42"/>
          <p:cNvSpPr txBox="1"/>
          <p:nvPr>
            <p:ph idx="1" type="body"/>
          </p:nvPr>
        </p:nvSpPr>
        <p:spPr>
          <a:xfrm>
            <a:off x="6096000" y="820880"/>
            <a:ext cx="5257799" cy="488935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i="0" lang="en-US">
                <a:latin typeface="Gill Sans"/>
                <a:ea typeface="Gill Sans"/>
                <a:cs typeface="Gill Sans"/>
                <a:sym typeface="Gill Sans"/>
              </a:rPr>
              <a:t>ARTICULO 71: Libertad de contenido. Las partes pueden dar al acuerdo el contenido que consideren conveniente a sus intereses y es obligatorio para ellas aun cuando no obtenga homologación judicial, salvo convención expresa en contrario.</a:t>
            </a:r>
            <a:endParaRPr/>
          </a:p>
        </p:txBody>
      </p:sp>
      <p:sp>
        <p:nvSpPr>
          <p:cNvPr id="283" name="Google Shape;283;p42"/>
          <p:cNvSpPr/>
          <p:nvPr/>
        </p:nvSpPr>
        <p:spPr>
          <a:xfrm flipH="1">
            <a:off x="0" y="5835649"/>
            <a:ext cx="1548180" cy="1022351"/>
          </a:xfrm>
          <a:custGeom>
            <a:rect b="b" l="l" r="r" t="t"/>
            <a:pathLst>
              <a:path extrusionOk="0" h="1022351" w="1548180">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 name="Google Shape;284;p42"/>
          <p:cNvSpPr/>
          <p:nvPr/>
        </p:nvSpPr>
        <p:spPr>
          <a:xfrm flipH="1">
            <a:off x="3405056" y="5717905"/>
            <a:ext cx="1771609" cy="1140095"/>
          </a:xfrm>
          <a:custGeom>
            <a:rect b="b" l="l" r="r" t="t"/>
            <a:pathLst>
              <a:path extrusionOk="0" h="1140095" w="1771609">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42"/>
          <p:cNvSpPr/>
          <p:nvPr/>
        </p:nvSpPr>
        <p:spPr>
          <a:xfrm flipH="1">
            <a:off x="4132972" y="6258755"/>
            <a:ext cx="1565940" cy="599245"/>
          </a:xfrm>
          <a:custGeom>
            <a:rect b="b" l="l" r="r" t="t"/>
            <a:pathLst>
              <a:path extrusionOk="0" h="599245" w="1565940">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9" name="Shape 289"/>
        <p:cNvGrpSpPr/>
        <p:nvPr/>
      </p:nvGrpSpPr>
      <p:grpSpPr>
        <a:xfrm>
          <a:off x="0" y="0"/>
          <a:ext cx="0" cy="0"/>
          <a:chOff x="0" y="0"/>
          <a:chExt cx="0" cy="0"/>
        </a:xfrm>
      </p:grpSpPr>
      <p:sp>
        <p:nvSpPr>
          <p:cNvPr id="290" name="Google Shape;290;p43"/>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1" name="Google Shape;291;p43"/>
          <p:cNvSpPr/>
          <p:nvPr/>
        </p:nvSpPr>
        <p:spPr>
          <a:xfrm>
            <a:off x="707393" y="847600"/>
            <a:ext cx="4619938" cy="4619938"/>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2" name="Google Shape;292;p43"/>
          <p:cNvSpPr txBox="1"/>
          <p:nvPr>
            <p:ph type="title"/>
          </p:nvPr>
        </p:nvSpPr>
        <p:spPr>
          <a:xfrm>
            <a:off x="1389278" y="1233241"/>
            <a:ext cx="3240506" cy="406462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Gill Sans"/>
              <a:buNone/>
            </a:pPr>
            <a:r>
              <a:rPr b="0" i="0" lang="en-US">
                <a:solidFill>
                  <a:srgbClr val="FFFFFF"/>
                </a:solidFill>
                <a:latin typeface="Gill Sans"/>
                <a:ea typeface="Gill Sans"/>
                <a:cs typeface="Gill Sans"/>
                <a:sym typeface="Gill Sans"/>
              </a:rPr>
              <a:t>Libertad de contenido</a:t>
            </a:r>
            <a:endParaRPr>
              <a:solidFill>
                <a:srgbClr val="FFFFFF"/>
              </a:solidFill>
            </a:endParaRPr>
          </a:p>
        </p:txBody>
      </p:sp>
      <p:sp>
        <p:nvSpPr>
          <p:cNvPr id="293" name="Google Shape;293;p43"/>
          <p:cNvSpPr/>
          <p:nvPr/>
        </p:nvSpPr>
        <p:spPr>
          <a:xfrm flipH="1">
            <a:off x="530529" y="0"/>
            <a:ext cx="1155142" cy="591009"/>
          </a:xfrm>
          <a:custGeom>
            <a:rect b="b" l="l" r="r" t="t"/>
            <a:pathLst>
              <a:path extrusionOk="0" h="591009" w="1155142">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4" name="Google Shape;294;p43"/>
          <p:cNvSpPr/>
          <p:nvPr/>
        </p:nvSpPr>
        <p:spPr>
          <a:xfrm flipH="1">
            <a:off x="3961511" y="-1"/>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43"/>
          <p:cNvSpPr/>
          <p:nvPr/>
        </p:nvSpPr>
        <p:spPr>
          <a:xfrm flipH="1">
            <a:off x="0" y="2936831"/>
            <a:ext cx="159741" cy="552996"/>
          </a:xfrm>
          <a:custGeom>
            <a:rect b="b" l="l" r="r" t="t"/>
            <a:pathLst>
              <a:path extrusionOk="0" h="552996" w="159741">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 name="Google Shape;296;p43"/>
          <p:cNvSpPr txBox="1"/>
          <p:nvPr>
            <p:ph idx="1" type="body"/>
          </p:nvPr>
        </p:nvSpPr>
        <p:spPr>
          <a:xfrm>
            <a:off x="6096000" y="2067789"/>
            <a:ext cx="5257799" cy="488935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el principio de libertad es </a:t>
            </a:r>
            <a:r>
              <a:rPr b="1" lang="en-US" sz="2000" u="sng"/>
              <a:t>fundamental </a:t>
            </a:r>
            <a:r>
              <a:rPr lang="en-US" sz="2000"/>
              <a:t>y, en este aspecto, </a:t>
            </a:r>
            <a:r>
              <a:rPr i="1" lang="en-US" sz="2000"/>
              <a:t>pareciera que no rige la igualdad de trato</a:t>
            </a:r>
            <a:r>
              <a:rPr lang="en-US" sz="2000"/>
              <a:t> que requiere el concurso preventivo. </a:t>
            </a:r>
            <a:endParaRPr/>
          </a:p>
          <a:p>
            <a:pPr indent="-228600" lvl="0" marL="228600" rtl="0" algn="l">
              <a:lnSpc>
                <a:spcPct val="90000"/>
              </a:lnSpc>
              <a:spcBef>
                <a:spcPts val="1000"/>
              </a:spcBef>
              <a:spcAft>
                <a:spcPts val="0"/>
              </a:spcAft>
              <a:buClr>
                <a:schemeClr val="dk1"/>
              </a:buClr>
              <a:buSzPts val="2000"/>
              <a:buChar char="•"/>
            </a:pPr>
            <a:r>
              <a:rPr lang="en-US" sz="2000"/>
              <a:t>es suficiente que las partes pacten lo que consideren conveniente </a:t>
            </a:r>
            <a:endParaRPr/>
          </a:p>
          <a:p>
            <a:pPr indent="-228600" lvl="0" marL="228600" rtl="0" algn="l">
              <a:lnSpc>
                <a:spcPct val="90000"/>
              </a:lnSpc>
              <a:spcBef>
                <a:spcPts val="1000"/>
              </a:spcBef>
              <a:spcAft>
                <a:spcPts val="0"/>
              </a:spcAft>
              <a:buClr>
                <a:schemeClr val="dk1"/>
              </a:buClr>
              <a:buSzPts val="2000"/>
              <a:buChar char="•"/>
            </a:pPr>
            <a:r>
              <a:rPr lang="en-US" sz="2000"/>
              <a:t>No hay pautas ni contenidos mínimos, ni directivas o soluciones igualitarias a respetar, o número o cantidades de acreedores a quien abarcar</a:t>
            </a:r>
            <a:endParaRPr/>
          </a:p>
        </p:txBody>
      </p:sp>
      <p:sp>
        <p:nvSpPr>
          <p:cNvPr id="297" name="Google Shape;297;p43"/>
          <p:cNvSpPr/>
          <p:nvPr/>
        </p:nvSpPr>
        <p:spPr>
          <a:xfrm flipH="1">
            <a:off x="0" y="5835649"/>
            <a:ext cx="1548180" cy="1022351"/>
          </a:xfrm>
          <a:custGeom>
            <a:rect b="b" l="l" r="r" t="t"/>
            <a:pathLst>
              <a:path extrusionOk="0" h="1022351" w="1548180">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43"/>
          <p:cNvSpPr/>
          <p:nvPr/>
        </p:nvSpPr>
        <p:spPr>
          <a:xfrm flipH="1">
            <a:off x="3405056" y="5717905"/>
            <a:ext cx="1771609" cy="1140095"/>
          </a:xfrm>
          <a:custGeom>
            <a:rect b="b" l="l" r="r" t="t"/>
            <a:pathLst>
              <a:path extrusionOk="0" h="1140095" w="1771609">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p43"/>
          <p:cNvSpPr/>
          <p:nvPr/>
        </p:nvSpPr>
        <p:spPr>
          <a:xfrm flipH="1">
            <a:off x="4132972" y="6258755"/>
            <a:ext cx="1565940" cy="599245"/>
          </a:xfrm>
          <a:custGeom>
            <a:rect b="b" l="l" r="r" t="t"/>
            <a:pathLst>
              <a:path extrusionOk="0" h="599245" w="1565940">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3" name="Shape 303"/>
        <p:cNvGrpSpPr/>
        <p:nvPr/>
      </p:nvGrpSpPr>
      <p:grpSpPr>
        <a:xfrm>
          <a:off x="0" y="0"/>
          <a:ext cx="0" cy="0"/>
          <a:chOff x="0" y="0"/>
          <a:chExt cx="0" cy="0"/>
        </a:xfrm>
      </p:grpSpPr>
      <p:sp>
        <p:nvSpPr>
          <p:cNvPr id="304" name="Google Shape;304;p44"/>
          <p:cNvSpPr/>
          <p:nvPr/>
        </p:nvSpPr>
        <p:spPr>
          <a:xfrm>
            <a:off x="0" y="0"/>
            <a:ext cx="12192000"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5" name="Google Shape;305;p44"/>
          <p:cNvSpPr/>
          <p:nvPr/>
        </p:nvSpPr>
        <p:spPr>
          <a:xfrm flipH="1">
            <a:off x="505262" y="859948"/>
            <a:ext cx="2987899" cy="2987899"/>
          </a:xfrm>
          <a:prstGeom prst="arc">
            <a:avLst>
              <a:gd fmla="val 14612914"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6" name="Google Shape;306;p44"/>
          <p:cNvSpPr txBox="1"/>
          <p:nvPr>
            <p:ph type="title"/>
          </p:nvPr>
        </p:nvSpPr>
        <p:spPr>
          <a:xfrm>
            <a:off x="838200" y="643467"/>
            <a:ext cx="2951205" cy="557106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700"/>
              <a:buFont typeface="Gill Sans"/>
              <a:buNone/>
            </a:pPr>
            <a:r>
              <a:rPr b="0" i="0" lang="en-US" sz="3700">
                <a:solidFill>
                  <a:srgbClr val="FFFFFF"/>
                </a:solidFill>
                <a:latin typeface="Gill Sans"/>
                <a:ea typeface="Gill Sans"/>
                <a:cs typeface="Gill Sans"/>
                <a:sym typeface="Gill Sans"/>
              </a:rPr>
              <a:t>Requisitos para la homologación</a:t>
            </a:r>
            <a:endParaRPr sz="3700">
              <a:solidFill>
                <a:srgbClr val="FFFFFF"/>
              </a:solidFill>
            </a:endParaRPr>
          </a:p>
        </p:txBody>
      </p:sp>
      <p:sp>
        <p:nvSpPr>
          <p:cNvPr id="307" name="Google Shape;307;p44"/>
          <p:cNvSpPr/>
          <p:nvPr/>
        </p:nvSpPr>
        <p:spPr>
          <a:xfrm>
            <a:off x="4485452" y="434266"/>
            <a:ext cx="7217701" cy="5922084"/>
          </a:xfrm>
          <a:prstGeom prst="roundRect">
            <a:avLst>
              <a:gd fmla="val 3174" name="adj"/>
            </a:avLst>
          </a:prstGeom>
          <a:solidFill>
            <a:schemeClr val="lt1">
              <a:alpha val="9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08" name="Google Shape;308;p44"/>
          <p:cNvGrpSpPr/>
          <p:nvPr/>
        </p:nvGrpSpPr>
        <p:grpSpPr>
          <a:xfrm>
            <a:off x="4763911" y="978641"/>
            <a:ext cx="6735443" cy="4826518"/>
            <a:chOff x="0" y="369041"/>
            <a:chExt cx="6735443" cy="4826518"/>
          </a:xfrm>
        </p:grpSpPr>
        <p:sp>
          <p:nvSpPr>
            <p:cNvPr id="309" name="Google Shape;309;p44"/>
            <p:cNvSpPr/>
            <p:nvPr/>
          </p:nvSpPr>
          <p:spPr>
            <a:xfrm>
              <a:off x="0" y="369041"/>
              <a:ext cx="6735443" cy="659879"/>
            </a:xfrm>
            <a:prstGeom prst="roundRect">
              <a:avLst>
                <a:gd fmla="val 16667" name="adj"/>
              </a:avLst>
            </a:prstGeom>
            <a:solidFill>
              <a:srgbClr val="599BD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44"/>
            <p:cNvSpPr txBox="1"/>
            <p:nvPr/>
          </p:nvSpPr>
          <p:spPr>
            <a:xfrm>
              <a:off x="32213" y="401254"/>
              <a:ext cx="6671017" cy="595453"/>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Clr>
                  <a:schemeClr val="lt1"/>
                </a:buClr>
                <a:buSzPts val="1200"/>
                <a:buFont typeface="Calibri"/>
                <a:buNone/>
              </a:pPr>
              <a:r>
                <a:rPr b="0" i="0" lang="en-US" sz="1200">
                  <a:solidFill>
                    <a:schemeClr val="lt1"/>
                  </a:solidFill>
                  <a:latin typeface="Calibri"/>
                  <a:ea typeface="Calibri"/>
                  <a:cs typeface="Calibri"/>
                  <a:sym typeface="Calibri"/>
                </a:rPr>
                <a:t>ARTICULO 72: Requisitos para la homologación. Para la homologación del acuerdo deben presentarse al juez competente, conforme lo dispuesto en el artículo 3º, junto con dicho acuerdo, los siguientes documentos debidamente certificados por contador público nacional:</a:t>
              </a:r>
              <a:endParaRPr sz="1200">
                <a:solidFill>
                  <a:schemeClr val="lt1"/>
                </a:solidFill>
                <a:latin typeface="Calibri"/>
                <a:ea typeface="Calibri"/>
                <a:cs typeface="Calibri"/>
                <a:sym typeface="Calibri"/>
              </a:endParaRPr>
            </a:p>
          </p:txBody>
        </p:sp>
        <p:sp>
          <p:nvSpPr>
            <p:cNvPr id="311" name="Google Shape;311;p44"/>
            <p:cNvSpPr/>
            <p:nvPr/>
          </p:nvSpPr>
          <p:spPr>
            <a:xfrm>
              <a:off x="0" y="1063481"/>
              <a:ext cx="6735443" cy="659879"/>
            </a:xfrm>
            <a:prstGeom prst="roundRect">
              <a:avLst>
                <a:gd fmla="val 16667" name="adj"/>
              </a:avLst>
            </a:prstGeom>
            <a:solidFill>
              <a:srgbClr val="55BACE"/>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44"/>
            <p:cNvSpPr txBox="1"/>
            <p:nvPr/>
          </p:nvSpPr>
          <p:spPr>
            <a:xfrm>
              <a:off x="32213" y="1095694"/>
              <a:ext cx="6671017" cy="595453"/>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Clr>
                  <a:schemeClr val="lt1"/>
                </a:buClr>
                <a:buSzPts val="1200"/>
                <a:buFont typeface="Calibri"/>
                <a:buNone/>
              </a:pPr>
              <a:r>
                <a:rPr b="0" i="0" lang="en-US" sz="1200">
                  <a:solidFill>
                    <a:schemeClr val="lt1"/>
                  </a:solidFill>
                  <a:latin typeface="Calibri"/>
                  <a:ea typeface="Calibri"/>
                  <a:cs typeface="Calibri"/>
                  <a:sym typeface="Calibri"/>
                </a:rPr>
                <a:t>1. Un estado de activo y pasivo actualizado a la fecha, del instrumento con indicación precisa de las normas seguidas para su valuación;</a:t>
              </a:r>
              <a:endParaRPr sz="1200">
                <a:solidFill>
                  <a:schemeClr val="lt1"/>
                </a:solidFill>
                <a:latin typeface="Calibri"/>
                <a:ea typeface="Calibri"/>
                <a:cs typeface="Calibri"/>
                <a:sym typeface="Calibri"/>
              </a:endParaRPr>
            </a:p>
          </p:txBody>
        </p:sp>
        <p:sp>
          <p:nvSpPr>
            <p:cNvPr id="313" name="Google Shape;313;p44"/>
            <p:cNvSpPr/>
            <p:nvPr/>
          </p:nvSpPr>
          <p:spPr>
            <a:xfrm>
              <a:off x="0" y="1757921"/>
              <a:ext cx="6735443" cy="659879"/>
            </a:xfrm>
            <a:prstGeom prst="roundRect">
              <a:avLst>
                <a:gd fmla="val 16667" name="adj"/>
              </a:avLst>
            </a:prstGeom>
            <a:solidFill>
              <a:srgbClr val="50C9B6"/>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44"/>
            <p:cNvSpPr txBox="1"/>
            <p:nvPr/>
          </p:nvSpPr>
          <p:spPr>
            <a:xfrm>
              <a:off x="32213" y="1790134"/>
              <a:ext cx="6671017" cy="595453"/>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Clr>
                  <a:schemeClr val="lt1"/>
                </a:buClr>
                <a:buSzPts val="1200"/>
                <a:buFont typeface="Calibri"/>
                <a:buNone/>
              </a:pPr>
              <a:r>
                <a:rPr b="0" i="0" lang="en-US" sz="1200">
                  <a:solidFill>
                    <a:schemeClr val="lt1"/>
                  </a:solidFill>
                  <a:latin typeface="Calibri"/>
                  <a:ea typeface="Calibri"/>
                  <a:cs typeface="Calibri"/>
                  <a:sym typeface="Calibri"/>
                </a:rPr>
                <a:t>2. Un listado de acreedores con mención de sus domicilios, monto de los créditos, causas, vencimientos, codeudores, fiadores o terceros obligados y responsables; la certificación del contador debe expresar que no existen otros acreedores registrados y detallar el respaldo contable y documental de su afirmación;</a:t>
              </a:r>
              <a:endParaRPr sz="1200">
                <a:solidFill>
                  <a:schemeClr val="lt1"/>
                </a:solidFill>
                <a:latin typeface="Calibri"/>
                <a:ea typeface="Calibri"/>
                <a:cs typeface="Calibri"/>
                <a:sym typeface="Calibri"/>
              </a:endParaRPr>
            </a:p>
          </p:txBody>
        </p:sp>
        <p:sp>
          <p:nvSpPr>
            <p:cNvPr id="315" name="Google Shape;315;p44"/>
            <p:cNvSpPr/>
            <p:nvPr/>
          </p:nvSpPr>
          <p:spPr>
            <a:xfrm>
              <a:off x="0" y="2452361"/>
              <a:ext cx="6735443" cy="659879"/>
            </a:xfrm>
            <a:prstGeom prst="roundRect">
              <a:avLst>
                <a:gd fmla="val 16667" name="adj"/>
              </a:avLst>
            </a:prstGeom>
            <a:solidFill>
              <a:srgbClr val="4CC38C"/>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44"/>
            <p:cNvSpPr txBox="1"/>
            <p:nvPr/>
          </p:nvSpPr>
          <p:spPr>
            <a:xfrm>
              <a:off x="32213" y="2484574"/>
              <a:ext cx="6671017" cy="595453"/>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Clr>
                  <a:schemeClr val="lt1"/>
                </a:buClr>
                <a:buSzPts val="1200"/>
                <a:buFont typeface="Calibri"/>
                <a:buNone/>
              </a:pPr>
              <a:r>
                <a:rPr b="0" i="0" lang="en-US" sz="1200">
                  <a:solidFill>
                    <a:schemeClr val="lt1"/>
                  </a:solidFill>
                  <a:latin typeface="Calibri"/>
                  <a:ea typeface="Calibri"/>
                  <a:cs typeface="Calibri"/>
                  <a:sym typeface="Calibri"/>
                </a:rPr>
                <a:t>3. Un listado de juicios o procesos administrativos en trámite o con condena no cumplida, precisando su radicación;</a:t>
              </a:r>
              <a:endParaRPr sz="1200">
                <a:solidFill>
                  <a:schemeClr val="lt1"/>
                </a:solidFill>
                <a:latin typeface="Calibri"/>
                <a:ea typeface="Calibri"/>
                <a:cs typeface="Calibri"/>
                <a:sym typeface="Calibri"/>
              </a:endParaRPr>
            </a:p>
          </p:txBody>
        </p:sp>
        <p:sp>
          <p:nvSpPr>
            <p:cNvPr id="317" name="Google Shape;317;p44"/>
            <p:cNvSpPr/>
            <p:nvPr/>
          </p:nvSpPr>
          <p:spPr>
            <a:xfrm>
              <a:off x="0" y="3146801"/>
              <a:ext cx="6735443" cy="659879"/>
            </a:xfrm>
            <a:prstGeom prst="roundRect">
              <a:avLst>
                <a:gd fmla="val 16667" name="adj"/>
              </a:avLst>
            </a:prstGeom>
            <a:solidFill>
              <a:srgbClr val="48BD6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44"/>
            <p:cNvSpPr txBox="1"/>
            <p:nvPr/>
          </p:nvSpPr>
          <p:spPr>
            <a:xfrm>
              <a:off x="32213" y="3179014"/>
              <a:ext cx="6671017" cy="595453"/>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Clr>
                  <a:schemeClr val="lt1"/>
                </a:buClr>
                <a:buSzPts val="1200"/>
                <a:buFont typeface="Calibri"/>
                <a:buNone/>
              </a:pPr>
              <a:r>
                <a:rPr b="0" i="0" lang="en-US" sz="1200">
                  <a:solidFill>
                    <a:schemeClr val="lt1"/>
                  </a:solidFill>
                  <a:latin typeface="Calibri"/>
                  <a:ea typeface="Calibri"/>
                  <a:cs typeface="Calibri"/>
                  <a:sym typeface="Calibri"/>
                </a:rPr>
                <a:t>4. Enumerar precisamente los libros de comercio y de otra naturaleza que lleve el deudor, con expresión del último folio utilizado a la fecha del instrumento;</a:t>
              </a:r>
              <a:endParaRPr sz="1200">
                <a:solidFill>
                  <a:schemeClr val="lt1"/>
                </a:solidFill>
                <a:latin typeface="Calibri"/>
                <a:ea typeface="Calibri"/>
                <a:cs typeface="Calibri"/>
                <a:sym typeface="Calibri"/>
              </a:endParaRPr>
            </a:p>
          </p:txBody>
        </p:sp>
        <p:sp>
          <p:nvSpPr>
            <p:cNvPr id="319" name="Google Shape;319;p44"/>
            <p:cNvSpPr/>
            <p:nvPr/>
          </p:nvSpPr>
          <p:spPr>
            <a:xfrm>
              <a:off x="0" y="3841240"/>
              <a:ext cx="6735443" cy="659879"/>
            </a:xfrm>
            <a:prstGeom prst="roundRect">
              <a:avLst>
                <a:gd fmla="val 16667" name="adj"/>
              </a:avLst>
            </a:prstGeom>
            <a:solidFill>
              <a:srgbClr val="4FB546"/>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44"/>
            <p:cNvSpPr txBox="1"/>
            <p:nvPr/>
          </p:nvSpPr>
          <p:spPr>
            <a:xfrm>
              <a:off x="32213" y="3873453"/>
              <a:ext cx="6671017" cy="595453"/>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Clr>
                  <a:schemeClr val="lt1"/>
                </a:buClr>
                <a:buSzPts val="1200"/>
                <a:buFont typeface="Calibri"/>
                <a:buNone/>
              </a:pPr>
              <a:r>
                <a:rPr b="0" i="0" lang="en-US" sz="1200">
                  <a:solidFill>
                    <a:schemeClr val="lt1"/>
                  </a:solidFill>
                  <a:latin typeface="Calibri"/>
                  <a:ea typeface="Calibri"/>
                  <a:cs typeface="Calibri"/>
                  <a:sym typeface="Calibri"/>
                </a:rPr>
                <a:t>5. El monto de capital que representan los acreedores que han firmado el acuerdo, y el porcentaje que representan respecto de la totalidad de los acreedores registrados del deudor.</a:t>
              </a:r>
              <a:endParaRPr sz="1200">
                <a:solidFill>
                  <a:schemeClr val="lt1"/>
                </a:solidFill>
                <a:latin typeface="Calibri"/>
                <a:ea typeface="Calibri"/>
                <a:cs typeface="Calibri"/>
                <a:sym typeface="Calibri"/>
              </a:endParaRPr>
            </a:p>
          </p:txBody>
        </p:sp>
        <p:sp>
          <p:nvSpPr>
            <p:cNvPr id="321" name="Google Shape;321;p44"/>
            <p:cNvSpPr/>
            <p:nvPr/>
          </p:nvSpPr>
          <p:spPr>
            <a:xfrm>
              <a:off x="0" y="4535680"/>
              <a:ext cx="6735443" cy="659879"/>
            </a:xfrm>
            <a:prstGeom prst="roundRect">
              <a:avLst>
                <a:gd fmla="val 16667" name="adj"/>
              </a:avLst>
            </a:prstGeom>
            <a:solidFill>
              <a:srgbClr val="6FAB46"/>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44"/>
            <p:cNvSpPr txBox="1"/>
            <p:nvPr/>
          </p:nvSpPr>
          <p:spPr>
            <a:xfrm>
              <a:off x="32213" y="4567893"/>
              <a:ext cx="6671017" cy="595453"/>
            </a:xfrm>
            <a:prstGeom prst="rect">
              <a:avLst/>
            </a:prstGeom>
            <a:noFill/>
            <a:ln>
              <a:noFill/>
            </a:ln>
          </p:spPr>
          <p:txBody>
            <a:bodyPr anchorCtr="0" anchor="ctr" bIns="45700" lIns="45700" spcFirstLastPara="1" rIns="45700" wrap="square" tIns="45700">
              <a:noAutofit/>
            </a:bodyPr>
            <a:lstStyle/>
            <a:p>
              <a:pPr indent="0" lvl="0" marL="0" marR="0" rtl="0" algn="l">
                <a:lnSpc>
                  <a:spcPct val="90000"/>
                </a:lnSpc>
                <a:spcBef>
                  <a:spcPts val="0"/>
                </a:spcBef>
                <a:spcAft>
                  <a:spcPts val="0"/>
                </a:spcAft>
                <a:buClr>
                  <a:schemeClr val="lt1"/>
                </a:buClr>
                <a:buSzPts val="1200"/>
                <a:buFont typeface="Calibri"/>
                <a:buNone/>
              </a:pPr>
              <a:r>
                <a:rPr b="0" i="0" lang="en-US" sz="1200">
                  <a:solidFill>
                    <a:schemeClr val="lt1"/>
                  </a:solidFill>
                  <a:latin typeface="Calibri"/>
                  <a:ea typeface="Calibri"/>
                  <a:cs typeface="Calibri"/>
                  <a:sym typeface="Calibri"/>
                </a:rPr>
                <a:t>Ordenada la publicación de los edictos del artículo 74, quedan suspendidas todas las acciones de contenido patrimonial contra el deudor, con las exclusiones dispuestas por el artículo 21</a:t>
              </a:r>
              <a:endParaRPr sz="1200">
                <a:solidFill>
                  <a:schemeClr val="lt1"/>
                </a:solidFill>
                <a:latin typeface="Calibri"/>
                <a:ea typeface="Calibri"/>
                <a:cs typeface="Calibri"/>
                <a:sym typeface="Calibri"/>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6" name="Shape 326"/>
        <p:cNvGrpSpPr/>
        <p:nvPr/>
      </p:nvGrpSpPr>
      <p:grpSpPr>
        <a:xfrm>
          <a:off x="0" y="0"/>
          <a:ext cx="0" cy="0"/>
          <a:chOff x="0" y="0"/>
          <a:chExt cx="0" cy="0"/>
        </a:xfrm>
      </p:grpSpPr>
      <p:sp>
        <p:nvSpPr>
          <p:cNvPr id="327" name="Google Shape;327;p4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8" name="Google Shape;328;p45"/>
          <p:cNvSpPr/>
          <p:nvPr/>
        </p:nvSpPr>
        <p:spPr>
          <a:xfrm>
            <a:off x="0" y="0"/>
            <a:ext cx="4522573"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9" name="Google Shape;329;p45"/>
          <p:cNvSpPr/>
          <p:nvPr/>
        </p:nvSpPr>
        <p:spPr>
          <a:xfrm rot="-853893">
            <a:off x="2906963" y="1348064"/>
            <a:ext cx="2987899" cy="2987899"/>
          </a:xfrm>
          <a:prstGeom prst="arc">
            <a:avLst>
              <a:gd fmla="val 14612914"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0" name="Google Shape;330;p45"/>
          <p:cNvSpPr txBox="1"/>
          <p:nvPr>
            <p:ph type="title"/>
          </p:nvPr>
        </p:nvSpPr>
        <p:spPr>
          <a:xfrm>
            <a:off x="838200" y="643467"/>
            <a:ext cx="2951205" cy="557106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lang="en-US">
                <a:solidFill>
                  <a:srgbClr val="FFFFFF"/>
                </a:solidFill>
              </a:rPr>
              <a:t>Suspension</a:t>
            </a:r>
            <a:endParaRPr>
              <a:solidFill>
                <a:srgbClr val="FFFFFF"/>
              </a:solidFill>
            </a:endParaRPr>
          </a:p>
        </p:txBody>
      </p:sp>
      <p:grpSp>
        <p:nvGrpSpPr>
          <p:cNvPr id="331" name="Google Shape;331;p45"/>
          <p:cNvGrpSpPr/>
          <p:nvPr/>
        </p:nvGrpSpPr>
        <p:grpSpPr>
          <a:xfrm>
            <a:off x="5237018" y="680112"/>
            <a:ext cx="6303729" cy="5508000"/>
            <a:chOff x="0" y="26419"/>
            <a:chExt cx="6303729" cy="5508000"/>
          </a:xfrm>
        </p:grpSpPr>
        <p:sp>
          <p:nvSpPr>
            <p:cNvPr id="332" name="Google Shape;332;p45"/>
            <p:cNvSpPr/>
            <p:nvPr/>
          </p:nvSpPr>
          <p:spPr>
            <a:xfrm>
              <a:off x="0" y="26419"/>
              <a:ext cx="6303729" cy="1731600"/>
            </a:xfrm>
            <a:prstGeom prst="roundRect">
              <a:avLst>
                <a:gd fmla="val 16667" name="adj"/>
              </a:avLst>
            </a:prstGeom>
            <a:solidFill>
              <a:srgbClr val="599BD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5"/>
            <p:cNvSpPr txBox="1"/>
            <p:nvPr/>
          </p:nvSpPr>
          <p:spPr>
            <a:xfrm>
              <a:off x="84530" y="110949"/>
              <a:ext cx="6134669" cy="1562540"/>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Un efecto decisivo y central para el éxito del instituto es que la publicación edictal implica la suspensión de todas las acciones de contenido patrimonial contra el deudor en los términos previstos en el art. 21, con las excepciones de la ley.</a:t>
              </a:r>
              <a:endParaRPr sz="2000">
                <a:solidFill>
                  <a:schemeClr val="lt1"/>
                </a:solidFill>
                <a:latin typeface="Calibri"/>
                <a:ea typeface="Calibri"/>
                <a:cs typeface="Calibri"/>
                <a:sym typeface="Calibri"/>
              </a:endParaRPr>
            </a:p>
          </p:txBody>
        </p:sp>
        <p:sp>
          <p:nvSpPr>
            <p:cNvPr id="334" name="Google Shape;334;p45"/>
            <p:cNvSpPr/>
            <p:nvPr/>
          </p:nvSpPr>
          <p:spPr>
            <a:xfrm>
              <a:off x="0" y="1815619"/>
              <a:ext cx="6303729" cy="1731600"/>
            </a:xfrm>
            <a:prstGeom prst="roundRect">
              <a:avLst>
                <a:gd fmla="val 16667" name="adj"/>
              </a:avLst>
            </a:prstGeom>
            <a:solidFill>
              <a:srgbClr val="6FAB46"/>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5"/>
            <p:cNvSpPr txBox="1"/>
            <p:nvPr/>
          </p:nvSpPr>
          <p:spPr>
            <a:xfrm>
              <a:off x="84530" y="1900149"/>
              <a:ext cx="6134669" cy="1562540"/>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Existen dos tipos de acreedores, claramente diferenciados: </a:t>
              </a:r>
              <a:endParaRPr sz="2000">
                <a:solidFill>
                  <a:schemeClr val="lt1"/>
                </a:solidFill>
                <a:latin typeface="Calibri"/>
                <a:ea typeface="Calibri"/>
                <a:cs typeface="Calibri"/>
                <a:sym typeface="Calibri"/>
              </a:endParaRPr>
            </a:p>
          </p:txBody>
        </p:sp>
        <p:sp>
          <p:nvSpPr>
            <p:cNvPr id="336" name="Google Shape;336;p45"/>
            <p:cNvSpPr/>
            <p:nvPr/>
          </p:nvSpPr>
          <p:spPr>
            <a:xfrm>
              <a:off x="0" y="3547219"/>
              <a:ext cx="6303729" cy="198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45"/>
            <p:cNvSpPr txBox="1"/>
            <p:nvPr/>
          </p:nvSpPr>
          <p:spPr>
            <a:xfrm>
              <a:off x="0" y="3547219"/>
              <a:ext cx="6303729" cy="1987200"/>
            </a:xfrm>
            <a:prstGeom prst="rect">
              <a:avLst/>
            </a:prstGeom>
            <a:noFill/>
            <a:ln>
              <a:noFill/>
            </a:ln>
          </p:spPr>
          <p:txBody>
            <a:bodyPr anchorCtr="0" anchor="t" bIns="25400" lIns="200125" spcFirstLastPara="1" rIns="142225" wrap="square" tIns="25400">
              <a:noAutofit/>
            </a:bodyPr>
            <a:lstStyle/>
            <a:p>
              <a:pPr indent="-171450" lvl="1" marL="171450" marR="0" rtl="0" algn="l">
                <a:lnSpc>
                  <a:spcPct val="90000"/>
                </a:lnSpc>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i) los que hayan expresado su conformidad</a:t>
              </a:r>
              <a:endParaRPr b="0" i="0" sz="1600" u="none" cap="none" strike="noStrike">
                <a:solidFill>
                  <a:schemeClr val="dk1"/>
                </a:solidFill>
                <a:latin typeface="Calibri"/>
                <a:ea typeface="Calibri"/>
                <a:cs typeface="Calibri"/>
                <a:sym typeface="Calibri"/>
              </a:endParaRPr>
            </a:p>
            <a:p>
              <a:pPr indent="-171450" lvl="2" marL="342900" marR="0" rtl="0" algn="l">
                <a:lnSpc>
                  <a:spcPct val="90000"/>
                </a:lnSpc>
                <a:spcBef>
                  <a:spcPts val="32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no puedan promover nuevas acciones ni continuarlas</a:t>
              </a:r>
              <a:endParaRPr b="0" i="0" sz="1600" u="none" cap="none" strike="noStrike">
                <a:solidFill>
                  <a:schemeClr val="dk1"/>
                </a:solidFill>
                <a:latin typeface="Calibri"/>
                <a:ea typeface="Calibri"/>
                <a:cs typeface="Calibri"/>
                <a:sym typeface="Calibri"/>
              </a:endParaRPr>
            </a:p>
            <a:p>
              <a:pPr indent="-171450" lvl="1" marL="171450" marR="0" rtl="0" algn="l">
                <a:lnSpc>
                  <a:spcPct val="90000"/>
                </a:lnSpc>
                <a:spcBef>
                  <a:spcPts val="32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ii) los no adherentes. </a:t>
              </a:r>
              <a:endParaRPr b="0" i="0" sz="1600" u="none" cap="none" strike="noStrike">
                <a:solidFill>
                  <a:schemeClr val="dk1"/>
                </a:solidFill>
                <a:latin typeface="Calibri"/>
                <a:ea typeface="Calibri"/>
                <a:cs typeface="Calibri"/>
                <a:sym typeface="Calibri"/>
              </a:endParaRPr>
            </a:p>
            <a:p>
              <a:pPr indent="-171450" lvl="2" marL="342900" marR="0" rtl="0" algn="l">
                <a:lnSpc>
                  <a:spcPct val="90000"/>
                </a:lnSpc>
                <a:spcBef>
                  <a:spcPts val="32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Pero los acreedores no adherentes no deberían ser alcanzados (aunque lo son) con la suspensión, porque, al no existir verificación de créditos, el único medio del que dispondrán para obtener el reconocimiento de sus acreencias será el ejercicio de acciones individuales</a:t>
              </a:r>
              <a:endParaRPr b="0" i="0" sz="1600" u="none" cap="none" strike="noStrike">
                <a:solidFill>
                  <a:schemeClr val="dk1"/>
                </a:solidFill>
                <a:latin typeface="Calibri"/>
                <a:ea typeface="Calibri"/>
                <a:cs typeface="Calibri"/>
                <a:sym typeface="Calibri"/>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1" name="Shape 341"/>
        <p:cNvGrpSpPr/>
        <p:nvPr/>
      </p:nvGrpSpPr>
      <p:grpSpPr>
        <a:xfrm>
          <a:off x="0" y="0"/>
          <a:ext cx="0" cy="0"/>
          <a:chOff x="0" y="0"/>
          <a:chExt cx="0" cy="0"/>
        </a:xfrm>
      </p:grpSpPr>
      <p:sp>
        <p:nvSpPr>
          <p:cNvPr id="342" name="Google Shape;342;p46"/>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3" name="Google Shape;343;p46"/>
          <p:cNvSpPr/>
          <p:nvPr/>
        </p:nvSpPr>
        <p:spPr>
          <a:xfrm flipH="1" rot="1790889">
            <a:off x="715850" y="795372"/>
            <a:ext cx="2987899" cy="2987899"/>
          </a:xfrm>
          <a:prstGeom prst="arc">
            <a:avLst>
              <a:gd fmla="val 15817365" name="adj1"/>
              <a:gd fmla="val 178138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4" name="Google Shape;344;p46"/>
          <p:cNvSpPr txBox="1"/>
          <p:nvPr>
            <p:ph idx="1" type="body"/>
          </p:nvPr>
        </p:nvSpPr>
        <p:spPr>
          <a:xfrm>
            <a:off x="838200" y="1461360"/>
            <a:ext cx="5536397" cy="393528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600"/>
              <a:buChar char="•"/>
            </a:pPr>
            <a:r>
              <a:rPr b="0" i="0" lang="en-US" sz="2600">
                <a:latin typeface="Gill Sans"/>
                <a:ea typeface="Gill Sans"/>
                <a:cs typeface="Gill Sans"/>
                <a:sym typeface="Gill Sans"/>
              </a:rPr>
              <a:t>ARTICULO 73: Mayorías. Para que se dé homologación judicial al acuerdo es necesario que hayan prestado su conformidad la mayoría absoluta de acreedores quirografarios que representen las dos terceras partes del pasivo quirografario total, excluyéndose del cómputo a los acreedores comprendidos en las previsiones del artículo 45.</a:t>
            </a:r>
            <a:endParaRPr sz="2600"/>
          </a:p>
        </p:txBody>
      </p:sp>
      <p:sp>
        <p:nvSpPr>
          <p:cNvPr id="345" name="Google Shape;345;p46"/>
          <p:cNvSpPr/>
          <p:nvPr/>
        </p:nvSpPr>
        <p:spPr>
          <a:xfrm>
            <a:off x="6792396" y="1119031"/>
            <a:ext cx="4619938" cy="4619938"/>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 name="Google Shape;346;p46"/>
          <p:cNvSpPr/>
          <p:nvPr/>
        </p:nvSpPr>
        <p:spPr>
          <a:xfrm>
            <a:off x="10517460" y="4737713"/>
            <a:ext cx="546100" cy="546100"/>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7" name="Google Shape;347;p46"/>
          <p:cNvSpPr txBox="1"/>
          <p:nvPr>
            <p:ph type="title"/>
          </p:nvPr>
        </p:nvSpPr>
        <p:spPr>
          <a:xfrm>
            <a:off x="7474281" y="1396686"/>
            <a:ext cx="3240506" cy="406462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lang="en-US">
                <a:solidFill>
                  <a:srgbClr val="FFFFFF"/>
                </a:solidFill>
              </a:rPr>
              <a:t>Mayorías</a:t>
            </a:r>
            <a:endParaRPr>
              <a:solidFill>
                <a:srgbClr val="FFFFFF"/>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1" name="Shape 351"/>
        <p:cNvGrpSpPr/>
        <p:nvPr/>
      </p:nvGrpSpPr>
      <p:grpSpPr>
        <a:xfrm>
          <a:off x="0" y="0"/>
          <a:ext cx="0" cy="0"/>
          <a:chOff x="0" y="0"/>
          <a:chExt cx="0" cy="0"/>
        </a:xfrm>
      </p:grpSpPr>
      <p:sp>
        <p:nvSpPr>
          <p:cNvPr id="352" name="Google Shape;352;p4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53" name="Google Shape;353;p47"/>
          <p:cNvPicPr preferRelativeResize="0"/>
          <p:nvPr/>
        </p:nvPicPr>
        <p:blipFill rotWithShape="1">
          <a:blip r:embed="rId3">
            <a:alphaModFix/>
          </a:blip>
          <a:srcRect b="-1" l="49410" r="3329" t="0"/>
          <a:stretch/>
        </p:blipFill>
        <p:spPr>
          <a:xfrm>
            <a:off x="-7366" y="10"/>
            <a:ext cx="4855591" cy="6857990"/>
          </a:xfrm>
          <a:custGeom>
            <a:rect b="b" l="l" r="r" t="t"/>
            <a:pathLst>
              <a:path extrusionOk="0" h="6858000" w="4636517">
                <a:moveTo>
                  <a:pt x="0" y="0"/>
                </a:moveTo>
                <a:lnTo>
                  <a:pt x="4636517" y="0"/>
                </a:lnTo>
                <a:lnTo>
                  <a:pt x="4636517" y="6858000"/>
                </a:lnTo>
                <a:lnTo>
                  <a:pt x="0" y="6858000"/>
                </a:lnTo>
                <a:close/>
              </a:path>
            </a:pathLst>
          </a:custGeom>
          <a:noFill/>
          <a:ln>
            <a:noFill/>
          </a:ln>
        </p:spPr>
      </p:pic>
      <p:sp>
        <p:nvSpPr>
          <p:cNvPr id="354" name="Google Shape;354;p47"/>
          <p:cNvSpPr/>
          <p:nvPr/>
        </p:nvSpPr>
        <p:spPr>
          <a:xfrm>
            <a:off x="8673531" y="407987"/>
            <a:ext cx="2987899" cy="2987899"/>
          </a:xfrm>
          <a:prstGeom prst="arc">
            <a:avLst>
              <a:gd fmla="val 16200000" name="adj1"/>
              <a:gd fmla="val 256372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 name="Google Shape;355;p47"/>
          <p:cNvSpPr txBox="1"/>
          <p:nvPr>
            <p:ph type="title"/>
          </p:nvPr>
        </p:nvSpPr>
        <p:spPr>
          <a:xfrm>
            <a:off x="5827048" y="407987"/>
            <a:ext cx="572148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Mayorias</a:t>
            </a:r>
            <a:endParaRPr/>
          </a:p>
        </p:txBody>
      </p:sp>
      <p:grpSp>
        <p:nvGrpSpPr>
          <p:cNvPr id="356" name="Google Shape;356;p47"/>
          <p:cNvGrpSpPr/>
          <p:nvPr/>
        </p:nvGrpSpPr>
        <p:grpSpPr>
          <a:xfrm>
            <a:off x="5827048" y="1881861"/>
            <a:ext cx="5721484" cy="4324589"/>
            <a:chOff x="0" y="13374"/>
            <a:chExt cx="5721484" cy="4324589"/>
          </a:xfrm>
        </p:grpSpPr>
        <p:sp>
          <p:nvSpPr>
            <p:cNvPr id="357" name="Google Shape;357;p47"/>
            <p:cNvSpPr/>
            <p:nvPr/>
          </p:nvSpPr>
          <p:spPr>
            <a:xfrm>
              <a:off x="0" y="13374"/>
              <a:ext cx="5721484" cy="1356029"/>
            </a:xfrm>
            <a:prstGeom prst="roundRect">
              <a:avLst>
                <a:gd fmla="val 16667" name="adj"/>
              </a:avLst>
            </a:prstGeom>
            <a:solidFill>
              <a:srgbClr val="599BD5"/>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47"/>
            <p:cNvSpPr txBox="1"/>
            <p:nvPr/>
          </p:nvSpPr>
          <p:spPr>
            <a:xfrm>
              <a:off x="66196" y="79570"/>
              <a:ext cx="5589092" cy="1223637"/>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La mayoría de personas comprende a la totalidad de acreedores quirografarios, descontando a aquellos excluidos por incompatibilidad, de conformidad al tercer párrafo del art. 45, LCQ.</a:t>
              </a:r>
              <a:endParaRPr sz="1900">
                <a:solidFill>
                  <a:schemeClr val="lt1"/>
                </a:solidFill>
                <a:latin typeface="Calibri"/>
                <a:ea typeface="Calibri"/>
                <a:cs typeface="Calibri"/>
                <a:sym typeface="Calibri"/>
              </a:endParaRPr>
            </a:p>
          </p:txBody>
        </p:sp>
        <p:sp>
          <p:nvSpPr>
            <p:cNvPr id="359" name="Google Shape;359;p47"/>
            <p:cNvSpPr/>
            <p:nvPr/>
          </p:nvSpPr>
          <p:spPr>
            <a:xfrm>
              <a:off x="0" y="1369404"/>
              <a:ext cx="5721484" cy="161252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47"/>
            <p:cNvSpPr txBox="1"/>
            <p:nvPr/>
          </p:nvSpPr>
          <p:spPr>
            <a:xfrm>
              <a:off x="0" y="1369404"/>
              <a:ext cx="5721484" cy="1612529"/>
            </a:xfrm>
            <a:prstGeom prst="rect">
              <a:avLst/>
            </a:prstGeom>
            <a:noFill/>
            <a:ln>
              <a:noFill/>
            </a:ln>
          </p:spPr>
          <p:txBody>
            <a:bodyPr anchorCtr="0" anchor="t" bIns="24125" lIns="181650" spcFirstLastPara="1" rIns="135125" wrap="square" tIns="24125">
              <a:noAutofit/>
            </a:bodyPr>
            <a:lstStyle/>
            <a:p>
              <a:pPr indent="-114300" lvl="1" marL="114300" marR="0" rtl="0" algn="l">
                <a:lnSpc>
                  <a:spcPct val="90000"/>
                </a:lnSpc>
                <a:spcBef>
                  <a:spcPts val="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teniendo en cuenta los acreedores denunciados por el deudor en su presentación </a:t>
              </a:r>
              <a:endParaRPr b="0" i="0" sz="1500" u="none" cap="none" strike="noStrike">
                <a:solidFill>
                  <a:schemeClr val="dk1"/>
                </a:solidFill>
                <a:latin typeface="Calibri"/>
                <a:ea typeface="Calibri"/>
                <a:cs typeface="Calibri"/>
                <a:sym typeface="Calibri"/>
              </a:endParaRPr>
            </a:p>
            <a:p>
              <a:pPr indent="-114300" lvl="1" marL="114300" marR="0" rtl="0" algn="l">
                <a:lnSpc>
                  <a:spcPct val="90000"/>
                </a:lnSpc>
                <a:spcBef>
                  <a:spcPts val="30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que eventualmente se hubiesen presentado al trámite de oposición (art. 75) </a:t>
              </a:r>
              <a:endParaRPr b="0" i="0" sz="1500" u="none" cap="none" strike="noStrike">
                <a:solidFill>
                  <a:schemeClr val="dk1"/>
                </a:solidFill>
                <a:latin typeface="Calibri"/>
                <a:ea typeface="Calibri"/>
                <a:cs typeface="Calibri"/>
                <a:sym typeface="Calibri"/>
              </a:endParaRPr>
            </a:p>
            <a:p>
              <a:pPr indent="-114300" lvl="1" marL="114300" marR="0" rtl="0" algn="l">
                <a:lnSpc>
                  <a:spcPct val="90000"/>
                </a:lnSpc>
                <a:spcBef>
                  <a:spcPts val="30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y aquellos que demuestren sumariamente haber sido omitidos en el listado que el juez admita, como acreedores, en la resolución respectiva.</a:t>
              </a:r>
              <a:endParaRPr b="0" i="0" sz="1500" u="none" cap="none" strike="noStrike">
                <a:solidFill>
                  <a:schemeClr val="dk1"/>
                </a:solidFill>
                <a:latin typeface="Calibri"/>
                <a:ea typeface="Calibri"/>
                <a:cs typeface="Calibri"/>
                <a:sym typeface="Calibri"/>
              </a:endParaRPr>
            </a:p>
          </p:txBody>
        </p:sp>
        <p:sp>
          <p:nvSpPr>
            <p:cNvPr id="361" name="Google Shape;361;p47"/>
            <p:cNvSpPr/>
            <p:nvPr/>
          </p:nvSpPr>
          <p:spPr>
            <a:xfrm>
              <a:off x="0" y="2981934"/>
              <a:ext cx="5721484" cy="1356029"/>
            </a:xfrm>
            <a:prstGeom prst="roundRect">
              <a:avLst>
                <a:gd fmla="val 16667" name="adj"/>
              </a:avLst>
            </a:prstGeom>
            <a:solidFill>
              <a:srgbClr val="6FAB46"/>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47"/>
            <p:cNvSpPr txBox="1"/>
            <p:nvPr/>
          </p:nvSpPr>
          <p:spPr>
            <a:xfrm>
              <a:off x="66196" y="3048130"/>
              <a:ext cx="5589092" cy="1223637"/>
            </a:xfrm>
            <a:prstGeom prst="rect">
              <a:avLst/>
            </a:prstGeom>
            <a:noFill/>
            <a:ln>
              <a:noFill/>
            </a:ln>
          </p:spPr>
          <p:txBody>
            <a:bodyPr anchorCtr="0" anchor="ctr" bIns="72375" lIns="72375" spcFirstLastPara="1" rIns="72375" wrap="square" tIns="72375">
              <a:noAutofit/>
            </a:bodyPr>
            <a:lstStyle/>
            <a:p>
              <a:pPr indent="0" lvl="0" marL="0" marR="0" rtl="0" algn="l">
                <a:lnSpc>
                  <a:spcPct val="90000"/>
                </a:lnSpc>
                <a:spcBef>
                  <a:spcPts val="0"/>
                </a:spcBef>
                <a:spcAft>
                  <a:spcPts val="0"/>
                </a:spcAft>
                <a:buClr>
                  <a:schemeClr val="lt1"/>
                </a:buClr>
                <a:buSzPts val="1900"/>
                <a:buFont typeface="Calibri"/>
                <a:buNone/>
              </a:pPr>
              <a:r>
                <a:rPr b="1" lang="en-US" sz="1900" u="sng">
                  <a:solidFill>
                    <a:schemeClr val="lt1"/>
                  </a:solidFill>
                  <a:latin typeface="Calibri"/>
                  <a:ea typeface="Calibri"/>
                  <a:cs typeface="Calibri"/>
                  <a:sym typeface="Calibri"/>
                </a:rPr>
                <a:t>mantiene el sistema de doble mayoría de personas y de capital</a:t>
              </a:r>
              <a:endParaRPr sz="1900">
                <a:solidFill>
                  <a:schemeClr val="lt1"/>
                </a:solidFill>
                <a:latin typeface="Calibri"/>
                <a:ea typeface="Calibri"/>
                <a:cs typeface="Calibri"/>
                <a:sym typeface="Calibri"/>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6" name="Shape 366"/>
        <p:cNvGrpSpPr/>
        <p:nvPr/>
      </p:nvGrpSpPr>
      <p:grpSpPr>
        <a:xfrm>
          <a:off x="0" y="0"/>
          <a:ext cx="0" cy="0"/>
          <a:chOff x="0" y="0"/>
          <a:chExt cx="0" cy="0"/>
        </a:xfrm>
      </p:grpSpPr>
      <p:sp>
        <p:nvSpPr>
          <p:cNvPr id="367" name="Google Shape;367;p48"/>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8" name="Google Shape;368;p48"/>
          <p:cNvSpPr txBox="1"/>
          <p:nvPr>
            <p:ph type="title"/>
          </p:nvPr>
        </p:nvSpPr>
        <p:spPr>
          <a:xfrm>
            <a:off x="838200" y="365125"/>
            <a:ext cx="5558489"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Publicidad</a:t>
            </a:r>
            <a:endParaRPr/>
          </a:p>
        </p:txBody>
      </p:sp>
      <p:sp>
        <p:nvSpPr>
          <p:cNvPr id="369" name="Google Shape;369;p48"/>
          <p:cNvSpPr/>
          <p:nvPr/>
        </p:nvSpPr>
        <p:spPr>
          <a:xfrm>
            <a:off x="10208695" y="1"/>
            <a:ext cx="1135066" cy="477997"/>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0" name="Google Shape;370;p48"/>
          <p:cNvSpPr txBox="1"/>
          <p:nvPr>
            <p:ph idx="1" type="body"/>
          </p:nvPr>
        </p:nvSpPr>
        <p:spPr>
          <a:xfrm>
            <a:off x="838200" y="1825625"/>
            <a:ext cx="5558489"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b="0" i="0" lang="en-US" sz="2400">
                <a:latin typeface="Gill Sans"/>
                <a:ea typeface="Gill Sans"/>
                <a:cs typeface="Gill Sans"/>
                <a:sym typeface="Gill Sans"/>
              </a:rPr>
              <a:t>ARTICULO 74: Publicidad. La presentación del acuerdo para su homologación debe ser hecha conocer mediante edictos que se publican por cinco (5) días en el diario de publicaciones legales de la jurisdicción del tribunal y un (1) diario de gran circulación del lugar. Si el deudor tuviere establecimientos en otra jurisdicción judicial debe publicar los edictos por el mismo plazo en el lugar de ubicación de cada uno de ellos y en su caso en el diario de publicaciones oficiales respectivo.</a:t>
            </a:r>
            <a:endParaRPr sz="2400"/>
          </a:p>
        </p:txBody>
      </p:sp>
      <p:sp>
        <p:nvSpPr>
          <p:cNvPr id="371" name="Google Shape;371;p48"/>
          <p:cNvSpPr/>
          <p:nvPr/>
        </p:nvSpPr>
        <p:spPr>
          <a:xfrm>
            <a:off x="6821310" y="2624479"/>
            <a:ext cx="812427" cy="812427"/>
          </a:xfrm>
          <a:prstGeom prst="ellipse">
            <a:avLst/>
          </a:prstGeom>
          <a:noFill/>
          <a:ln cap="flat" cmpd="sng" w="1270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2" name="Google Shape;372;p48"/>
          <p:cNvSpPr/>
          <p:nvPr/>
        </p:nvSpPr>
        <p:spPr>
          <a:xfrm rot="-5400000">
            <a:off x="8912417" y="1218531"/>
            <a:ext cx="2387600" cy="2387600"/>
          </a:xfrm>
          <a:prstGeom prst="blockArc">
            <a:avLst>
              <a:gd fmla="val 10800000" name="adj1"/>
              <a:gd fmla="val 0" name="adj2"/>
              <a:gd fmla="val 25000" name="adj3"/>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48"/>
          <p:cNvSpPr/>
          <p:nvPr/>
        </p:nvSpPr>
        <p:spPr>
          <a:xfrm>
            <a:off x="6821310" y="0"/>
            <a:ext cx="2315251" cy="1550992"/>
          </a:xfrm>
          <a:custGeom>
            <a:rect b="b" l="l" r="r" t="t"/>
            <a:pathLst>
              <a:path extrusionOk="0" h="1550992" w="2315251">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374" name="Google Shape;374;p48"/>
          <p:cNvCxnSpPr/>
          <p:nvPr/>
        </p:nvCxnSpPr>
        <p:spPr>
          <a:xfrm>
            <a:off x="11724638" y="1331572"/>
            <a:ext cx="0" cy="1597708"/>
          </a:xfrm>
          <a:prstGeom prst="straightConnector1">
            <a:avLst/>
          </a:prstGeom>
          <a:noFill/>
          <a:ln cap="rnd" cmpd="sng" w="127000">
            <a:solidFill>
              <a:schemeClr val="accent4"/>
            </a:solidFill>
            <a:prstDash val="dash"/>
            <a:miter lim="800000"/>
            <a:headEnd len="sm" w="sm" type="none"/>
            <a:tailEnd len="sm" w="sm" type="none"/>
          </a:ln>
        </p:spPr>
      </p:cxnSp>
      <p:sp>
        <p:nvSpPr>
          <p:cNvPr id="375" name="Google Shape;375;p48"/>
          <p:cNvSpPr/>
          <p:nvPr/>
        </p:nvSpPr>
        <p:spPr>
          <a:xfrm>
            <a:off x="11005550" y="4112081"/>
            <a:ext cx="1186451" cy="1771650"/>
          </a:xfrm>
          <a:custGeom>
            <a:rect b="b" l="l" r="r" t="t"/>
            <a:pathLst>
              <a:path extrusionOk="0" h="1771650" w="1186451">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6" name="Google Shape;376;p48"/>
          <p:cNvSpPr/>
          <p:nvPr/>
        </p:nvSpPr>
        <p:spPr>
          <a:xfrm rot="-607105">
            <a:off x="6086940" y="4145122"/>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7" name="Google Shape;377;p48"/>
          <p:cNvSpPr/>
          <p:nvPr/>
        </p:nvSpPr>
        <p:spPr>
          <a:xfrm>
            <a:off x="6821310" y="4962670"/>
            <a:ext cx="2643352" cy="1895331"/>
          </a:xfrm>
          <a:custGeom>
            <a:rect b="b" l="l" r="r" t="t"/>
            <a:pathLst>
              <a:path extrusionOk="0" h="1895331" w="2643352">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1" name="Shape 381"/>
        <p:cNvGrpSpPr/>
        <p:nvPr/>
      </p:nvGrpSpPr>
      <p:grpSpPr>
        <a:xfrm>
          <a:off x="0" y="0"/>
          <a:ext cx="0" cy="0"/>
          <a:chOff x="0" y="0"/>
          <a:chExt cx="0" cy="0"/>
        </a:xfrm>
      </p:grpSpPr>
      <p:sp>
        <p:nvSpPr>
          <p:cNvPr id="382" name="Google Shape;382;p49"/>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3" name="Google Shape;383;p49"/>
          <p:cNvSpPr/>
          <p:nvPr/>
        </p:nvSpPr>
        <p:spPr>
          <a:xfrm>
            <a:off x="1" y="0"/>
            <a:ext cx="4167271" cy="6858000"/>
          </a:xfrm>
          <a:custGeom>
            <a:rect b="b" l="l" r="r" t="t"/>
            <a:pathLst>
              <a:path extrusionOk="0" h="6858000" w="4167271">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4" name="Google Shape;384;p49"/>
          <p:cNvSpPr txBox="1"/>
          <p:nvPr>
            <p:ph type="title"/>
          </p:nvPr>
        </p:nvSpPr>
        <p:spPr>
          <a:xfrm>
            <a:off x="686834" y="1153572"/>
            <a:ext cx="3200400" cy="44611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lang="en-US">
                <a:solidFill>
                  <a:srgbClr val="FFFFFF"/>
                </a:solidFill>
              </a:rPr>
              <a:t>Oposicion</a:t>
            </a:r>
            <a:endParaRPr>
              <a:solidFill>
                <a:srgbClr val="FFFFFF"/>
              </a:solidFill>
            </a:endParaRPr>
          </a:p>
        </p:txBody>
      </p:sp>
      <p:sp>
        <p:nvSpPr>
          <p:cNvPr id="385" name="Google Shape;385;p49"/>
          <p:cNvSpPr/>
          <p:nvPr/>
        </p:nvSpPr>
        <p:spPr>
          <a:xfrm flipH="1" rot="10800000">
            <a:off x="7550402" y="2455479"/>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49"/>
          <p:cNvSpPr txBox="1"/>
          <p:nvPr>
            <p:ph idx="1" type="body"/>
          </p:nvPr>
        </p:nvSpPr>
        <p:spPr>
          <a:xfrm>
            <a:off x="4447308" y="591344"/>
            <a:ext cx="6906491" cy="558561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b="0" i="0" lang="en-US" sz="2000">
                <a:latin typeface="Gill Sans"/>
                <a:ea typeface="Gill Sans"/>
                <a:cs typeface="Gill Sans"/>
                <a:sym typeface="Gill Sans"/>
              </a:rPr>
              <a:t>ARTICULO 75: Oposición. Podrán oponerse al acuerdo los acreedores denunciados y aquellos que demuestren sumariamente haber sido omitidos en el listado previsto en el inciso 2 del artículo 72. La oposición deberá presentarse dentro de los diez (10) días posteriores a la última publicación de edictos, y podrá fundarse solamente en omisiones o exageraciones del activo o pasivo o la inexistencia de la mayoría exigida por el artículo 73. De ser necesario se abrirá a prueba por diez (10) días y el juez resolverá dentro de los diez (10) días posteriores a la finalización del período probatorio.</a:t>
            </a:r>
            <a:endParaRPr/>
          </a:p>
          <a:p>
            <a:pPr indent="-228600" lvl="0" marL="228600" rtl="0" algn="l">
              <a:lnSpc>
                <a:spcPct val="90000"/>
              </a:lnSpc>
              <a:spcBef>
                <a:spcPts val="1000"/>
              </a:spcBef>
              <a:spcAft>
                <a:spcPts val="0"/>
              </a:spcAft>
              <a:buClr>
                <a:schemeClr val="dk1"/>
              </a:buClr>
              <a:buSzPts val="2000"/>
              <a:buChar char="•"/>
            </a:pPr>
            <a:r>
              <a:rPr b="0" i="0" lang="en-US" sz="2000">
                <a:latin typeface="Gill Sans"/>
                <a:ea typeface="Gill Sans"/>
                <a:cs typeface="Gill Sans"/>
                <a:sym typeface="Gill Sans"/>
              </a:rPr>
              <a:t>Si estuvieren cumplidos los requisitos legales y no mediaran oposiciones, el juez homologará el acuerdo.</a:t>
            </a:r>
            <a:endParaRPr/>
          </a:p>
          <a:p>
            <a:pPr indent="-228600" lvl="0" marL="228600" rtl="0" algn="l">
              <a:lnSpc>
                <a:spcPct val="90000"/>
              </a:lnSpc>
              <a:spcBef>
                <a:spcPts val="1000"/>
              </a:spcBef>
              <a:spcAft>
                <a:spcPts val="0"/>
              </a:spcAft>
              <a:buClr>
                <a:schemeClr val="dk1"/>
              </a:buClr>
              <a:buSzPts val="2000"/>
              <a:buChar char="•"/>
            </a:pPr>
            <a:r>
              <a:rPr b="0" i="0" lang="en-US" sz="2000">
                <a:latin typeface="Gill Sans"/>
                <a:ea typeface="Gill Sans"/>
                <a:cs typeface="Gill Sans"/>
                <a:sym typeface="Gill Sans"/>
              </a:rPr>
              <a:t>La regulación de honorarios, en caso de existir impugnaciones, será efectuada por el juez teniendo en cuenta exclusivamente la magnitud y entidad de los trabajos realizados por los profesionales en el expediente, sin tomar en cuenta el valor económico o comprometido en el acuerdo, ni el monto del crédito del impugnante.</a:t>
            </a:r>
            <a:endParaRPr/>
          </a:p>
          <a:p>
            <a:pPr indent="-101600" lvl="0" marL="228600" rtl="0" algn="l">
              <a:lnSpc>
                <a:spcPct val="90000"/>
              </a:lnSpc>
              <a:spcBef>
                <a:spcPts val="1000"/>
              </a:spcBef>
              <a:spcAft>
                <a:spcPts val="0"/>
              </a:spcAft>
              <a:buClr>
                <a:schemeClr val="dk1"/>
              </a:buClr>
              <a:buSzPts val="2000"/>
              <a:buNone/>
            </a:pPr>
            <a:r>
              <a:t/>
            </a:r>
            <a:endParaRPr sz="2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0" name="Shape 390"/>
        <p:cNvGrpSpPr/>
        <p:nvPr/>
      </p:nvGrpSpPr>
      <p:grpSpPr>
        <a:xfrm>
          <a:off x="0" y="0"/>
          <a:ext cx="0" cy="0"/>
          <a:chOff x="0" y="0"/>
          <a:chExt cx="0" cy="0"/>
        </a:xfrm>
      </p:grpSpPr>
      <p:sp>
        <p:nvSpPr>
          <p:cNvPr id="391" name="Google Shape;391;p50"/>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2" name="Google Shape;392;p50"/>
          <p:cNvSpPr/>
          <p:nvPr/>
        </p:nvSpPr>
        <p:spPr>
          <a:xfrm>
            <a:off x="1" y="0"/>
            <a:ext cx="4167271" cy="6858000"/>
          </a:xfrm>
          <a:custGeom>
            <a:rect b="b" l="l" r="r" t="t"/>
            <a:pathLst>
              <a:path extrusionOk="0" h="6858000" w="4167271">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3" name="Google Shape;393;p50"/>
          <p:cNvSpPr txBox="1"/>
          <p:nvPr>
            <p:ph type="title"/>
          </p:nvPr>
        </p:nvSpPr>
        <p:spPr>
          <a:xfrm>
            <a:off x="686834" y="1153572"/>
            <a:ext cx="3200400" cy="44611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lang="en-US">
                <a:solidFill>
                  <a:srgbClr val="FFFFFF"/>
                </a:solidFill>
              </a:rPr>
              <a:t>Oposicion</a:t>
            </a:r>
            <a:endParaRPr>
              <a:solidFill>
                <a:srgbClr val="FFFFFF"/>
              </a:solidFill>
            </a:endParaRPr>
          </a:p>
        </p:txBody>
      </p:sp>
      <p:sp>
        <p:nvSpPr>
          <p:cNvPr id="394" name="Google Shape;394;p50"/>
          <p:cNvSpPr/>
          <p:nvPr/>
        </p:nvSpPr>
        <p:spPr>
          <a:xfrm flipH="1" rot="10800000">
            <a:off x="7550402" y="2455479"/>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50"/>
          <p:cNvSpPr txBox="1"/>
          <p:nvPr>
            <p:ph idx="1" type="body"/>
          </p:nvPr>
        </p:nvSpPr>
        <p:spPr>
          <a:xfrm>
            <a:off x="4447308" y="591344"/>
            <a:ext cx="6906491" cy="558561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400"/>
              <a:buChar char="•"/>
            </a:pPr>
            <a:r>
              <a:rPr lang="en-US" sz="1400"/>
              <a:t>habilita expresamente a los acreedores "omitidos" y a los "denunciados" por el deudor a que se opongan a la homologación del acuerdo.</a:t>
            </a:r>
            <a:endParaRPr sz="20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9" name="Shape 399"/>
        <p:cNvGrpSpPr/>
        <p:nvPr/>
      </p:nvGrpSpPr>
      <p:grpSpPr>
        <a:xfrm>
          <a:off x="0" y="0"/>
          <a:ext cx="0" cy="0"/>
          <a:chOff x="0" y="0"/>
          <a:chExt cx="0" cy="0"/>
        </a:xfrm>
      </p:grpSpPr>
      <p:sp>
        <p:nvSpPr>
          <p:cNvPr id="400" name="Google Shape;400;p5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1" name="Google Shape;401;p51"/>
          <p:cNvSpPr/>
          <p:nvPr/>
        </p:nvSpPr>
        <p:spPr>
          <a:xfrm flipH="1">
            <a:off x="8576720" y="3335867"/>
            <a:ext cx="3291840" cy="3200400"/>
          </a:xfrm>
          <a:prstGeom prst="rtTriangl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2" name="Google Shape;402;p51"/>
          <p:cNvSpPr/>
          <p:nvPr/>
        </p:nvSpPr>
        <p:spPr>
          <a:xfrm>
            <a:off x="641774" y="623275"/>
            <a:ext cx="10905053" cy="5607882"/>
          </a:xfrm>
          <a:prstGeom prst="rect">
            <a:avLst/>
          </a:prstGeom>
          <a:noFill/>
          <a:ln cap="flat" cmpd="sng" w="1905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3" name="Google Shape;403;p51"/>
          <p:cNvSpPr txBox="1"/>
          <p:nvPr>
            <p:ph type="title"/>
          </p:nvPr>
        </p:nvSpPr>
        <p:spPr>
          <a:xfrm>
            <a:off x="1075767" y="1188637"/>
            <a:ext cx="2988234" cy="4480726"/>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dk1"/>
              </a:buClr>
              <a:buSzPts val="6600"/>
              <a:buFont typeface="Calibri"/>
              <a:buNone/>
            </a:pPr>
            <a:r>
              <a:rPr lang="en-US" sz="6600"/>
              <a:t>Efectos</a:t>
            </a:r>
            <a:endParaRPr sz="6600"/>
          </a:p>
        </p:txBody>
      </p:sp>
      <p:cxnSp>
        <p:nvCxnSpPr>
          <p:cNvPr id="404" name="Google Shape;404;p51"/>
          <p:cNvCxnSpPr/>
          <p:nvPr/>
        </p:nvCxnSpPr>
        <p:spPr>
          <a:xfrm>
            <a:off x="4654296" y="1852863"/>
            <a:ext cx="0" cy="3236495"/>
          </a:xfrm>
          <a:prstGeom prst="straightConnector1">
            <a:avLst/>
          </a:prstGeom>
          <a:noFill/>
          <a:ln cap="sq" cmpd="sng" w="19050">
            <a:solidFill>
              <a:srgbClr val="3F3F3F"/>
            </a:solidFill>
            <a:prstDash val="solid"/>
            <a:miter lim="800000"/>
            <a:headEnd len="sm" w="sm" type="none"/>
            <a:tailEnd len="sm" w="sm" type="none"/>
          </a:ln>
        </p:spPr>
      </p:cxnSp>
      <p:sp>
        <p:nvSpPr>
          <p:cNvPr id="405" name="Google Shape;405;p51"/>
          <p:cNvSpPr txBox="1"/>
          <p:nvPr>
            <p:ph idx="1" type="body"/>
          </p:nvPr>
        </p:nvSpPr>
        <p:spPr>
          <a:xfrm>
            <a:off x="5255260" y="1648870"/>
            <a:ext cx="4702848" cy="356026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b="0" i="0" lang="en-US" sz="2400">
                <a:latin typeface="Gill Sans"/>
                <a:ea typeface="Gill Sans"/>
                <a:cs typeface="Gill Sans"/>
                <a:sym typeface="Gill Sans"/>
              </a:rPr>
              <a:t>ARTICULO 76: Efectos de la homologación. El acuerdo homologado conforme a las disposiciones de esta sección produce los efectos previstos en el artículo 56, y queda sometido a las previsiones de las Secciones III, IV y V del Capítulo V del Título II de esta ley.</a:t>
            </a:r>
            <a:endParaRPr sz="24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11" name="Google Shape;411;p5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5" name="Shape 415"/>
        <p:cNvGrpSpPr/>
        <p:nvPr/>
      </p:nvGrpSpPr>
      <p:grpSpPr>
        <a:xfrm>
          <a:off x="0" y="0"/>
          <a:ext cx="0" cy="0"/>
          <a:chOff x="0" y="0"/>
          <a:chExt cx="0" cy="0"/>
        </a:xfrm>
      </p:grpSpPr>
      <p:sp>
        <p:nvSpPr>
          <p:cNvPr id="416" name="Google Shape;416;p5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7" name="Google Shape;417;p53"/>
          <p:cNvSpPr/>
          <p:nvPr/>
        </p:nvSpPr>
        <p:spPr>
          <a:xfrm flipH="1">
            <a:off x="8576720" y="3335867"/>
            <a:ext cx="3291840" cy="3200400"/>
          </a:xfrm>
          <a:prstGeom prst="rtTriangl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8" name="Google Shape;418;p53"/>
          <p:cNvSpPr/>
          <p:nvPr/>
        </p:nvSpPr>
        <p:spPr>
          <a:xfrm>
            <a:off x="641774" y="623275"/>
            <a:ext cx="10905053" cy="5607882"/>
          </a:xfrm>
          <a:prstGeom prst="rect">
            <a:avLst/>
          </a:prstGeom>
          <a:noFill/>
          <a:ln cap="flat" cmpd="sng" w="1905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9" name="Google Shape;419;p53"/>
          <p:cNvSpPr txBox="1"/>
          <p:nvPr>
            <p:ph type="title"/>
          </p:nvPr>
        </p:nvSpPr>
        <p:spPr>
          <a:xfrm>
            <a:off x="1075767" y="1188637"/>
            <a:ext cx="2988234" cy="4480726"/>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dk1"/>
              </a:buClr>
              <a:buSzPts val="6600"/>
              <a:buFont typeface="Calibri"/>
              <a:buNone/>
            </a:pPr>
            <a:r>
              <a:rPr lang="en-US" sz="6600"/>
              <a:t>Efectos</a:t>
            </a:r>
            <a:endParaRPr sz="6600"/>
          </a:p>
        </p:txBody>
      </p:sp>
      <p:cxnSp>
        <p:nvCxnSpPr>
          <p:cNvPr id="420" name="Google Shape;420;p53"/>
          <p:cNvCxnSpPr/>
          <p:nvPr/>
        </p:nvCxnSpPr>
        <p:spPr>
          <a:xfrm>
            <a:off x="4654296" y="1852863"/>
            <a:ext cx="0" cy="3236495"/>
          </a:xfrm>
          <a:prstGeom prst="straightConnector1">
            <a:avLst/>
          </a:prstGeom>
          <a:noFill/>
          <a:ln cap="sq" cmpd="sng" w="19050">
            <a:solidFill>
              <a:srgbClr val="3F3F3F"/>
            </a:solidFill>
            <a:prstDash val="solid"/>
            <a:miter lim="800000"/>
            <a:headEnd len="sm" w="sm" type="none"/>
            <a:tailEnd len="sm" w="sm" type="none"/>
          </a:ln>
        </p:spPr>
      </p:cxnSp>
      <p:sp>
        <p:nvSpPr>
          <p:cNvPr id="421" name="Google Shape;421;p53"/>
          <p:cNvSpPr txBox="1"/>
          <p:nvPr>
            <p:ph idx="1" type="body"/>
          </p:nvPr>
        </p:nvSpPr>
        <p:spPr>
          <a:xfrm>
            <a:off x="5255260" y="1648870"/>
            <a:ext cx="4702848" cy="3560260"/>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600"/>
              <a:buChar char="•"/>
            </a:pPr>
            <a:r>
              <a:rPr lang="en-US" sz="1600"/>
              <a:t>produce iguales efectos respecto de los acreedores privilegiados que hayan renunciado al privilegio y el acuerdo se extiende a los socios ilimitadamente responsables, todo de conformidad con el texto del art. 56.</a:t>
            </a:r>
            <a:endParaRPr/>
          </a:p>
          <a:p>
            <a:pPr indent="-228600" lvl="0" marL="228600" rtl="0" algn="l">
              <a:lnSpc>
                <a:spcPct val="90000"/>
              </a:lnSpc>
              <a:spcBef>
                <a:spcPts val="1000"/>
              </a:spcBef>
              <a:spcAft>
                <a:spcPts val="0"/>
              </a:spcAft>
              <a:buClr>
                <a:schemeClr val="dk1"/>
              </a:buClr>
              <a:buSzPts val="1600"/>
              <a:buChar char="•"/>
            </a:pPr>
            <a:r>
              <a:rPr lang="en-US" sz="1600"/>
              <a:t>hace oponible el acuerdo a todos los acreedores</a:t>
            </a:r>
            <a:endParaRPr sz="24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5" name="Shape 425"/>
        <p:cNvGrpSpPr/>
        <p:nvPr/>
      </p:nvGrpSpPr>
      <p:grpSpPr>
        <a:xfrm>
          <a:off x="0" y="0"/>
          <a:ext cx="0" cy="0"/>
          <a:chOff x="0" y="0"/>
          <a:chExt cx="0" cy="0"/>
        </a:xfrm>
      </p:grpSpPr>
      <p:sp>
        <p:nvSpPr>
          <p:cNvPr id="426" name="Google Shape;426;p54"/>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7" name="Google Shape;427;p54"/>
          <p:cNvSpPr/>
          <p:nvPr/>
        </p:nvSpPr>
        <p:spPr>
          <a:xfrm>
            <a:off x="707393" y="847600"/>
            <a:ext cx="4619938" cy="4619938"/>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8" name="Google Shape;428;p54"/>
          <p:cNvSpPr txBox="1"/>
          <p:nvPr>
            <p:ph type="title"/>
          </p:nvPr>
        </p:nvSpPr>
        <p:spPr>
          <a:xfrm>
            <a:off x="1389278" y="1233241"/>
            <a:ext cx="3240506" cy="406462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100"/>
              <a:buFont typeface="Calibri"/>
              <a:buNone/>
            </a:pPr>
            <a:r>
              <a:rPr lang="en-US" sz="4100">
                <a:solidFill>
                  <a:srgbClr val="FFFFFF"/>
                </a:solidFill>
              </a:rPr>
              <a:t>Jurisprudencia</a:t>
            </a:r>
            <a:endParaRPr sz="4100">
              <a:solidFill>
                <a:srgbClr val="FFFFFF"/>
              </a:solidFill>
            </a:endParaRPr>
          </a:p>
        </p:txBody>
      </p:sp>
      <p:sp>
        <p:nvSpPr>
          <p:cNvPr id="429" name="Google Shape;429;p54"/>
          <p:cNvSpPr/>
          <p:nvPr/>
        </p:nvSpPr>
        <p:spPr>
          <a:xfrm flipH="1">
            <a:off x="530529" y="0"/>
            <a:ext cx="1155142" cy="591009"/>
          </a:xfrm>
          <a:custGeom>
            <a:rect b="b" l="l" r="r" t="t"/>
            <a:pathLst>
              <a:path extrusionOk="0" h="591009" w="1155142">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0" name="Google Shape;430;p54"/>
          <p:cNvSpPr/>
          <p:nvPr/>
        </p:nvSpPr>
        <p:spPr>
          <a:xfrm flipH="1">
            <a:off x="3961511" y="-1"/>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1" name="Google Shape;431;p54"/>
          <p:cNvSpPr/>
          <p:nvPr/>
        </p:nvSpPr>
        <p:spPr>
          <a:xfrm flipH="1">
            <a:off x="0" y="2936831"/>
            <a:ext cx="159741" cy="552996"/>
          </a:xfrm>
          <a:custGeom>
            <a:rect b="b" l="l" r="r" t="t"/>
            <a:pathLst>
              <a:path extrusionOk="0" h="552996" w="159741">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2" name="Google Shape;432;p54"/>
          <p:cNvSpPr txBox="1"/>
          <p:nvPr>
            <p:ph idx="1" type="body"/>
          </p:nvPr>
        </p:nvSpPr>
        <p:spPr>
          <a:xfrm>
            <a:off x="6096000" y="820880"/>
            <a:ext cx="5257799" cy="488935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300"/>
              <a:buChar char="•"/>
            </a:pPr>
            <a:r>
              <a:rPr lang="en-US" sz="1300"/>
              <a:t>Cabe concluir que un APE será homologado con efectos hacia terceros no votantes siempre que exista una situación de total claridad y transparencia: a) con relación a la composición del activo y del pasivo de la deudora; b) respecto de la efectiva configuración de las mayorías legales; c) en lo relativo a su carácter no abusivo ni fraudulento, todo apreciado con la mayor rigurosidad [...] La propuesta de acuerdo preventivo extrajudicial, tal como fue formulada, es abusiva en lo relativo a la novación propuesta ya que no implica el pago del pasivo sino la cancelación del mismo mediante la entrega de ciertos instrumentos que, en definitiva, no constituyen el pago sino meras promesas de pago. De tal suerte la deudora cumpliría el acuerdo preventivo extrajudicial con imposibilidad ulterior de quiebra en caso de incumplimiento (LCQ, art. 77, inc. lo), con el simple expediente de entregar ciertas promesas documentadas, o sea mediante un acto para ella "gratuito", encuadrable en los términos del artículo 43, 3" párrafo, de la LCQ. Por lo tanto, y dado que la novación no se presume y que es de interpretación restrictiva (art. 874, Cód. Civ.) se aprecia abusivo que, mediante su homologación (LC, art. 73, se imponga tal cláusula a quienes no la votaron favorablemente (arg. art. 37, ley 24.240). JN1"Inst.Com. No 9, Secr. No 17, 2-8-2004, "Acindar Industria Argentina de Aceros SA s1Acuerdo preventivo extrajudicia</a:t>
            </a:r>
            <a:endParaRPr sz="1300"/>
          </a:p>
        </p:txBody>
      </p:sp>
      <p:sp>
        <p:nvSpPr>
          <p:cNvPr id="433" name="Google Shape;433;p54"/>
          <p:cNvSpPr/>
          <p:nvPr/>
        </p:nvSpPr>
        <p:spPr>
          <a:xfrm flipH="1">
            <a:off x="0" y="5835649"/>
            <a:ext cx="1548180" cy="1022351"/>
          </a:xfrm>
          <a:custGeom>
            <a:rect b="b" l="l" r="r" t="t"/>
            <a:pathLst>
              <a:path extrusionOk="0" h="1022351" w="1548180">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p54"/>
          <p:cNvSpPr/>
          <p:nvPr/>
        </p:nvSpPr>
        <p:spPr>
          <a:xfrm flipH="1">
            <a:off x="3405056" y="5717905"/>
            <a:ext cx="1771609" cy="1140095"/>
          </a:xfrm>
          <a:custGeom>
            <a:rect b="b" l="l" r="r" t="t"/>
            <a:pathLst>
              <a:path extrusionOk="0" h="1140095" w="1771609">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5" name="Google Shape;435;p54"/>
          <p:cNvSpPr/>
          <p:nvPr/>
        </p:nvSpPr>
        <p:spPr>
          <a:xfrm flipH="1">
            <a:off x="4132972" y="6258755"/>
            <a:ext cx="1565940" cy="599245"/>
          </a:xfrm>
          <a:custGeom>
            <a:rect b="b" l="l" r="r" t="t"/>
            <a:pathLst>
              <a:path extrusionOk="0" h="599245" w="1565940">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9" name="Shape 439"/>
        <p:cNvGrpSpPr/>
        <p:nvPr/>
      </p:nvGrpSpPr>
      <p:grpSpPr>
        <a:xfrm>
          <a:off x="0" y="0"/>
          <a:ext cx="0" cy="0"/>
          <a:chOff x="0" y="0"/>
          <a:chExt cx="0" cy="0"/>
        </a:xfrm>
      </p:grpSpPr>
      <p:sp>
        <p:nvSpPr>
          <p:cNvPr id="440" name="Google Shape;440;p55"/>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1" name="Google Shape;441;p55"/>
          <p:cNvSpPr/>
          <p:nvPr/>
        </p:nvSpPr>
        <p:spPr>
          <a:xfrm>
            <a:off x="707393" y="847600"/>
            <a:ext cx="4619938" cy="4619938"/>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2" name="Google Shape;442;p55"/>
          <p:cNvSpPr txBox="1"/>
          <p:nvPr>
            <p:ph type="title"/>
          </p:nvPr>
        </p:nvSpPr>
        <p:spPr>
          <a:xfrm>
            <a:off x="1389278" y="1233241"/>
            <a:ext cx="3240506" cy="406462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100"/>
              <a:buFont typeface="Calibri"/>
              <a:buNone/>
            </a:pPr>
            <a:r>
              <a:rPr lang="en-US" sz="4100">
                <a:solidFill>
                  <a:srgbClr val="FFFFFF"/>
                </a:solidFill>
              </a:rPr>
              <a:t>Jurisprudencia</a:t>
            </a:r>
            <a:endParaRPr sz="4100">
              <a:solidFill>
                <a:srgbClr val="FFFFFF"/>
              </a:solidFill>
            </a:endParaRPr>
          </a:p>
        </p:txBody>
      </p:sp>
      <p:sp>
        <p:nvSpPr>
          <p:cNvPr id="443" name="Google Shape;443;p55"/>
          <p:cNvSpPr/>
          <p:nvPr/>
        </p:nvSpPr>
        <p:spPr>
          <a:xfrm flipH="1">
            <a:off x="530529" y="0"/>
            <a:ext cx="1155142" cy="591009"/>
          </a:xfrm>
          <a:custGeom>
            <a:rect b="b" l="l" r="r" t="t"/>
            <a:pathLst>
              <a:path extrusionOk="0" h="591009" w="1155142">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4" name="Google Shape;444;p55"/>
          <p:cNvSpPr/>
          <p:nvPr/>
        </p:nvSpPr>
        <p:spPr>
          <a:xfrm flipH="1">
            <a:off x="3961511" y="-1"/>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5" name="Google Shape;445;p55"/>
          <p:cNvSpPr/>
          <p:nvPr/>
        </p:nvSpPr>
        <p:spPr>
          <a:xfrm flipH="1">
            <a:off x="0" y="2936831"/>
            <a:ext cx="159741" cy="552996"/>
          </a:xfrm>
          <a:custGeom>
            <a:rect b="b" l="l" r="r" t="t"/>
            <a:pathLst>
              <a:path extrusionOk="0" h="552996" w="159741">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6" name="Google Shape;446;p55"/>
          <p:cNvSpPr txBox="1"/>
          <p:nvPr>
            <p:ph idx="1" type="body"/>
          </p:nvPr>
        </p:nvSpPr>
        <p:spPr>
          <a:xfrm>
            <a:off x="5949773" y="1828121"/>
            <a:ext cx="5257799" cy="488935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800"/>
              <a:buChar char="•"/>
            </a:pPr>
            <a:r>
              <a:rPr lang="en-US" sz="1800"/>
              <a:t>A raíz de la remisión de la ley 24.522: 76, lo dispuesto en la LC: 63 y 64 resulta enteramente aplicable respecto de los acuerdos preventivos extrajudiciales homologados. Ello así y en virtud de lo normado por la LC: 63, corresponde la declaración de quiebra de la deudora, ante el incumplimiento en el pago de la primera cuota del acuerdo homologado (el dictamen fiscal 1 18.469). CNCom., sala E, 6-3-2008, "Hotel Crillón SA s/Acuerdo Preventivo Extrajudicial", Abeledo-Perrot Online</a:t>
            </a:r>
            <a:endParaRPr sz="2400"/>
          </a:p>
        </p:txBody>
      </p:sp>
      <p:sp>
        <p:nvSpPr>
          <p:cNvPr id="447" name="Google Shape;447;p55"/>
          <p:cNvSpPr/>
          <p:nvPr/>
        </p:nvSpPr>
        <p:spPr>
          <a:xfrm flipH="1">
            <a:off x="0" y="5835649"/>
            <a:ext cx="1548180" cy="1022351"/>
          </a:xfrm>
          <a:custGeom>
            <a:rect b="b" l="l" r="r" t="t"/>
            <a:pathLst>
              <a:path extrusionOk="0" h="1022351" w="1548180">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55"/>
          <p:cNvSpPr/>
          <p:nvPr/>
        </p:nvSpPr>
        <p:spPr>
          <a:xfrm flipH="1">
            <a:off x="3405056" y="5717905"/>
            <a:ext cx="1771609" cy="1140095"/>
          </a:xfrm>
          <a:custGeom>
            <a:rect b="b" l="l" r="r" t="t"/>
            <a:pathLst>
              <a:path extrusionOk="0" h="1140095" w="1771609">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55"/>
          <p:cNvSpPr/>
          <p:nvPr/>
        </p:nvSpPr>
        <p:spPr>
          <a:xfrm flipH="1">
            <a:off x="4132972" y="6258755"/>
            <a:ext cx="1565940" cy="599245"/>
          </a:xfrm>
          <a:custGeom>
            <a:rect b="b" l="l" r="r" t="t"/>
            <a:pathLst>
              <a:path extrusionOk="0" h="599245" w="1565940">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2021-04-08T17:50:06Z</dcterms:created>
  <dc:creator>maximiliano romei</dc:creator>
</cp:coreProperties>
</file>