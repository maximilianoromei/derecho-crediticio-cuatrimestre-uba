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2000"/>
  <p:notesSz cx="6858000" cy="9144000"/>
  <p:embeddedFontLst>
    <p:embeddedFont>
      <p:font typeface="Gill Sans"/>
      <p:regular r:id="rId31"/>
      <p:bold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gPXoRicqFjXxlA2X1wWLrCZMI4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GillSans-regular.fntdata"/><Relationship Id="rId30" Type="http://schemas.openxmlformats.org/officeDocument/2006/relationships/slide" Target="slides/slide25.xml"/><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GillSans-bold.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5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5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5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ítulo y objetos">
  <p:cSld name="1_Título y objetos">
    <p:spTree>
      <p:nvGrpSpPr>
        <p:cNvPr id="23" name="Shape 23"/>
        <p:cNvGrpSpPr/>
        <p:nvPr/>
      </p:nvGrpSpPr>
      <p:grpSpPr>
        <a:xfrm>
          <a:off x="0" y="0"/>
          <a:ext cx="0" cy="0"/>
          <a:chOff x="0" y="0"/>
          <a:chExt cx="0" cy="0"/>
        </a:xfrm>
      </p:grpSpPr>
      <p:pic>
        <p:nvPicPr>
          <p:cNvPr descr="Droplets-HD-Content-R1d.png" id="24" name="Google Shape;24;p6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5" name="Google Shape;25;p6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61"/>
          <p:cNvSpPr txBox="1"/>
          <p:nvPr>
            <p:ph idx="1" type="body"/>
          </p:nvPr>
        </p:nvSpPr>
        <p:spPr>
          <a:xfrm>
            <a:off x="913774" y="2367092"/>
            <a:ext cx="10363826" cy="34241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0" name="Shape 30"/>
        <p:cNvGrpSpPr/>
        <p:nvPr/>
      </p:nvGrpSpPr>
      <p:grpSpPr>
        <a:xfrm>
          <a:off x="0" y="0"/>
          <a:ext cx="0" cy="0"/>
          <a:chOff x="0" y="0"/>
          <a:chExt cx="0" cy="0"/>
        </a:xfrm>
      </p:grpSpPr>
      <p:sp>
        <p:nvSpPr>
          <p:cNvPr id="31" name="Google Shape;31;p6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6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3" name="Google Shape;33;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6" name="Shape 36"/>
        <p:cNvGrpSpPr/>
        <p:nvPr/>
      </p:nvGrpSpPr>
      <p:grpSpPr>
        <a:xfrm>
          <a:off x="0" y="0"/>
          <a:ext cx="0" cy="0"/>
          <a:chOff x="0" y="0"/>
          <a:chExt cx="0" cy="0"/>
        </a:xfrm>
      </p:grpSpPr>
      <p:sp>
        <p:nvSpPr>
          <p:cNvPr id="37" name="Google Shape;37;p6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6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3" name="Shape 43"/>
        <p:cNvGrpSpPr/>
        <p:nvPr/>
      </p:nvGrpSpPr>
      <p:grpSpPr>
        <a:xfrm>
          <a:off x="0" y="0"/>
          <a:ext cx="0" cy="0"/>
          <a:chOff x="0" y="0"/>
          <a:chExt cx="0" cy="0"/>
        </a:xfrm>
      </p:grpSpPr>
      <p:sp>
        <p:nvSpPr>
          <p:cNvPr id="44" name="Google Shape;44;p6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6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6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6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6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2" name="Shape 52"/>
        <p:cNvGrpSpPr/>
        <p:nvPr/>
      </p:nvGrpSpPr>
      <p:grpSpPr>
        <a:xfrm>
          <a:off x="0" y="0"/>
          <a:ext cx="0" cy="0"/>
          <a:chOff x="0" y="0"/>
          <a:chExt cx="0" cy="0"/>
        </a:xfrm>
      </p:grpSpPr>
      <p:sp>
        <p:nvSpPr>
          <p:cNvPr id="53" name="Google Shape;53;p6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7" name="Shape 57"/>
        <p:cNvGrpSpPr/>
        <p:nvPr/>
      </p:nvGrpSpPr>
      <p:grpSpPr>
        <a:xfrm>
          <a:off x="0" y="0"/>
          <a:ext cx="0" cy="0"/>
          <a:chOff x="0" y="0"/>
          <a:chExt cx="0" cy="0"/>
        </a:xfrm>
      </p:grpSpPr>
      <p:sp>
        <p:nvSpPr>
          <p:cNvPr id="58" name="Google Shape;58;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1" name="Shape 61"/>
        <p:cNvGrpSpPr/>
        <p:nvPr/>
      </p:nvGrpSpPr>
      <p:grpSpPr>
        <a:xfrm>
          <a:off x="0" y="0"/>
          <a:ext cx="0" cy="0"/>
          <a:chOff x="0" y="0"/>
          <a:chExt cx="0" cy="0"/>
        </a:xfrm>
      </p:grpSpPr>
      <p:sp>
        <p:nvSpPr>
          <p:cNvPr id="62" name="Google Shape;62;p6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6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4" name="Google Shape;64;p6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8" name="Shape 68"/>
        <p:cNvGrpSpPr/>
        <p:nvPr/>
      </p:nvGrpSpPr>
      <p:grpSpPr>
        <a:xfrm>
          <a:off x="0" y="0"/>
          <a:ext cx="0" cy="0"/>
          <a:chOff x="0" y="0"/>
          <a:chExt cx="0" cy="0"/>
        </a:xfrm>
      </p:grpSpPr>
      <p:sp>
        <p:nvSpPr>
          <p:cNvPr id="69" name="Google Shape;69;p6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68"/>
          <p:cNvSpPr/>
          <p:nvPr>
            <p:ph idx="2" type="pic"/>
          </p:nvPr>
        </p:nvSpPr>
        <p:spPr>
          <a:xfrm>
            <a:off x="5183188" y="987425"/>
            <a:ext cx="6172200" cy="4873625"/>
          </a:xfrm>
          <a:prstGeom prst="rect">
            <a:avLst/>
          </a:prstGeom>
          <a:noFill/>
          <a:ln>
            <a:noFill/>
          </a:ln>
        </p:spPr>
      </p:sp>
      <p:sp>
        <p:nvSpPr>
          <p:cNvPr id="71" name="Google Shape;71;p6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6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6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5" name="Shape 75"/>
        <p:cNvGrpSpPr/>
        <p:nvPr/>
      </p:nvGrpSpPr>
      <p:grpSpPr>
        <a:xfrm>
          <a:off x="0" y="0"/>
          <a:ext cx="0" cy="0"/>
          <a:chOff x="0" y="0"/>
          <a:chExt cx="0" cy="0"/>
        </a:xfrm>
      </p:grpSpPr>
      <p:sp>
        <p:nvSpPr>
          <p:cNvPr id="76" name="Google Shape;76;p6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6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6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6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1" name="Shape 81"/>
        <p:cNvGrpSpPr/>
        <p:nvPr/>
      </p:nvGrpSpPr>
      <p:grpSpPr>
        <a:xfrm>
          <a:off x="0" y="0"/>
          <a:ext cx="0" cy="0"/>
          <a:chOff x="0" y="0"/>
          <a:chExt cx="0" cy="0"/>
        </a:xfrm>
      </p:grpSpPr>
      <p:sp>
        <p:nvSpPr>
          <p:cNvPr id="82" name="Google Shape;82;p7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7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7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7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93" name="Shape 93"/>
        <p:cNvGrpSpPr/>
        <p:nvPr/>
      </p:nvGrpSpPr>
      <p:grpSpPr>
        <a:xfrm>
          <a:off x="0" y="0"/>
          <a:ext cx="0" cy="0"/>
          <a:chOff x="0" y="0"/>
          <a:chExt cx="0" cy="0"/>
        </a:xfrm>
      </p:grpSpPr>
      <p:sp>
        <p:nvSpPr>
          <p:cNvPr id="94" name="Google Shape;94;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6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6" name="Google Shape;96;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5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7" name="Shape 87"/>
        <p:cNvGrpSpPr/>
        <p:nvPr/>
      </p:nvGrpSpPr>
      <p:grpSpPr>
        <a:xfrm>
          <a:off x="0" y="0"/>
          <a:ext cx="0" cy="0"/>
          <a:chOff x="0" y="0"/>
          <a:chExt cx="0" cy="0"/>
        </a:xfrm>
      </p:grpSpPr>
      <p:sp>
        <p:nvSpPr>
          <p:cNvPr id="88" name="Google Shape;88;p5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4400"/>
              <a:buFont typeface="Calibri"/>
              <a:buNone/>
              <a:defRPr b="0" i="0" sz="44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9" name="Google Shape;89;p5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9pPr>
          </a:lstStyle>
          <a:p/>
        </p:txBody>
      </p:sp>
      <p:sp>
        <p:nvSpPr>
          <p:cNvPr id="90" name="Google Shape;90;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91" name="Google Shape;91;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92" name="Google Shape;92;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lt1"/>
                </a:solidFill>
                <a:latin typeface="Calibri"/>
                <a:ea typeface="Calibri"/>
                <a:cs typeface="Calibri"/>
                <a:sym typeface="Calibri"/>
              </a:defRPr>
            </a:lvl1pPr>
            <a:lvl2pPr indent="0" lvl="1" marL="0" marR="0" rtl="0" algn="r">
              <a:spcBef>
                <a:spcPts val="0"/>
              </a:spcBef>
              <a:buNone/>
              <a:defRPr b="0" i="0" sz="1200" u="none" cap="none" strike="noStrike">
                <a:solidFill>
                  <a:schemeClr val="lt1"/>
                </a:solidFill>
                <a:latin typeface="Calibri"/>
                <a:ea typeface="Calibri"/>
                <a:cs typeface="Calibri"/>
                <a:sym typeface="Calibri"/>
              </a:defRPr>
            </a:lvl2pPr>
            <a:lvl3pPr indent="0" lvl="2" marL="0" marR="0" rtl="0" algn="r">
              <a:spcBef>
                <a:spcPts val="0"/>
              </a:spcBef>
              <a:buNone/>
              <a:defRPr b="0" i="0" sz="1200" u="none" cap="none" strike="noStrike">
                <a:solidFill>
                  <a:schemeClr val="lt1"/>
                </a:solidFill>
                <a:latin typeface="Calibri"/>
                <a:ea typeface="Calibri"/>
                <a:cs typeface="Calibri"/>
                <a:sym typeface="Calibri"/>
              </a:defRPr>
            </a:lvl3pPr>
            <a:lvl4pPr indent="0" lvl="3" marL="0" marR="0" rtl="0" algn="r">
              <a:spcBef>
                <a:spcPts val="0"/>
              </a:spcBef>
              <a:buNone/>
              <a:defRPr b="0" i="0" sz="1200" u="none" cap="none" strike="noStrike">
                <a:solidFill>
                  <a:schemeClr val="lt1"/>
                </a:solidFill>
                <a:latin typeface="Calibri"/>
                <a:ea typeface="Calibri"/>
                <a:cs typeface="Calibri"/>
                <a:sym typeface="Calibri"/>
              </a:defRPr>
            </a:lvl4pPr>
            <a:lvl5pPr indent="0" lvl="4" marL="0" marR="0" rtl="0" algn="r">
              <a:spcBef>
                <a:spcPts val="0"/>
              </a:spcBef>
              <a:buNone/>
              <a:defRPr b="0" i="0" sz="1200" u="none" cap="none" strike="noStrike">
                <a:solidFill>
                  <a:schemeClr val="lt1"/>
                </a:solidFill>
                <a:latin typeface="Calibri"/>
                <a:ea typeface="Calibri"/>
                <a:cs typeface="Calibri"/>
                <a:sym typeface="Calibri"/>
              </a:defRPr>
            </a:lvl5pPr>
            <a:lvl6pPr indent="0" lvl="5" marL="0" marR="0" rtl="0" algn="r">
              <a:spcBef>
                <a:spcPts val="0"/>
              </a:spcBef>
              <a:buNone/>
              <a:defRPr b="0" i="0" sz="1200" u="none" cap="none" strike="noStrike">
                <a:solidFill>
                  <a:schemeClr val="lt1"/>
                </a:solidFill>
                <a:latin typeface="Calibri"/>
                <a:ea typeface="Calibri"/>
                <a:cs typeface="Calibri"/>
                <a:sym typeface="Calibri"/>
              </a:defRPr>
            </a:lvl6pPr>
            <a:lvl7pPr indent="0" lvl="6" marL="0" marR="0" rtl="0" algn="r">
              <a:spcBef>
                <a:spcPts val="0"/>
              </a:spcBef>
              <a:buNone/>
              <a:defRPr b="0" i="0" sz="1200" u="none" cap="none" strike="noStrike">
                <a:solidFill>
                  <a:schemeClr val="lt1"/>
                </a:solidFill>
                <a:latin typeface="Calibri"/>
                <a:ea typeface="Calibri"/>
                <a:cs typeface="Calibri"/>
                <a:sym typeface="Calibri"/>
              </a:defRPr>
            </a:lvl7pPr>
            <a:lvl8pPr indent="0" lvl="7" marL="0" marR="0" rtl="0" algn="r">
              <a:spcBef>
                <a:spcPts val="0"/>
              </a:spcBef>
              <a:buNone/>
              <a:defRPr b="0" i="0" sz="1200" u="none" cap="none" strike="noStrike">
                <a:solidFill>
                  <a:schemeClr val="lt1"/>
                </a:solidFill>
                <a:latin typeface="Calibri"/>
                <a:ea typeface="Calibri"/>
                <a:cs typeface="Calibri"/>
                <a:sym typeface="Calibri"/>
              </a:defRPr>
            </a:lvl8pPr>
            <a:lvl9pPr indent="0" lvl="8" marL="0" marR="0" rtl="0" algn="r">
              <a:spcBef>
                <a:spcPts val="0"/>
              </a:spcBef>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 name="Shape 102"/>
        <p:cNvGrpSpPr/>
        <p:nvPr/>
      </p:nvGrpSpPr>
      <p:grpSpPr>
        <a:xfrm>
          <a:off x="0" y="0"/>
          <a:ext cx="0" cy="0"/>
          <a:chOff x="0" y="0"/>
          <a:chExt cx="0" cy="0"/>
        </a:xfrm>
      </p:grpSpPr>
      <p:sp>
        <p:nvSpPr>
          <p:cNvPr id="103" name="Google Shape;103;p1"/>
          <p:cNvSpPr/>
          <p:nvPr/>
        </p:nvSpPr>
        <p:spPr>
          <a:xfrm>
            <a:off x="475488" y="0"/>
            <a:ext cx="10910292"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04" name="Google Shape;104;p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5" name="Google Shape;105;p1"/>
          <p:cNvSpPr txBox="1"/>
          <p:nvPr>
            <p:ph type="ctrTitle"/>
          </p:nvPr>
        </p:nvSpPr>
        <p:spPr>
          <a:xfrm>
            <a:off x="3045368" y="2043663"/>
            <a:ext cx="6105194" cy="2031055"/>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FFFF"/>
              </a:buClr>
              <a:buSzPts val="3300"/>
              <a:buFont typeface="Gill Sans"/>
              <a:buNone/>
            </a:pPr>
            <a:r>
              <a:rPr b="0" i="0" lang="en-US" sz="3300">
                <a:solidFill>
                  <a:srgbClr val="FFFFFF"/>
                </a:solidFill>
                <a:latin typeface="Gill Sans"/>
                <a:ea typeface="Gill Sans"/>
                <a:cs typeface="Gill Sans"/>
                <a:sym typeface="Gill Sans"/>
              </a:rPr>
              <a:t>IMPUGNACION, HOMOLOGACION, CUMPLIMIENTO Y NULIDAD DEL ACUERDO</a:t>
            </a:r>
            <a:endParaRPr sz="3300">
              <a:solidFill>
                <a:srgbClr val="FF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105"/>
                                        </p:tgtEl>
                                        <p:attrNameLst>
                                          <p:attrName>style.visibility</p:attrName>
                                        </p:attrNameLst>
                                      </p:cBhvr>
                                      <p:to>
                                        <p:strVal val="visible"/>
                                      </p:to>
                                    </p:set>
                                    <p:animEffect filter="fade" transition="in">
                                      <p:cBhvr>
                                        <p:cTn dur="400"/>
                                        <p:tgtEl>
                                          <p:spTgt spid="1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9" name="Shape 109"/>
        <p:cNvGrpSpPr/>
        <p:nvPr/>
      </p:nvGrpSpPr>
      <p:grpSpPr>
        <a:xfrm>
          <a:off x="0" y="0"/>
          <a:ext cx="0" cy="0"/>
          <a:chOff x="0" y="0"/>
          <a:chExt cx="0" cy="0"/>
        </a:xfrm>
      </p:grpSpPr>
      <p:sp>
        <p:nvSpPr>
          <p:cNvPr id="110" name="Google Shape;110;p2"/>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1" name="Google Shape;111;p2"/>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12" name="Google Shape;112;p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3" name="Google Shape;113;p2"/>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Gill Sans"/>
              <a:buNone/>
            </a:pPr>
            <a:r>
              <a:rPr b="0" i="0" lang="en-US">
                <a:solidFill>
                  <a:srgbClr val="FFFFFF"/>
                </a:solidFill>
                <a:latin typeface="Gill Sans"/>
                <a:ea typeface="Gill Sans"/>
                <a:cs typeface="Gill Sans"/>
                <a:sym typeface="Gill Sans"/>
              </a:rPr>
              <a:t>Existencia de Acuerdo</a:t>
            </a:r>
            <a:endParaRPr>
              <a:solidFill>
                <a:srgbClr val="FFFFFF"/>
              </a:solidFill>
            </a:endParaRPr>
          </a:p>
        </p:txBody>
      </p:sp>
      <p:sp>
        <p:nvSpPr>
          <p:cNvPr id="114" name="Google Shape;114;p2"/>
          <p:cNvSpPr txBox="1"/>
          <p:nvPr>
            <p:ph idx="1" type="body"/>
          </p:nvPr>
        </p:nvSpPr>
        <p:spPr>
          <a:xfrm>
            <a:off x="6090574" y="801866"/>
            <a:ext cx="5306084" cy="5230634"/>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rgbClr val="000000"/>
              </a:buClr>
              <a:buSzPts val="2400"/>
              <a:buChar char="•"/>
            </a:pPr>
            <a:r>
              <a:rPr b="0" i="0" lang="en-US" sz="2400">
                <a:solidFill>
                  <a:srgbClr val="000000"/>
                </a:solidFill>
                <a:latin typeface="Gill Sans"/>
                <a:ea typeface="Gill Sans"/>
                <a:cs typeface="Gill Sans"/>
                <a:sym typeface="Gill Sans"/>
              </a:rPr>
              <a:t>ARTICULO 49.- Existencia de Acuerdo. Dentro de los tres (3) días de presentadas las conformidades correspondientes, el juez dictará resolución haciendo saber la existencia de acuerdo preventivo.</a:t>
            </a:r>
            <a:endParaRPr/>
          </a:p>
          <a:p>
            <a:pPr indent="0" lvl="0" marL="0" rtl="0" algn="l">
              <a:lnSpc>
                <a:spcPct val="90000"/>
              </a:lnSpc>
              <a:spcBef>
                <a:spcPts val="1000"/>
              </a:spcBef>
              <a:spcAft>
                <a:spcPts val="0"/>
              </a:spcAft>
              <a:buClr>
                <a:srgbClr val="000000"/>
              </a:buClr>
              <a:buSzPts val="2400"/>
              <a:buNone/>
            </a:pPr>
            <a:br>
              <a:rPr lang="en-US" sz="2400">
                <a:solidFill>
                  <a:srgbClr val="000000"/>
                </a:solidFill>
              </a:rPr>
            </a:br>
            <a:endParaRPr sz="24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8" name="Shape 118"/>
        <p:cNvGrpSpPr/>
        <p:nvPr/>
      </p:nvGrpSpPr>
      <p:grpSpPr>
        <a:xfrm>
          <a:off x="0" y="0"/>
          <a:ext cx="0" cy="0"/>
          <a:chOff x="0" y="0"/>
          <a:chExt cx="0" cy="0"/>
        </a:xfrm>
      </p:grpSpPr>
      <p:sp>
        <p:nvSpPr>
          <p:cNvPr id="119" name="Google Shape;119;p3"/>
          <p:cNvSpPr/>
          <p:nvPr/>
        </p:nvSpPr>
        <p:spPr>
          <a:xfrm>
            <a:off x="355601" y="0"/>
            <a:ext cx="11480494" cy="2753936"/>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20" name="Google Shape;120;p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1" name="Google Shape;121;p3"/>
          <p:cNvSpPr txBox="1"/>
          <p:nvPr>
            <p:ph type="title"/>
          </p:nvPr>
        </p:nvSpPr>
        <p:spPr>
          <a:xfrm>
            <a:off x="1179226" y="826680"/>
            <a:ext cx="9833548"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000"/>
              <a:buFont typeface="Gill Sans"/>
              <a:buNone/>
            </a:pPr>
            <a:r>
              <a:rPr b="0" i="0" lang="en-US" sz="4000">
                <a:solidFill>
                  <a:srgbClr val="FFFFFF"/>
                </a:solidFill>
                <a:latin typeface="Gill Sans"/>
                <a:ea typeface="Gill Sans"/>
                <a:cs typeface="Gill Sans"/>
                <a:sym typeface="Gill Sans"/>
              </a:rPr>
              <a:t>Existencia de Acuerdo</a:t>
            </a:r>
            <a:endParaRPr sz="4000">
              <a:solidFill>
                <a:srgbClr val="FFFFFF"/>
              </a:solidFill>
            </a:endParaRPr>
          </a:p>
        </p:txBody>
      </p:sp>
      <p:sp>
        <p:nvSpPr>
          <p:cNvPr id="122" name="Google Shape;122;p3"/>
          <p:cNvSpPr txBox="1"/>
          <p:nvPr>
            <p:ph idx="1" type="body"/>
          </p:nvPr>
        </p:nvSpPr>
        <p:spPr>
          <a:xfrm>
            <a:off x="1179226" y="3092970"/>
            <a:ext cx="9833548" cy="269397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0000"/>
              </a:buClr>
              <a:buSzPts val="1400"/>
              <a:buChar char="•"/>
            </a:pPr>
            <a:r>
              <a:rPr lang="en-US" sz="1400">
                <a:solidFill>
                  <a:srgbClr val="000000"/>
                </a:solidFill>
              </a:rPr>
              <a:t>luego de presentadas las conformidades, el juez debe dictar la resolución de existencia de acuerdo</a:t>
            </a:r>
            <a:endParaRPr/>
          </a:p>
          <a:p>
            <a:pPr indent="-228600" lvl="0" marL="228600" rtl="0" algn="l">
              <a:lnSpc>
                <a:spcPct val="90000"/>
              </a:lnSpc>
              <a:spcBef>
                <a:spcPts val="1000"/>
              </a:spcBef>
              <a:spcAft>
                <a:spcPts val="0"/>
              </a:spcAft>
              <a:buClr>
                <a:srgbClr val="000000"/>
              </a:buClr>
              <a:buSzPts val="1400"/>
              <a:buChar char="•"/>
            </a:pPr>
            <a:r>
              <a:rPr lang="en-US" sz="1400">
                <a:solidFill>
                  <a:srgbClr val="000000"/>
                </a:solidFill>
              </a:rPr>
              <a:t>resolución debe dictarse en el plazo de tres días hábiles judiciales (art. 273, inc. 2º, LCQ). </a:t>
            </a:r>
            <a:endParaRPr/>
          </a:p>
          <a:p>
            <a:pPr indent="-228600" lvl="1" marL="685800" rtl="0" algn="l">
              <a:lnSpc>
                <a:spcPct val="90000"/>
              </a:lnSpc>
              <a:spcBef>
                <a:spcPts val="500"/>
              </a:spcBef>
              <a:spcAft>
                <a:spcPts val="0"/>
              </a:spcAft>
              <a:buClr>
                <a:srgbClr val="000000"/>
              </a:buClr>
              <a:buSzPts val="1400"/>
              <a:buChar char="•"/>
            </a:pPr>
            <a:r>
              <a:rPr lang="en-US" sz="1400">
                <a:solidFill>
                  <a:srgbClr val="000000"/>
                </a:solidFill>
              </a:rPr>
              <a:t>El plazo comienza a computarse desde que se presentaron las conformidades correspondientes (arts. 45, 1º párr., 45 bis, 67 o 68, LCQ) </a:t>
            </a:r>
            <a:r>
              <a:rPr b="1" lang="en-US" sz="1400" u="sng">
                <a:solidFill>
                  <a:srgbClr val="000000"/>
                </a:solidFill>
              </a:rPr>
              <a:t>y no desde el vencimiento del período de exclusividad (art. 43, LCQ), ya que el concursado puede adjuntar las conformidades con anterioridad</a:t>
            </a:r>
            <a:endParaRPr/>
          </a:p>
          <a:p>
            <a:pPr indent="-228600" lvl="0" marL="228600" rtl="0" algn="l">
              <a:lnSpc>
                <a:spcPct val="90000"/>
              </a:lnSpc>
              <a:spcBef>
                <a:spcPts val="1000"/>
              </a:spcBef>
              <a:spcAft>
                <a:spcPts val="0"/>
              </a:spcAft>
              <a:buClr>
                <a:srgbClr val="000000"/>
              </a:buClr>
              <a:buSzPts val="1400"/>
              <a:buChar char="•"/>
            </a:pPr>
            <a:r>
              <a:rPr lang="en-US" sz="1400">
                <a:solidFill>
                  <a:srgbClr val="000000"/>
                </a:solidFill>
              </a:rPr>
              <a:t>Si no se adjuntaron tales conformidades, el juez debe declarar la quiebra (art. 46, LCQ), salvo el supuesto especial del art. 48, LCQ, o que la situación quede inmersa en la hipótesis del art. 52, inc. 2º, b</a:t>
            </a:r>
            <a:endParaRPr/>
          </a:p>
          <a:p>
            <a:pPr indent="-228600" lvl="0" marL="228600" rtl="0" algn="l">
              <a:lnSpc>
                <a:spcPct val="90000"/>
              </a:lnSpc>
              <a:spcBef>
                <a:spcPts val="1000"/>
              </a:spcBef>
              <a:spcAft>
                <a:spcPts val="0"/>
              </a:spcAft>
              <a:buClr>
                <a:srgbClr val="000000"/>
              </a:buClr>
              <a:buSzPts val="1400"/>
              <a:buChar char="•"/>
            </a:pPr>
            <a:r>
              <a:rPr b="1" lang="en-US" sz="1400">
                <a:solidFill>
                  <a:srgbClr val="000000"/>
                </a:solidFill>
              </a:rPr>
              <a:t>No</a:t>
            </a:r>
            <a:r>
              <a:rPr lang="en-US" sz="1400">
                <a:solidFill>
                  <a:srgbClr val="000000"/>
                </a:solidFill>
              </a:rPr>
              <a:t> puede pronunciarse sobre la sustancia del acuerdo (cuestión que valorará en la ocasión del art. 52, LCQ). Dicha resolución se notifica </a:t>
            </a:r>
            <a:r>
              <a:rPr b="1" lang="en-US" sz="1400">
                <a:solidFill>
                  <a:srgbClr val="000000"/>
                </a:solidFill>
              </a:rPr>
              <a:t>ministerio legis </a:t>
            </a:r>
            <a:r>
              <a:rPr lang="en-US" sz="1400">
                <a:solidFill>
                  <a:srgbClr val="000000"/>
                </a:solidFill>
              </a:rPr>
              <a:t>(arts. 50, párr. 1º, y 26, LCQ) y, en principio, es inapelable (art. 273, inc. 3º, LCQ).</a:t>
            </a:r>
            <a:endParaRPr b="1" sz="1400" u="sng">
              <a:solidFill>
                <a:srgbClr val="000000"/>
              </a:solidFill>
            </a:endParaRPr>
          </a:p>
        </p:txBody>
      </p:sp>
      <p:sp>
        <p:nvSpPr>
          <p:cNvPr id="123" name="Google Shape;123;p3"/>
          <p:cNvSpPr/>
          <p:nvPr/>
        </p:nvSpPr>
        <p:spPr>
          <a:xfrm>
            <a:off x="685799" y="5694326"/>
            <a:ext cx="10697136" cy="837210"/>
          </a:xfrm>
          <a:prstGeom prst="roundRect">
            <a:avLst>
              <a:gd fmla="val 16667"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El acuerdo sólo existe desde su homologación (art. 52, LCQ), antes es simplemente un proyecto de acuerdo</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7" name="Shape 127"/>
        <p:cNvGrpSpPr/>
        <p:nvPr/>
      </p:nvGrpSpPr>
      <p:grpSpPr>
        <a:xfrm>
          <a:off x="0" y="0"/>
          <a:ext cx="0" cy="0"/>
          <a:chOff x="0" y="0"/>
          <a:chExt cx="0" cy="0"/>
        </a:xfrm>
      </p:grpSpPr>
      <p:sp>
        <p:nvSpPr>
          <p:cNvPr id="128" name="Google Shape;128;p4"/>
          <p:cNvSpPr/>
          <p:nvPr/>
        </p:nvSpPr>
        <p:spPr>
          <a:xfrm>
            <a:off x="838200" y="0"/>
            <a:ext cx="10910292" cy="6858000"/>
          </a:xfrm>
          <a:prstGeom prst="rect">
            <a:avLst/>
          </a:prstGeom>
          <a:gradFill>
            <a:gsLst>
              <a:gs pos="0">
                <a:srgbClr val="3865B4"/>
              </a:gs>
              <a:gs pos="25000">
                <a:srgbClr val="3865B4"/>
              </a:gs>
              <a:gs pos="94000">
                <a:srgbClr val="11151A"/>
              </a:gs>
              <a:gs pos="100000">
                <a:srgbClr val="11151A"/>
              </a:gs>
            </a:gsLst>
            <a:lin ang="4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129" name="Google Shape;129;p4"/>
          <p:cNvPicPr preferRelativeResize="0"/>
          <p:nvPr/>
        </p:nvPicPr>
        <p:blipFill rotWithShape="1">
          <a:blip r:embed="rId3">
            <a:alphaModFix/>
          </a:blip>
          <a:srcRect b="3964" l="3963" r="3964" t="3963"/>
          <a:stretch/>
        </p:blipFill>
        <p:spPr>
          <a:xfrm>
            <a:off x="0" y="1"/>
            <a:ext cx="12192000" cy="6857998"/>
          </a:xfrm>
          <a:custGeom>
            <a:rect b="b" l="l" r="r" t="t"/>
            <a:pathLst>
              <a:path extrusionOk="0" h="6857998" w="12192000">
                <a:moveTo>
                  <a:pt x="0" y="0"/>
                </a:moveTo>
                <a:lnTo>
                  <a:pt x="12192000" y="0"/>
                </a:lnTo>
                <a:lnTo>
                  <a:pt x="12192000" y="6857998"/>
                </a:lnTo>
                <a:lnTo>
                  <a:pt x="0" y="6857998"/>
                </a:lnTo>
                <a:close/>
              </a:path>
            </a:pathLst>
          </a:custGeom>
          <a:noFill/>
          <a:ln>
            <a:noFill/>
          </a:ln>
        </p:spPr>
      </p:pic>
      <p:sp>
        <p:nvSpPr>
          <p:cNvPr id="130" name="Google Shape;130;p4"/>
          <p:cNvSpPr txBox="1"/>
          <p:nvPr>
            <p:ph type="title"/>
          </p:nvPr>
        </p:nvSpPr>
        <p:spPr>
          <a:xfrm>
            <a:off x="2618437" y="991262"/>
            <a:ext cx="6955124" cy="106680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000"/>
              <a:buFont typeface="Gill Sans"/>
              <a:buNone/>
            </a:pPr>
            <a:r>
              <a:rPr b="0" i="0" lang="en-US" sz="4000">
                <a:solidFill>
                  <a:srgbClr val="FFFFFF"/>
                </a:solidFill>
                <a:latin typeface="Gill Sans"/>
                <a:ea typeface="Gill Sans"/>
                <a:cs typeface="Gill Sans"/>
                <a:sym typeface="Gill Sans"/>
              </a:rPr>
              <a:t>Impugnación</a:t>
            </a:r>
            <a:endParaRPr sz="4000">
              <a:solidFill>
                <a:srgbClr val="FFFFFF"/>
              </a:solidFill>
            </a:endParaRPr>
          </a:p>
        </p:txBody>
      </p:sp>
      <p:sp>
        <p:nvSpPr>
          <p:cNvPr id="131" name="Google Shape;131;p4"/>
          <p:cNvSpPr txBox="1"/>
          <p:nvPr>
            <p:ph idx="1" type="body"/>
          </p:nvPr>
        </p:nvSpPr>
        <p:spPr>
          <a:xfrm>
            <a:off x="2618437" y="2371725"/>
            <a:ext cx="6955124" cy="303847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FFFF"/>
              </a:buClr>
              <a:buSzPts val="1100"/>
              <a:buChar char="•"/>
            </a:pPr>
            <a:r>
              <a:rPr b="0" i="0" lang="en-US" sz="1100">
                <a:solidFill>
                  <a:srgbClr val="FFFFFF"/>
                </a:solidFill>
                <a:latin typeface="Gill Sans"/>
                <a:ea typeface="Gill Sans"/>
                <a:cs typeface="Gill Sans"/>
                <a:sym typeface="Gill Sans"/>
              </a:rPr>
              <a:t>ARTICULO 50. Impugnación. Los acreedores con derecho a voto, y quienes hubieren deducido incidente, por no haberse presentado en término, o por no haber sido admitidos sus créditos quirografarios, pueden impugnar el acuerdo, dentro del plazo de cinco (5) días siguiente a que quede notificada por ministerio de la ley la resolución del artículo 49.</a:t>
            </a:r>
            <a:endParaRPr/>
          </a:p>
          <a:p>
            <a:pPr indent="-228600" lvl="0" marL="228600" rtl="0" algn="l">
              <a:lnSpc>
                <a:spcPct val="90000"/>
              </a:lnSpc>
              <a:spcBef>
                <a:spcPts val="1000"/>
              </a:spcBef>
              <a:spcAft>
                <a:spcPts val="0"/>
              </a:spcAft>
              <a:buClr>
                <a:srgbClr val="FFFFFF"/>
              </a:buClr>
              <a:buSzPts val="1100"/>
              <a:buChar char="•"/>
            </a:pPr>
            <a:r>
              <a:rPr b="0" i="0" lang="en-US" sz="1100">
                <a:solidFill>
                  <a:srgbClr val="FFFFFF"/>
                </a:solidFill>
                <a:latin typeface="Gill Sans"/>
                <a:ea typeface="Gill Sans"/>
                <a:cs typeface="Gill Sans"/>
                <a:sym typeface="Gill Sans"/>
              </a:rPr>
              <a:t>Causales. La impugnación solamente puede fundarse en:</a:t>
            </a:r>
            <a:endParaRPr/>
          </a:p>
          <a:p>
            <a:pPr indent="-228600" lvl="0" marL="228600" rtl="0" algn="l">
              <a:lnSpc>
                <a:spcPct val="90000"/>
              </a:lnSpc>
              <a:spcBef>
                <a:spcPts val="1000"/>
              </a:spcBef>
              <a:spcAft>
                <a:spcPts val="0"/>
              </a:spcAft>
              <a:buClr>
                <a:srgbClr val="FFFFFF"/>
              </a:buClr>
              <a:buSzPts val="1100"/>
              <a:buChar char="•"/>
            </a:pPr>
            <a:r>
              <a:rPr b="0" i="0" lang="en-US" sz="1100">
                <a:solidFill>
                  <a:srgbClr val="FFFFFF"/>
                </a:solidFill>
                <a:latin typeface="Gill Sans"/>
                <a:ea typeface="Gill Sans"/>
                <a:cs typeface="Gill Sans"/>
                <a:sym typeface="Gill Sans"/>
              </a:rPr>
              <a:t>1) Error en cómputo de la mayoría necesaria.</a:t>
            </a:r>
            <a:endParaRPr/>
          </a:p>
          <a:p>
            <a:pPr indent="-228600" lvl="0" marL="228600" rtl="0" algn="l">
              <a:lnSpc>
                <a:spcPct val="90000"/>
              </a:lnSpc>
              <a:spcBef>
                <a:spcPts val="1000"/>
              </a:spcBef>
              <a:spcAft>
                <a:spcPts val="0"/>
              </a:spcAft>
              <a:buClr>
                <a:srgbClr val="FFFFFF"/>
              </a:buClr>
              <a:buSzPts val="1100"/>
              <a:buChar char="•"/>
            </a:pPr>
            <a:r>
              <a:rPr b="0" i="0" lang="en-US" sz="1100">
                <a:solidFill>
                  <a:srgbClr val="FFFFFF"/>
                </a:solidFill>
                <a:latin typeface="Gill Sans"/>
                <a:ea typeface="Gill Sans"/>
                <a:cs typeface="Gill Sans"/>
                <a:sym typeface="Gill Sans"/>
              </a:rPr>
              <a:t>2) Falta de representación de acreedores que concurran a formar mayoría en las categorías.</a:t>
            </a:r>
            <a:endParaRPr/>
          </a:p>
          <a:p>
            <a:pPr indent="-228600" lvl="0" marL="228600" rtl="0" algn="l">
              <a:lnSpc>
                <a:spcPct val="90000"/>
              </a:lnSpc>
              <a:spcBef>
                <a:spcPts val="1000"/>
              </a:spcBef>
              <a:spcAft>
                <a:spcPts val="0"/>
              </a:spcAft>
              <a:buClr>
                <a:srgbClr val="FFFFFF"/>
              </a:buClr>
              <a:buSzPts val="1100"/>
              <a:buChar char="•"/>
            </a:pPr>
            <a:r>
              <a:rPr b="0" i="0" lang="en-US" sz="1100">
                <a:solidFill>
                  <a:srgbClr val="FFFFFF"/>
                </a:solidFill>
                <a:latin typeface="Gill Sans"/>
                <a:ea typeface="Gill Sans"/>
                <a:cs typeface="Gill Sans"/>
                <a:sym typeface="Gill Sans"/>
              </a:rPr>
              <a:t>3) Exageración fraudulenta del pasivo.</a:t>
            </a:r>
            <a:endParaRPr/>
          </a:p>
          <a:p>
            <a:pPr indent="-228600" lvl="0" marL="228600" rtl="0" algn="l">
              <a:lnSpc>
                <a:spcPct val="90000"/>
              </a:lnSpc>
              <a:spcBef>
                <a:spcPts val="1000"/>
              </a:spcBef>
              <a:spcAft>
                <a:spcPts val="0"/>
              </a:spcAft>
              <a:buClr>
                <a:srgbClr val="FFFFFF"/>
              </a:buClr>
              <a:buSzPts val="1100"/>
              <a:buChar char="•"/>
            </a:pPr>
            <a:r>
              <a:rPr b="0" i="0" lang="en-US" sz="1100">
                <a:solidFill>
                  <a:srgbClr val="FFFFFF"/>
                </a:solidFill>
                <a:latin typeface="Gill Sans"/>
                <a:ea typeface="Gill Sans"/>
                <a:cs typeface="Gill Sans"/>
                <a:sym typeface="Gill Sans"/>
              </a:rPr>
              <a:t>4) Ocultación o exageración fraudulenta del activo.</a:t>
            </a:r>
            <a:endParaRPr/>
          </a:p>
          <a:p>
            <a:pPr indent="-228600" lvl="0" marL="228600" rtl="0" algn="l">
              <a:lnSpc>
                <a:spcPct val="90000"/>
              </a:lnSpc>
              <a:spcBef>
                <a:spcPts val="1000"/>
              </a:spcBef>
              <a:spcAft>
                <a:spcPts val="0"/>
              </a:spcAft>
              <a:buClr>
                <a:srgbClr val="FFFFFF"/>
              </a:buClr>
              <a:buSzPts val="1100"/>
              <a:buChar char="•"/>
            </a:pPr>
            <a:r>
              <a:rPr b="0" i="0" lang="en-US" sz="1100">
                <a:solidFill>
                  <a:srgbClr val="FFFFFF"/>
                </a:solidFill>
                <a:latin typeface="Gill Sans"/>
                <a:ea typeface="Gill Sans"/>
                <a:cs typeface="Gill Sans"/>
                <a:sym typeface="Gill Sans"/>
              </a:rPr>
              <a:t>5) Inobservancia de formas esenciales para la celebración del acuerdo.</a:t>
            </a:r>
            <a:endParaRPr/>
          </a:p>
          <a:p>
            <a:pPr indent="-228600" lvl="0" marL="228600" rtl="0" algn="l">
              <a:lnSpc>
                <a:spcPct val="90000"/>
              </a:lnSpc>
              <a:spcBef>
                <a:spcPts val="1000"/>
              </a:spcBef>
              <a:spcAft>
                <a:spcPts val="0"/>
              </a:spcAft>
              <a:buClr>
                <a:srgbClr val="FFFFFF"/>
              </a:buClr>
              <a:buSzPts val="1100"/>
              <a:buChar char="•"/>
            </a:pPr>
            <a:r>
              <a:rPr b="0" i="0" lang="en-US" sz="1100">
                <a:solidFill>
                  <a:srgbClr val="FFFFFF"/>
                </a:solidFill>
                <a:latin typeface="Gill Sans"/>
                <a:ea typeface="Gill Sans"/>
                <a:cs typeface="Gill Sans"/>
                <a:sym typeface="Gill Sans"/>
              </a:rPr>
              <a:t>Esta causal sólo puede invocarse por parte de acreedores que no hubieren presentado conformidad a las propuestas del deudor, de los acreedores o de terceros</a:t>
            </a:r>
            <a:endParaRPr/>
          </a:p>
          <a:p>
            <a:pPr indent="-158750" lvl="0" marL="228600" rtl="0" algn="l">
              <a:lnSpc>
                <a:spcPct val="90000"/>
              </a:lnSpc>
              <a:spcBef>
                <a:spcPts val="1000"/>
              </a:spcBef>
              <a:spcAft>
                <a:spcPts val="0"/>
              </a:spcAft>
              <a:buClr>
                <a:schemeClr val="lt1"/>
              </a:buClr>
              <a:buSzPts val="1100"/>
              <a:buNone/>
            </a:pPr>
            <a:r>
              <a:t/>
            </a:r>
            <a:endParaRPr sz="1100">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5"/>
          <p:cNvSpPr txBox="1"/>
          <p:nvPr>
            <p:ph type="title"/>
          </p:nvPr>
        </p:nvSpPr>
        <p:spPr>
          <a:xfrm>
            <a:off x="685799" y="349971"/>
            <a:ext cx="10131425" cy="1023257"/>
          </a:xfrm>
          <a:prstGeom prst="rect">
            <a:avLst/>
          </a:prstGeom>
          <a:solidFill>
            <a:srgbClr val="8DA9DB"/>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1800"/>
              <a:buFont typeface="Calibri"/>
              <a:buNone/>
            </a:pPr>
            <a:r>
              <a:rPr lang="en-US" sz="1800"/>
              <a:t>PERÍODO DE IMPUGNACIÓN</a:t>
            </a:r>
            <a:endParaRPr/>
          </a:p>
        </p:txBody>
      </p:sp>
      <p:sp>
        <p:nvSpPr>
          <p:cNvPr id="137" name="Google Shape;137;p5"/>
          <p:cNvSpPr txBox="1"/>
          <p:nvPr>
            <p:ph idx="1" type="body"/>
          </p:nvPr>
        </p:nvSpPr>
        <p:spPr>
          <a:xfrm>
            <a:off x="685801" y="1448765"/>
            <a:ext cx="10131425" cy="1337403"/>
          </a:xfrm>
          <a:prstGeom prst="rect">
            <a:avLst/>
          </a:prstGeom>
          <a:solidFill>
            <a:srgbClr val="D8E2F3"/>
          </a:solidFill>
          <a:ln>
            <a:noFill/>
          </a:ln>
        </p:spPr>
        <p:txBody>
          <a:bodyPr anchorCtr="0" anchor="t" bIns="45700" lIns="91425" spcFirstLastPara="1" rIns="91425" wrap="square" tIns="45700">
            <a:normAutofit fontScale="40000" lnSpcReduction="20000"/>
          </a:bodyPr>
          <a:lstStyle/>
          <a:p>
            <a:pPr indent="-228600" lvl="0" marL="228600" rtl="0" algn="just">
              <a:lnSpc>
                <a:spcPct val="90000"/>
              </a:lnSpc>
              <a:spcBef>
                <a:spcPts val="0"/>
              </a:spcBef>
              <a:spcAft>
                <a:spcPts val="0"/>
              </a:spcAft>
              <a:buClr>
                <a:schemeClr val="dk1"/>
              </a:buClr>
              <a:buSzPct val="100000"/>
              <a:buChar char="•"/>
            </a:pPr>
            <a:r>
              <a:rPr lang="en-US"/>
              <a:t>para evitar su homologación (art. 52, LCQ) y declarar en quiebra al concursado (arts. 51, párr. 1º, y 77, inc. 1º, LCQ). </a:t>
            </a:r>
            <a:endParaRPr/>
          </a:p>
          <a:p>
            <a:pPr indent="-228600" lvl="0" marL="228600" rtl="0" algn="just">
              <a:lnSpc>
                <a:spcPct val="90000"/>
              </a:lnSpc>
              <a:spcBef>
                <a:spcPts val="1000"/>
              </a:spcBef>
              <a:spcAft>
                <a:spcPts val="0"/>
              </a:spcAft>
              <a:buClr>
                <a:schemeClr val="dk1"/>
              </a:buClr>
              <a:buSzPct val="100000"/>
              <a:buChar char="•"/>
            </a:pPr>
            <a:r>
              <a:rPr lang="en-US"/>
              <a:t>No procura la anulación del acuerdo (art. 60, LCQ), pues éste </a:t>
            </a:r>
            <a:r>
              <a:rPr b="1" lang="en-US" u="sng"/>
              <a:t>aún no existe</a:t>
            </a:r>
            <a:r>
              <a:rPr lang="en-US"/>
              <a:t>.</a:t>
            </a:r>
            <a:endParaRPr/>
          </a:p>
          <a:p>
            <a:pPr indent="-228600" lvl="0" marL="228600" rtl="0" algn="just">
              <a:lnSpc>
                <a:spcPct val="90000"/>
              </a:lnSpc>
              <a:spcBef>
                <a:spcPts val="1000"/>
              </a:spcBef>
              <a:spcAft>
                <a:spcPts val="0"/>
              </a:spcAft>
              <a:buClr>
                <a:schemeClr val="dk1"/>
              </a:buClr>
              <a:buSzPct val="100000"/>
              <a:buChar char="•"/>
            </a:pPr>
            <a:r>
              <a:rPr lang="en-US"/>
              <a:t>legitimación, habilita:</a:t>
            </a:r>
            <a:endParaRPr/>
          </a:p>
          <a:p>
            <a:pPr indent="-228600" lvl="1" marL="685800" rtl="0" algn="just">
              <a:lnSpc>
                <a:spcPct val="90000"/>
              </a:lnSpc>
              <a:spcBef>
                <a:spcPts val="500"/>
              </a:spcBef>
              <a:spcAft>
                <a:spcPts val="0"/>
              </a:spcAft>
              <a:buClr>
                <a:schemeClr val="dk1"/>
              </a:buClr>
              <a:buSzPct val="100000"/>
              <a:buChar char="•"/>
            </a:pPr>
            <a:r>
              <a:rPr lang="en-US"/>
              <a:t>acreedores con derecho a voto</a:t>
            </a:r>
            <a:endParaRPr/>
          </a:p>
          <a:p>
            <a:pPr indent="-228600" lvl="1" marL="685800" rtl="0" algn="just">
              <a:lnSpc>
                <a:spcPct val="90000"/>
              </a:lnSpc>
              <a:spcBef>
                <a:spcPts val="500"/>
              </a:spcBef>
              <a:spcAft>
                <a:spcPts val="0"/>
              </a:spcAft>
              <a:buClr>
                <a:schemeClr val="dk1"/>
              </a:buClr>
              <a:buSzPct val="100000"/>
              <a:buChar char="•"/>
            </a:pPr>
            <a:r>
              <a:rPr lang="en-US"/>
              <a:t>acreedores que se hubiesen presentado por verificación tardía (art. 56, LCQ) y a los revisionistas (art. 37, LCQ). </a:t>
            </a:r>
            <a:r>
              <a:rPr b="1" lang="en-US" u="sng"/>
              <a:t>Es suficiente la presentación </a:t>
            </a:r>
            <a:endParaRPr/>
          </a:p>
          <a:p>
            <a:pPr indent="0" lvl="0" marL="0" rtl="0" algn="just">
              <a:lnSpc>
                <a:spcPct val="90000"/>
              </a:lnSpc>
              <a:spcBef>
                <a:spcPts val="1000"/>
              </a:spcBef>
              <a:spcAft>
                <a:spcPts val="0"/>
              </a:spcAft>
              <a:buClr>
                <a:schemeClr val="dk1"/>
              </a:buClr>
              <a:buSzPct val="100000"/>
              <a:buNone/>
            </a:pPr>
            <a:r>
              <a:rPr b="1" lang="en-US" u="sng"/>
              <a:t>EL SÍNDICO Y EL COMITÉ DE ACREEDORES CARECEN DE LEGITIMACIÓN PARA IMPUGNAR EL ACUERDO.</a:t>
            </a:r>
            <a:endParaRPr b="1" u="sng"/>
          </a:p>
        </p:txBody>
      </p:sp>
      <p:sp>
        <p:nvSpPr>
          <p:cNvPr id="138" name="Google Shape;138;p5"/>
          <p:cNvSpPr txBox="1"/>
          <p:nvPr/>
        </p:nvSpPr>
        <p:spPr>
          <a:xfrm>
            <a:off x="685801" y="3692677"/>
            <a:ext cx="10131425" cy="2555723"/>
          </a:xfrm>
          <a:prstGeom prst="rect">
            <a:avLst/>
          </a:prstGeom>
          <a:solidFill>
            <a:srgbClr val="D8E2F3"/>
          </a:solidFill>
          <a:ln>
            <a:noFill/>
          </a:ln>
        </p:spPr>
        <p:txBody>
          <a:bodyPr anchorCtr="0" anchor="t" bIns="45700" lIns="91425" spcFirstLastPara="1" rIns="91425" wrap="square" tIns="45700">
            <a:normAutofit fontScale="47500" lnSpcReduction="20000"/>
          </a:bodyPr>
          <a:lstStyle/>
          <a:p>
            <a:pPr indent="-228600" lvl="0" marL="228600" marR="0" rtl="0" algn="just">
              <a:lnSpc>
                <a:spcPct val="90000"/>
              </a:lnSpc>
              <a:spcBef>
                <a:spcPts val="0"/>
              </a:spcBef>
              <a:spcAft>
                <a:spcPts val="0"/>
              </a:spcAft>
              <a:buClr>
                <a:schemeClr val="dk1"/>
              </a:buClr>
              <a:buSzPct val="100000"/>
              <a:buFont typeface="Arial"/>
              <a:buChar char="•"/>
            </a:pPr>
            <a:r>
              <a:rPr b="0" i="0" lang="en-US" sz="2800" u="none" cap="none" strike="noStrike">
                <a:solidFill>
                  <a:schemeClr val="dk1"/>
                </a:solidFill>
                <a:latin typeface="Calibri"/>
                <a:ea typeface="Calibri"/>
                <a:cs typeface="Calibri"/>
                <a:sym typeface="Calibri"/>
              </a:rPr>
              <a:t>Objetivas</a:t>
            </a:r>
            <a:endParaRPr/>
          </a:p>
          <a:p>
            <a:pPr indent="-228600" lvl="1" marL="685800" marR="0" rtl="0" algn="just">
              <a:lnSpc>
                <a:spcPct val="90000"/>
              </a:lnSpc>
              <a:spcBef>
                <a:spcPts val="500"/>
              </a:spcBef>
              <a:spcAft>
                <a:spcPts val="0"/>
              </a:spcAft>
              <a:buClr>
                <a:schemeClr val="dk1"/>
              </a:buClr>
              <a:buSzPct val="100000"/>
              <a:buFont typeface="Arial"/>
              <a:buChar char="•"/>
            </a:pPr>
            <a:r>
              <a:rPr b="0" i="0" lang="en-US" sz="2400" u="none" cap="none" strike="noStrike">
                <a:solidFill>
                  <a:schemeClr val="dk1"/>
                </a:solidFill>
                <a:latin typeface="Calibri"/>
                <a:ea typeface="Calibri"/>
                <a:cs typeface="Calibri"/>
                <a:sym typeface="Calibri"/>
              </a:rPr>
              <a:t>error en cómputo de la mayoría necesaria;</a:t>
            </a:r>
            <a:endParaRPr b="0" i="0" sz="2400" u="none" cap="none" strike="noStrike">
              <a:solidFill>
                <a:schemeClr val="dk1"/>
              </a:solidFill>
              <a:latin typeface="Calibri"/>
              <a:ea typeface="Calibri"/>
              <a:cs typeface="Calibri"/>
              <a:sym typeface="Calibri"/>
            </a:endParaRPr>
          </a:p>
          <a:p>
            <a:pPr indent="-228600" lvl="1" marL="685800" marR="0" rtl="0" algn="just">
              <a:lnSpc>
                <a:spcPct val="90000"/>
              </a:lnSpc>
              <a:spcBef>
                <a:spcPts val="500"/>
              </a:spcBef>
              <a:spcAft>
                <a:spcPts val="0"/>
              </a:spcAft>
              <a:buClr>
                <a:schemeClr val="dk1"/>
              </a:buClr>
              <a:buSzPct val="100000"/>
              <a:buFont typeface="Arial"/>
              <a:buChar char="•"/>
            </a:pPr>
            <a:r>
              <a:rPr b="0" i="0" lang="en-US" sz="2400" u="none" cap="none" strike="noStrike">
                <a:solidFill>
                  <a:schemeClr val="dk1"/>
                </a:solidFill>
                <a:latin typeface="Calibri"/>
                <a:ea typeface="Calibri"/>
                <a:cs typeface="Calibri"/>
                <a:sym typeface="Calibri"/>
              </a:rPr>
              <a:t>falta de representación de acreedores que concurran a formar mayoría en las categorías;</a:t>
            </a:r>
            <a:endParaRPr/>
          </a:p>
          <a:p>
            <a:pPr indent="0" lvl="0" marL="0" marR="0" rtl="0" algn="just">
              <a:lnSpc>
                <a:spcPct val="90000"/>
              </a:lnSpc>
              <a:spcBef>
                <a:spcPts val="1000"/>
              </a:spcBef>
              <a:spcAft>
                <a:spcPts val="0"/>
              </a:spcAft>
              <a:buClr>
                <a:schemeClr val="dk1"/>
              </a:buClr>
              <a:buSzPct val="100000"/>
              <a:buFont typeface="Arial"/>
              <a:buNone/>
            </a:pPr>
            <a:r>
              <a:rPr b="0" i="0" lang="en-US" sz="2800" u="sng" cap="none" strike="noStrike">
                <a:solidFill>
                  <a:schemeClr val="dk1"/>
                </a:solidFill>
                <a:latin typeface="Calibri"/>
                <a:ea typeface="Calibri"/>
                <a:cs typeface="Calibri"/>
                <a:sym typeface="Calibri"/>
              </a:rPr>
              <a:t>NO SE REQUIERE INTENCIONALIDAD NI CONOCIMIENTO DE LA CIRCUNSTANCIA. BASTA LA COMPROBACIÓN DEL ERROR EN EL CÓMPUTO DE LA MAYORÍA (EJ: HABER COMPUTADO ACREEDORES EXCLUIDOS DE VOTAR) Y EN LA FALTA DE REPRESENTACIÓN (EJ.: POR DEFECTO O AUSENCIA DE MANDATO) PARA QUE SE HAGA LUGAR A LA IMPUGNACIÓN.</a:t>
            </a:r>
            <a:r>
              <a:rPr b="0" i="0" lang="en-US" sz="2800" u="none" cap="none" strike="noStrike">
                <a:solidFill>
                  <a:schemeClr val="dk1"/>
                </a:solidFill>
                <a:latin typeface="Calibri"/>
                <a:ea typeface="Calibri"/>
                <a:cs typeface="Calibri"/>
                <a:sym typeface="Calibri"/>
              </a:rPr>
              <a:t> </a:t>
            </a:r>
            <a:endParaRPr/>
          </a:p>
          <a:p>
            <a:pPr indent="-228600" lvl="0" marL="228600" marR="0" rtl="0" algn="just">
              <a:lnSpc>
                <a:spcPct val="90000"/>
              </a:lnSpc>
              <a:spcBef>
                <a:spcPts val="1000"/>
              </a:spcBef>
              <a:spcAft>
                <a:spcPts val="0"/>
              </a:spcAft>
              <a:buClr>
                <a:schemeClr val="dk1"/>
              </a:buClr>
              <a:buSzPct val="100000"/>
              <a:buFont typeface="Arial"/>
              <a:buChar char="•"/>
            </a:pPr>
            <a:r>
              <a:rPr b="0" i="0" lang="en-US" sz="2800" u="none" cap="none" strike="noStrike">
                <a:solidFill>
                  <a:schemeClr val="dk1"/>
                </a:solidFill>
                <a:latin typeface="Calibri"/>
                <a:ea typeface="Calibri"/>
                <a:cs typeface="Calibri"/>
                <a:sym typeface="Calibri"/>
              </a:rPr>
              <a:t>Subjetivas</a:t>
            </a:r>
            <a:endParaRPr/>
          </a:p>
          <a:p>
            <a:pPr indent="-228600" lvl="1" marL="685800" marR="0" rtl="0" algn="just">
              <a:lnSpc>
                <a:spcPct val="90000"/>
              </a:lnSpc>
              <a:spcBef>
                <a:spcPts val="500"/>
              </a:spcBef>
              <a:spcAft>
                <a:spcPts val="0"/>
              </a:spcAft>
              <a:buClr>
                <a:schemeClr val="dk1"/>
              </a:buClr>
              <a:buSzPct val="100000"/>
              <a:buFont typeface="Arial"/>
              <a:buChar char="•"/>
            </a:pPr>
            <a:r>
              <a:rPr b="0" i="0" lang="en-US" sz="2400" u="none" cap="none" strike="noStrike">
                <a:solidFill>
                  <a:schemeClr val="dk1"/>
                </a:solidFill>
                <a:latin typeface="Calibri"/>
                <a:ea typeface="Calibri"/>
                <a:cs typeface="Calibri"/>
                <a:sym typeface="Calibri"/>
              </a:rPr>
              <a:t>ocultación o exageración fraudulenta del activo; </a:t>
            </a:r>
            <a:endParaRPr/>
          </a:p>
          <a:p>
            <a:pPr indent="-228600" lvl="1" marL="685800" marR="0" rtl="0" algn="just">
              <a:lnSpc>
                <a:spcPct val="90000"/>
              </a:lnSpc>
              <a:spcBef>
                <a:spcPts val="500"/>
              </a:spcBef>
              <a:spcAft>
                <a:spcPts val="0"/>
              </a:spcAft>
              <a:buClr>
                <a:schemeClr val="dk1"/>
              </a:buClr>
              <a:buSzPct val="100000"/>
              <a:buFont typeface="Arial"/>
              <a:buChar char="•"/>
            </a:pPr>
            <a:r>
              <a:rPr b="0" i="0" lang="en-US" sz="2400" u="none" cap="none" strike="noStrike">
                <a:solidFill>
                  <a:schemeClr val="dk1"/>
                </a:solidFill>
                <a:latin typeface="Calibri"/>
                <a:ea typeface="Calibri"/>
                <a:cs typeface="Calibri"/>
                <a:sym typeface="Calibri"/>
              </a:rPr>
              <a:t>exageración fraudulenta del pasivo</a:t>
            </a:r>
            <a:endParaRPr b="0" i="0" sz="2400" u="none" cap="none" strike="noStrike">
              <a:solidFill>
                <a:schemeClr val="dk1"/>
              </a:solidFill>
              <a:latin typeface="Calibri"/>
              <a:ea typeface="Calibri"/>
              <a:cs typeface="Calibri"/>
              <a:sym typeface="Calibri"/>
            </a:endParaRPr>
          </a:p>
          <a:p>
            <a:pPr indent="-228600" lvl="0" marL="228600" marR="0" rtl="0" algn="just">
              <a:lnSpc>
                <a:spcPct val="90000"/>
              </a:lnSpc>
              <a:spcBef>
                <a:spcPts val="1000"/>
              </a:spcBef>
              <a:spcAft>
                <a:spcPts val="0"/>
              </a:spcAft>
              <a:buClr>
                <a:schemeClr val="dk1"/>
              </a:buClr>
              <a:buSzPct val="100000"/>
              <a:buFont typeface="Arial"/>
              <a:buChar char="•"/>
            </a:pPr>
            <a:r>
              <a:rPr b="0" i="0" lang="en-US" sz="2800" u="none" cap="none" strike="noStrike">
                <a:solidFill>
                  <a:schemeClr val="dk1"/>
                </a:solidFill>
                <a:latin typeface="Calibri"/>
                <a:ea typeface="Calibri"/>
                <a:cs typeface="Calibri"/>
                <a:sym typeface="Calibri"/>
              </a:rPr>
              <a:t>SE EXIGE FRAUDE</a:t>
            </a:r>
            <a:endParaRPr/>
          </a:p>
          <a:p>
            <a:pPr indent="-228600" lvl="0" marL="228600" marR="0" rtl="0" algn="just">
              <a:lnSpc>
                <a:spcPct val="90000"/>
              </a:lnSpc>
              <a:spcBef>
                <a:spcPts val="1000"/>
              </a:spcBef>
              <a:spcAft>
                <a:spcPts val="0"/>
              </a:spcAft>
              <a:buClr>
                <a:schemeClr val="dk1"/>
              </a:buClr>
              <a:buSzPct val="100000"/>
              <a:buFont typeface="Arial"/>
              <a:buChar char="•"/>
            </a:pPr>
            <a:r>
              <a:rPr b="0" i="0" lang="en-US" sz="2800" u="none" cap="none" strike="noStrike">
                <a:solidFill>
                  <a:schemeClr val="dk1"/>
                </a:solidFill>
                <a:latin typeface="Calibri"/>
                <a:ea typeface="Calibri"/>
                <a:cs typeface="Calibri"/>
                <a:sym typeface="Calibri"/>
              </a:rPr>
              <a:t>Formales</a:t>
            </a:r>
            <a:endParaRPr/>
          </a:p>
          <a:p>
            <a:pPr indent="-228600" lvl="1" marL="685800" marR="0" rtl="0" algn="just">
              <a:lnSpc>
                <a:spcPct val="90000"/>
              </a:lnSpc>
              <a:spcBef>
                <a:spcPts val="500"/>
              </a:spcBef>
              <a:spcAft>
                <a:spcPts val="0"/>
              </a:spcAft>
              <a:buClr>
                <a:schemeClr val="dk1"/>
              </a:buClr>
              <a:buSzPct val="100000"/>
              <a:buFont typeface="Arial"/>
              <a:buChar char="•"/>
            </a:pPr>
            <a:r>
              <a:rPr b="0" i="0" lang="en-US" sz="2400" u="none" cap="none" strike="noStrike">
                <a:solidFill>
                  <a:schemeClr val="dk1"/>
                </a:solidFill>
                <a:latin typeface="Calibri"/>
                <a:ea typeface="Calibri"/>
                <a:cs typeface="Calibri"/>
                <a:sym typeface="Calibri"/>
              </a:rPr>
              <a:t>inobservancia de formas esenciales para la celebración del acuerdo.</a:t>
            </a:r>
            <a:endParaRPr/>
          </a:p>
          <a:p>
            <a:pPr indent="-156209" lvl="1" marL="685800" marR="0" rtl="0" algn="l">
              <a:lnSpc>
                <a:spcPct val="90000"/>
              </a:lnSpc>
              <a:spcBef>
                <a:spcPts val="500"/>
              </a:spcBef>
              <a:spcAft>
                <a:spcPts val="0"/>
              </a:spcAft>
              <a:buClr>
                <a:schemeClr val="dk1"/>
              </a:buClr>
              <a:buSzPct val="100000"/>
              <a:buFont typeface="Arial"/>
              <a:buNone/>
            </a:pPr>
            <a:r>
              <a:t/>
            </a:r>
            <a:endParaRPr b="0" i="0" sz="2400" u="none" cap="none" strike="noStrike">
              <a:solidFill>
                <a:schemeClr val="dk1"/>
              </a:solidFill>
              <a:latin typeface="Calibri"/>
              <a:ea typeface="Calibri"/>
              <a:cs typeface="Calibri"/>
              <a:sym typeface="Calibri"/>
            </a:endParaRPr>
          </a:p>
        </p:txBody>
      </p:sp>
      <p:sp>
        <p:nvSpPr>
          <p:cNvPr id="139" name="Google Shape;139;p5"/>
          <p:cNvSpPr txBox="1"/>
          <p:nvPr/>
        </p:nvSpPr>
        <p:spPr>
          <a:xfrm>
            <a:off x="685800" y="2906875"/>
            <a:ext cx="10131424" cy="710265"/>
          </a:xfrm>
          <a:prstGeom prst="rect">
            <a:avLst/>
          </a:prstGeom>
          <a:solidFill>
            <a:srgbClr val="8DA9DB"/>
          </a:solid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CAUSALES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3" name="Shape 143"/>
        <p:cNvGrpSpPr/>
        <p:nvPr/>
      </p:nvGrpSpPr>
      <p:grpSpPr>
        <a:xfrm>
          <a:off x="0" y="0"/>
          <a:ext cx="0" cy="0"/>
          <a:chOff x="0" y="0"/>
          <a:chExt cx="0" cy="0"/>
        </a:xfrm>
      </p:grpSpPr>
      <p:sp>
        <p:nvSpPr>
          <p:cNvPr id="144" name="Google Shape;144;p6"/>
          <p:cNvSpPr/>
          <p:nvPr/>
        </p:nvSpPr>
        <p:spPr>
          <a:xfrm>
            <a:off x="838200" y="0"/>
            <a:ext cx="10910292" cy="6858000"/>
          </a:xfrm>
          <a:prstGeom prst="rect">
            <a:avLst/>
          </a:prstGeom>
          <a:gradFill>
            <a:gsLst>
              <a:gs pos="0">
                <a:srgbClr val="3865B4"/>
              </a:gs>
              <a:gs pos="25000">
                <a:srgbClr val="3865B4"/>
              </a:gs>
              <a:gs pos="94000">
                <a:srgbClr val="11151A"/>
              </a:gs>
              <a:gs pos="100000">
                <a:srgbClr val="11151A"/>
              </a:gs>
            </a:gsLst>
            <a:lin ang="4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145" name="Google Shape;145;p6"/>
          <p:cNvPicPr preferRelativeResize="0"/>
          <p:nvPr/>
        </p:nvPicPr>
        <p:blipFill rotWithShape="1">
          <a:blip r:embed="rId3">
            <a:alphaModFix/>
          </a:blip>
          <a:srcRect b="3964" l="3963" r="3964" t="3963"/>
          <a:stretch/>
        </p:blipFill>
        <p:spPr>
          <a:xfrm>
            <a:off x="0" y="1"/>
            <a:ext cx="12192000" cy="6857998"/>
          </a:xfrm>
          <a:custGeom>
            <a:rect b="b" l="l" r="r" t="t"/>
            <a:pathLst>
              <a:path extrusionOk="0" h="6857998" w="12192000">
                <a:moveTo>
                  <a:pt x="0" y="0"/>
                </a:moveTo>
                <a:lnTo>
                  <a:pt x="12192000" y="0"/>
                </a:lnTo>
                <a:lnTo>
                  <a:pt x="12192000" y="6857998"/>
                </a:lnTo>
                <a:lnTo>
                  <a:pt x="0" y="6857998"/>
                </a:lnTo>
                <a:close/>
              </a:path>
            </a:pathLst>
          </a:custGeom>
          <a:noFill/>
          <a:ln>
            <a:noFill/>
          </a:ln>
        </p:spPr>
      </p:pic>
      <p:sp>
        <p:nvSpPr>
          <p:cNvPr id="146" name="Google Shape;146;p6"/>
          <p:cNvSpPr txBox="1"/>
          <p:nvPr>
            <p:ph type="title"/>
          </p:nvPr>
        </p:nvSpPr>
        <p:spPr>
          <a:xfrm>
            <a:off x="2618437" y="991262"/>
            <a:ext cx="6955124" cy="106680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000"/>
              <a:buFont typeface="Gill Sans"/>
              <a:buNone/>
            </a:pPr>
            <a:r>
              <a:rPr b="0" i="0" lang="en-US" sz="4000">
                <a:solidFill>
                  <a:srgbClr val="FFFFFF"/>
                </a:solidFill>
                <a:latin typeface="Gill Sans"/>
                <a:ea typeface="Gill Sans"/>
                <a:cs typeface="Gill Sans"/>
                <a:sym typeface="Gill Sans"/>
              </a:rPr>
              <a:t>Resolución</a:t>
            </a:r>
            <a:endParaRPr sz="4000">
              <a:solidFill>
                <a:srgbClr val="FFFFFF"/>
              </a:solidFill>
            </a:endParaRPr>
          </a:p>
        </p:txBody>
      </p:sp>
      <p:sp>
        <p:nvSpPr>
          <p:cNvPr id="147" name="Google Shape;147;p6"/>
          <p:cNvSpPr txBox="1"/>
          <p:nvPr>
            <p:ph idx="1" type="body"/>
          </p:nvPr>
        </p:nvSpPr>
        <p:spPr>
          <a:xfrm>
            <a:off x="2618437" y="2371725"/>
            <a:ext cx="6955124" cy="303847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FFFF"/>
              </a:buClr>
              <a:buSzPts val="1700"/>
              <a:buChar char="•"/>
            </a:pPr>
            <a:r>
              <a:rPr b="0" i="0" lang="en-US" sz="1700">
                <a:solidFill>
                  <a:srgbClr val="FFFFFF"/>
                </a:solidFill>
                <a:latin typeface="Gill Sans"/>
                <a:ea typeface="Gill Sans"/>
                <a:cs typeface="Gill Sans"/>
                <a:sym typeface="Gill Sans"/>
              </a:rPr>
              <a:t>ARTICULO 51: Resolución. Tramitada la impugnación, si el juez la estima procedente, en la resolución que dicte debe declarar la quiebra. Si se tratara de sociedad de responsabilidad limitada, sociedad por acciones y aquellas en que tenga participación el Estado nacional, provincial o municipal, se aplicará el procedimiento previsto en el artículo 48, salvo que la impugnación se hubiere deducido contra una propuesta hecha por aplicación de este procedimiento.</a:t>
            </a:r>
            <a:endParaRPr/>
          </a:p>
          <a:p>
            <a:pPr indent="-228600" lvl="0" marL="228600" rtl="0" algn="l">
              <a:lnSpc>
                <a:spcPct val="90000"/>
              </a:lnSpc>
              <a:spcBef>
                <a:spcPts val="1000"/>
              </a:spcBef>
              <a:spcAft>
                <a:spcPts val="0"/>
              </a:spcAft>
              <a:buClr>
                <a:srgbClr val="FFFFFF"/>
              </a:buClr>
              <a:buSzPts val="1700"/>
              <a:buChar char="•"/>
            </a:pPr>
            <a:r>
              <a:rPr b="0" i="0" lang="en-US" sz="1700">
                <a:solidFill>
                  <a:srgbClr val="FFFFFF"/>
                </a:solidFill>
                <a:latin typeface="Gill Sans"/>
                <a:ea typeface="Gill Sans"/>
                <a:cs typeface="Gill Sans"/>
                <a:sym typeface="Gill Sans"/>
              </a:rPr>
              <a:t>Si la juzga improcedente, debe proceder a la homologación del acuerdo.</a:t>
            </a:r>
            <a:endParaRPr/>
          </a:p>
          <a:p>
            <a:pPr indent="-228600" lvl="0" marL="228600" rtl="0" algn="l">
              <a:lnSpc>
                <a:spcPct val="90000"/>
              </a:lnSpc>
              <a:spcBef>
                <a:spcPts val="1000"/>
              </a:spcBef>
              <a:spcAft>
                <a:spcPts val="0"/>
              </a:spcAft>
              <a:buClr>
                <a:srgbClr val="FFFFFF"/>
              </a:buClr>
              <a:buSzPts val="1700"/>
              <a:buChar char="•"/>
            </a:pPr>
            <a:r>
              <a:rPr b="0" i="0" lang="en-US" sz="1700">
                <a:solidFill>
                  <a:srgbClr val="FFFFFF"/>
                </a:solidFill>
                <a:latin typeface="Gill Sans"/>
                <a:ea typeface="Gill Sans"/>
                <a:cs typeface="Gill Sans"/>
                <a:sym typeface="Gill Sans"/>
              </a:rPr>
              <a:t>Ambas decisiones son apelables, al solo efecto devolutivo; en el primer caso, por el concursado y en el segundo por el acreedor impugnante.</a:t>
            </a:r>
            <a:endParaRPr/>
          </a:p>
          <a:p>
            <a:pPr indent="-120650" lvl="0" marL="228600" rtl="0" algn="l">
              <a:lnSpc>
                <a:spcPct val="90000"/>
              </a:lnSpc>
              <a:spcBef>
                <a:spcPts val="1000"/>
              </a:spcBef>
              <a:spcAft>
                <a:spcPts val="0"/>
              </a:spcAft>
              <a:buClr>
                <a:schemeClr val="lt1"/>
              </a:buClr>
              <a:buSzPts val="1700"/>
              <a:buNone/>
            </a:pPr>
            <a:r>
              <a:t/>
            </a:r>
            <a:endParaRPr sz="1700">
              <a:solidFill>
                <a:srgbClr val="FFFF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1" name="Shape 151"/>
        <p:cNvGrpSpPr/>
        <p:nvPr/>
      </p:nvGrpSpPr>
      <p:grpSpPr>
        <a:xfrm>
          <a:off x="0" y="0"/>
          <a:ext cx="0" cy="0"/>
          <a:chOff x="0" y="0"/>
          <a:chExt cx="0" cy="0"/>
        </a:xfrm>
      </p:grpSpPr>
      <p:sp>
        <p:nvSpPr>
          <p:cNvPr id="152" name="Google Shape;152;p7"/>
          <p:cNvSpPr/>
          <p:nvPr/>
        </p:nvSpPr>
        <p:spPr>
          <a:xfrm>
            <a:off x="0" y="201707"/>
            <a:ext cx="12188952" cy="6656293"/>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53" name="Google Shape;153;p7"/>
          <p:cNvPicPr preferRelativeResize="0"/>
          <p:nvPr/>
        </p:nvPicPr>
        <p:blipFill rotWithShape="1">
          <a:blip r:embed="rId3">
            <a:alphaModFix/>
          </a:blip>
          <a:srcRect b="57100" l="8235" r="8213" t="20008"/>
          <a:stretch/>
        </p:blipFill>
        <p:spPr>
          <a:xfrm flipH="1" rot="10800000">
            <a:off x="2" y="1"/>
            <a:ext cx="12191999" cy="1878950"/>
          </a:xfrm>
          <a:custGeom>
            <a:rect b="b" l="l" r="r" t="t"/>
            <a:pathLst>
              <a:path extrusionOk="0" h="1878950" w="12191999">
                <a:moveTo>
                  <a:pt x="0" y="1878950"/>
                </a:moveTo>
                <a:lnTo>
                  <a:pt x="12191999" y="1878950"/>
                </a:lnTo>
                <a:lnTo>
                  <a:pt x="12191999" y="0"/>
                </a:lnTo>
                <a:lnTo>
                  <a:pt x="0" y="0"/>
                </a:lnTo>
                <a:close/>
              </a:path>
            </a:pathLst>
          </a:custGeom>
          <a:noFill/>
          <a:ln>
            <a:noFill/>
          </a:ln>
        </p:spPr>
      </p:pic>
      <p:pic>
        <p:nvPicPr>
          <p:cNvPr id="154" name="Google Shape;154;p7"/>
          <p:cNvPicPr preferRelativeResize="0"/>
          <p:nvPr/>
        </p:nvPicPr>
        <p:blipFill rotWithShape="1">
          <a:blip r:embed="rId3">
            <a:alphaModFix/>
          </a:blip>
          <a:srcRect b="80325" l="8235" r="8213" t="-1"/>
          <a:stretch/>
        </p:blipFill>
        <p:spPr>
          <a:xfrm flipH="1" rot="10800000">
            <a:off x="0" y="4914024"/>
            <a:ext cx="12191999" cy="1614974"/>
          </a:xfrm>
          <a:custGeom>
            <a:rect b="b" l="l" r="r" t="t"/>
            <a:pathLst>
              <a:path extrusionOk="0" h="1614974" w="12191999">
                <a:moveTo>
                  <a:pt x="0" y="1614974"/>
                </a:moveTo>
                <a:lnTo>
                  <a:pt x="12191999" y="1614974"/>
                </a:lnTo>
                <a:lnTo>
                  <a:pt x="12191999" y="0"/>
                </a:lnTo>
                <a:lnTo>
                  <a:pt x="0" y="0"/>
                </a:lnTo>
                <a:close/>
              </a:path>
            </a:pathLst>
          </a:custGeom>
          <a:noFill/>
          <a:ln>
            <a:noFill/>
          </a:ln>
        </p:spPr>
      </p:pic>
      <p:sp>
        <p:nvSpPr>
          <p:cNvPr id="155" name="Google Shape;155;p7"/>
          <p:cNvSpPr txBox="1"/>
          <p:nvPr>
            <p:ph type="title"/>
          </p:nvPr>
        </p:nvSpPr>
        <p:spPr>
          <a:xfrm>
            <a:off x="805661" y="1401859"/>
            <a:ext cx="3510845" cy="40542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000"/>
              <a:buFont typeface="Calibri"/>
              <a:buNone/>
            </a:pPr>
            <a:r>
              <a:rPr lang="en-US" sz="4000">
                <a:solidFill>
                  <a:srgbClr val="FFFFFF"/>
                </a:solidFill>
              </a:rPr>
              <a:t>Resolución</a:t>
            </a:r>
            <a:endParaRPr sz="4000">
              <a:solidFill>
                <a:srgbClr val="FFFFFF"/>
              </a:solidFill>
            </a:endParaRPr>
          </a:p>
        </p:txBody>
      </p:sp>
      <p:sp>
        <p:nvSpPr>
          <p:cNvPr id="156" name="Google Shape;156;p7"/>
          <p:cNvSpPr txBox="1"/>
          <p:nvPr>
            <p:ph idx="1" type="body"/>
          </p:nvPr>
        </p:nvSpPr>
        <p:spPr>
          <a:xfrm>
            <a:off x="5257800" y="1553134"/>
            <a:ext cx="6128539" cy="3751732"/>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rgbClr val="FFFFFF"/>
              </a:buClr>
              <a:buSzPts val="2200"/>
              <a:buChar char="•"/>
            </a:pPr>
            <a:r>
              <a:rPr lang="en-US" sz="2200">
                <a:solidFill>
                  <a:srgbClr val="FFFFFF"/>
                </a:solidFill>
              </a:rPr>
              <a:t>Si el juez hace lugar a la impugnación, debe dictar la quiebra</a:t>
            </a:r>
            <a:endParaRPr/>
          </a:p>
          <a:p>
            <a:pPr indent="-228600" lvl="0" marL="228600" rtl="0" algn="l">
              <a:lnSpc>
                <a:spcPct val="90000"/>
              </a:lnSpc>
              <a:spcBef>
                <a:spcPts val="1000"/>
              </a:spcBef>
              <a:spcAft>
                <a:spcPts val="0"/>
              </a:spcAft>
              <a:buClr>
                <a:srgbClr val="FFFFFF"/>
              </a:buClr>
              <a:buSzPts val="2200"/>
              <a:buChar char="•"/>
            </a:pPr>
            <a:r>
              <a:rPr lang="en-US" sz="2200">
                <a:solidFill>
                  <a:srgbClr val="FFFFFF"/>
                </a:solidFill>
              </a:rPr>
              <a:t>Si resultare procedente el trámite del art. 48, LCQ, debe disponer la apertura del registro dentro de los dos días</a:t>
            </a:r>
            <a:endParaRPr/>
          </a:p>
          <a:p>
            <a:pPr indent="-228600" lvl="0" marL="228600" rtl="0" algn="l">
              <a:lnSpc>
                <a:spcPct val="90000"/>
              </a:lnSpc>
              <a:spcBef>
                <a:spcPts val="1000"/>
              </a:spcBef>
              <a:spcAft>
                <a:spcPts val="0"/>
              </a:spcAft>
              <a:buClr>
                <a:srgbClr val="FFFFFF"/>
              </a:buClr>
              <a:buSzPts val="2200"/>
              <a:buChar char="•"/>
            </a:pPr>
            <a:r>
              <a:rPr lang="en-US" sz="2200">
                <a:solidFill>
                  <a:srgbClr val="FFFFFF"/>
                </a:solidFill>
              </a:rPr>
              <a:t>En caso de que la incidencia se rechace, debe dictar la resolución homologatoria</a:t>
            </a:r>
            <a:endParaRPr sz="2200">
              <a:solidFill>
                <a:srgbClr val="FFFFFF"/>
              </a:solidFill>
            </a:endParaRPr>
          </a:p>
        </p:txBody>
      </p:sp>
      <p:sp>
        <p:nvSpPr>
          <p:cNvPr id="157" name="Google Shape;157;p7"/>
          <p:cNvSpPr/>
          <p:nvPr/>
        </p:nvSpPr>
        <p:spPr>
          <a:xfrm>
            <a:off x="0" y="6044454"/>
            <a:ext cx="12188952" cy="81354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1" name="Shape 161"/>
        <p:cNvGrpSpPr/>
        <p:nvPr/>
      </p:nvGrpSpPr>
      <p:grpSpPr>
        <a:xfrm>
          <a:off x="0" y="0"/>
          <a:ext cx="0" cy="0"/>
          <a:chOff x="0" y="0"/>
          <a:chExt cx="0" cy="0"/>
        </a:xfrm>
      </p:grpSpPr>
      <p:sp>
        <p:nvSpPr>
          <p:cNvPr id="162" name="Google Shape;162;p8"/>
          <p:cNvSpPr/>
          <p:nvPr/>
        </p:nvSpPr>
        <p:spPr>
          <a:xfrm>
            <a:off x="1281708" y="0"/>
            <a:ext cx="10910292" cy="6858000"/>
          </a:xfrm>
          <a:prstGeom prst="rect">
            <a:avLst/>
          </a:prstGeom>
          <a:gradFill>
            <a:gsLst>
              <a:gs pos="0">
                <a:srgbClr val="3865B4"/>
              </a:gs>
              <a:gs pos="25000">
                <a:srgbClr val="3865B4"/>
              </a:gs>
              <a:gs pos="94000">
                <a:srgbClr val="11151A"/>
              </a:gs>
              <a:gs pos="100000">
                <a:srgbClr val="11151A"/>
              </a:gs>
            </a:gsLst>
            <a:lin ang="4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3" name="Google Shape;163;p8"/>
          <p:cNvSpPr/>
          <p:nvPr/>
        </p:nvSpPr>
        <p:spPr>
          <a:xfrm>
            <a:off x="0" y="0"/>
            <a:ext cx="44196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64" name="Google Shape;164;p8"/>
          <p:cNvPicPr preferRelativeResize="0"/>
          <p:nvPr/>
        </p:nvPicPr>
        <p:blipFill rotWithShape="1">
          <a:blip r:embed="rId3">
            <a:alphaModFix/>
          </a:blip>
          <a:srcRect b="14446" l="-1" r="60644" t="7983"/>
          <a:stretch/>
        </p:blipFill>
        <p:spPr>
          <a:xfrm>
            <a:off x="2777490" y="2"/>
            <a:ext cx="6185757" cy="6857999"/>
          </a:xfrm>
          <a:custGeom>
            <a:rect b="b" l="l" r="r" t="t"/>
            <a:pathLst>
              <a:path extrusionOk="0" h="6857999" w="9414510">
                <a:moveTo>
                  <a:pt x="0" y="0"/>
                </a:moveTo>
                <a:lnTo>
                  <a:pt x="9414510" y="0"/>
                </a:lnTo>
                <a:lnTo>
                  <a:pt x="9414510" y="6857999"/>
                </a:lnTo>
                <a:lnTo>
                  <a:pt x="0" y="6857999"/>
                </a:lnTo>
                <a:close/>
              </a:path>
            </a:pathLst>
          </a:custGeom>
          <a:noFill/>
          <a:ln>
            <a:noFill/>
          </a:ln>
        </p:spPr>
      </p:pic>
      <p:sp>
        <p:nvSpPr>
          <p:cNvPr id="165" name="Google Shape;165;p8"/>
          <p:cNvSpPr txBox="1"/>
          <p:nvPr>
            <p:ph type="title"/>
          </p:nvPr>
        </p:nvSpPr>
        <p:spPr>
          <a:xfrm>
            <a:off x="640080" y="1243013"/>
            <a:ext cx="3855720" cy="437197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F3F3F"/>
              </a:buClr>
              <a:buSzPts val="4400"/>
              <a:buFont typeface="Gill Sans"/>
              <a:buNone/>
            </a:pPr>
            <a:r>
              <a:rPr b="0" i="0" lang="en-US">
                <a:solidFill>
                  <a:srgbClr val="3F3F3F"/>
                </a:solidFill>
                <a:latin typeface="Gill Sans"/>
                <a:ea typeface="Gill Sans"/>
                <a:cs typeface="Gill Sans"/>
                <a:sym typeface="Gill Sans"/>
              </a:rPr>
              <a:t>Homologación</a:t>
            </a:r>
            <a:endParaRPr>
              <a:solidFill>
                <a:srgbClr val="3F3F3F"/>
              </a:solidFill>
            </a:endParaRPr>
          </a:p>
        </p:txBody>
      </p:sp>
      <p:sp>
        <p:nvSpPr>
          <p:cNvPr id="166" name="Google Shape;166;p8"/>
          <p:cNvSpPr txBox="1"/>
          <p:nvPr>
            <p:ph idx="1" type="body"/>
          </p:nvPr>
        </p:nvSpPr>
        <p:spPr>
          <a:xfrm>
            <a:off x="6305550" y="1032987"/>
            <a:ext cx="5246370" cy="4792027"/>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rgbClr val="FFFFFF"/>
              </a:buClr>
              <a:buSzPts val="1000"/>
              <a:buChar char="•"/>
            </a:pPr>
            <a:r>
              <a:rPr b="0" i="0" lang="en-US" sz="1000">
                <a:solidFill>
                  <a:srgbClr val="FFFFFF"/>
                </a:solidFill>
                <a:latin typeface="Gill Sans"/>
                <a:ea typeface="Gill Sans"/>
                <a:cs typeface="Gill Sans"/>
                <a:sym typeface="Gill Sans"/>
              </a:rPr>
              <a:t>ARTICULO 52.- Homologación. No deducidas impugnaciones en término, o al rechazar las interpuestas, el juez debe pronunciarse sobre la homologación del acuerdo.</a:t>
            </a:r>
            <a:endParaRPr/>
          </a:p>
          <a:p>
            <a:pPr indent="-228600" lvl="0" marL="228600" rtl="0" algn="l">
              <a:lnSpc>
                <a:spcPct val="90000"/>
              </a:lnSpc>
              <a:spcBef>
                <a:spcPts val="1000"/>
              </a:spcBef>
              <a:spcAft>
                <a:spcPts val="0"/>
              </a:spcAft>
              <a:buClr>
                <a:srgbClr val="FFFFFF"/>
              </a:buClr>
              <a:buSzPts val="1000"/>
              <a:buChar char="•"/>
            </a:pPr>
            <a:r>
              <a:rPr b="0" i="0" lang="en-US" sz="1000">
                <a:solidFill>
                  <a:srgbClr val="FFFFFF"/>
                </a:solidFill>
                <a:latin typeface="Gill Sans"/>
                <a:ea typeface="Gill Sans"/>
                <a:cs typeface="Gill Sans"/>
                <a:sym typeface="Gill Sans"/>
              </a:rPr>
              <a:t>1. Si considera una propuesta única, aprobada por las mayorías de ley, debe homologarla.</a:t>
            </a:r>
            <a:endParaRPr/>
          </a:p>
          <a:p>
            <a:pPr indent="-228600" lvl="0" marL="228600" rtl="0" algn="l">
              <a:lnSpc>
                <a:spcPct val="90000"/>
              </a:lnSpc>
              <a:spcBef>
                <a:spcPts val="1000"/>
              </a:spcBef>
              <a:spcAft>
                <a:spcPts val="0"/>
              </a:spcAft>
              <a:buClr>
                <a:srgbClr val="FFFFFF"/>
              </a:buClr>
              <a:buSzPts val="1000"/>
              <a:buChar char="•"/>
            </a:pPr>
            <a:r>
              <a:rPr b="0" i="0" lang="en-US" sz="1000">
                <a:solidFill>
                  <a:srgbClr val="FFFFFF"/>
                </a:solidFill>
                <a:latin typeface="Gill Sans"/>
                <a:ea typeface="Gill Sans"/>
                <a:cs typeface="Gill Sans"/>
                <a:sym typeface="Gill Sans"/>
              </a:rPr>
              <a:t>2. Si considera un acuerdo en el cual hubo categorización de acreedores quirografarios y consiguiente pluralidad de propuestas a las respectivas categorías:</a:t>
            </a:r>
            <a:endParaRPr/>
          </a:p>
          <a:p>
            <a:pPr indent="-228600" lvl="0" marL="228600" rtl="0" algn="l">
              <a:lnSpc>
                <a:spcPct val="90000"/>
              </a:lnSpc>
              <a:spcBef>
                <a:spcPts val="1000"/>
              </a:spcBef>
              <a:spcAft>
                <a:spcPts val="0"/>
              </a:spcAft>
              <a:buClr>
                <a:srgbClr val="FFFFFF"/>
              </a:buClr>
              <a:buSzPts val="1000"/>
              <a:buChar char="•"/>
            </a:pPr>
            <a:r>
              <a:rPr b="0" i="0" lang="en-US" sz="1000">
                <a:solidFill>
                  <a:srgbClr val="FFFFFF"/>
                </a:solidFill>
                <a:latin typeface="Gill Sans"/>
                <a:ea typeface="Gill Sans"/>
                <a:cs typeface="Gill Sans"/>
                <a:sym typeface="Gill Sans"/>
              </a:rPr>
              <a:t>a) Debe homologar el acuerdo cuando se hubieran obtenido las mayorías del artículo 45 o, en su caso, las del artículo 67;</a:t>
            </a:r>
            <a:endParaRPr/>
          </a:p>
          <a:p>
            <a:pPr indent="-228600" lvl="0" marL="228600" rtl="0" algn="l">
              <a:lnSpc>
                <a:spcPct val="90000"/>
              </a:lnSpc>
              <a:spcBef>
                <a:spcPts val="1000"/>
              </a:spcBef>
              <a:spcAft>
                <a:spcPts val="0"/>
              </a:spcAft>
              <a:buClr>
                <a:srgbClr val="FFFFFF"/>
              </a:buClr>
              <a:buSzPts val="1000"/>
              <a:buChar char="•"/>
            </a:pPr>
            <a:r>
              <a:rPr b="0" i="0" lang="en-US" sz="1000">
                <a:solidFill>
                  <a:srgbClr val="FFFFFF"/>
                </a:solidFill>
                <a:latin typeface="Gill Sans"/>
                <a:ea typeface="Gill Sans"/>
                <a:cs typeface="Gill Sans"/>
                <a:sym typeface="Gill Sans"/>
              </a:rPr>
              <a:t>b) Si no se hubieran logrado las mayorías necesarias en todas las categorías, el juez puede homologar el acuerdo, e imponerlo a la totalidad de los acreedores quirografarios, siempre que resulte reunida la totalidad de los siguientes requisitos:</a:t>
            </a:r>
            <a:endParaRPr/>
          </a:p>
          <a:p>
            <a:pPr indent="-228600" lvl="0" marL="228600" rtl="0" algn="l">
              <a:lnSpc>
                <a:spcPct val="90000"/>
              </a:lnSpc>
              <a:spcBef>
                <a:spcPts val="1000"/>
              </a:spcBef>
              <a:spcAft>
                <a:spcPts val="0"/>
              </a:spcAft>
              <a:buClr>
                <a:srgbClr val="FFFFFF"/>
              </a:buClr>
              <a:buSzPts val="1000"/>
              <a:buChar char="•"/>
            </a:pPr>
            <a:r>
              <a:rPr b="0" i="0" lang="en-US" sz="1000">
                <a:solidFill>
                  <a:srgbClr val="FFFFFF"/>
                </a:solidFill>
                <a:latin typeface="Gill Sans"/>
                <a:ea typeface="Gill Sans"/>
                <a:cs typeface="Gill Sans"/>
                <a:sym typeface="Gill Sans"/>
              </a:rPr>
              <a:t>i) Aprobación por al menos una de las categorías de acreedores quirografarios;</a:t>
            </a:r>
            <a:endParaRPr/>
          </a:p>
          <a:p>
            <a:pPr indent="-228600" lvl="0" marL="228600" rtl="0" algn="l">
              <a:lnSpc>
                <a:spcPct val="90000"/>
              </a:lnSpc>
              <a:spcBef>
                <a:spcPts val="1000"/>
              </a:spcBef>
              <a:spcAft>
                <a:spcPts val="0"/>
              </a:spcAft>
              <a:buClr>
                <a:srgbClr val="FFFFFF"/>
              </a:buClr>
              <a:buSzPts val="1000"/>
              <a:buChar char="•"/>
            </a:pPr>
            <a:r>
              <a:rPr b="0" i="0" lang="en-US" sz="1000">
                <a:solidFill>
                  <a:srgbClr val="FFFFFF"/>
                </a:solidFill>
                <a:latin typeface="Gill Sans"/>
                <a:ea typeface="Gill Sans"/>
                <a:cs typeface="Gill Sans"/>
                <a:sym typeface="Gill Sans"/>
              </a:rPr>
              <a:t>ii) Conformidad de por lo menos las tres cuartas partes del capital quirografario;</a:t>
            </a:r>
            <a:endParaRPr/>
          </a:p>
          <a:p>
            <a:pPr indent="-228600" lvl="0" marL="228600" rtl="0" algn="l">
              <a:lnSpc>
                <a:spcPct val="90000"/>
              </a:lnSpc>
              <a:spcBef>
                <a:spcPts val="1000"/>
              </a:spcBef>
              <a:spcAft>
                <a:spcPts val="0"/>
              </a:spcAft>
              <a:buClr>
                <a:srgbClr val="FFFFFF"/>
              </a:buClr>
              <a:buSzPts val="1000"/>
              <a:buChar char="•"/>
            </a:pPr>
            <a:r>
              <a:rPr b="0" i="0" lang="en-US" sz="1000">
                <a:solidFill>
                  <a:srgbClr val="FFFFFF"/>
                </a:solidFill>
                <a:latin typeface="Gill Sans"/>
                <a:ea typeface="Gill Sans"/>
                <a:cs typeface="Gill Sans"/>
                <a:sym typeface="Gill Sans"/>
              </a:rPr>
              <a:t>iii) No discriminación en contra de la categoría o categorías disidentes. Entiéndese como discriminación el impedir que los acreedores comprendidos en dicha categoría o categorías disidentes puedan elegir —después de la imposición judicial del acuerdo— cualquiera de las propuestas, únicas o alternativas, acordadas con la categoría o categorías que las aprobaron expresamente. En defecto de elección expresa, los disidentes nunca recibirán un pago o un valor inferior al mejor que se hubiera acordado con la categoría o con cualquiera de las categorías que prestaron expresa conformidad a la propuesta;</a:t>
            </a:r>
            <a:endParaRPr/>
          </a:p>
          <a:p>
            <a:pPr indent="-228600" lvl="0" marL="228600" rtl="0" algn="l">
              <a:lnSpc>
                <a:spcPct val="90000"/>
              </a:lnSpc>
              <a:spcBef>
                <a:spcPts val="1000"/>
              </a:spcBef>
              <a:spcAft>
                <a:spcPts val="0"/>
              </a:spcAft>
              <a:buClr>
                <a:srgbClr val="FFFFFF"/>
              </a:buClr>
              <a:buSzPts val="1000"/>
              <a:buChar char="•"/>
            </a:pPr>
            <a:r>
              <a:rPr b="0" i="0" lang="en-US" sz="1000">
                <a:solidFill>
                  <a:srgbClr val="FFFFFF"/>
                </a:solidFill>
                <a:latin typeface="Gill Sans"/>
                <a:ea typeface="Gill Sans"/>
                <a:cs typeface="Gill Sans"/>
                <a:sym typeface="Gill Sans"/>
              </a:rPr>
              <a:t>iv) Que el pago resultante del acuerdo impuesto equivalga a un dividendo no menor al que obtendrían en la quiebra los acreedores disidentes.</a:t>
            </a:r>
            <a:endParaRPr/>
          </a:p>
          <a:p>
            <a:pPr indent="-228600" lvl="0" marL="228600" rtl="0" algn="l">
              <a:lnSpc>
                <a:spcPct val="90000"/>
              </a:lnSpc>
              <a:spcBef>
                <a:spcPts val="1000"/>
              </a:spcBef>
              <a:spcAft>
                <a:spcPts val="0"/>
              </a:spcAft>
              <a:buClr>
                <a:srgbClr val="FFFFFF"/>
              </a:buClr>
              <a:buSzPts val="1000"/>
              <a:buChar char="•"/>
            </a:pPr>
            <a:r>
              <a:rPr b="0" i="0" lang="en-US" sz="1000">
                <a:solidFill>
                  <a:srgbClr val="FFFFFF"/>
                </a:solidFill>
                <a:latin typeface="Gill Sans"/>
                <a:ea typeface="Gill Sans"/>
                <a:cs typeface="Gill Sans"/>
                <a:sym typeface="Gill Sans"/>
              </a:rPr>
              <a:t>3. El acuerdo no puede ser impuesto a los acreedores con privilegio especial que no lo hubieran aceptado.</a:t>
            </a:r>
            <a:endParaRPr/>
          </a:p>
          <a:p>
            <a:pPr indent="-228600" lvl="0" marL="228600" rtl="0" algn="l">
              <a:lnSpc>
                <a:spcPct val="90000"/>
              </a:lnSpc>
              <a:spcBef>
                <a:spcPts val="1000"/>
              </a:spcBef>
              <a:spcAft>
                <a:spcPts val="0"/>
              </a:spcAft>
              <a:buClr>
                <a:srgbClr val="FFFFFF"/>
              </a:buClr>
              <a:buSzPts val="1000"/>
              <a:buChar char="•"/>
            </a:pPr>
            <a:r>
              <a:rPr b="0" i="0" lang="en-US" sz="1000">
                <a:solidFill>
                  <a:srgbClr val="FFFFFF"/>
                </a:solidFill>
                <a:latin typeface="Gill Sans"/>
                <a:ea typeface="Gill Sans"/>
                <a:cs typeface="Gill Sans"/>
                <a:sym typeface="Gill Sans"/>
              </a:rPr>
              <a:t>4. En ningún caso el juez homologará una propuesta abusiva o en fraude a la ley.</a:t>
            </a:r>
            <a:endParaRPr/>
          </a:p>
          <a:p>
            <a:pPr indent="-165100" lvl="0" marL="228600" rtl="0" algn="l">
              <a:lnSpc>
                <a:spcPct val="90000"/>
              </a:lnSpc>
              <a:spcBef>
                <a:spcPts val="1000"/>
              </a:spcBef>
              <a:spcAft>
                <a:spcPts val="0"/>
              </a:spcAft>
              <a:buClr>
                <a:schemeClr val="lt1"/>
              </a:buClr>
              <a:buSzPts val="1000"/>
              <a:buNone/>
            </a:pPr>
            <a:r>
              <a:t/>
            </a:r>
            <a:endParaRPr sz="1000">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Ejemplo – CRAMDOWN POWER</a:t>
            </a:r>
            <a:endParaRPr/>
          </a:p>
        </p:txBody>
      </p:sp>
      <p:sp>
        <p:nvSpPr>
          <p:cNvPr id="172" name="Google Shape;172;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CATEGORIA A</a:t>
            </a:r>
            <a:endParaRPr/>
          </a:p>
          <a:p>
            <a:pPr indent="-228600" lvl="1" marL="685800" rtl="0" algn="l">
              <a:lnSpc>
                <a:spcPct val="90000"/>
              </a:lnSpc>
              <a:spcBef>
                <a:spcPts val="500"/>
              </a:spcBef>
              <a:spcAft>
                <a:spcPts val="0"/>
              </a:spcAft>
              <a:buClr>
                <a:schemeClr val="dk1"/>
              </a:buClr>
              <a:buSzPct val="100000"/>
              <a:buChar char="•"/>
            </a:pPr>
            <a:r>
              <a:rPr lang="en-US"/>
              <a:t>A	1000</a:t>
            </a:r>
            <a:endParaRPr/>
          </a:p>
          <a:p>
            <a:pPr indent="-228600" lvl="1" marL="685800" rtl="0" algn="l">
              <a:lnSpc>
                <a:spcPct val="90000"/>
              </a:lnSpc>
              <a:spcBef>
                <a:spcPts val="500"/>
              </a:spcBef>
              <a:spcAft>
                <a:spcPts val="0"/>
              </a:spcAft>
              <a:buClr>
                <a:schemeClr val="dk1"/>
              </a:buClr>
              <a:buSzPct val="100000"/>
              <a:buChar char="•"/>
            </a:pPr>
            <a:r>
              <a:rPr lang="en-US"/>
              <a:t>B	8000	</a:t>
            </a:r>
            <a:endParaRPr/>
          </a:p>
          <a:p>
            <a:pPr indent="-228600" lvl="1" marL="685800" rtl="0" algn="l">
              <a:lnSpc>
                <a:spcPct val="90000"/>
              </a:lnSpc>
              <a:spcBef>
                <a:spcPts val="500"/>
              </a:spcBef>
              <a:spcAft>
                <a:spcPts val="0"/>
              </a:spcAft>
              <a:buClr>
                <a:schemeClr val="dk1"/>
              </a:buClr>
              <a:buSzPct val="100000"/>
              <a:buChar char="•"/>
            </a:pPr>
            <a:r>
              <a:rPr lang="en-US"/>
              <a:t>C	1000</a:t>
            </a:r>
            <a:endParaRPr/>
          </a:p>
          <a:p>
            <a:pPr indent="-228600" lvl="0" marL="228600" rtl="0" algn="l">
              <a:lnSpc>
                <a:spcPct val="90000"/>
              </a:lnSpc>
              <a:spcBef>
                <a:spcPts val="1000"/>
              </a:spcBef>
              <a:spcAft>
                <a:spcPts val="0"/>
              </a:spcAft>
              <a:buClr>
                <a:schemeClr val="dk1"/>
              </a:buClr>
              <a:buSzPct val="100000"/>
              <a:buChar char="•"/>
            </a:pPr>
            <a:r>
              <a:rPr lang="en-US"/>
              <a:t>CATEGORIA B</a:t>
            </a:r>
            <a:endParaRPr/>
          </a:p>
          <a:p>
            <a:pPr indent="-228600" lvl="1" marL="685800" rtl="0" algn="l">
              <a:lnSpc>
                <a:spcPct val="90000"/>
              </a:lnSpc>
              <a:spcBef>
                <a:spcPts val="500"/>
              </a:spcBef>
              <a:spcAft>
                <a:spcPts val="0"/>
              </a:spcAft>
              <a:buClr>
                <a:schemeClr val="dk1"/>
              </a:buClr>
              <a:buSzPct val="100000"/>
              <a:buChar char="•"/>
            </a:pPr>
            <a:r>
              <a:rPr lang="en-US"/>
              <a:t>D	90</a:t>
            </a:r>
            <a:endParaRPr/>
          </a:p>
          <a:p>
            <a:pPr indent="-228600" lvl="1" marL="685800" rtl="0" algn="l">
              <a:lnSpc>
                <a:spcPct val="90000"/>
              </a:lnSpc>
              <a:spcBef>
                <a:spcPts val="500"/>
              </a:spcBef>
              <a:spcAft>
                <a:spcPts val="0"/>
              </a:spcAft>
              <a:buClr>
                <a:schemeClr val="dk1"/>
              </a:buClr>
              <a:buSzPct val="100000"/>
              <a:buChar char="•"/>
            </a:pPr>
            <a:r>
              <a:rPr lang="en-US"/>
              <a:t>E	10</a:t>
            </a:r>
            <a:endParaRPr/>
          </a:p>
          <a:p>
            <a:pPr indent="-87630" lvl="1" marL="685800" rtl="0" algn="l">
              <a:lnSpc>
                <a:spcPct val="90000"/>
              </a:lnSpc>
              <a:spcBef>
                <a:spcPts val="500"/>
              </a:spcBef>
              <a:spcAft>
                <a:spcPts val="0"/>
              </a:spcAft>
              <a:buClr>
                <a:schemeClr val="dk1"/>
              </a:buClr>
              <a:buSzPct val="100000"/>
              <a:buNone/>
            </a:pPr>
            <a:r>
              <a:t/>
            </a:r>
            <a:endParaRPr/>
          </a:p>
          <a:p>
            <a:pPr indent="0" lvl="1" marL="457200" rtl="0" algn="l">
              <a:lnSpc>
                <a:spcPct val="90000"/>
              </a:lnSpc>
              <a:spcBef>
                <a:spcPts val="500"/>
              </a:spcBef>
              <a:spcAft>
                <a:spcPts val="0"/>
              </a:spcAft>
              <a:buClr>
                <a:schemeClr val="dk1"/>
              </a:buClr>
              <a:buSzPct val="100000"/>
              <a:buNone/>
            </a:pPr>
            <a:r>
              <a:rPr lang="en-US"/>
              <a:t>SOLO VOTO NEGATIVAMENTE EL ACREEDOR E // EL RESTO VOTARON POSITIVAMENTE	</a:t>
            </a:r>
            <a:endParaRPr/>
          </a:p>
          <a:p>
            <a:pPr indent="0" lvl="1" marL="457200" rtl="0" algn="l">
              <a:lnSpc>
                <a:spcPct val="90000"/>
              </a:lnSpc>
              <a:spcBef>
                <a:spcPts val="500"/>
              </a:spcBef>
              <a:spcAft>
                <a:spcPts val="0"/>
              </a:spcAft>
              <a:buClr>
                <a:schemeClr val="dk1"/>
              </a:buClr>
              <a:buSzPct val="100000"/>
              <a:buNone/>
            </a:pPr>
            <a:r>
              <a:rPr lang="en-US"/>
              <a:t>CRAMDOWN POWER</a:t>
            </a:r>
            <a:endParaRPr/>
          </a:p>
          <a:p>
            <a:pPr indent="-457200" lvl="1" marL="914400" rtl="0" algn="l">
              <a:lnSpc>
                <a:spcPct val="90000"/>
              </a:lnSpc>
              <a:spcBef>
                <a:spcPts val="500"/>
              </a:spcBef>
              <a:spcAft>
                <a:spcPts val="0"/>
              </a:spcAft>
              <a:buClr>
                <a:schemeClr val="dk1"/>
              </a:buClr>
              <a:buSzPct val="100000"/>
              <a:buFont typeface="Calibri"/>
              <a:buAutoNum type="arabicPeriod"/>
            </a:pPr>
            <a:r>
              <a:rPr lang="en-US"/>
              <a:t>MAYORIA EN AL MENOS 1 CATEGORIA (45 – CAT A)</a:t>
            </a:r>
            <a:endParaRPr/>
          </a:p>
          <a:p>
            <a:pPr indent="-457200" lvl="1" marL="914400" rtl="0" algn="l">
              <a:lnSpc>
                <a:spcPct val="90000"/>
              </a:lnSpc>
              <a:spcBef>
                <a:spcPts val="500"/>
              </a:spcBef>
              <a:spcAft>
                <a:spcPts val="0"/>
              </a:spcAft>
              <a:buClr>
                <a:schemeClr val="dk1"/>
              </a:buClr>
              <a:buSzPct val="100000"/>
              <a:buFont typeface="Calibri"/>
              <a:buAutoNum type="arabicPeriod"/>
            </a:pPr>
            <a:r>
              <a:rPr lang="en-US"/>
              <a:t>¾ PARTES CAP QUIROGRAFARIO TOTAL (75 % DE 10100 = 7575)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0"/>
          <p:cNvSpPr txBox="1"/>
          <p:nvPr>
            <p:ph type="title"/>
          </p:nvPr>
        </p:nvSpPr>
        <p:spPr>
          <a:xfrm>
            <a:off x="838200" y="365125"/>
            <a:ext cx="10515600" cy="1325563"/>
          </a:xfrm>
          <a:prstGeom prst="rect">
            <a:avLst/>
          </a:prstGeom>
          <a:solidFill>
            <a:srgbClr val="8DA9DB"/>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1800"/>
              <a:buFont typeface="Calibri"/>
              <a:buNone/>
            </a:pPr>
            <a:r>
              <a:rPr lang="en-US" sz="1800"/>
              <a:t>PROPUESTA ABUSIVA O EN FRAUDE A LA LEY</a:t>
            </a:r>
            <a:endParaRPr sz="1800"/>
          </a:p>
        </p:txBody>
      </p:sp>
      <p:sp>
        <p:nvSpPr>
          <p:cNvPr id="178" name="Google Shape;178;p10"/>
          <p:cNvSpPr/>
          <p:nvPr/>
        </p:nvSpPr>
        <p:spPr>
          <a:xfrm>
            <a:off x="3485408" y="1935678"/>
            <a:ext cx="4180114" cy="807522"/>
          </a:xfrm>
          <a:prstGeom prst="rect">
            <a:avLst/>
          </a:prstGeom>
          <a:gradFill>
            <a:gsLst>
              <a:gs pos="0">
                <a:srgbClr val="F08B54"/>
              </a:gs>
              <a:gs pos="50000">
                <a:srgbClr val="F67A26"/>
              </a:gs>
              <a:gs pos="100000">
                <a:srgbClr val="E36A18"/>
              </a:gs>
            </a:gsLst>
            <a:lin ang="5400000" scaled="0"/>
          </a:grad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¿cuándo hay un acuerdo abusivo?</a:t>
            </a:r>
            <a:endParaRPr/>
          </a:p>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9" name="Google Shape;179;p10"/>
          <p:cNvSpPr/>
          <p:nvPr/>
        </p:nvSpPr>
        <p:spPr>
          <a:xfrm>
            <a:off x="333704" y="1995055"/>
            <a:ext cx="2784764" cy="2274124"/>
          </a:xfrm>
          <a:prstGeom prst="roundRect">
            <a:avLst>
              <a:gd fmla="val 16667"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Gill Sans"/>
                <a:ea typeface="Gill Sans"/>
                <a:cs typeface="Gill Sans"/>
                <a:sym typeface="Gill Sans"/>
              </a:rPr>
              <a:t>ARTICULO 10 (CCCN).- Abuso del derecho. El ejercicio regular de un derecho propio o el cumplimiento de una obligación legal no puede constituir como ilícito ningún acto.</a:t>
            </a:r>
            <a:br>
              <a:rPr b="0" i="0" lang="en-US" sz="900" u="none" cap="none" strike="noStrike">
                <a:solidFill>
                  <a:schemeClr val="lt1"/>
                </a:solidFill>
                <a:latin typeface="Calibri"/>
                <a:ea typeface="Calibri"/>
                <a:cs typeface="Calibri"/>
                <a:sym typeface="Calibri"/>
              </a:rPr>
            </a:br>
            <a:br>
              <a:rPr b="0" i="0" lang="en-US" sz="900" u="none" cap="none" strike="noStrike">
                <a:solidFill>
                  <a:schemeClr val="lt1"/>
                </a:solidFill>
                <a:latin typeface="Calibri"/>
                <a:ea typeface="Calibri"/>
                <a:cs typeface="Calibri"/>
                <a:sym typeface="Calibri"/>
              </a:rPr>
            </a:br>
            <a:r>
              <a:rPr b="1" i="0" lang="en-US" sz="900" u="sng" cap="none" strike="noStrike">
                <a:solidFill>
                  <a:srgbClr val="000000"/>
                </a:solidFill>
                <a:latin typeface="Gill Sans"/>
                <a:ea typeface="Gill Sans"/>
                <a:cs typeface="Gill Sans"/>
                <a:sym typeface="Gill Sans"/>
              </a:rPr>
              <a:t>La ley no ampara el ejercicio abusivo de los derechos. Se considera tal el que contraría los fines del ordenamiento jurídico o el que excede los límites impuestos por la buena fe, la moral y las buenas costumbres.</a:t>
            </a:r>
            <a:br>
              <a:rPr b="1" i="0" lang="en-US" sz="900" u="sng" cap="none" strike="noStrike">
                <a:solidFill>
                  <a:schemeClr val="lt1"/>
                </a:solidFill>
                <a:latin typeface="Calibri"/>
                <a:ea typeface="Calibri"/>
                <a:cs typeface="Calibri"/>
                <a:sym typeface="Calibri"/>
              </a:rPr>
            </a:br>
            <a:br>
              <a:rPr b="1" i="0" lang="en-US" sz="900" u="sng" cap="none" strike="noStrike">
                <a:solidFill>
                  <a:schemeClr val="lt1"/>
                </a:solidFill>
                <a:latin typeface="Calibri"/>
                <a:ea typeface="Calibri"/>
                <a:cs typeface="Calibri"/>
                <a:sym typeface="Calibri"/>
              </a:rPr>
            </a:br>
            <a:r>
              <a:rPr b="0" i="0" lang="en-US" sz="900" u="none" cap="none" strike="noStrike">
                <a:solidFill>
                  <a:srgbClr val="000000"/>
                </a:solidFill>
                <a:latin typeface="Gill Sans"/>
                <a:ea typeface="Gill Sans"/>
                <a:cs typeface="Gill Sans"/>
                <a:sym typeface="Gill Sans"/>
              </a:rPr>
              <a:t>El juez debe ordenar lo necesario para evitar los efectos del ejercicio abusivo o de la situación jurídica abusiva y, si correspondiere, procurar la reposición al estado de hecho anterior y fijar una indemnización.</a:t>
            </a:r>
            <a:endParaRPr b="0" i="0" sz="900" u="none" cap="none" strike="noStrike">
              <a:solidFill>
                <a:schemeClr val="lt1"/>
              </a:solidFill>
              <a:latin typeface="Calibri"/>
              <a:ea typeface="Calibri"/>
              <a:cs typeface="Calibri"/>
              <a:sym typeface="Calibri"/>
            </a:endParaRPr>
          </a:p>
        </p:txBody>
      </p:sp>
      <p:sp>
        <p:nvSpPr>
          <p:cNvPr id="180" name="Google Shape;180;p10"/>
          <p:cNvSpPr/>
          <p:nvPr/>
        </p:nvSpPr>
        <p:spPr>
          <a:xfrm rot="5400000">
            <a:off x="1508167" y="4548249"/>
            <a:ext cx="350322" cy="350322"/>
          </a:xfrm>
          <a:prstGeom prst="chevron">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1" name="Google Shape;181;p10"/>
          <p:cNvSpPr/>
          <p:nvPr/>
        </p:nvSpPr>
        <p:spPr>
          <a:xfrm>
            <a:off x="528452" y="5225143"/>
            <a:ext cx="2416629" cy="1092530"/>
          </a:xfrm>
          <a:prstGeom prst="roundRect">
            <a:avLst>
              <a:gd fmla="val 16667"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900" u="sng" cap="none" strike="noStrike">
                <a:solidFill>
                  <a:srgbClr val="000000"/>
                </a:solidFill>
                <a:latin typeface="Gill Sans"/>
                <a:ea typeface="Gill Sans"/>
                <a:cs typeface="Gill Sans"/>
                <a:sym typeface="Gill Sans"/>
              </a:rPr>
              <a:t>Será abusiva la propuesta que tenga cláusulas que importen una desnaturalización del derecho de los acreedores o que imponga a algunos acreedores pautas arbitrarias aceptadas por la mayoría</a:t>
            </a:r>
            <a:endParaRPr b="1" i="0" sz="900" u="sng" cap="none" strike="noStrike">
              <a:solidFill>
                <a:srgbClr val="000000"/>
              </a:solidFill>
              <a:latin typeface="Gill Sans"/>
              <a:ea typeface="Gill Sans"/>
              <a:cs typeface="Gill Sans"/>
              <a:sym typeface="Gill Sans"/>
            </a:endParaRPr>
          </a:p>
        </p:txBody>
      </p:sp>
      <p:sp>
        <p:nvSpPr>
          <p:cNvPr id="182" name="Google Shape;182;p10"/>
          <p:cNvSpPr/>
          <p:nvPr/>
        </p:nvSpPr>
        <p:spPr>
          <a:xfrm>
            <a:off x="8188032" y="2511630"/>
            <a:ext cx="3069773" cy="3431969"/>
          </a:xfrm>
          <a:prstGeom prst="roundRect">
            <a:avLst>
              <a:gd fmla="val 16667"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Gill Sans"/>
                <a:ea typeface="Gill Sans"/>
                <a:cs typeface="Gill Sans"/>
                <a:sym typeface="Gill Sans"/>
              </a:rPr>
              <a:t>fraude debe ser entendido en su sentido amplio y como la acción u omisión con el fin de procurar la aplicación de una norma que de no existir la acción u omisión no resultaría aplicable. Importa un acto jurídico realizado de conformidad a un precepto legal, pero con la clara intencionalidad de eludir la aplicación de otra</a:t>
            </a:r>
            <a:endParaRPr b="0" i="0" sz="900" u="none" cap="none" strike="noStrike">
              <a:solidFill>
                <a:srgbClr val="000000"/>
              </a:solidFill>
              <a:latin typeface="Gill Sans"/>
              <a:ea typeface="Gill Sans"/>
              <a:cs typeface="Gill Sans"/>
              <a:sym typeface="Gill Sans"/>
            </a:endParaRPr>
          </a:p>
        </p:txBody>
      </p:sp>
      <p:sp>
        <p:nvSpPr>
          <p:cNvPr id="183" name="Google Shape;183;p10"/>
          <p:cNvSpPr/>
          <p:nvPr/>
        </p:nvSpPr>
        <p:spPr>
          <a:xfrm>
            <a:off x="4162301" y="3218213"/>
            <a:ext cx="2826328" cy="742208"/>
          </a:xfrm>
          <a:prstGeom prst="leftRightArrow">
            <a:avLst>
              <a:gd fmla="val 50000" name="adj1"/>
              <a:gd fmla="val 50000" name="adj2"/>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E79"/>
        </a:solidFill>
      </p:bgPr>
    </p:bg>
    <p:spTree>
      <p:nvGrpSpPr>
        <p:cNvPr id="187" name="Shape 187"/>
        <p:cNvGrpSpPr/>
        <p:nvPr/>
      </p:nvGrpSpPr>
      <p:grpSpPr>
        <a:xfrm>
          <a:off x="0" y="0"/>
          <a:ext cx="0" cy="0"/>
          <a:chOff x="0" y="0"/>
          <a:chExt cx="0" cy="0"/>
        </a:xfrm>
      </p:grpSpPr>
      <p:sp>
        <p:nvSpPr>
          <p:cNvPr id="188" name="Google Shape;188;p11"/>
          <p:cNvSpPr/>
          <p:nvPr/>
        </p:nvSpPr>
        <p:spPr>
          <a:xfrm>
            <a:off x="0" y="0"/>
            <a:ext cx="832385" cy="6858000"/>
          </a:xfrm>
          <a:prstGeom prst="rect">
            <a:avLst/>
          </a:prstGeom>
          <a:solidFill>
            <a:schemeClr val="accent5">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accent2"/>
              </a:solidFill>
              <a:latin typeface="Calibri"/>
              <a:ea typeface="Calibri"/>
              <a:cs typeface="Calibri"/>
              <a:sym typeface="Calibri"/>
            </a:endParaRPr>
          </a:p>
        </p:txBody>
      </p:sp>
      <p:sp>
        <p:nvSpPr>
          <p:cNvPr id="189" name="Google Shape;189;p11"/>
          <p:cNvSpPr/>
          <p:nvPr/>
        </p:nvSpPr>
        <p:spPr>
          <a:xfrm>
            <a:off x="832385" y="0"/>
            <a:ext cx="3218914" cy="6858000"/>
          </a:xfrm>
          <a:prstGeom prst="rect">
            <a:avLst/>
          </a:prstGeom>
          <a:solidFill>
            <a:srgbClr val="2E75B5">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0" name="Google Shape;190;p11"/>
          <p:cNvSpPr txBox="1"/>
          <p:nvPr>
            <p:ph type="title"/>
          </p:nvPr>
        </p:nvSpPr>
        <p:spPr>
          <a:xfrm>
            <a:off x="992206" y="1608667"/>
            <a:ext cx="2823275" cy="4501127"/>
          </a:xfrm>
          <a:prstGeom prst="rect">
            <a:avLst/>
          </a:prstGeom>
          <a:noFill/>
          <a:ln>
            <a:noFill/>
          </a:ln>
        </p:spPr>
        <p:txBody>
          <a:bodyPr anchorCtr="0" anchor="t" bIns="45700" lIns="91425" spcFirstLastPara="1" rIns="91425" wrap="square" tIns="45700">
            <a:normAutofit/>
          </a:bodyPr>
          <a:lstStyle/>
          <a:p>
            <a:pPr indent="0" lvl="0" marL="0" rtl="0" algn="r">
              <a:lnSpc>
                <a:spcPct val="90000"/>
              </a:lnSpc>
              <a:spcBef>
                <a:spcPts val="0"/>
              </a:spcBef>
              <a:spcAft>
                <a:spcPts val="0"/>
              </a:spcAft>
              <a:buClr>
                <a:srgbClr val="FFFFFF"/>
              </a:buClr>
              <a:buSzPts val="2700"/>
              <a:buFont typeface="Calibri"/>
              <a:buNone/>
            </a:pPr>
            <a:r>
              <a:rPr lang="en-US" sz="2700">
                <a:solidFill>
                  <a:srgbClr val="FFFFFF"/>
                </a:solidFill>
                <a:latin typeface="Calibri"/>
                <a:ea typeface="Calibri"/>
                <a:cs typeface="Calibri"/>
                <a:sym typeface="Calibri"/>
              </a:rPr>
              <a:t>JURISPRUDENCIA</a:t>
            </a:r>
            <a:endParaRPr/>
          </a:p>
        </p:txBody>
      </p:sp>
      <p:sp>
        <p:nvSpPr>
          <p:cNvPr id="191" name="Google Shape;191;p11"/>
          <p:cNvSpPr txBox="1"/>
          <p:nvPr>
            <p:ph idx="1" type="body"/>
          </p:nvPr>
        </p:nvSpPr>
        <p:spPr>
          <a:xfrm>
            <a:off x="4547698" y="1608667"/>
            <a:ext cx="3421958" cy="450112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1100"/>
              <a:buChar char="•"/>
            </a:pPr>
            <a:r>
              <a:rPr lang="en-US" sz="1100"/>
              <a:t>Es inadmisible por abusiva la propuesta formulada por la concursada a la masa quirografaria que consistió en el pago del 40% en veinte cuotas anuales, sin intereses en moneda nacional de curso legal, venciendo la primera de ellas a los 60 meses de homologado el acuerdo conforme al siguiente cronograma: 1) las primeras diez cuotas el concursado cancela el 0,5% cada año del capital verificado o admisible; 2) desde la cuota 10 a la 17 el concursado cancela el 1% cada año del capital declarado verificado o admisible; 3) a partir de la cuota 18 a la 19 cancela el 2% cada año del capital verificado o admisible, y 4) la cuota 20 será del 24% del capital declarado verificado o admisible. En esas condiciones no debe aceptarse una propuesta que contempla una reducción nominal tan significativa, sin contemplar la incidencia provocada por el diferimiento en el pago. Es que más allá de que resulta objetable desde la perspectiva de las normas jurídicas que rigen el orden jurídico en general, tampoco cumplimenta las exigencias mínimas de integridad patrimonial que contempla la legislación concursal para la validez de ese tipo de propuestas. CNCom., sala A, 3-5-2004, "Arcángel Maggio shnc. de impugnación al acuerdo preventivo", elDia1.con1 </a:t>
            </a:r>
            <a:endParaRPr/>
          </a:p>
        </p:txBody>
      </p:sp>
      <p:sp>
        <p:nvSpPr>
          <p:cNvPr id="192" name="Google Shape;192;p11"/>
          <p:cNvSpPr txBox="1"/>
          <p:nvPr/>
        </p:nvSpPr>
        <p:spPr>
          <a:xfrm>
            <a:off x="8289696" y="1608667"/>
            <a:ext cx="3421957" cy="4501127"/>
          </a:xfrm>
          <a:prstGeom prst="rect">
            <a:avLst/>
          </a:prstGeom>
          <a:noFill/>
          <a:ln>
            <a:noFill/>
          </a:ln>
        </p:spPr>
        <p:txBody>
          <a:bodyPr anchorCtr="0" anchor="t" bIns="45700" lIns="91425" spcFirstLastPara="1" rIns="91425" wrap="square" tIns="45700">
            <a:noAutofit/>
          </a:bodyPr>
          <a:lstStyle/>
          <a:p>
            <a:pPr indent="-228600" lvl="0" marL="285750" marR="0" rtl="0" algn="l">
              <a:lnSpc>
                <a:spcPct val="90000"/>
              </a:lnSpc>
              <a:spcBef>
                <a:spcPts val="0"/>
              </a:spcBef>
              <a:spcAft>
                <a:spcPts val="0"/>
              </a:spcAft>
              <a:buClr>
                <a:schemeClr val="lt1"/>
              </a:buClr>
              <a:buSzPts val="1000"/>
              <a:buFont typeface="Arial"/>
              <a:buChar char="•"/>
            </a:pPr>
            <a:r>
              <a:rPr b="0" i="0" lang="en-US" sz="1000" u="none" cap="none" strike="noStrike">
                <a:solidFill>
                  <a:schemeClr val="lt1"/>
                </a:solidFill>
                <a:latin typeface="Calibri"/>
                <a:ea typeface="Calibri"/>
                <a:cs typeface="Calibri"/>
                <a:sym typeface="Calibri"/>
              </a:rPr>
              <a:t>La Corte Suprema de Justicia de la Nación convalidó la resolución de la Cámara Nacional de Apelaciones en lo Comercial, sala A, que -por mayoría- revocó la sentencia de la instancia anterior e hizo lugar a la impugnación que, en los términos del articulo 50 de la LCQ, opusieron diversas firmas acreedoras respecto del acuerdo preventivo logrado por la concursada y que en definitiva ordenó al juez de la causa que adecuara el procedimiento de conformidad con lo dispuesto por el artículo 48 de la LCQ. En el voto de los ministros Ricardo L. Lorenzetti y Carlos S. Fayt se estableció que no es arbitrario el fallo que hizo mérito del límite porcentual establecido originariamente por el artículo 43 de la ley 24.522, que en el momento de fallar ya no se encontraba vigente habida cuenta de las reformas introducidas por las leyes 25.563 y 25.589, porque lo cierto es que también la sentencia examinó la validez de la propuesta de quita y espera combinadas hecha por la concursada desde la perspectiva de la nueva legislación vigente, llegando a una misma conclusión sobre su inadmisibilidad. En opinión de los doctores Lorenzetti y Fayt, el fallo apelado fue claro en cuanto a que, más allá de que la propuesta no cumplía con la exigencia del piso legal del 40% requerido por el texto original del articulo 43 de la ley 24.522, se mostraba como abusiva y contraria a la moral y las buenas costumbres a la luz de lo establecido por los artículos 2 1, 502, 107 1, 953 y 1 198 del Código Civil, por lo que de acuerdo a la nueva normativa introducida por la ley 25.589 respecto de las facultades del juez (art. 52, inc. 4", de la ley concursal), correspondía denegar la homologación. CSJN, 15-3-2007, "Arcángel Maggio SA s/Concurso preventivo shncidente de impugnación al acuerdo preventivo", Revista de Derecho Privado y Comzínitnrio, No 2007- 1, p. 527</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6" name="Shape 196"/>
        <p:cNvGrpSpPr/>
        <p:nvPr/>
      </p:nvGrpSpPr>
      <p:grpSpPr>
        <a:xfrm>
          <a:off x="0" y="0"/>
          <a:ext cx="0" cy="0"/>
          <a:chOff x="0" y="0"/>
          <a:chExt cx="0" cy="0"/>
        </a:xfrm>
      </p:grpSpPr>
      <p:sp>
        <p:nvSpPr>
          <p:cNvPr id="197" name="Google Shape;197;p12"/>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8" name="Google Shape;198;p12"/>
          <p:cNvSpPr/>
          <p:nvPr/>
        </p:nvSpPr>
        <p:spPr>
          <a:xfrm>
            <a:off x="4142164" y="900814"/>
            <a:ext cx="759618" cy="5710965"/>
          </a:xfrm>
          <a:custGeom>
            <a:rect b="b" l="l" r="r" t="t"/>
            <a:pathLst>
              <a:path extrusionOk="0" h="2447" w="414">
                <a:moveTo>
                  <a:pt x="414" y="2447"/>
                </a:moveTo>
                <a:lnTo>
                  <a:pt x="0" y="2247"/>
                </a:lnTo>
                <a:lnTo>
                  <a:pt x="0" y="0"/>
                </a:lnTo>
                <a:lnTo>
                  <a:pt x="414" y="200"/>
                </a:lnTo>
                <a:lnTo>
                  <a:pt x="414" y="2447"/>
                </a:lnTo>
                <a:close/>
              </a:path>
            </a:pathLst>
          </a:custGeom>
          <a:solidFill>
            <a:srgbClr val="2F549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12"/>
          <p:cNvSpPr/>
          <p:nvPr/>
        </p:nvSpPr>
        <p:spPr>
          <a:xfrm>
            <a:off x="4144437" y="633165"/>
            <a:ext cx="482654" cy="5521414"/>
          </a:xfrm>
          <a:custGeom>
            <a:rect b="b" l="l" r="r" t="t"/>
            <a:pathLst>
              <a:path extrusionOk="0" h="2358" w="209">
                <a:moveTo>
                  <a:pt x="209" y="2246"/>
                </a:moveTo>
                <a:lnTo>
                  <a:pt x="0" y="2358"/>
                </a:lnTo>
                <a:lnTo>
                  <a:pt x="0" y="111"/>
                </a:lnTo>
                <a:lnTo>
                  <a:pt x="209" y="0"/>
                </a:lnTo>
                <a:lnTo>
                  <a:pt x="209" y="2246"/>
                </a:lnTo>
                <a:close/>
              </a:path>
            </a:pathLst>
          </a:custGeom>
          <a:solidFill>
            <a:srgbClr val="1F386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 name="Google Shape;200;p12"/>
          <p:cNvSpPr/>
          <p:nvPr/>
        </p:nvSpPr>
        <p:spPr>
          <a:xfrm>
            <a:off x="634621" y="636723"/>
            <a:ext cx="4000062" cy="5257799"/>
          </a:xfrm>
          <a:custGeom>
            <a:rect b="b" l="l" r="r" t="t"/>
            <a:pathLst>
              <a:path extrusionOk="0" h="5257799" w="4634682">
                <a:moveTo>
                  <a:pt x="0" y="0"/>
                </a:moveTo>
                <a:lnTo>
                  <a:pt x="4634682" y="0"/>
                </a:lnTo>
                <a:lnTo>
                  <a:pt x="4634682" y="5257799"/>
                </a:lnTo>
                <a:lnTo>
                  <a:pt x="0" y="5257799"/>
                </a:lnTo>
                <a:close/>
              </a:path>
            </a:pathLst>
          </a:custGeom>
          <a:solidFill>
            <a:srgbClr val="1F386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1" name="Google Shape;201;p12"/>
          <p:cNvSpPr txBox="1"/>
          <p:nvPr>
            <p:ph type="title"/>
          </p:nvPr>
        </p:nvSpPr>
        <p:spPr>
          <a:xfrm>
            <a:off x="934872" y="982272"/>
            <a:ext cx="3388419" cy="45609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400"/>
              <a:buFont typeface="Calibri"/>
              <a:buNone/>
            </a:pPr>
            <a:r>
              <a:rPr lang="en-US" sz="3400">
                <a:solidFill>
                  <a:srgbClr val="FFFFFF"/>
                </a:solidFill>
              </a:rPr>
              <a:t>JURISPRUDENCIA</a:t>
            </a:r>
            <a:endParaRPr sz="3400">
              <a:solidFill>
                <a:srgbClr val="FFFFFF"/>
              </a:solidFill>
            </a:endParaRPr>
          </a:p>
        </p:txBody>
      </p:sp>
      <p:sp>
        <p:nvSpPr>
          <p:cNvPr id="202" name="Google Shape;202;p12"/>
          <p:cNvSpPr/>
          <p:nvPr/>
        </p:nvSpPr>
        <p:spPr>
          <a:xfrm>
            <a:off x="4901782" y="1352302"/>
            <a:ext cx="6655597" cy="525164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 name="Google Shape;203;p12"/>
          <p:cNvSpPr txBox="1"/>
          <p:nvPr>
            <p:ph idx="1" type="body"/>
          </p:nvPr>
        </p:nvSpPr>
        <p:spPr>
          <a:xfrm>
            <a:off x="5221862" y="1719618"/>
            <a:ext cx="5948831" cy="4334629"/>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rgbClr val="FEFFFF"/>
              </a:buClr>
              <a:buSzPts val="1300"/>
              <a:buChar char="•"/>
            </a:pPr>
            <a:r>
              <a:rPr lang="en-US" sz="1300">
                <a:solidFill>
                  <a:srgbClr val="FEFFFF"/>
                </a:solidFill>
              </a:rPr>
              <a:t>En la causa "Curi Hermanos SA"(308)se ofreció como propuesta concordataria el pago del ciento por ciento del capital verificado y admisible, mediante la dación en pago por entrega de bienes, sobre los cuales se le otorgaba a los acreedores un valor equivalente a la proporción de su crédito respecto del pasivo total verificado. La propuesta que se aprobó (modalidad b), consistía en la constitución de un fideicomiso de administración. En dicha causa, se formuló una propuesta especial denominada "c", por medio de la cual, se estipulaba la forma de pago para los llamados acreedores tardíos y los revisionistas consistente en el pago del cincuenta por ciento del capital, más intereses a tasa Libor, con más un plazo de gracia de dos años a contar desde la resolución verificatoria, y un plazo de cinco años desde el vencimiento del período de gracia, en cinco cuotas anuales. La comparación de las propuestas permitía advertir que los acreedores quirografarios, acreedores tardíos y los revisionistas recibían sólo una parte del crédito, a diferencia de los otros acreedores que cobraban la totalidad del capital. Esta propuesta (denominada residual) fue desestimada por el juez concursal puntualizando que "es fácil advertir que el acuerdo incumple el principio de igualdad de los acreedores pues, al establecer como modalidad C para los acreedores tardíos y revisionistas una forma de pago distinta de los acreedores tempestivos vulnera dicho principio por cuanto éstos no conforman una categoría distinta y propia (art. 41, LCQ)"</a:t>
            </a:r>
            <a:endParaRPr sz="1300">
              <a:solidFill>
                <a:srgbClr val="FEFF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7" name="Shape 207"/>
        <p:cNvGrpSpPr/>
        <p:nvPr/>
      </p:nvGrpSpPr>
      <p:grpSpPr>
        <a:xfrm>
          <a:off x="0" y="0"/>
          <a:ext cx="0" cy="0"/>
          <a:chOff x="0" y="0"/>
          <a:chExt cx="0" cy="0"/>
        </a:xfrm>
      </p:grpSpPr>
      <p:sp>
        <p:nvSpPr>
          <p:cNvPr id="208" name="Google Shape;208;p13"/>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9" name="Google Shape;209;p13"/>
          <p:cNvSpPr/>
          <p:nvPr/>
        </p:nvSpPr>
        <p:spPr>
          <a:xfrm>
            <a:off x="4142164" y="900814"/>
            <a:ext cx="759618" cy="5710965"/>
          </a:xfrm>
          <a:custGeom>
            <a:rect b="b" l="l" r="r" t="t"/>
            <a:pathLst>
              <a:path extrusionOk="0" h="2447" w="414">
                <a:moveTo>
                  <a:pt x="414" y="2447"/>
                </a:moveTo>
                <a:lnTo>
                  <a:pt x="0" y="2247"/>
                </a:lnTo>
                <a:lnTo>
                  <a:pt x="0" y="0"/>
                </a:lnTo>
                <a:lnTo>
                  <a:pt x="414" y="200"/>
                </a:lnTo>
                <a:lnTo>
                  <a:pt x="414" y="2447"/>
                </a:lnTo>
                <a:close/>
              </a:path>
            </a:pathLst>
          </a:custGeom>
          <a:solidFill>
            <a:srgbClr val="2F549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13"/>
          <p:cNvSpPr/>
          <p:nvPr/>
        </p:nvSpPr>
        <p:spPr>
          <a:xfrm>
            <a:off x="4144437" y="633165"/>
            <a:ext cx="482654" cy="5521414"/>
          </a:xfrm>
          <a:custGeom>
            <a:rect b="b" l="l" r="r" t="t"/>
            <a:pathLst>
              <a:path extrusionOk="0" h="2358" w="209">
                <a:moveTo>
                  <a:pt x="209" y="2246"/>
                </a:moveTo>
                <a:lnTo>
                  <a:pt x="0" y="2358"/>
                </a:lnTo>
                <a:lnTo>
                  <a:pt x="0" y="111"/>
                </a:lnTo>
                <a:lnTo>
                  <a:pt x="209" y="0"/>
                </a:lnTo>
                <a:lnTo>
                  <a:pt x="209" y="2246"/>
                </a:lnTo>
                <a:close/>
              </a:path>
            </a:pathLst>
          </a:custGeom>
          <a:solidFill>
            <a:srgbClr val="1F386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13"/>
          <p:cNvSpPr/>
          <p:nvPr/>
        </p:nvSpPr>
        <p:spPr>
          <a:xfrm>
            <a:off x="634621" y="636723"/>
            <a:ext cx="4000062" cy="5257799"/>
          </a:xfrm>
          <a:custGeom>
            <a:rect b="b" l="l" r="r" t="t"/>
            <a:pathLst>
              <a:path extrusionOk="0" h="5257799" w="4634682">
                <a:moveTo>
                  <a:pt x="0" y="0"/>
                </a:moveTo>
                <a:lnTo>
                  <a:pt x="4634682" y="0"/>
                </a:lnTo>
                <a:lnTo>
                  <a:pt x="4634682" y="5257799"/>
                </a:lnTo>
                <a:lnTo>
                  <a:pt x="0" y="5257799"/>
                </a:lnTo>
                <a:close/>
              </a:path>
            </a:pathLst>
          </a:custGeom>
          <a:solidFill>
            <a:srgbClr val="1F386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2" name="Google Shape;212;p13"/>
          <p:cNvSpPr txBox="1"/>
          <p:nvPr>
            <p:ph type="title"/>
          </p:nvPr>
        </p:nvSpPr>
        <p:spPr>
          <a:xfrm>
            <a:off x="934872" y="982272"/>
            <a:ext cx="3388419" cy="45609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000"/>
              <a:buFont typeface="Calibri"/>
              <a:buNone/>
            </a:pPr>
            <a:r>
              <a:rPr lang="en-US" sz="4000">
                <a:solidFill>
                  <a:srgbClr val="FFFFFF"/>
                </a:solidFill>
              </a:rPr>
              <a:t>CRAMDOWN POWER: SUS REQUISITOS</a:t>
            </a:r>
            <a:endParaRPr/>
          </a:p>
        </p:txBody>
      </p:sp>
      <p:sp>
        <p:nvSpPr>
          <p:cNvPr id="213" name="Google Shape;213;p13"/>
          <p:cNvSpPr/>
          <p:nvPr/>
        </p:nvSpPr>
        <p:spPr>
          <a:xfrm>
            <a:off x="4901782" y="1352302"/>
            <a:ext cx="6655597" cy="525164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13"/>
          <p:cNvSpPr txBox="1"/>
          <p:nvPr>
            <p:ph idx="1" type="body"/>
          </p:nvPr>
        </p:nvSpPr>
        <p:spPr>
          <a:xfrm>
            <a:off x="5221862" y="1719618"/>
            <a:ext cx="5948831" cy="433462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EFFFF"/>
              </a:buClr>
              <a:buSzPts val="1100"/>
              <a:buNone/>
            </a:pPr>
            <a:r>
              <a:rPr lang="en-US" sz="1100">
                <a:solidFill>
                  <a:srgbClr val="FEFFFF"/>
                </a:solidFill>
              </a:rPr>
              <a:t>Estos requisitos son "taxativos", lo que importa señalar que el juez no puede incluir otros por analogía o porque lo estime conveniente.</a:t>
            </a:r>
            <a:endParaRPr/>
          </a:p>
          <a:p>
            <a:pPr indent="-342900" lvl="0" marL="342900" rtl="0" algn="l">
              <a:lnSpc>
                <a:spcPct val="90000"/>
              </a:lnSpc>
              <a:spcBef>
                <a:spcPts val="1000"/>
              </a:spcBef>
              <a:spcAft>
                <a:spcPts val="0"/>
              </a:spcAft>
              <a:buClr>
                <a:srgbClr val="FEFFFF"/>
              </a:buClr>
              <a:buSzPts val="1100"/>
              <a:buFont typeface="Calibri"/>
              <a:buAutoNum type="arabicPeriod"/>
            </a:pPr>
            <a:r>
              <a:rPr lang="en-US" sz="1100">
                <a:solidFill>
                  <a:srgbClr val="FEFFFF"/>
                </a:solidFill>
              </a:rPr>
              <a:t>Aprobación en más de una categoría El primero de los requisitos, está redactado en el art. 52, inc. 2º b) i), LCQ, cuando exige la "aprobación por al menos una de las categorías de acreedores quirografarios", ya que resultaría ilógico que el juez homologue una propuesta que ninguna de las categorías ha aceptado. No tendría sentido acuerdo alguno a imponer a los acreedores, ya que no hubo acuerdo con ninguna categoría. </a:t>
            </a:r>
            <a:endParaRPr/>
          </a:p>
          <a:p>
            <a:pPr indent="-228600" lvl="1" marL="685800" rtl="0" algn="l">
              <a:lnSpc>
                <a:spcPct val="90000"/>
              </a:lnSpc>
              <a:spcBef>
                <a:spcPts val="500"/>
              </a:spcBef>
              <a:spcAft>
                <a:spcPts val="0"/>
              </a:spcAft>
              <a:buClr>
                <a:srgbClr val="FEFFFF"/>
              </a:buClr>
              <a:buSzPts val="1100"/>
              <a:buChar char="•"/>
            </a:pPr>
            <a:r>
              <a:rPr lang="en-US" sz="1100">
                <a:solidFill>
                  <a:srgbClr val="FEFFFF"/>
                </a:solidFill>
              </a:rPr>
              <a:t>La LCQ también </a:t>
            </a:r>
            <a:r>
              <a:rPr b="1" lang="en-US" sz="1100" u="sng">
                <a:solidFill>
                  <a:srgbClr val="FEFFFF"/>
                </a:solidFill>
              </a:rPr>
              <a:t>exige que la aprobación haya sido de acreedores quirografarios y no de privilegiados.</a:t>
            </a:r>
            <a:endParaRPr/>
          </a:p>
          <a:p>
            <a:pPr indent="-342900" lvl="0" marL="342900" rtl="0" algn="l">
              <a:lnSpc>
                <a:spcPct val="90000"/>
              </a:lnSpc>
              <a:spcBef>
                <a:spcPts val="1000"/>
              </a:spcBef>
              <a:spcAft>
                <a:spcPts val="0"/>
              </a:spcAft>
              <a:buClr>
                <a:srgbClr val="FEFFFF"/>
              </a:buClr>
              <a:buSzPts val="1100"/>
              <a:buFont typeface="Calibri"/>
              <a:buAutoNum type="arabicPeriod"/>
            </a:pPr>
            <a:r>
              <a:rPr lang="en-US" sz="1100">
                <a:solidFill>
                  <a:srgbClr val="FEFFFF"/>
                </a:solidFill>
              </a:rPr>
              <a:t>Porcentaje elevado</a:t>
            </a:r>
            <a:endParaRPr/>
          </a:p>
          <a:p>
            <a:pPr indent="-228600" lvl="1" marL="685800" rtl="0" algn="l">
              <a:lnSpc>
                <a:spcPct val="90000"/>
              </a:lnSpc>
              <a:spcBef>
                <a:spcPts val="500"/>
              </a:spcBef>
              <a:spcAft>
                <a:spcPts val="0"/>
              </a:spcAft>
              <a:buClr>
                <a:srgbClr val="FEFFFF"/>
              </a:buClr>
              <a:buSzPts val="1100"/>
              <a:buChar char="•"/>
            </a:pPr>
            <a:r>
              <a:rPr lang="en-US" sz="1100">
                <a:solidFill>
                  <a:srgbClr val="FEFFFF"/>
                </a:solidFill>
              </a:rPr>
              <a:t>la base subjetiva no rige.	</a:t>
            </a:r>
            <a:endParaRPr/>
          </a:p>
          <a:p>
            <a:pPr indent="-228600" lvl="1" marL="685800" rtl="0" algn="l">
              <a:lnSpc>
                <a:spcPct val="90000"/>
              </a:lnSpc>
              <a:spcBef>
                <a:spcPts val="500"/>
              </a:spcBef>
              <a:spcAft>
                <a:spcPts val="0"/>
              </a:spcAft>
              <a:buClr>
                <a:srgbClr val="FEFFFF"/>
              </a:buClr>
              <a:buSzPts val="1100"/>
              <a:buChar char="•"/>
            </a:pPr>
            <a:r>
              <a:rPr lang="en-US" sz="1100">
                <a:solidFill>
                  <a:srgbClr val="FEFFFF"/>
                </a:solidFill>
              </a:rPr>
              <a:t>El capital adeudado a los acreedores que se tiene en cuenta a los fines homologatorios es sólo el quirografario</a:t>
            </a:r>
            <a:endParaRPr/>
          </a:p>
          <a:p>
            <a:pPr indent="-228600" lvl="1" marL="685800" rtl="0" algn="l">
              <a:lnSpc>
                <a:spcPct val="90000"/>
              </a:lnSpc>
              <a:spcBef>
                <a:spcPts val="500"/>
              </a:spcBef>
              <a:spcAft>
                <a:spcPts val="0"/>
              </a:spcAft>
              <a:buClr>
                <a:srgbClr val="FEFFFF"/>
              </a:buClr>
              <a:buSzPts val="1100"/>
              <a:buChar char="•"/>
            </a:pPr>
            <a:r>
              <a:rPr lang="en-US" sz="1100">
                <a:solidFill>
                  <a:srgbClr val="FEFFFF"/>
                </a:solidFill>
              </a:rPr>
              <a:t>deben tomarse en cuenta las mismas bases que para la homologación corriente. Esto es, créditos quirografarios verificados y declarados admisibles comprendidos en la categoría, privilegiados cuyos titulares hayan renunciado al privilegio y que se hayan incorporado a esa categoría de quirografarios y acreedor admitido como quirografario por habérsele rechazado el privilegio siempre que no hubiese promovido incidente de revisión del art. 37, LCQ </a:t>
            </a:r>
            <a:endParaRPr/>
          </a:p>
          <a:p>
            <a:pPr indent="-158750" lvl="1" marL="685800" rtl="0" algn="l">
              <a:lnSpc>
                <a:spcPct val="90000"/>
              </a:lnSpc>
              <a:spcBef>
                <a:spcPts val="500"/>
              </a:spcBef>
              <a:spcAft>
                <a:spcPts val="0"/>
              </a:spcAft>
              <a:buClr>
                <a:schemeClr val="dk1"/>
              </a:buClr>
              <a:buSzPts val="1100"/>
              <a:buNone/>
            </a:pPr>
            <a:r>
              <a:t/>
            </a:r>
            <a:endParaRPr sz="1100">
              <a:solidFill>
                <a:srgbClr val="FEFF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8" name="Shape 218"/>
        <p:cNvGrpSpPr/>
        <p:nvPr/>
      </p:nvGrpSpPr>
      <p:grpSpPr>
        <a:xfrm>
          <a:off x="0" y="0"/>
          <a:ext cx="0" cy="0"/>
          <a:chOff x="0" y="0"/>
          <a:chExt cx="0" cy="0"/>
        </a:xfrm>
      </p:grpSpPr>
      <p:sp>
        <p:nvSpPr>
          <p:cNvPr id="219" name="Google Shape;219;p14"/>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0" name="Google Shape;220;p14"/>
          <p:cNvSpPr/>
          <p:nvPr/>
        </p:nvSpPr>
        <p:spPr>
          <a:xfrm>
            <a:off x="4142164" y="900814"/>
            <a:ext cx="759618" cy="5710965"/>
          </a:xfrm>
          <a:custGeom>
            <a:rect b="b" l="l" r="r" t="t"/>
            <a:pathLst>
              <a:path extrusionOk="0" h="2447" w="414">
                <a:moveTo>
                  <a:pt x="414" y="2447"/>
                </a:moveTo>
                <a:lnTo>
                  <a:pt x="0" y="2247"/>
                </a:lnTo>
                <a:lnTo>
                  <a:pt x="0" y="0"/>
                </a:lnTo>
                <a:lnTo>
                  <a:pt x="414" y="200"/>
                </a:lnTo>
                <a:lnTo>
                  <a:pt x="414" y="2447"/>
                </a:lnTo>
                <a:close/>
              </a:path>
            </a:pathLst>
          </a:custGeom>
          <a:solidFill>
            <a:srgbClr val="2F549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14"/>
          <p:cNvSpPr/>
          <p:nvPr/>
        </p:nvSpPr>
        <p:spPr>
          <a:xfrm>
            <a:off x="4144437" y="633165"/>
            <a:ext cx="482654" cy="5521414"/>
          </a:xfrm>
          <a:custGeom>
            <a:rect b="b" l="l" r="r" t="t"/>
            <a:pathLst>
              <a:path extrusionOk="0" h="2358" w="209">
                <a:moveTo>
                  <a:pt x="209" y="2246"/>
                </a:moveTo>
                <a:lnTo>
                  <a:pt x="0" y="2358"/>
                </a:lnTo>
                <a:lnTo>
                  <a:pt x="0" y="111"/>
                </a:lnTo>
                <a:lnTo>
                  <a:pt x="209" y="0"/>
                </a:lnTo>
                <a:lnTo>
                  <a:pt x="209" y="2246"/>
                </a:lnTo>
                <a:close/>
              </a:path>
            </a:pathLst>
          </a:custGeom>
          <a:solidFill>
            <a:srgbClr val="1F386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14"/>
          <p:cNvSpPr/>
          <p:nvPr/>
        </p:nvSpPr>
        <p:spPr>
          <a:xfrm>
            <a:off x="634621" y="636723"/>
            <a:ext cx="4000062" cy="5257799"/>
          </a:xfrm>
          <a:custGeom>
            <a:rect b="b" l="l" r="r" t="t"/>
            <a:pathLst>
              <a:path extrusionOk="0" h="5257799" w="4634682">
                <a:moveTo>
                  <a:pt x="0" y="0"/>
                </a:moveTo>
                <a:lnTo>
                  <a:pt x="4634682" y="0"/>
                </a:lnTo>
                <a:lnTo>
                  <a:pt x="4634682" y="5257799"/>
                </a:lnTo>
                <a:lnTo>
                  <a:pt x="0" y="5257799"/>
                </a:lnTo>
                <a:close/>
              </a:path>
            </a:pathLst>
          </a:custGeom>
          <a:solidFill>
            <a:srgbClr val="1F386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 name="Google Shape;223;p14"/>
          <p:cNvSpPr txBox="1"/>
          <p:nvPr>
            <p:ph type="title"/>
          </p:nvPr>
        </p:nvSpPr>
        <p:spPr>
          <a:xfrm>
            <a:off x="934872" y="982272"/>
            <a:ext cx="3388419" cy="45609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000"/>
              <a:buFont typeface="Calibri"/>
              <a:buNone/>
            </a:pPr>
            <a:r>
              <a:rPr lang="en-US" sz="4000">
                <a:solidFill>
                  <a:srgbClr val="FFFFFF"/>
                </a:solidFill>
              </a:rPr>
              <a:t>CRAMDOWN POWER: SUS REQUISITOS</a:t>
            </a:r>
            <a:endParaRPr/>
          </a:p>
        </p:txBody>
      </p:sp>
      <p:sp>
        <p:nvSpPr>
          <p:cNvPr id="224" name="Google Shape;224;p14"/>
          <p:cNvSpPr/>
          <p:nvPr/>
        </p:nvSpPr>
        <p:spPr>
          <a:xfrm>
            <a:off x="4901782" y="1352302"/>
            <a:ext cx="6655597" cy="525164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14"/>
          <p:cNvSpPr txBox="1"/>
          <p:nvPr>
            <p:ph idx="1" type="body"/>
          </p:nvPr>
        </p:nvSpPr>
        <p:spPr>
          <a:xfrm>
            <a:off x="5221862" y="1719618"/>
            <a:ext cx="5948831" cy="433462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EFFFF"/>
              </a:buClr>
              <a:buSzPts val="1500"/>
              <a:buNone/>
            </a:pPr>
            <a:r>
              <a:rPr lang="en-US" sz="1500">
                <a:solidFill>
                  <a:srgbClr val="FEFFFF"/>
                </a:solidFill>
              </a:rPr>
              <a:t>Estos requisitos son "taxativos", lo que importa señalar que el juez no puede incluir otros por analogía o porque lo estime conveniente.</a:t>
            </a:r>
            <a:endParaRPr/>
          </a:p>
          <a:p>
            <a:pPr indent="-342900" lvl="1" marL="800100" rtl="0" algn="l">
              <a:lnSpc>
                <a:spcPct val="90000"/>
              </a:lnSpc>
              <a:spcBef>
                <a:spcPts val="500"/>
              </a:spcBef>
              <a:spcAft>
                <a:spcPts val="0"/>
              </a:spcAft>
              <a:buClr>
                <a:srgbClr val="FEFFFF"/>
              </a:buClr>
              <a:buSzPts val="1500"/>
              <a:buAutoNum type="arabicPeriod" startAt="3"/>
            </a:pPr>
            <a:r>
              <a:rPr lang="en-US" sz="1500">
                <a:solidFill>
                  <a:srgbClr val="FEFFFF"/>
                </a:solidFill>
              </a:rPr>
              <a:t>Principio de no discriminación</a:t>
            </a:r>
            <a:endParaRPr/>
          </a:p>
          <a:p>
            <a:pPr indent="-228600" lvl="2" marL="1143000" rtl="0" algn="l">
              <a:lnSpc>
                <a:spcPct val="90000"/>
              </a:lnSpc>
              <a:spcBef>
                <a:spcPts val="500"/>
              </a:spcBef>
              <a:spcAft>
                <a:spcPts val="0"/>
              </a:spcAft>
              <a:buClr>
                <a:srgbClr val="FEFFFF"/>
              </a:buClr>
              <a:buSzPts val="1500"/>
              <a:buChar char="•"/>
            </a:pPr>
            <a:r>
              <a:rPr lang="en-US" sz="1500">
                <a:solidFill>
                  <a:srgbClr val="FEFFFF"/>
                </a:solidFill>
              </a:rPr>
              <a:t>no discrimina irrazonablemente contra la clase o categoría en la que no se logró la conformidad suficiente</a:t>
            </a:r>
            <a:endParaRPr sz="1500">
              <a:solidFill>
                <a:srgbClr val="FEFFFF"/>
              </a:solidFill>
            </a:endParaRPr>
          </a:p>
          <a:p>
            <a:pPr indent="-228600" lvl="2" marL="1143000" rtl="0" algn="l">
              <a:lnSpc>
                <a:spcPct val="90000"/>
              </a:lnSpc>
              <a:spcBef>
                <a:spcPts val="500"/>
              </a:spcBef>
              <a:spcAft>
                <a:spcPts val="0"/>
              </a:spcAft>
              <a:buClr>
                <a:srgbClr val="FEFFFF"/>
              </a:buClr>
              <a:buSzPts val="1500"/>
              <a:buChar char="•"/>
            </a:pPr>
            <a:r>
              <a:rPr lang="en-US" sz="1500">
                <a:solidFill>
                  <a:srgbClr val="FEFFFF"/>
                </a:solidFill>
              </a:rPr>
              <a:t>la discriminación importa una distinción entre los que no debería existir y valorando condiciones que no fundamentan válidamente la disimilitud. </a:t>
            </a:r>
            <a:endParaRPr sz="1500">
              <a:solidFill>
                <a:srgbClr val="FEFFFF"/>
              </a:solidFill>
            </a:endParaRPr>
          </a:p>
          <a:p>
            <a:pPr indent="-342900" lvl="1" marL="800100" rtl="0" algn="l">
              <a:lnSpc>
                <a:spcPct val="90000"/>
              </a:lnSpc>
              <a:spcBef>
                <a:spcPts val="500"/>
              </a:spcBef>
              <a:spcAft>
                <a:spcPts val="0"/>
              </a:spcAft>
              <a:buClr>
                <a:srgbClr val="FEFFFF"/>
              </a:buClr>
              <a:buSzPts val="1500"/>
              <a:buAutoNum type="arabicPeriod" startAt="3"/>
            </a:pPr>
            <a:r>
              <a:rPr lang="en-US" sz="1500">
                <a:solidFill>
                  <a:srgbClr val="FEFFFF"/>
                </a:solidFill>
              </a:rPr>
              <a:t>Forma de imposición a los disidentes</a:t>
            </a:r>
            <a:endParaRPr sz="1500">
              <a:solidFill>
                <a:srgbClr val="FEFFFF"/>
              </a:solidFill>
            </a:endParaRPr>
          </a:p>
          <a:p>
            <a:pPr indent="-228600" lvl="2" marL="1143000" rtl="0" algn="l">
              <a:lnSpc>
                <a:spcPct val="90000"/>
              </a:lnSpc>
              <a:spcBef>
                <a:spcPts val="500"/>
              </a:spcBef>
              <a:spcAft>
                <a:spcPts val="0"/>
              </a:spcAft>
              <a:buClr>
                <a:srgbClr val="FEFFFF"/>
              </a:buClr>
              <a:buSzPts val="1500"/>
              <a:buChar char="•"/>
            </a:pPr>
            <a:r>
              <a:rPr lang="en-US" sz="1500">
                <a:solidFill>
                  <a:srgbClr val="FEFFFF"/>
                </a:solidFill>
              </a:rPr>
              <a:t>es factible que los acreedores discriminados elijan la categoría a la cual quieren pertenecer si el acuerdo resulta finalmente homologado</a:t>
            </a:r>
            <a:endParaRPr sz="1500">
              <a:solidFill>
                <a:srgbClr val="FEFFFF"/>
              </a:solidFill>
            </a:endParaRPr>
          </a:p>
          <a:p>
            <a:pPr indent="-228600" lvl="2" marL="1143000" rtl="0" algn="l">
              <a:lnSpc>
                <a:spcPct val="90000"/>
              </a:lnSpc>
              <a:spcBef>
                <a:spcPts val="500"/>
              </a:spcBef>
              <a:spcAft>
                <a:spcPts val="0"/>
              </a:spcAft>
              <a:buClr>
                <a:srgbClr val="FEFFFF"/>
              </a:buClr>
              <a:buSzPts val="1500"/>
              <a:buChar char="•"/>
            </a:pPr>
            <a:r>
              <a:rPr lang="en-US" sz="1500">
                <a:solidFill>
                  <a:srgbClr val="FEFFFF"/>
                </a:solidFill>
              </a:rPr>
              <a:t>si falta elección expresa, la ley NO dice nada. aclara que los disidentes nunca recibirán un pago inferior al mejor que se hubiera acordado con cualquiera de las categorías que prestaron conformidad a la propuesta. ¿cómo debe establecerse cuál es el mejor pago?</a:t>
            </a:r>
            <a:endParaRPr sz="1500">
              <a:solidFill>
                <a:srgbClr val="FEFF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9" name="Shape 229"/>
        <p:cNvGrpSpPr/>
        <p:nvPr/>
      </p:nvGrpSpPr>
      <p:grpSpPr>
        <a:xfrm>
          <a:off x="0" y="0"/>
          <a:ext cx="0" cy="0"/>
          <a:chOff x="0" y="0"/>
          <a:chExt cx="0" cy="0"/>
        </a:xfrm>
      </p:grpSpPr>
      <p:sp>
        <p:nvSpPr>
          <p:cNvPr id="230" name="Google Shape;230;p15"/>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1" name="Google Shape;231;p15"/>
          <p:cNvSpPr/>
          <p:nvPr/>
        </p:nvSpPr>
        <p:spPr>
          <a:xfrm flipH="1">
            <a:off x="789091" y="4356610"/>
            <a:ext cx="542047" cy="1997228"/>
          </a:xfrm>
          <a:custGeom>
            <a:rect b="b" l="l" r="r" t="t"/>
            <a:pathLst>
              <a:path extrusionOk="0" h="2732" w="491">
                <a:moveTo>
                  <a:pt x="491" y="2247"/>
                </a:moveTo>
                <a:lnTo>
                  <a:pt x="0" y="2732"/>
                </a:lnTo>
                <a:lnTo>
                  <a:pt x="0" y="486"/>
                </a:lnTo>
                <a:lnTo>
                  <a:pt x="491" y="0"/>
                </a:lnTo>
                <a:lnTo>
                  <a:pt x="491" y="2247"/>
                </a:lnTo>
                <a:close/>
              </a:path>
            </a:pathLst>
          </a:custGeom>
          <a:solidFill>
            <a:srgbClr val="1F386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15"/>
          <p:cNvSpPr/>
          <p:nvPr/>
        </p:nvSpPr>
        <p:spPr>
          <a:xfrm flipH="1">
            <a:off x="783841" y="4214478"/>
            <a:ext cx="369761" cy="1783236"/>
          </a:xfrm>
          <a:custGeom>
            <a:rect b="b" l="l" r="r" t="t"/>
            <a:pathLst>
              <a:path extrusionOk="0" h="2447" w="414">
                <a:moveTo>
                  <a:pt x="414" y="2447"/>
                </a:moveTo>
                <a:lnTo>
                  <a:pt x="0" y="2247"/>
                </a:lnTo>
                <a:lnTo>
                  <a:pt x="0" y="0"/>
                </a:lnTo>
                <a:lnTo>
                  <a:pt x="414" y="200"/>
                </a:lnTo>
                <a:lnTo>
                  <a:pt x="414" y="2447"/>
                </a:lnTo>
                <a:close/>
              </a:path>
            </a:pathLst>
          </a:custGeom>
          <a:solidFill>
            <a:srgbClr val="2F549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15"/>
          <p:cNvSpPr/>
          <p:nvPr/>
        </p:nvSpPr>
        <p:spPr>
          <a:xfrm flipH="1">
            <a:off x="951746" y="4122187"/>
            <a:ext cx="201857" cy="1727743"/>
          </a:xfrm>
          <a:custGeom>
            <a:rect b="b" l="l" r="r" t="t"/>
            <a:pathLst>
              <a:path extrusionOk="0" h="2358" w="209">
                <a:moveTo>
                  <a:pt x="209" y="2246"/>
                </a:moveTo>
                <a:lnTo>
                  <a:pt x="0" y="2358"/>
                </a:lnTo>
                <a:lnTo>
                  <a:pt x="0" y="111"/>
                </a:lnTo>
                <a:lnTo>
                  <a:pt x="209" y="0"/>
                </a:lnTo>
                <a:lnTo>
                  <a:pt x="209" y="2246"/>
                </a:lnTo>
                <a:close/>
              </a:path>
            </a:pathLst>
          </a:custGeom>
          <a:solidFill>
            <a:srgbClr val="1F386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15"/>
          <p:cNvSpPr/>
          <p:nvPr/>
        </p:nvSpPr>
        <p:spPr>
          <a:xfrm>
            <a:off x="8726820" y="4214478"/>
            <a:ext cx="339126" cy="1783236"/>
          </a:xfrm>
          <a:custGeom>
            <a:rect b="b" l="l" r="r" t="t"/>
            <a:pathLst>
              <a:path extrusionOk="0" h="2447" w="414">
                <a:moveTo>
                  <a:pt x="414" y="2447"/>
                </a:moveTo>
                <a:lnTo>
                  <a:pt x="0" y="2247"/>
                </a:lnTo>
                <a:lnTo>
                  <a:pt x="0" y="0"/>
                </a:lnTo>
                <a:lnTo>
                  <a:pt x="414" y="200"/>
                </a:lnTo>
                <a:lnTo>
                  <a:pt x="414" y="2447"/>
                </a:lnTo>
                <a:close/>
              </a:path>
            </a:pathLst>
          </a:custGeom>
          <a:solidFill>
            <a:srgbClr val="2F549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15"/>
          <p:cNvSpPr/>
          <p:nvPr/>
        </p:nvSpPr>
        <p:spPr>
          <a:xfrm>
            <a:off x="8728739" y="4122188"/>
            <a:ext cx="201857" cy="1727743"/>
          </a:xfrm>
          <a:custGeom>
            <a:rect b="b" l="l" r="r" t="t"/>
            <a:pathLst>
              <a:path extrusionOk="0" h="2358" w="209">
                <a:moveTo>
                  <a:pt x="209" y="2246"/>
                </a:moveTo>
                <a:lnTo>
                  <a:pt x="0" y="2358"/>
                </a:lnTo>
                <a:lnTo>
                  <a:pt x="0" y="111"/>
                </a:lnTo>
                <a:lnTo>
                  <a:pt x="209" y="0"/>
                </a:lnTo>
                <a:lnTo>
                  <a:pt x="209" y="2246"/>
                </a:lnTo>
                <a:close/>
              </a:path>
            </a:pathLst>
          </a:custGeom>
          <a:solidFill>
            <a:srgbClr val="1F386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6" name="Google Shape;236;p15"/>
          <p:cNvSpPr/>
          <p:nvPr/>
        </p:nvSpPr>
        <p:spPr>
          <a:xfrm>
            <a:off x="951447" y="4122189"/>
            <a:ext cx="7978524" cy="164787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 name="Google Shape;237;p15"/>
          <p:cNvSpPr txBox="1"/>
          <p:nvPr>
            <p:ph type="title"/>
          </p:nvPr>
        </p:nvSpPr>
        <p:spPr>
          <a:xfrm>
            <a:off x="1315959" y="4327936"/>
            <a:ext cx="7450586" cy="121210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000"/>
              <a:buFont typeface="Gill Sans"/>
              <a:buNone/>
            </a:pPr>
            <a:r>
              <a:rPr b="0" i="0" lang="en-US" sz="4000">
                <a:solidFill>
                  <a:srgbClr val="FFFFFF"/>
                </a:solidFill>
                <a:latin typeface="Gill Sans"/>
                <a:ea typeface="Gill Sans"/>
                <a:cs typeface="Gill Sans"/>
                <a:sym typeface="Gill Sans"/>
              </a:rPr>
              <a:t>Medidas para la ejecución</a:t>
            </a:r>
            <a:endParaRPr sz="4000">
              <a:solidFill>
                <a:srgbClr val="FFFFFF"/>
              </a:solidFill>
            </a:endParaRPr>
          </a:p>
        </p:txBody>
      </p:sp>
      <p:sp>
        <p:nvSpPr>
          <p:cNvPr id="238" name="Google Shape;238;p15"/>
          <p:cNvSpPr txBox="1"/>
          <p:nvPr>
            <p:ph idx="1" type="body"/>
          </p:nvPr>
        </p:nvSpPr>
        <p:spPr>
          <a:xfrm>
            <a:off x="1367625" y="839354"/>
            <a:ext cx="7562972" cy="2972941"/>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100"/>
              <a:buChar char="•"/>
            </a:pPr>
            <a:r>
              <a:rPr b="0" i="0" lang="en-US" sz="1100">
                <a:latin typeface="Gill Sans"/>
                <a:ea typeface="Gill Sans"/>
                <a:cs typeface="Gill Sans"/>
                <a:sym typeface="Gill Sans"/>
              </a:rPr>
              <a:t>ARTICULO 53.- Medidas para la ejecución. La resolución que homologue el acuerdo debe disponer las medidas judiciales necesarias para su cumplimiento.</a:t>
            </a:r>
            <a:endParaRPr/>
          </a:p>
          <a:p>
            <a:pPr indent="-228600" lvl="0" marL="228600" rtl="0" algn="l">
              <a:lnSpc>
                <a:spcPct val="90000"/>
              </a:lnSpc>
              <a:spcBef>
                <a:spcPts val="1000"/>
              </a:spcBef>
              <a:spcAft>
                <a:spcPts val="0"/>
              </a:spcAft>
              <a:buClr>
                <a:schemeClr val="dk1"/>
              </a:buClr>
              <a:buSzPts val="1100"/>
              <a:buChar char="•"/>
            </a:pPr>
            <a:r>
              <a:rPr b="0" i="0" lang="en-US" sz="1100">
                <a:latin typeface="Gill Sans"/>
                <a:ea typeface="Gill Sans"/>
                <a:cs typeface="Gill Sans"/>
                <a:sym typeface="Gill Sans"/>
              </a:rPr>
              <a:t>Si consistiese en la reorganización de la sociedad deudora o en la constitución de sociedad con los acreedores, o con alguno de ellos, el juez debe disponer las medidas conducentes a su formalización y fijar plazo para su ejecución, salvo lo dispuesto en el acuerdo.</a:t>
            </a:r>
            <a:endParaRPr/>
          </a:p>
          <a:p>
            <a:pPr indent="-228600" lvl="0" marL="228600" rtl="0" algn="l">
              <a:lnSpc>
                <a:spcPct val="90000"/>
              </a:lnSpc>
              <a:spcBef>
                <a:spcPts val="1000"/>
              </a:spcBef>
              <a:spcAft>
                <a:spcPts val="0"/>
              </a:spcAft>
              <a:buClr>
                <a:schemeClr val="dk1"/>
              </a:buClr>
              <a:buSzPts val="1100"/>
              <a:buChar char="•"/>
            </a:pPr>
            <a:r>
              <a:rPr b="0" i="0" lang="en-US" sz="1100">
                <a:latin typeface="Gill Sans"/>
                <a:ea typeface="Gill Sans"/>
                <a:cs typeface="Gill Sans"/>
                <a:sym typeface="Gill Sans"/>
              </a:rPr>
              <a:t>En el caso previsto en el artículo 48, inciso 4, la resolución homologatoria dispondrá la transferencia de las participaciones societarias o accionarías de la sociedad deudora al ofertante, debiendo éste depositar judicialmente a la orden del juzgado interviniente el precio de la adquisición, dentro de los tres (3) días de notificada la homologación por ministerio de la ley. A tal efecto, la suma depositada en garantía en los términos del artículo 48, inciso 4, se computará como suma integrante del precio. Dicho depósito quedará a disposición de los socios o accionistas, quienes deberán solicitar la emisión de cheque por parte del juzgado.</a:t>
            </a:r>
            <a:endParaRPr/>
          </a:p>
          <a:p>
            <a:pPr indent="-228600" lvl="0" marL="228600" rtl="0" algn="l">
              <a:lnSpc>
                <a:spcPct val="90000"/>
              </a:lnSpc>
              <a:spcBef>
                <a:spcPts val="1000"/>
              </a:spcBef>
              <a:spcAft>
                <a:spcPts val="0"/>
              </a:spcAft>
              <a:buClr>
                <a:schemeClr val="dk1"/>
              </a:buClr>
              <a:buSzPts val="1100"/>
              <a:buChar char="•"/>
            </a:pPr>
            <a:r>
              <a:rPr b="0" i="0" lang="en-US" sz="1100">
                <a:latin typeface="Gill Sans"/>
                <a:ea typeface="Gill Sans"/>
                <a:cs typeface="Gill Sans"/>
                <a:sym typeface="Gill Sans"/>
              </a:rPr>
              <a:t>Si el acreedor o tercero no depositare el precio de la adquisición en el plazo previsto, el juez declarará la quiebra, perdiendo el acreedor o tercero el depósito efectuado, el cual se afectará como parte integrante del activo del concurso.</a:t>
            </a:r>
            <a:endParaRPr/>
          </a:p>
          <a:p>
            <a:pPr indent="-158750" lvl="0" marL="228600" rtl="0" algn="l">
              <a:lnSpc>
                <a:spcPct val="90000"/>
              </a:lnSpc>
              <a:spcBef>
                <a:spcPts val="1000"/>
              </a:spcBef>
              <a:spcAft>
                <a:spcPts val="0"/>
              </a:spcAft>
              <a:buClr>
                <a:schemeClr val="dk1"/>
              </a:buClr>
              <a:buSzPts val="1100"/>
              <a:buNone/>
            </a:pPr>
            <a:r>
              <a:t/>
            </a:r>
            <a:endParaRPr sz="1100"/>
          </a:p>
        </p:txBody>
      </p:sp>
      <p:sp>
        <p:nvSpPr>
          <p:cNvPr id="239" name="Google Shape;239;p15"/>
          <p:cNvSpPr/>
          <p:nvPr/>
        </p:nvSpPr>
        <p:spPr>
          <a:xfrm>
            <a:off x="9065946" y="4356610"/>
            <a:ext cx="3122079" cy="164110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3" name="Shape 243"/>
        <p:cNvGrpSpPr/>
        <p:nvPr/>
      </p:nvGrpSpPr>
      <p:grpSpPr>
        <a:xfrm>
          <a:off x="0" y="0"/>
          <a:ext cx="0" cy="0"/>
          <a:chOff x="0" y="0"/>
          <a:chExt cx="0" cy="0"/>
        </a:xfrm>
      </p:grpSpPr>
      <p:sp>
        <p:nvSpPr>
          <p:cNvPr id="244" name="Google Shape;244;p16"/>
          <p:cNvSpPr/>
          <p:nvPr/>
        </p:nvSpPr>
        <p:spPr>
          <a:xfrm>
            <a:off x="355601" y="0"/>
            <a:ext cx="11480494" cy="2753936"/>
          </a:xfrm>
          <a:prstGeom prst="rect">
            <a:avLst/>
          </a:prstGeom>
          <a:gradFill>
            <a:gsLst>
              <a:gs pos="0">
                <a:schemeClr val="accent6"/>
              </a:gs>
              <a:gs pos="25000">
                <a:schemeClr val="accent6"/>
              </a:gs>
              <a:gs pos="94000">
                <a:schemeClr val="accent1"/>
              </a:gs>
              <a:gs pos="100000">
                <a:schemeClr val="accent1"/>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45" name="Google Shape;245;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6" name="Google Shape;246;p16"/>
          <p:cNvSpPr txBox="1"/>
          <p:nvPr>
            <p:ph type="title"/>
          </p:nvPr>
        </p:nvSpPr>
        <p:spPr>
          <a:xfrm>
            <a:off x="1179226" y="826680"/>
            <a:ext cx="9833548"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000"/>
              <a:buFont typeface="Gill Sans"/>
              <a:buNone/>
            </a:pPr>
            <a:r>
              <a:rPr b="0" i="0" lang="en-US" sz="4000">
                <a:solidFill>
                  <a:srgbClr val="FFFFFF"/>
                </a:solidFill>
                <a:latin typeface="Gill Sans"/>
                <a:ea typeface="Gill Sans"/>
                <a:cs typeface="Gill Sans"/>
                <a:sym typeface="Gill Sans"/>
              </a:rPr>
              <a:t>Honorarios</a:t>
            </a:r>
            <a:endParaRPr sz="4000">
              <a:solidFill>
                <a:srgbClr val="FFFFFF"/>
              </a:solidFill>
            </a:endParaRPr>
          </a:p>
        </p:txBody>
      </p:sp>
      <p:sp>
        <p:nvSpPr>
          <p:cNvPr id="247" name="Google Shape;247;p16"/>
          <p:cNvSpPr txBox="1"/>
          <p:nvPr>
            <p:ph idx="1" type="body"/>
          </p:nvPr>
        </p:nvSpPr>
        <p:spPr>
          <a:xfrm>
            <a:off x="1179226" y="3092970"/>
            <a:ext cx="9833548" cy="269397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0000"/>
              </a:buClr>
              <a:buSzPts val="2000"/>
              <a:buChar char="•"/>
            </a:pPr>
            <a:r>
              <a:rPr b="0" i="0" lang="en-US" sz="2000">
                <a:solidFill>
                  <a:srgbClr val="000000"/>
                </a:solidFill>
                <a:latin typeface="Gill Sans"/>
                <a:ea typeface="Gill Sans"/>
                <a:cs typeface="Gill Sans"/>
                <a:sym typeface="Gill Sans"/>
              </a:rPr>
              <a:t>ARTICULO 54.- Honorarios. Los honorarios a cargo del deudor son exigibles a los NOVENTA (90) días contados a partir de la homologación, o simultáneamente con pago de la primera cuota a alguna de las categorías de acreedores que venciere antes de eso plazo.</a:t>
            </a:r>
            <a:endParaRPr/>
          </a:p>
          <a:p>
            <a:pPr indent="-228600" lvl="0" marL="228600" rtl="0" algn="l">
              <a:lnSpc>
                <a:spcPct val="90000"/>
              </a:lnSpc>
              <a:spcBef>
                <a:spcPts val="1000"/>
              </a:spcBef>
              <a:spcAft>
                <a:spcPts val="0"/>
              </a:spcAft>
              <a:buClr>
                <a:srgbClr val="000000"/>
              </a:buClr>
              <a:buSzPts val="2000"/>
              <a:buChar char="•"/>
            </a:pPr>
            <a:r>
              <a:rPr b="0" i="0" lang="en-US" sz="2000">
                <a:solidFill>
                  <a:srgbClr val="000000"/>
                </a:solidFill>
                <a:latin typeface="Gill Sans"/>
                <a:ea typeface="Gill Sans"/>
                <a:cs typeface="Gill Sans"/>
                <a:sym typeface="Gill Sans"/>
              </a:rPr>
              <a:t>La falta de pago habilita a solicitar la declaración en quiebra.</a:t>
            </a:r>
            <a:endParaRPr/>
          </a:p>
          <a:p>
            <a:pPr indent="-101600" lvl="0" marL="228600" rtl="0" algn="l">
              <a:lnSpc>
                <a:spcPct val="90000"/>
              </a:lnSpc>
              <a:spcBef>
                <a:spcPts val="1000"/>
              </a:spcBef>
              <a:spcAft>
                <a:spcPts val="0"/>
              </a:spcAft>
              <a:buClr>
                <a:schemeClr val="dk1"/>
              </a:buClr>
              <a:buSzPts val="2000"/>
              <a:buNone/>
            </a:pPr>
            <a:r>
              <a:t/>
            </a:r>
            <a:endParaRPr sz="2000">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1" name="Shape 251"/>
        <p:cNvGrpSpPr/>
        <p:nvPr/>
      </p:nvGrpSpPr>
      <p:grpSpPr>
        <a:xfrm>
          <a:off x="0" y="0"/>
          <a:ext cx="0" cy="0"/>
          <a:chOff x="0" y="0"/>
          <a:chExt cx="0" cy="0"/>
        </a:xfrm>
      </p:grpSpPr>
      <p:sp>
        <p:nvSpPr>
          <p:cNvPr id="252" name="Google Shape;252;p17"/>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3" name="Google Shape;253;p17"/>
          <p:cNvSpPr/>
          <p:nvPr/>
        </p:nvSpPr>
        <p:spPr>
          <a:xfrm>
            <a:off x="-3048" y="227"/>
            <a:ext cx="12188952" cy="4551895"/>
          </a:xfrm>
          <a:prstGeom prst="rect">
            <a:avLst/>
          </a:prstGeom>
          <a:solidFill>
            <a:srgbClr val="1F386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4" name="Google Shape;254;p17"/>
          <p:cNvSpPr/>
          <p:nvPr/>
        </p:nvSpPr>
        <p:spPr>
          <a:xfrm>
            <a:off x="8727747" y="4208147"/>
            <a:ext cx="339126" cy="1938528"/>
          </a:xfrm>
          <a:custGeom>
            <a:rect b="b" l="l" r="r" t="t"/>
            <a:pathLst>
              <a:path extrusionOk="0" h="2447" w="414">
                <a:moveTo>
                  <a:pt x="414" y="2447"/>
                </a:moveTo>
                <a:lnTo>
                  <a:pt x="0" y="2247"/>
                </a:lnTo>
                <a:lnTo>
                  <a:pt x="0" y="0"/>
                </a:lnTo>
                <a:lnTo>
                  <a:pt x="414" y="200"/>
                </a:lnTo>
                <a:lnTo>
                  <a:pt x="414" y="2447"/>
                </a:lnTo>
                <a:close/>
              </a:path>
            </a:pathLst>
          </a:custGeom>
          <a:solidFill>
            <a:srgbClr val="2F549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17"/>
          <p:cNvSpPr/>
          <p:nvPr/>
        </p:nvSpPr>
        <p:spPr>
          <a:xfrm>
            <a:off x="8728739" y="4098333"/>
            <a:ext cx="201857" cy="1874520"/>
          </a:xfrm>
          <a:custGeom>
            <a:rect b="b" l="l" r="r" t="t"/>
            <a:pathLst>
              <a:path extrusionOk="0" h="2358" w="209">
                <a:moveTo>
                  <a:pt x="209" y="2246"/>
                </a:moveTo>
                <a:lnTo>
                  <a:pt x="0" y="2358"/>
                </a:lnTo>
                <a:lnTo>
                  <a:pt x="0" y="111"/>
                </a:lnTo>
                <a:lnTo>
                  <a:pt x="209" y="0"/>
                </a:lnTo>
                <a:lnTo>
                  <a:pt x="209" y="2246"/>
                </a:lnTo>
                <a:close/>
              </a:path>
            </a:pathLst>
          </a:custGeom>
          <a:solidFill>
            <a:srgbClr val="1F386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17"/>
          <p:cNvSpPr/>
          <p:nvPr/>
        </p:nvSpPr>
        <p:spPr>
          <a:xfrm>
            <a:off x="-3048" y="4098334"/>
            <a:ext cx="8933019" cy="177393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17"/>
          <p:cNvSpPr txBox="1"/>
          <p:nvPr>
            <p:ph type="title"/>
          </p:nvPr>
        </p:nvSpPr>
        <p:spPr>
          <a:xfrm>
            <a:off x="958506" y="4309238"/>
            <a:ext cx="7455339" cy="121210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000"/>
              <a:buFont typeface="Gill Sans"/>
              <a:buNone/>
            </a:pPr>
            <a:r>
              <a:rPr b="0" i="0" lang="en-US" sz="4000">
                <a:solidFill>
                  <a:srgbClr val="FFFFFF"/>
                </a:solidFill>
                <a:latin typeface="Gill Sans"/>
                <a:ea typeface="Gill Sans"/>
                <a:cs typeface="Gill Sans"/>
                <a:sym typeface="Gill Sans"/>
              </a:rPr>
              <a:t>Novación</a:t>
            </a:r>
            <a:endParaRPr sz="4000">
              <a:solidFill>
                <a:srgbClr val="FFFFFF"/>
              </a:solidFill>
            </a:endParaRPr>
          </a:p>
        </p:txBody>
      </p:sp>
      <p:sp>
        <p:nvSpPr>
          <p:cNvPr id="258" name="Google Shape;258;p17"/>
          <p:cNvSpPr txBox="1"/>
          <p:nvPr>
            <p:ph idx="1" type="body"/>
          </p:nvPr>
        </p:nvSpPr>
        <p:spPr>
          <a:xfrm>
            <a:off x="958506" y="725535"/>
            <a:ext cx="7912539" cy="2944936"/>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rgbClr val="FFFFFF"/>
              </a:buClr>
              <a:buSzPts val="2400"/>
              <a:buChar char="•"/>
            </a:pPr>
            <a:r>
              <a:rPr b="0" i="0" lang="en-US" sz="2400">
                <a:solidFill>
                  <a:srgbClr val="FFFFFF"/>
                </a:solidFill>
                <a:latin typeface="Gill Sans"/>
                <a:ea typeface="Gill Sans"/>
                <a:cs typeface="Gill Sans"/>
                <a:sym typeface="Gill Sans"/>
              </a:rPr>
              <a:t>ARTICULO 55.- Novación. En todos los casos, el acuerdo homologado importa la novación de todas las obligaciones con origen o causa anterior al concurso. Esta novación no causa la extinción de las obligaciones del fiador ni de los codeudores solidarios.</a:t>
            </a:r>
            <a:endParaRPr sz="2400">
              <a:solidFill>
                <a:srgbClr val="FFFFFF"/>
              </a:solidFill>
            </a:endParaRPr>
          </a:p>
        </p:txBody>
      </p:sp>
      <p:sp>
        <p:nvSpPr>
          <p:cNvPr id="259" name="Google Shape;259;p17"/>
          <p:cNvSpPr/>
          <p:nvPr/>
        </p:nvSpPr>
        <p:spPr>
          <a:xfrm>
            <a:off x="9066873" y="4377267"/>
            <a:ext cx="3122079" cy="177393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E79"/>
        </a:solidFill>
      </p:bgPr>
    </p:bg>
    <p:spTree>
      <p:nvGrpSpPr>
        <p:cNvPr id="263" name="Shape 263"/>
        <p:cNvGrpSpPr/>
        <p:nvPr/>
      </p:nvGrpSpPr>
      <p:grpSpPr>
        <a:xfrm>
          <a:off x="0" y="0"/>
          <a:ext cx="0" cy="0"/>
          <a:chOff x="0" y="0"/>
          <a:chExt cx="0" cy="0"/>
        </a:xfrm>
      </p:grpSpPr>
      <p:sp>
        <p:nvSpPr>
          <p:cNvPr id="264" name="Google Shape;264;p18"/>
          <p:cNvSpPr/>
          <p:nvPr/>
        </p:nvSpPr>
        <p:spPr>
          <a:xfrm>
            <a:off x="0" y="0"/>
            <a:ext cx="832385" cy="6858000"/>
          </a:xfrm>
          <a:prstGeom prst="rect">
            <a:avLst/>
          </a:prstGeom>
          <a:solidFill>
            <a:schemeClr val="accent5">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65" name="Google Shape;265;p18"/>
          <p:cNvSpPr/>
          <p:nvPr/>
        </p:nvSpPr>
        <p:spPr>
          <a:xfrm>
            <a:off x="832385" y="0"/>
            <a:ext cx="3218914" cy="6858000"/>
          </a:xfrm>
          <a:prstGeom prst="rect">
            <a:avLst/>
          </a:prstGeom>
          <a:solidFill>
            <a:srgbClr val="2E75B5">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 name="Google Shape;266;p18"/>
          <p:cNvSpPr txBox="1"/>
          <p:nvPr>
            <p:ph type="title"/>
          </p:nvPr>
        </p:nvSpPr>
        <p:spPr>
          <a:xfrm>
            <a:off x="992206" y="1608667"/>
            <a:ext cx="2823275" cy="4501127"/>
          </a:xfrm>
          <a:prstGeom prst="rect">
            <a:avLst/>
          </a:prstGeom>
          <a:noFill/>
          <a:ln>
            <a:noFill/>
          </a:ln>
        </p:spPr>
        <p:txBody>
          <a:bodyPr anchorCtr="0" anchor="t" bIns="45700" lIns="91425" spcFirstLastPara="1" rIns="91425" wrap="square" tIns="45700">
            <a:normAutofit/>
          </a:bodyPr>
          <a:lstStyle/>
          <a:p>
            <a:pPr indent="0" lvl="0" marL="0" rtl="0" algn="r">
              <a:lnSpc>
                <a:spcPct val="90000"/>
              </a:lnSpc>
              <a:spcBef>
                <a:spcPts val="0"/>
              </a:spcBef>
              <a:spcAft>
                <a:spcPts val="0"/>
              </a:spcAft>
              <a:buClr>
                <a:srgbClr val="FFFFFF"/>
              </a:buClr>
              <a:buSzPts val="3200"/>
              <a:buFont typeface="Calibri"/>
              <a:buNone/>
            </a:pPr>
            <a:r>
              <a:rPr b="0" i="0" lang="en-US" sz="3200">
                <a:solidFill>
                  <a:srgbClr val="FFFFFF"/>
                </a:solidFill>
                <a:latin typeface="Calibri"/>
                <a:ea typeface="Calibri"/>
                <a:cs typeface="Calibri"/>
                <a:sym typeface="Calibri"/>
              </a:rPr>
              <a:t>Novación</a:t>
            </a:r>
            <a:endParaRPr sz="3200">
              <a:solidFill>
                <a:srgbClr val="FFFFFF"/>
              </a:solidFill>
              <a:latin typeface="Calibri"/>
              <a:ea typeface="Calibri"/>
              <a:cs typeface="Calibri"/>
              <a:sym typeface="Calibri"/>
            </a:endParaRPr>
          </a:p>
        </p:txBody>
      </p:sp>
      <p:sp>
        <p:nvSpPr>
          <p:cNvPr id="267" name="Google Shape;267;p18"/>
          <p:cNvSpPr txBox="1"/>
          <p:nvPr>
            <p:ph idx="1" type="body"/>
          </p:nvPr>
        </p:nvSpPr>
        <p:spPr>
          <a:xfrm>
            <a:off x="4547698" y="1608667"/>
            <a:ext cx="3421958" cy="450112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000"/>
              <a:buChar char="•"/>
            </a:pPr>
            <a:r>
              <a:rPr b="0" i="0" lang="en-US" sz="2000"/>
              <a:t>ARTICULO 940.- Efectos. La novación extingue la obligación originaria con sus accesorios. El acreedor puede impedir la extinción de las garantías personales o reales del antiguo crédito mediante reserva; en tal caso, las garantías pasan a la nueva obligación sólo si quien las constituyó participó en el acuerdo novatorio.</a:t>
            </a:r>
            <a:br>
              <a:rPr lang="en-US" sz="2000"/>
            </a:br>
            <a:endParaRPr sz="2000"/>
          </a:p>
        </p:txBody>
      </p:sp>
      <p:sp>
        <p:nvSpPr>
          <p:cNvPr id="268" name="Google Shape;268;p18"/>
          <p:cNvSpPr txBox="1"/>
          <p:nvPr/>
        </p:nvSpPr>
        <p:spPr>
          <a:xfrm>
            <a:off x="8289696" y="1608667"/>
            <a:ext cx="3421957" cy="450112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lt1"/>
              </a:buClr>
              <a:buSzPts val="2000"/>
              <a:buFont typeface="Arial"/>
              <a:buChar char="•"/>
            </a:pPr>
            <a:r>
              <a:rPr lang="en-US" sz="2000">
                <a:solidFill>
                  <a:schemeClr val="lt1"/>
                </a:solidFill>
                <a:latin typeface="Calibri"/>
                <a:ea typeface="Calibri"/>
                <a:cs typeface="Calibri"/>
                <a:sym typeface="Calibri"/>
              </a:rPr>
              <a:t>implica la extinción de la obligación original y la transformación de una obligación en otra.</a:t>
            </a:r>
            <a:endParaRPr/>
          </a:p>
          <a:p>
            <a:pPr indent="0" lvl="0" marL="0" marR="0" rtl="0" algn="l">
              <a:lnSpc>
                <a:spcPct val="90000"/>
              </a:lnSpc>
              <a:spcBef>
                <a:spcPts val="600"/>
              </a:spcBef>
              <a:spcAft>
                <a:spcPts val="0"/>
              </a:spcAft>
              <a:buClr>
                <a:schemeClr val="lt1"/>
              </a:buClr>
              <a:buSzPts val="2000"/>
              <a:buFont typeface="Arial"/>
              <a:buChar char="•"/>
            </a:pPr>
            <a:r>
              <a:rPr lang="en-US" sz="2000">
                <a:solidFill>
                  <a:schemeClr val="lt1"/>
                </a:solidFill>
                <a:latin typeface="Calibri"/>
                <a:ea typeface="Calibri"/>
                <a:cs typeface="Calibri"/>
                <a:sym typeface="Calibri"/>
              </a:rPr>
              <a:t> Se extingue la obligación reconocida y nace una obligación que tiene como causa el acuerdo homologado entre los acreedores y el concursado (art. 52, LCQ)</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2" name="Shape 272"/>
        <p:cNvGrpSpPr/>
        <p:nvPr/>
      </p:nvGrpSpPr>
      <p:grpSpPr>
        <a:xfrm>
          <a:off x="0" y="0"/>
          <a:ext cx="0" cy="0"/>
          <a:chOff x="0" y="0"/>
          <a:chExt cx="0" cy="0"/>
        </a:xfrm>
      </p:grpSpPr>
      <p:sp>
        <p:nvSpPr>
          <p:cNvPr id="273" name="Google Shape;273;p19"/>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4" name="Google Shape;274;p19"/>
          <p:cNvSpPr/>
          <p:nvPr/>
        </p:nvSpPr>
        <p:spPr>
          <a:xfrm>
            <a:off x="1" y="0"/>
            <a:ext cx="4167271" cy="6858000"/>
          </a:xfrm>
          <a:custGeom>
            <a:rect b="b" l="l" r="r" t="t"/>
            <a:pathLst>
              <a:path extrusionOk="0" h="6858000" w="4167271">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5" name="Google Shape;275;p19"/>
          <p:cNvSpPr txBox="1"/>
          <p:nvPr>
            <p:ph type="title"/>
          </p:nvPr>
        </p:nvSpPr>
        <p:spPr>
          <a:xfrm>
            <a:off x="686834" y="1153572"/>
            <a:ext cx="3200400" cy="44611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lang="en-US">
                <a:solidFill>
                  <a:srgbClr val="FFFFFF"/>
                </a:solidFill>
              </a:rPr>
              <a:t>Efectos de la Novación</a:t>
            </a:r>
            <a:endParaRPr>
              <a:solidFill>
                <a:srgbClr val="FFFFFF"/>
              </a:solidFill>
            </a:endParaRPr>
          </a:p>
        </p:txBody>
      </p:sp>
      <p:sp>
        <p:nvSpPr>
          <p:cNvPr id="276" name="Google Shape;276;p19"/>
          <p:cNvSpPr/>
          <p:nvPr/>
        </p:nvSpPr>
        <p:spPr>
          <a:xfrm flipH="1" rot="10800000">
            <a:off x="7550402" y="2455479"/>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19"/>
          <p:cNvSpPr txBox="1"/>
          <p:nvPr>
            <p:ph idx="1" type="body"/>
          </p:nvPr>
        </p:nvSpPr>
        <p:spPr>
          <a:xfrm>
            <a:off x="4447308" y="591344"/>
            <a:ext cx="6906491" cy="5585619"/>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800"/>
              <a:buChar char="•"/>
            </a:pPr>
            <a:r>
              <a:rPr lang="en-US" sz="1800"/>
              <a:t>i) nacimiento de una nueva obligación</a:t>
            </a:r>
            <a:endParaRPr/>
          </a:p>
          <a:p>
            <a:pPr indent="-228600" lvl="0" marL="228600" rtl="0" algn="l">
              <a:lnSpc>
                <a:spcPct val="90000"/>
              </a:lnSpc>
              <a:spcBef>
                <a:spcPts val="1000"/>
              </a:spcBef>
              <a:spcAft>
                <a:spcPts val="0"/>
              </a:spcAft>
              <a:buClr>
                <a:schemeClr val="dk1"/>
              </a:buClr>
              <a:buSzPts val="1800"/>
              <a:buChar char="•"/>
            </a:pPr>
            <a:r>
              <a:rPr lang="en-US" sz="1800"/>
              <a:t>ii) en caso de quiebra posterior, </a:t>
            </a:r>
            <a:r>
              <a:rPr b="1" lang="en-US" sz="1800" u="sng"/>
              <a:t>la obligación a considerar será la novada y no la originaria</a:t>
            </a:r>
            <a:endParaRPr/>
          </a:p>
          <a:p>
            <a:pPr indent="-228600" lvl="0" marL="228600" rtl="0" algn="l">
              <a:lnSpc>
                <a:spcPct val="90000"/>
              </a:lnSpc>
              <a:spcBef>
                <a:spcPts val="1000"/>
              </a:spcBef>
              <a:spcAft>
                <a:spcPts val="0"/>
              </a:spcAft>
              <a:buClr>
                <a:schemeClr val="dk1"/>
              </a:buClr>
              <a:buSzPts val="1800"/>
              <a:buChar char="•"/>
            </a:pPr>
            <a:r>
              <a:rPr lang="en-US" sz="1800"/>
              <a:t>iii) sólo rige en ausencia de previsión en contrario contenida en la propuesta de acuerdo, ya que no tiene carácter imperativo (no está comprometido el orden público o interés general</a:t>
            </a:r>
            <a:endParaRPr/>
          </a:p>
          <a:p>
            <a:pPr indent="-228600" lvl="0" marL="228600" rtl="0" algn="l">
              <a:lnSpc>
                <a:spcPct val="90000"/>
              </a:lnSpc>
              <a:spcBef>
                <a:spcPts val="1000"/>
              </a:spcBef>
              <a:spcAft>
                <a:spcPts val="0"/>
              </a:spcAft>
              <a:buClr>
                <a:schemeClr val="dk1"/>
              </a:buClr>
              <a:buSzPts val="1800"/>
              <a:buChar char="•"/>
            </a:pPr>
            <a:r>
              <a:rPr lang="en-US" sz="1800"/>
              <a:t>iv) la novación alcanza todo el pasivo quirografario del deudor</a:t>
            </a:r>
            <a:endParaRPr/>
          </a:p>
          <a:p>
            <a:pPr indent="-228600" lvl="0" marL="228600" rtl="0" algn="l">
              <a:lnSpc>
                <a:spcPct val="90000"/>
              </a:lnSpc>
              <a:spcBef>
                <a:spcPts val="1000"/>
              </a:spcBef>
              <a:spcAft>
                <a:spcPts val="0"/>
              </a:spcAft>
              <a:buClr>
                <a:schemeClr val="dk1"/>
              </a:buClr>
              <a:buSzPts val="1800"/>
              <a:buChar char="•"/>
            </a:pPr>
            <a:r>
              <a:rPr lang="en-US" sz="1800"/>
              <a:t>v) no afecta el derecho de los acreedores respecto de los fiadores o codeudores solidarios, quienes pueden reclamar el total de la deuda garantizada; </a:t>
            </a:r>
            <a:endParaRPr/>
          </a:p>
          <a:p>
            <a:pPr indent="-228600" lvl="0" marL="228600" rtl="0" algn="l">
              <a:lnSpc>
                <a:spcPct val="90000"/>
              </a:lnSpc>
              <a:spcBef>
                <a:spcPts val="1000"/>
              </a:spcBef>
              <a:spcAft>
                <a:spcPts val="0"/>
              </a:spcAft>
              <a:buClr>
                <a:schemeClr val="dk1"/>
              </a:buClr>
              <a:buSzPts val="1800"/>
              <a:buChar char="•"/>
            </a:pPr>
            <a:r>
              <a:rPr lang="en-US" sz="1800"/>
              <a:t>vii) se debe modificar la registración contable de las obligaciones novadas por el importe novado, ya que ha operado una sustitución de la obligación.</a:t>
            </a: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1" name="Shape 281"/>
        <p:cNvGrpSpPr/>
        <p:nvPr/>
      </p:nvGrpSpPr>
      <p:grpSpPr>
        <a:xfrm>
          <a:off x="0" y="0"/>
          <a:ext cx="0" cy="0"/>
          <a:chOff x="0" y="0"/>
          <a:chExt cx="0" cy="0"/>
        </a:xfrm>
      </p:grpSpPr>
      <p:sp>
        <p:nvSpPr>
          <p:cNvPr id="282" name="Google Shape;282;p2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 name="Google Shape;283;p20"/>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4" name="Google Shape;284;p20"/>
          <p:cNvSpPr/>
          <p:nvPr/>
        </p:nvSpPr>
        <p:spPr>
          <a:xfrm flipH="1" rot="5400000">
            <a:off x="-1410084" y="1410082"/>
            <a:ext cx="6858000" cy="4037836"/>
          </a:xfrm>
          <a:prstGeom prst="rect">
            <a:avLst/>
          </a:prstGeom>
          <a:gradFill>
            <a:gsLst>
              <a:gs pos="0">
                <a:srgbClr val="000000"/>
              </a:gs>
              <a:gs pos="8000">
                <a:srgbClr val="000000"/>
              </a:gs>
              <a:gs pos="100000">
                <a:srgbClr val="2F5496"/>
              </a:gs>
            </a:gsLst>
            <a:lin ang="3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5" name="Google Shape;285;p20"/>
          <p:cNvSpPr/>
          <p:nvPr/>
        </p:nvSpPr>
        <p:spPr>
          <a:xfrm flipH="1" rot="5400000">
            <a:off x="-1410085" y="1420219"/>
            <a:ext cx="6857999" cy="4037839"/>
          </a:xfrm>
          <a:prstGeom prst="rect">
            <a:avLst/>
          </a:prstGeom>
          <a:gradFill>
            <a:gsLst>
              <a:gs pos="0">
                <a:srgbClr val="000000">
                  <a:alpha val="0"/>
                </a:srgbClr>
              </a:gs>
              <a:gs pos="99000">
                <a:srgbClr val="4472C4">
                  <a:alpha val="45882"/>
                </a:srgbClr>
              </a:gs>
              <a:gs pos="100000">
                <a:srgbClr val="4472C4">
                  <a:alpha val="45882"/>
                </a:srgbClr>
              </a:gs>
            </a:gsLst>
            <a:lin ang="1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6" name="Google Shape;286;p20"/>
          <p:cNvSpPr/>
          <p:nvPr/>
        </p:nvSpPr>
        <p:spPr>
          <a:xfrm flipH="1" rot="5400000">
            <a:off x="767923" y="3588085"/>
            <a:ext cx="2501979" cy="4037841"/>
          </a:xfrm>
          <a:prstGeom prst="rect">
            <a:avLst/>
          </a:prstGeom>
          <a:gradFill>
            <a:gsLst>
              <a:gs pos="0">
                <a:srgbClr val="4472C4">
                  <a:alpha val="28627"/>
                </a:srgbClr>
              </a:gs>
              <a:gs pos="2000">
                <a:srgbClr val="4472C4">
                  <a:alpha val="28627"/>
                </a:srgbClr>
              </a:gs>
              <a:gs pos="100000">
                <a:srgbClr val="000000">
                  <a:alpha val="29803"/>
                </a:srgbClr>
              </a:gs>
            </a:gsLst>
            <a:lin ang="7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7" name="Google Shape;287;p20"/>
          <p:cNvSpPr/>
          <p:nvPr/>
        </p:nvSpPr>
        <p:spPr>
          <a:xfrm rot="-964587">
            <a:off x="-501737" y="969718"/>
            <a:ext cx="3900357" cy="4178958"/>
          </a:xfrm>
          <a:custGeom>
            <a:rect b="b" l="l" r="r" t="t"/>
            <a:pathLst>
              <a:path extrusionOk="0" h="4178958" w="3900357">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4472C4">
                  <a:alpha val="42745"/>
                </a:srgbClr>
              </a:gs>
            </a:gsLst>
            <a:lin ang="1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8" name="Google Shape;288;p20"/>
          <p:cNvSpPr/>
          <p:nvPr/>
        </p:nvSpPr>
        <p:spPr>
          <a:xfrm flipH="1" rot="5400000">
            <a:off x="-1410093" y="1399943"/>
            <a:ext cx="6858003" cy="4037835"/>
          </a:xfrm>
          <a:prstGeom prst="rect">
            <a:avLst/>
          </a:prstGeom>
          <a:gradFill>
            <a:gsLst>
              <a:gs pos="0">
                <a:srgbClr val="000000">
                  <a:alpha val="0"/>
                </a:srgbClr>
              </a:gs>
              <a:gs pos="99000">
                <a:srgbClr val="8DA9DB">
                  <a:alpha val="10980"/>
                </a:srgbClr>
              </a:gs>
              <a:gs pos="100000">
                <a:srgbClr val="8DA9DB">
                  <a:alpha val="10980"/>
                </a:srgbClr>
              </a:gs>
            </a:gsLst>
            <a:lin ang="7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9" name="Google Shape;289;p20"/>
          <p:cNvSpPr txBox="1"/>
          <p:nvPr>
            <p:ph type="title"/>
          </p:nvPr>
        </p:nvSpPr>
        <p:spPr>
          <a:xfrm>
            <a:off x="466722" y="586855"/>
            <a:ext cx="3201366" cy="3387497"/>
          </a:xfrm>
          <a:prstGeom prst="rect">
            <a:avLst/>
          </a:prstGeom>
          <a:noFill/>
          <a:ln>
            <a:noFill/>
          </a:ln>
        </p:spPr>
        <p:txBody>
          <a:bodyPr anchorCtr="0" anchor="b" bIns="45700" lIns="91425" spcFirstLastPara="1" rIns="91425" wrap="square" tIns="45700">
            <a:normAutofit/>
          </a:bodyPr>
          <a:lstStyle/>
          <a:p>
            <a:pPr indent="0" lvl="0" marL="0" rtl="0" algn="r">
              <a:lnSpc>
                <a:spcPct val="90000"/>
              </a:lnSpc>
              <a:spcBef>
                <a:spcPts val="0"/>
              </a:spcBef>
              <a:spcAft>
                <a:spcPts val="0"/>
              </a:spcAft>
              <a:buClr>
                <a:srgbClr val="FFFFFF"/>
              </a:buClr>
              <a:buSzPts val="4000"/>
              <a:buFont typeface="Gill Sans"/>
              <a:buNone/>
            </a:pPr>
            <a:r>
              <a:rPr b="0" i="0" lang="en-US" sz="4000">
                <a:solidFill>
                  <a:srgbClr val="FFFFFF"/>
                </a:solidFill>
                <a:latin typeface="Gill Sans"/>
                <a:ea typeface="Gill Sans"/>
                <a:cs typeface="Gill Sans"/>
                <a:sym typeface="Gill Sans"/>
              </a:rPr>
              <a:t>Aplicación a todos los acreedores</a:t>
            </a:r>
            <a:endParaRPr sz="4000">
              <a:solidFill>
                <a:srgbClr val="FFFFFF"/>
              </a:solidFill>
            </a:endParaRPr>
          </a:p>
        </p:txBody>
      </p:sp>
      <p:sp>
        <p:nvSpPr>
          <p:cNvPr id="290" name="Google Shape;290;p20"/>
          <p:cNvSpPr txBox="1"/>
          <p:nvPr>
            <p:ph idx="1" type="body"/>
          </p:nvPr>
        </p:nvSpPr>
        <p:spPr>
          <a:xfrm>
            <a:off x="4810259" y="649480"/>
            <a:ext cx="6555347" cy="5546047"/>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100"/>
              <a:buChar char="•"/>
            </a:pPr>
            <a:r>
              <a:rPr b="0" i="0" lang="en-US" sz="1100">
                <a:latin typeface="Gill Sans"/>
                <a:ea typeface="Gill Sans"/>
                <a:cs typeface="Gill Sans"/>
                <a:sym typeface="Gill Sans"/>
              </a:rPr>
              <a:t>ARTICULO 56.-. El acuerdo homologado produce efectos respecto de todos los acreedores quirografarios cuyos créditos se hayan originado por causa anterior a la presentación, aunque no hayan participado en el procedimiento.</a:t>
            </a:r>
            <a:endParaRPr/>
          </a:p>
          <a:p>
            <a:pPr indent="-228600" lvl="0" marL="228600" rtl="0" algn="l">
              <a:lnSpc>
                <a:spcPct val="90000"/>
              </a:lnSpc>
              <a:spcBef>
                <a:spcPts val="1000"/>
              </a:spcBef>
              <a:spcAft>
                <a:spcPts val="0"/>
              </a:spcAft>
              <a:buClr>
                <a:schemeClr val="dk1"/>
              </a:buClr>
              <a:buSzPts val="1100"/>
              <a:buChar char="•"/>
            </a:pPr>
            <a:r>
              <a:rPr b="0" i="0" lang="en-US" sz="1100">
                <a:latin typeface="Gill Sans"/>
                <a:ea typeface="Gill Sans"/>
                <a:cs typeface="Gill Sans"/>
                <a:sym typeface="Gill Sans"/>
              </a:rPr>
              <a:t>También produce iguales efectos respecto de los acreedores privilegiados verificados, en la medida en que hayan renunciado al privilegio.</a:t>
            </a:r>
            <a:endParaRPr/>
          </a:p>
          <a:p>
            <a:pPr indent="-228600" lvl="0" marL="228600" rtl="0" algn="l">
              <a:lnSpc>
                <a:spcPct val="90000"/>
              </a:lnSpc>
              <a:spcBef>
                <a:spcPts val="1000"/>
              </a:spcBef>
              <a:spcAft>
                <a:spcPts val="0"/>
              </a:spcAft>
              <a:buClr>
                <a:schemeClr val="dk1"/>
              </a:buClr>
              <a:buSzPts val="1100"/>
              <a:buChar char="•"/>
            </a:pPr>
            <a:r>
              <a:rPr b="0" i="0" lang="en-US" sz="1100">
                <a:latin typeface="Gill Sans"/>
                <a:ea typeface="Gill Sans"/>
                <a:cs typeface="Gill Sans"/>
                <a:sym typeface="Gill Sans"/>
              </a:rPr>
              <a:t>Son absolutamente nulos los beneficios otorgados a los acreedores que excedan de lo establecido en el acuerdo para cada categoría.</a:t>
            </a:r>
            <a:endParaRPr/>
          </a:p>
          <a:p>
            <a:pPr indent="-228600" lvl="0" marL="228600" rtl="0" algn="l">
              <a:lnSpc>
                <a:spcPct val="90000"/>
              </a:lnSpc>
              <a:spcBef>
                <a:spcPts val="1000"/>
              </a:spcBef>
              <a:spcAft>
                <a:spcPts val="0"/>
              </a:spcAft>
              <a:buClr>
                <a:schemeClr val="dk1"/>
              </a:buClr>
              <a:buSzPts val="1100"/>
              <a:buChar char="•"/>
            </a:pPr>
            <a:r>
              <a:rPr b="0" i="0" lang="en-US" sz="1100">
                <a:latin typeface="Gill Sans"/>
                <a:ea typeface="Gill Sans"/>
                <a:cs typeface="Gill Sans"/>
                <a:sym typeface="Gill Sans"/>
              </a:rPr>
              <a:t>Socios solidarios. El acuerdo se extiende a los socios ilimitadamente responsables, salvo que, como condición del mismo, se estableciera mantener su responsabilidad en forma más amplia respecto de todos los acreedores comprendidos en él.</a:t>
            </a:r>
            <a:endParaRPr/>
          </a:p>
          <a:p>
            <a:pPr indent="-228600" lvl="0" marL="228600" rtl="0" algn="l">
              <a:lnSpc>
                <a:spcPct val="90000"/>
              </a:lnSpc>
              <a:spcBef>
                <a:spcPts val="1000"/>
              </a:spcBef>
              <a:spcAft>
                <a:spcPts val="0"/>
              </a:spcAft>
              <a:buClr>
                <a:schemeClr val="dk1"/>
              </a:buClr>
              <a:buSzPts val="1100"/>
              <a:buChar char="•"/>
            </a:pPr>
            <a:r>
              <a:rPr b="0" i="0" lang="en-US" sz="1100">
                <a:latin typeface="Gill Sans"/>
                <a:ea typeface="Gill Sans"/>
                <a:cs typeface="Gill Sans"/>
                <a:sym typeface="Gill Sans"/>
              </a:rPr>
              <a:t>Verificación tardía. Los efectos del acuerdo homologado se aplican también a los acreedores que no hubieran solicitado verificación, una vez que hayan sido verificados.</a:t>
            </a:r>
            <a:endParaRPr/>
          </a:p>
          <a:p>
            <a:pPr indent="-228600" lvl="0" marL="228600" rtl="0" algn="l">
              <a:lnSpc>
                <a:spcPct val="90000"/>
              </a:lnSpc>
              <a:spcBef>
                <a:spcPts val="1000"/>
              </a:spcBef>
              <a:spcAft>
                <a:spcPts val="0"/>
              </a:spcAft>
              <a:buClr>
                <a:schemeClr val="dk1"/>
              </a:buClr>
              <a:buSzPts val="1100"/>
              <a:buChar char="•"/>
            </a:pPr>
            <a:r>
              <a:rPr b="0" i="0" lang="en-US" sz="1100">
                <a:latin typeface="Gill Sans"/>
                <a:ea typeface="Gill Sans"/>
                <a:cs typeface="Gill Sans"/>
                <a:sym typeface="Gill Sans"/>
              </a:rPr>
              <a:t>El pedido de verificación tardía debe deducirse por incidentes mientras tramite el concurso o, concluido éste, por la acción individual que corresponda, dentro de los dos años de la presentación en concurso.</a:t>
            </a:r>
            <a:endParaRPr/>
          </a:p>
          <a:p>
            <a:pPr indent="-228600" lvl="0" marL="228600" rtl="0" algn="l">
              <a:lnSpc>
                <a:spcPct val="90000"/>
              </a:lnSpc>
              <a:spcBef>
                <a:spcPts val="1000"/>
              </a:spcBef>
              <a:spcAft>
                <a:spcPts val="0"/>
              </a:spcAft>
              <a:buClr>
                <a:schemeClr val="dk1"/>
              </a:buClr>
              <a:buSzPts val="1100"/>
              <a:buChar char="•"/>
            </a:pPr>
            <a:r>
              <a:rPr b="0" i="0" lang="en-US" sz="1100">
                <a:latin typeface="Gill Sans"/>
                <a:ea typeface="Gill Sans"/>
                <a:cs typeface="Gill Sans"/>
                <a:sym typeface="Gill Sans"/>
              </a:rPr>
              <a:t>Si el título verificatorio fuera una sentencia de un juicio tramitado ante un tribunal distinto que el del concurso, por tratarse de una de las excepciones previstas en el artículo 21, el pedido de verificación no se considerará tardío, si, no obstante haberse excedido el plazo de dos años previsto en el párrafo anterior, aquél se dedujere dentro de los seis meses de haber quedado firme la sentencia.</a:t>
            </a:r>
            <a:endParaRPr/>
          </a:p>
          <a:p>
            <a:pPr indent="-228600" lvl="0" marL="228600" rtl="0" algn="l">
              <a:lnSpc>
                <a:spcPct val="90000"/>
              </a:lnSpc>
              <a:spcBef>
                <a:spcPts val="1000"/>
              </a:spcBef>
              <a:spcAft>
                <a:spcPts val="0"/>
              </a:spcAft>
              <a:buClr>
                <a:schemeClr val="dk1"/>
              </a:buClr>
              <a:buSzPts val="1100"/>
              <a:buChar char="•"/>
            </a:pPr>
            <a:r>
              <a:rPr b="0" i="0" lang="en-US" sz="1100">
                <a:latin typeface="Gill Sans"/>
                <a:ea typeface="Gill Sans"/>
                <a:cs typeface="Gill Sans"/>
                <a:sym typeface="Gill Sans"/>
              </a:rPr>
              <a:t>Vencidos esos plazos prescriben las acciones del acreedor, tanto respecto de los otros acreedores como del concursado, o terceros vinculados al acuerdo, salvo que el plazo de prescripción sea menor.</a:t>
            </a:r>
            <a:endParaRPr/>
          </a:p>
          <a:p>
            <a:pPr indent="-228600" lvl="0" marL="228600" rtl="0" algn="l">
              <a:lnSpc>
                <a:spcPct val="90000"/>
              </a:lnSpc>
              <a:spcBef>
                <a:spcPts val="1000"/>
              </a:spcBef>
              <a:spcAft>
                <a:spcPts val="0"/>
              </a:spcAft>
              <a:buClr>
                <a:schemeClr val="dk1"/>
              </a:buClr>
              <a:buSzPts val="1100"/>
              <a:buChar char="•"/>
            </a:pPr>
            <a:r>
              <a:rPr b="0" i="0" lang="en-US" sz="1100">
                <a:latin typeface="Gill Sans"/>
                <a:ea typeface="Gill Sans"/>
                <a:cs typeface="Gill Sans"/>
                <a:sym typeface="Gill Sans"/>
              </a:rPr>
              <a:t>Cuando la verificación tardía tramite como incidente durante el concurso, serán parte en dicho incidente el acreedor y el deudor, debiendo el síndico emitir un informe una vez concluido el período de prueba.</a:t>
            </a:r>
            <a:endParaRPr/>
          </a:p>
          <a:p>
            <a:pPr indent="-228600" lvl="0" marL="228600" rtl="0" algn="l">
              <a:lnSpc>
                <a:spcPct val="90000"/>
              </a:lnSpc>
              <a:spcBef>
                <a:spcPts val="1000"/>
              </a:spcBef>
              <a:spcAft>
                <a:spcPts val="0"/>
              </a:spcAft>
              <a:buClr>
                <a:schemeClr val="dk1"/>
              </a:buClr>
              <a:buSzPts val="1100"/>
              <a:buChar char="•"/>
            </a:pPr>
            <a:r>
              <a:rPr b="0" i="0" lang="en-US" sz="1100">
                <a:latin typeface="Gill Sans"/>
                <a:ea typeface="Gill Sans"/>
                <a:cs typeface="Gill Sans"/>
                <a:sym typeface="Gill Sans"/>
              </a:rPr>
              <a:t>Los acreedores verificados tardíamente no pueden reclamar de sus coacreedores lo que hubieren percibido con arreglo al acuerdo, y el juez fijará la forma en que se aplicarán los efectos ya ocurridos, teniendo en cuenta la naturaleza de las prestaciones.</a:t>
            </a:r>
            <a:endParaRPr/>
          </a:p>
          <a:p>
            <a:pPr indent="-158750" lvl="0" marL="228600" rtl="0" algn="l">
              <a:lnSpc>
                <a:spcPct val="90000"/>
              </a:lnSpc>
              <a:spcBef>
                <a:spcPts val="1000"/>
              </a:spcBef>
              <a:spcAft>
                <a:spcPts val="0"/>
              </a:spcAft>
              <a:buClr>
                <a:schemeClr val="dk1"/>
              </a:buClr>
              <a:buSzPts val="1100"/>
              <a:buNone/>
            </a:pPr>
            <a:r>
              <a:t/>
            </a:r>
            <a:endParaRPr sz="1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4" name="Shape 294"/>
        <p:cNvGrpSpPr/>
        <p:nvPr/>
      </p:nvGrpSpPr>
      <p:grpSpPr>
        <a:xfrm>
          <a:off x="0" y="0"/>
          <a:ext cx="0" cy="0"/>
          <a:chOff x="0" y="0"/>
          <a:chExt cx="0" cy="0"/>
        </a:xfrm>
      </p:grpSpPr>
      <p:sp>
        <p:nvSpPr>
          <p:cNvPr id="295" name="Google Shape;295;p2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6" name="Google Shape;296;p21"/>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7" name="Google Shape;297;p21"/>
          <p:cNvSpPr/>
          <p:nvPr/>
        </p:nvSpPr>
        <p:spPr>
          <a:xfrm flipH="1" rot="10800000">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8" name="Google Shape;298;p21"/>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9" name="Google Shape;299;p21"/>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0" name="Google Shape;300;p21"/>
          <p:cNvSpPr txBox="1"/>
          <p:nvPr>
            <p:ph type="title"/>
          </p:nvPr>
        </p:nvSpPr>
        <p:spPr>
          <a:xfrm>
            <a:off x="1371599" y="294538"/>
            <a:ext cx="9895951" cy="103366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000"/>
              <a:buFont typeface="Gill Sans"/>
              <a:buNone/>
            </a:pPr>
            <a:r>
              <a:rPr b="0" i="0" lang="en-US" sz="4000">
                <a:solidFill>
                  <a:srgbClr val="FFFFFF"/>
                </a:solidFill>
                <a:latin typeface="Gill Sans"/>
                <a:ea typeface="Gill Sans"/>
                <a:cs typeface="Gill Sans"/>
                <a:sym typeface="Gill Sans"/>
              </a:rPr>
              <a:t>Acuerdos para acreedores privilegiados</a:t>
            </a:r>
            <a:endParaRPr sz="4000">
              <a:solidFill>
                <a:srgbClr val="FFFFFF"/>
              </a:solidFill>
            </a:endParaRPr>
          </a:p>
        </p:txBody>
      </p:sp>
      <p:sp>
        <p:nvSpPr>
          <p:cNvPr id="301" name="Google Shape;301;p21"/>
          <p:cNvSpPr txBox="1"/>
          <p:nvPr>
            <p:ph idx="1" type="body"/>
          </p:nvPr>
        </p:nvSpPr>
        <p:spPr>
          <a:xfrm>
            <a:off x="1371599" y="2318197"/>
            <a:ext cx="9724031" cy="3683358"/>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b="0" i="0" lang="en-US" sz="2000">
                <a:latin typeface="Gill Sans"/>
                <a:ea typeface="Gill Sans"/>
                <a:cs typeface="Gill Sans"/>
                <a:sym typeface="Gill Sans"/>
              </a:rPr>
              <a:t>ARTICULO 57.- Acuerdos para acreedores privilegiados. Los efectos de las cláusulas que comprenden a los acreedores privilegiados se producen, únicamente, si el acuerdo resulta homologado. Los acreedores privilegiados que no estuviesen comprendidos en el acuerdo preventivo </a:t>
            </a:r>
            <a:r>
              <a:rPr b="0" i="0" lang="en-US" sz="2000" u="sng">
                <a:latin typeface="Gill Sans"/>
                <a:ea typeface="Gill Sans"/>
                <a:cs typeface="Gill Sans"/>
                <a:sym typeface="Gill Sans"/>
              </a:rPr>
              <a:t>podrán ejecutar la sentencia de verificación ante el Juez que corresponda,</a:t>
            </a:r>
            <a:r>
              <a:rPr b="0" i="0" lang="en-US" sz="2000">
                <a:latin typeface="Gill Sans"/>
                <a:ea typeface="Gill Sans"/>
                <a:cs typeface="Gill Sans"/>
                <a:sym typeface="Gill Sans"/>
              </a:rPr>
              <a:t> de acuerdo con la naturaleza de sus créditos. </a:t>
            </a:r>
            <a:r>
              <a:rPr b="0" i="0" lang="en-US" sz="2000" u="sng">
                <a:latin typeface="Gill Sans"/>
                <a:ea typeface="Gill Sans"/>
                <a:cs typeface="Gill Sans"/>
                <a:sym typeface="Gill Sans"/>
              </a:rPr>
              <a:t>También podrán pedir la quiebra del deudor</a:t>
            </a:r>
            <a:r>
              <a:rPr b="0" i="0" lang="en-US" sz="2000">
                <a:latin typeface="Gill Sans"/>
                <a:ea typeface="Gill Sans"/>
                <a:cs typeface="Gill Sans"/>
                <a:sym typeface="Gill Sans"/>
              </a:rPr>
              <a:t> de conformidad a lo previsto en el artículo 80, segundo párrafo.</a:t>
            </a:r>
            <a:endParaRPr/>
          </a:p>
          <a:p>
            <a:pPr indent="-101600" lvl="0" marL="228600" rtl="0" algn="l">
              <a:lnSpc>
                <a:spcPct val="90000"/>
              </a:lnSpc>
              <a:spcBef>
                <a:spcPts val="1000"/>
              </a:spcBef>
              <a:spcAft>
                <a:spcPts val="0"/>
              </a:spcAft>
              <a:buClr>
                <a:schemeClr val="dk1"/>
              </a:buClr>
              <a:buSzPts val="2000"/>
              <a:buNone/>
            </a:pPr>
            <a:r>
              <a:t/>
            </a:r>
            <a:endParaRPr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5" name="Shape 305"/>
        <p:cNvGrpSpPr/>
        <p:nvPr/>
      </p:nvGrpSpPr>
      <p:grpSpPr>
        <a:xfrm>
          <a:off x="0" y="0"/>
          <a:ext cx="0" cy="0"/>
          <a:chOff x="0" y="0"/>
          <a:chExt cx="0" cy="0"/>
        </a:xfrm>
      </p:grpSpPr>
      <p:sp>
        <p:nvSpPr>
          <p:cNvPr id="306" name="Google Shape;306;p22"/>
          <p:cNvSpPr/>
          <p:nvPr/>
        </p:nvSpPr>
        <p:spPr>
          <a:xfrm>
            <a:off x="0" y="0"/>
            <a:ext cx="12192000" cy="191135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7" name="Google Shape;307;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600"/>
              <a:buFont typeface="Gill Sans"/>
              <a:buNone/>
            </a:pPr>
            <a:r>
              <a:rPr b="0" i="0" lang="en-US" sz="4600">
                <a:solidFill>
                  <a:srgbClr val="FFFFFF"/>
                </a:solidFill>
                <a:latin typeface="Gill Sans"/>
                <a:ea typeface="Gill Sans"/>
                <a:cs typeface="Gill Sans"/>
                <a:sym typeface="Gill Sans"/>
              </a:rPr>
              <a:t>Nulidad</a:t>
            </a:r>
            <a:endParaRPr sz="4600">
              <a:solidFill>
                <a:srgbClr val="FFFFFF"/>
              </a:solidFill>
            </a:endParaRPr>
          </a:p>
        </p:txBody>
      </p:sp>
      <p:sp>
        <p:nvSpPr>
          <p:cNvPr id="308" name="Google Shape;308;p22"/>
          <p:cNvSpPr txBox="1"/>
          <p:nvPr>
            <p:ph idx="1" type="body"/>
          </p:nvPr>
        </p:nvSpPr>
        <p:spPr>
          <a:xfrm>
            <a:off x="838200" y="2438400"/>
            <a:ext cx="10515600" cy="373856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200"/>
              <a:buChar char="•"/>
            </a:pPr>
            <a:r>
              <a:rPr b="0" i="0" lang="en-US" sz="2200">
                <a:latin typeface="Gill Sans"/>
                <a:ea typeface="Gill Sans"/>
                <a:cs typeface="Gill Sans"/>
                <a:sym typeface="Gill Sans"/>
              </a:rPr>
              <a:t>ARTICULO 60.- Sujetos y término. El acuerdo homologado puede ser declarado nulo, a pedido de cualquier acreedor comprendido en él, dentro del plazo de caducidad de SEIS (6) meses, contados a partir del auto que dispone la homologación del acuerdo.</a:t>
            </a:r>
            <a:endParaRPr/>
          </a:p>
          <a:p>
            <a:pPr indent="-228600" lvl="0" marL="228600" rtl="0" algn="l">
              <a:lnSpc>
                <a:spcPct val="90000"/>
              </a:lnSpc>
              <a:spcBef>
                <a:spcPts val="1000"/>
              </a:spcBef>
              <a:spcAft>
                <a:spcPts val="0"/>
              </a:spcAft>
              <a:buClr>
                <a:schemeClr val="dk1"/>
              </a:buClr>
              <a:buSzPts val="2200"/>
              <a:buChar char="•"/>
            </a:pPr>
            <a:r>
              <a:rPr b="0" i="0" lang="en-US" sz="2200">
                <a:latin typeface="Gill Sans"/>
                <a:ea typeface="Gill Sans"/>
                <a:cs typeface="Gill Sans"/>
                <a:sym typeface="Gill Sans"/>
              </a:rPr>
              <a:t>Causal. La nulidad sólo puede fundarse en el dolo empleado para</a:t>
            </a:r>
            <a:endParaRPr/>
          </a:p>
          <a:p>
            <a:pPr indent="-228600" lvl="1" marL="685800" rtl="0" algn="l">
              <a:lnSpc>
                <a:spcPct val="90000"/>
              </a:lnSpc>
              <a:spcBef>
                <a:spcPts val="500"/>
              </a:spcBef>
              <a:spcAft>
                <a:spcPts val="0"/>
              </a:spcAft>
              <a:buClr>
                <a:schemeClr val="dk1"/>
              </a:buClr>
              <a:buSzPts val="2200"/>
              <a:buChar char="•"/>
            </a:pPr>
            <a:r>
              <a:rPr b="0" i="0" lang="en-US" sz="2200">
                <a:latin typeface="Gill Sans"/>
                <a:ea typeface="Gill Sans"/>
                <a:cs typeface="Gill Sans"/>
                <a:sym typeface="Gill Sans"/>
              </a:rPr>
              <a:t> exagerar el pasivo, </a:t>
            </a:r>
            <a:endParaRPr/>
          </a:p>
          <a:p>
            <a:pPr indent="-228600" lvl="1" marL="685800" rtl="0" algn="l">
              <a:lnSpc>
                <a:spcPct val="90000"/>
              </a:lnSpc>
              <a:spcBef>
                <a:spcPts val="500"/>
              </a:spcBef>
              <a:spcAft>
                <a:spcPts val="0"/>
              </a:spcAft>
              <a:buClr>
                <a:schemeClr val="dk1"/>
              </a:buClr>
              <a:buSzPts val="2200"/>
              <a:buChar char="•"/>
            </a:pPr>
            <a:r>
              <a:rPr b="0" i="0" lang="en-US" sz="2200">
                <a:latin typeface="Gill Sans"/>
                <a:ea typeface="Gill Sans"/>
                <a:cs typeface="Gill Sans"/>
                <a:sym typeface="Gill Sans"/>
              </a:rPr>
              <a:t>reconocer o aparentar privilegios inexistentes o constituidos ilícitamente, y</a:t>
            </a:r>
            <a:endParaRPr/>
          </a:p>
          <a:p>
            <a:pPr indent="-228600" lvl="1" marL="685800" rtl="0" algn="l">
              <a:lnSpc>
                <a:spcPct val="90000"/>
              </a:lnSpc>
              <a:spcBef>
                <a:spcPts val="500"/>
              </a:spcBef>
              <a:spcAft>
                <a:spcPts val="0"/>
              </a:spcAft>
              <a:buClr>
                <a:schemeClr val="dk1"/>
              </a:buClr>
              <a:buSzPts val="2200"/>
              <a:buChar char="•"/>
            </a:pPr>
            <a:r>
              <a:rPr b="0" i="0" lang="en-US" sz="2200">
                <a:latin typeface="Gill Sans"/>
                <a:ea typeface="Gill Sans"/>
                <a:cs typeface="Gill Sans"/>
                <a:sym typeface="Gill Sans"/>
              </a:rPr>
              <a:t> ocultar o exagerar el activo, </a:t>
            </a:r>
            <a:endParaRPr/>
          </a:p>
          <a:p>
            <a:pPr indent="-88900" lvl="1" marL="685800" rtl="0" algn="l">
              <a:lnSpc>
                <a:spcPct val="90000"/>
              </a:lnSpc>
              <a:spcBef>
                <a:spcPts val="500"/>
              </a:spcBef>
              <a:spcAft>
                <a:spcPts val="0"/>
              </a:spcAft>
              <a:buClr>
                <a:schemeClr val="dk1"/>
              </a:buClr>
              <a:buSzPts val="2200"/>
              <a:buNone/>
            </a:pPr>
            <a:r>
              <a:t/>
            </a:r>
            <a:endParaRPr sz="2200">
              <a:latin typeface="Gill Sans"/>
              <a:ea typeface="Gill Sans"/>
              <a:cs typeface="Gill Sans"/>
              <a:sym typeface="Gill Sans"/>
            </a:endParaRPr>
          </a:p>
          <a:p>
            <a:pPr indent="-228600" lvl="1" marL="685800" rtl="0" algn="l">
              <a:lnSpc>
                <a:spcPct val="90000"/>
              </a:lnSpc>
              <a:spcBef>
                <a:spcPts val="500"/>
              </a:spcBef>
              <a:spcAft>
                <a:spcPts val="0"/>
              </a:spcAft>
              <a:buClr>
                <a:schemeClr val="dk1"/>
              </a:buClr>
              <a:buSzPts val="2200"/>
              <a:buChar char="•"/>
            </a:pPr>
            <a:r>
              <a:rPr b="1" i="0" lang="en-US" sz="2200" u="sng">
                <a:latin typeface="Gill Sans"/>
                <a:ea typeface="Gill Sans"/>
                <a:cs typeface="Gill Sans"/>
                <a:sym typeface="Gill Sans"/>
              </a:rPr>
              <a:t>descubiertos después de vencido el plazo del Artículo 50.</a:t>
            </a:r>
            <a:endParaRPr/>
          </a:p>
          <a:p>
            <a:pPr indent="-88900" lvl="0" marL="228600" rtl="0" algn="l">
              <a:lnSpc>
                <a:spcPct val="90000"/>
              </a:lnSpc>
              <a:spcBef>
                <a:spcPts val="1000"/>
              </a:spcBef>
              <a:spcAft>
                <a:spcPts val="0"/>
              </a:spcAft>
              <a:buClr>
                <a:schemeClr val="dk1"/>
              </a:buClr>
              <a:buSzPts val="2200"/>
              <a:buNone/>
            </a:pPr>
            <a:r>
              <a:t/>
            </a:r>
            <a:endParaRPr sz="22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2" name="Shape 312"/>
        <p:cNvGrpSpPr/>
        <p:nvPr/>
      </p:nvGrpSpPr>
      <p:grpSpPr>
        <a:xfrm>
          <a:off x="0" y="0"/>
          <a:ext cx="0" cy="0"/>
          <a:chOff x="0" y="0"/>
          <a:chExt cx="0" cy="0"/>
        </a:xfrm>
      </p:grpSpPr>
      <p:sp>
        <p:nvSpPr>
          <p:cNvPr id="313" name="Google Shape;313;p23"/>
          <p:cNvSpPr/>
          <p:nvPr/>
        </p:nvSpPr>
        <p:spPr>
          <a:xfrm>
            <a:off x="0" y="0"/>
            <a:ext cx="12192000" cy="191135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4" name="Google Shape;314;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600"/>
              <a:buFont typeface="Gill Sans"/>
              <a:buNone/>
            </a:pPr>
            <a:r>
              <a:rPr b="0" i="0" lang="en-US" sz="4600">
                <a:solidFill>
                  <a:srgbClr val="FFFFFF"/>
                </a:solidFill>
                <a:latin typeface="Gill Sans"/>
                <a:ea typeface="Gill Sans"/>
                <a:cs typeface="Gill Sans"/>
                <a:sym typeface="Gill Sans"/>
              </a:rPr>
              <a:t>Sentencia: quiebra</a:t>
            </a:r>
            <a:endParaRPr sz="4600">
              <a:solidFill>
                <a:srgbClr val="FFFFFF"/>
              </a:solidFill>
            </a:endParaRPr>
          </a:p>
        </p:txBody>
      </p:sp>
      <p:sp>
        <p:nvSpPr>
          <p:cNvPr id="315" name="Google Shape;315;p23"/>
          <p:cNvSpPr txBox="1"/>
          <p:nvPr>
            <p:ph idx="1" type="body"/>
          </p:nvPr>
        </p:nvSpPr>
        <p:spPr>
          <a:xfrm>
            <a:off x="838200" y="2438400"/>
            <a:ext cx="10515600" cy="373856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600"/>
              <a:buChar char="•"/>
            </a:pPr>
            <a:r>
              <a:rPr b="0" i="0" lang="en-US" sz="2600">
                <a:latin typeface="Gill Sans"/>
                <a:ea typeface="Gill Sans"/>
                <a:cs typeface="Gill Sans"/>
                <a:sym typeface="Gill Sans"/>
              </a:rPr>
              <a:t>ARTICULO 61.- Sentencia: quiebra. La sentencia que decrete la nulidad del acuerdo debe contener la declaración de quiebra del deudor y las medidas del Articulo 177. Es apelable, sin perjuicio del inmediato cumplimiento de las medidas de los Artículos 177 a 199.</a:t>
            </a:r>
            <a:endParaRPr sz="26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9" name="Shape 319"/>
        <p:cNvGrpSpPr/>
        <p:nvPr/>
      </p:nvGrpSpPr>
      <p:grpSpPr>
        <a:xfrm>
          <a:off x="0" y="0"/>
          <a:ext cx="0" cy="0"/>
          <a:chOff x="0" y="0"/>
          <a:chExt cx="0" cy="0"/>
        </a:xfrm>
      </p:grpSpPr>
      <p:sp>
        <p:nvSpPr>
          <p:cNvPr id="320" name="Google Shape;320;p24"/>
          <p:cNvSpPr/>
          <p:nvPr/>
        </p:nvSpPr>
        <p:spPr>
          <a:xfrm>
            <a:off x="0" y="0"/>
            <a:ext cx="5048250" cy="68580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1" name="Google Shape;321;p24"/>
          <p:cNvSpPr txBox="1"/>
          <p:nvPr>
            <p:ph type="title"/>
          </p:nvPr>
        </p:nvSpPr>
        <p:spPr>
          <a:xfrm>
            <a:off x="838200" y="624568"/>
            <a:ext cx="3766457" cy="54129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Gill Sans"/>
              <a:buNone/>
            </a:pPr>
            <a:br>
              <a:rPr b="0" i="0" lang="en-US">
                <a:solidFill>
                  <a:srgbClr val="FFFFFF"/>
                </a:solidFill>
                <a:latin typeface="Gill Sans"/>
                <a:ea typeface="Gill Sans"/>
                <a:cs typeface="Gill Sans"/>
                <a:sym typeface="Gill Sans"/>
              </a:rPr>
            </a:br>
            <a:r>
              <a:rPr b="0" i="0" lang="en-US">
                <a:solidFill>
                  <a:srgbClr val="FFFFFF"/>
                </a:solidFill>
                <a:latin typeface="Gill Sans"/>
                <a:ea typeface="Gill Sans"/>
                <a:cs typeface="Gill Sans"/>
                <a:sym typeface="Gill Sans"/>
              </a:rPr>
              <a:t>Otros efectos</a:t>
            </a:r>
            <a:endParaRPr>
              <a:solidFill>
                <a:srgbClr val="FFFFFF"/>
              </a:solidFill>
            </a:endParaRPr>
          </a:p>
        </p:txBody>
      </p:sp>
      <p:sp>
        <p:nvSpPr>
          <p:cNvPr id="322" name="Google Shape;322;p24"/>
          <p:cNvSpPr txBox="1"/>
          <p:nvPr>
            <p:ph idx="1" type="body"/>
          </p:nvPr>
        </p:nvSpPr>
        <p:spPr>
          <a:xfrm>
            <a:off x="5600700" y="624568"/>
            <a:ext cx="5753098" cy="5412920"/>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500"/>
              <a:buChar char="•"/>
            </a:pPr>
            <a:r>
              <a:rPr b="0" i="0" lang="en-US" sz="1500">
                <a:latin typeface="Gill Sans"/>
                <a:ea typeface="Gill Sans"/>
                <a:cs typeface="Gill Sans"/>
                <a:sym typeface="Gill Sans"/>
              </a:rPr>
              <a:t>ARTICULO 62.-. La nulidad del acuerdo produce, además, los siguientes efectos:</a:t>
            </a:r>
            <a:endParaRPr/>
          </a:p>
          <a:p>
            <a:pPr indent="-228600" lvl="0" marL="228600" rtl="0" algn="l">
              <a:lnSpc>
                <a:spcPct val="90000"/>
              </a:lnSpc>
              <a:spcBef>
                <a:spcPts val="1000"/>
              </a:spcBef>
              <a:spcAft>
                <a:spcPts val="0"/>
              </a:spcAft>
              <a:buClr>
                <a:schemeClr val="dk1"/>
              </a:buClr>
              <a:buSzPts val="1500"/>
              <a:buChar char="•"/>
            </a:pPr>
            <a:r>
              <a:rPr b="0" i="0" lang="en-US" sz="1500">
                <a:latin typeface="Gill Sans"/>
                <a:ea typeface="Gill Sans"/>
                <a:cs typeface="Gill Sans"/>
                <a:sym typeface="Gill Sans"/>
              </a:rPr>
              <a:t>1) Libera al fiador que garantizó su cumplimiento.</a:t>
            </a:r>
            <a:endParaRPr/>
          </a:p>
          <a:p>
            <a:pPr indent="-228600" lvl="0" marL="228600" rtl="0" algn="l">
              <a:lnSpc>
                <a:spcPct val="90000"/>
              </a:lnSpc>
              <a:spcBef>
                <a:spcPts val="1000"/>
              </a:spcBef>
              <a:spcAft>
                <a:spcPts val="0"/>
              </a:spcAft>
              <a:buClr>
                <a:schemeClr val="dk1"/>
              </a:buClr>
              <a:buSzPts val="1500"/>
              <a:buChar char="•"/>
            </a:pPr>
            <a:r>
              <a:rPr b="0" i="0" lang="en-US" sz="1500">
                <a:latin typeface="Gill Sans"/>
                <a:ea typeface="Gill Sans"/>
                <a:cs typeface="Gill Sans"/>
                <a:sym typeface="Gill Sans"/>
              </a:rPr>
              <a:t>2) Los acreedores recuperan los derechos que tenían antes de la apertura del concurso. Si hubieren recibido pagos a cuenta del cumplimiento del acuerdo, tienen derecho a cobrar en proporción igual a la parte no cumplida. El acreedor que haya recibido el pago total de lo estipulado en el acuerdo queda excluido de la quiebra.</a:t>
            </a:r>
            <a:endParaRPr/>
          </a:p>
          <a:p>
            <a:pPr indent="-228600" lvl="0" marL="228600" rtl="0" algn="l">
              <a:lnSpc>
                <a:spcPct val="90000"/>
              </a:lnSpc>
              <a:spcBef>
                <a:spcPts val="1000"/>
              </a:spcBef>
              <a:spcAft>
                <a:spcPts val="0"/>
              </a:spcAft>
              <a:buClr>
                <a:schemeClr val="dk1"/>
              </a:buClr>
              <a:buSzPts val="1500"/>
              <a:buChar char="•"/>
            </a:pPr>
            <a:r>
              <a:rPr b="0" i="0" lang="en-US" sz="1500">
                <a:latin typeface="Gill Sans"/>
                <a:ea typeface="Gill Sans"/>
                <a:cs typeface="Gill Sans"/>
                <a:sym typeface="Gill Sans"/>
              </a:rPr>
              <a:t>3) Son nulas las demás medidas adoptadas en cumplimiento del acuerdo, en cuanto satisfagan los créditos comprendidos en él.</a:t>
            </a:r>
            <a:endParaRPr/>
          </a:p>
          <a:p>
            <a:pPr indent="-228600" lvl="0" marL="228600" rtl="0" algn="l">
              <a:lnSpc>
                <a:spcPct val="90000"/>
              </a:lnSpc>
              <a:spcBef>
                <a:spcPts val="1000"/>
              </a:spcBef>
              <a:spcAft>
                <a:spcPts val="0"/>
              </a:spcAft>
              <a:buClr>
                <a:schemeClr val="dk1"/>
              </a:buClr>
              <a:buSzPts val="1500"/>
              <a:buChar char="•"/>
            </a:pPr>
            <a:r>
              <a:rPr b="0" i="0" lang="en-US" sz="1500">
                <a:latin typeface="Gill Sans"/>
                <a:ea typeface="Gill Sans"/>
                <a:cs typeface="Gill Sans"/>
                <a:sym typeface="Gill Sans"/>
              </a:rPr>
              <a:t>4) Los acreedores recuperan el privilegio al que han renunciado para votar el acuerdo.</a:t>
            </a:r>
            <a:endParaRPr/>
          </a:p>
          <a:p>
            <a:pPr indent="-228600" lvl="0" marL="228600" rtl="0" algn="l">
              <a:lnSpc>
                <a:spcPct val="90000"/>
              </a:lnSpc>
              <a:spcBef>
                <a:spcPts val="1000"/>
              </a:spcBef>
              <a:spcAft>
                <a:spcPts val="0"/>
              </a:spcAft>
              <a:buClr>
                <a:schemeClr val="dk1"/>
              </a:buClr>
              <a:buSzPts val="1500"/>
              <a:buChar char="•"/>
            </a:pPr>
            <a:r>
              <a:rPr b="0" i="0" lang="en-US" sz="1500">
                <a:latin typeface="Gill Sans"/>
                <a:ea typeface="Gill Sans"/>
                <a:cs typeface="Gill Sans"/>
                <a:sym typeface="Gill Sans"/>
              </a:rPr>
              <a:t>5) Los acreedores cuyos créditos fueron dolosamente exagerados, quedan excluidos.</a:t>
            </a:r>
            <a:endParaRPr/>
          </a:p>
          <a:p>
            <a:pPr indent="-228600" lvl="0" marL="228600" rtl="0" algn="l">
              <a:lnSpc>
                <a:spcPct val="90000"/>
              </a:lnSpc>
              <a:spcBef>
                <a:spcPts val="1000"/>
              </a:spcBef>
              <a:spcAft>
                <a:spcPts val="0"/>
              </a:spcAft>
              <a:buClr>
                <a:schemeClr val="dk1"/>
              </a:buClr>
              <a:buSzPts val="1500"/>
              <a:buChar char="•"/>
            </a:pPr>
            <a:r>
              <a:rPr b="0" i="0" lang="en-US" sz="1500">
                <a:latin typeface="Gill Sans"/>
                <a:ea typeface="Gill Sans"/>
                <a:cs typeface="Gill Sans"/>
                <a:sym typeface="Gill Sans"/>
              </a:rPr>
              <a:t>6) Abre un nuevo período de información, correspondiendo aplicar los Artículos 200 a 202.</a:t>
            </a:r>
            <a:endParaRPr/>
          </a:p>
          <a:p>
            <a:pPr indent="-228600" lvl="0" marL="228600" rtl="0" algn="l">
              <a:lnSpc>
                <a:spcPct val="90000"/>
              </a:lnSpc>
              <a:spcBef>
                <a:spcPts val="1000"/>
              </a:spcBef>
              <a:spcAft>
                <a:spcPts val="0"/>
              </a:spcAft>
              <a:buClr>
                <a:schemeClr val="dk1"/>
              </a:buClr>
              <a:buSzPts val="1500"/>
              <a:buChar char="•"/>
            </a:pPr>
            <a:r>
              <a:rPr b="0" i="0" lang="en-US" sz="1500">
                <a:latin typeface="Gill Sans"/>
                <a:ea typeface="Gill Sans"/>
                <a:cs typeface="Gill Sans"/>
                <a:sym typeface="Gill Sans"/>
              </a:rPr>
              <a:t>7) Los bienes deben ser realizados, sin más trámite.</a:t>
            </a:r>
            <a:endParaRPr/>
          </a:p>
          <a:p>
            <a:pPr indent="-228600" lvl="0" marL="228600" rtl="0" algn="l">
              <a:lnSpc>
                <a:spcPct val="90000"/>
              </a:lnSpc>
              <a:spcBef>
                <a:spcPts val="1000"/>
              </a:spcBef>
              <a:spcAft>
                <a:spcPts val="0"/>
              </a:spcAft>
              <a:buClr>
                <a:schemeClr val="dk1"/>
              </a:buClr>
              <a:buSzPts val="1500"/>
              <a:buChar char="•"/>
            </a:pPr>
            <a:br>
              <a:rPr lang="en-US" sz="1500"/>
            </a:br>
            <a:endParaRPr sz="15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Escenarios - Nulidad</a:t>
            </a:r>
            <a:endParaRPr/>
          </a:p>
        </p:txBody>
      </p:sp>
      <p:sp>
        <p:nvSpPr>
          <p:cNvPr id="328" name="Google Shape;328;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Acreedor crédito original de 2000 / homologación de acuerdo de 50% a pagar en 4 cuotas // tiene por cobrar 4 cuotas de 250</a:t>
            </a:r>
            <a:endParaRPr/>
          </a:p>
          <a:p>
            <a:pPr indent="-228600" lvl="1" marL="685800" rtl="0" algn="l">
              <a:lnSpc>
                <a:spcPct val="90000"/>
              </a:lnSpc>
              <a:spcBef>
                <a:spcPts val="500"/>
              </a:spcBef>
              <a:spcAft>
                <a:spcPts val="0"/>
              </a:spcAft>
              <a:buClr>
                <a:schemeClr val="dk1"/>
              </a:buClr>
              <a:buSzPts val="2400"/>
              <a:buChar char="•"/>
            </a:pPr>
            <a:r>
              <a:rPr lang="en-US"/>
              <a:t>Si se decreta la nulidad una vez realizados los 4 pagos // </a:t>
            </a:r>
            <a:r>
              <a:rPr lang="en-US"/>
              <a:t>quedó</a:t>
            </a:r>
            <a:r>
              <a:rPr lang="en-US"/>
              <a:t> saldada la deuda</a:t>
            </a:r>
            <a:endParaRPr/>
          </a:p>
          <a:p>
            <a:pPr indent="-228600" lvl="1" marL="685800" rtl="0" algn="l">
              <a:lnSpc>
                <a:spcPct val="90000"/>
              </a:lnSpc>
              <a:spcBef>
                <a:spcPts val="500"/>
              </a:spcBef>
              <a:spcAft>
                <a:spcPts val="0"/>
              </a:spcAft>
              <a:buClr>
                <a:schemeClr val="dk1"/>
              </a:buClr>
              <a:buSzPts val="2400"/>
              <a:buChar char="•"/>
            </a:pPr>
            <a:r>
              <a:rPr lang="en-US"/>
              <a:t>Si se decreta la nulidad sin que se haya pagado nada // a la quiebra va a ir por 2000</a:t>
            </a:r>
            <a:endParaRPr/>
          </a:p>
          <a:p>
            <a:pPr indent="-228600" lvl="1" marL="685800" rtl="0" algn="l">
              <a:lnSpc>
                <a:spcPct val="90000"/>
              </a:lnSpc>
              <a:spcBef>
                <a:spcPts val="500"/>
              </a:spcBef>
              <a:spcAft>
                <a:spcPts val="0"/>
              </a:spcAft>
              <a:buClr>
                <a:schemeClr val="dk1"/>
              </a:buClr>
              <a:buSzPts val="2400"/>
              <a:buChar char="•"/>
            </a:pPr>
            <a:r>
              <a:rPr lang="en-US"/>
              <a:t>Si se decreta la quiebra habiendose pagado 3 cuotas (cobro 750) //  queda por cobrar el 25 % del valor original (2000) = 500</a:t>
            </a:r>
            <a:endParaRPr/>
          </a:p>
          <a:p>
            <a:pPr indent="-266700" lvl="1" marL="685800" rtl="0" algn="l">
              <a:spcBef>
                <a:spcPts val="500"/>
              </a:spcBef>
              <a:spcAft>
                <a:spcPts val="0"/>
              </a:spcAft>
              <a:buSzPts val="2400"/>
              <a:buChar char="•"/>
            </a:pPr>
            <a:r>
              <a:rPr lang="en-US"/>
              <a:t>Si se decreta la quiebra habiéndose pagado 2 cuotas (cobro 500) //  queda por cobrar el 50 % del valor original (2000) = 1000</a:t>
            </a:r>
            <a:endParaRPr/>
          </a:p>
          <a:p>
            <a:pPr indent="0" lvl="0" marL="685800" rtl="0" algn="l">
              <a:lnSpc>
                <a:spcPct val="90000"/>
              </a:lnSpc>
              <a:spcBef>
                <a:spcPts val="5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2021-04-08T17:50:06Z</dcterms:created>
  <dc:creator>maximiliano romei</dc:creator>
</cp:coreProperties>
</file>