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hHOaAN0tDeVYSZbjJHFzBTfg5O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customschemas.google.com/relationships/presentationmetadata" Target="meta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22" name="Shape 22"/>
        <p:cNvGrpSpPr/>
        <p:nvPr/>
      </p:nvGrpSpPr>
      <p:grpSpPr>
        <a:xfrm>
          <a:off x="0" y="0"/>
          <a:ext cx="0" cy="0"/>
          <a:chOff x="0" y="0"/>
          <a:chExt cx="0" cy="0"/>
        </a:xfrm>
      </p:grpSpPr>
      <p:grpSp>
        <p:nvGrpSpPr>
          <p:cNvPr id="23" name="Google Shape;23;p43"/>
          <p:cNvGrpSpPr/>
          <p:nvPr/>
        </p:nvGrpSpPr>
        <p:grpSpPr>
          <a:xfrm>
            <a:off x="0" y="-8467"/>
            <a:ext cx="12192000" cy="6866467"/>
            <a:chOff x="0" y="-8467"/>
            <a:chExt cx="12192000" cy="6866467"/>
          </a:xfrm>
        </p:grpSpPr>
        <p:cxnSp>
          <p:nvCxnSpPr>
            <p:cNvPr id="24" name="Google Shape;24;p43"/>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5" name="Google Shape;25;p43"/>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26" name="Google Shape;26;p4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27" name="Google Shape;27;p4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43"/>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0" name="Google Shape;30;p4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1" name="Google Shape;31;p4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2" name="Google Shape;32;p43"/>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3"/>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43"/>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3"/>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4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9" name="Shape 39"/>
        <p:cNvGrpSpPr/>
        <p:nvPr/>
      </p:nvGrpSpPr>
      <p:grpSpPr>
        <a:xfrm>
          <a:off x="0" y="0"/>
          <a:ext cx="0" cy="0"/>
          <a:chOff x="0" y="0"/>
          <a:chExt cx="0" cy="0"/>
        </a:xfrm>
      </p:grpSpPr>
      <p:sp>
        <p:nvSpPr>
          <p:cNvPr id="40" name="Google Shape;40;p4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2" name="Google Shape;42;p4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5" name="Shape 45"/>
        <p:cNvGrpSpPr/>
        <p:nvPr/>
      </p:nvGrpSpPr>
      <p:grpSpPr>
        <a:xfrm>
          <a:off x="0" y="0"/>
          <a:ext cx="0" cy="0"/>
          <a:chOff x="0" y="0"/>
          <a:chExt cx="0" cy="0"/>
        </a:xfrm>
      </p:grpSpPr>
      <p:sp>
        <p:nvSpPr>
          <p:cNvPr id="46" name="Google Shape;46;p45"/>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5"/>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48" name="Google Shape;48;p4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1" name="Shape 51"/>
        <p:cNvGrpSpPr/>
        <p:nvPr/>
      </p:nvGrpSpPr>
      <p:grpSpPr>
        <a:xfrm>
          <a:off x="0" y="0"/>
          <a:ext cx="0" cy="0"/>
          <a:chOff x="0" y="0"/>
          <a:chExt cx="0" cy="0"/>
        </a:xfrm>
      </p:grpSpPr>
      <p:sp>
        <p:nvSpPr>
          <p:cNvPr id="52" name="Google Shape;52;p4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6"/>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4" name="Google Shape;54;p46"/>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5" name="Google Shape;55;p4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8" name="Shape 58"/>
        <p:cNvGrpSpPr/>
        <p:nvPr/>
      </p:nvGrpSpPr>
      <p:grpSpPr>
        <a:xfrm>
          <a:off x="0" y="0"/>
          <a:ext cx="0" cy="0"/>
          <a:chOff x="0" y="0"/>
          <a:chExt cx="0" cy="0"/>
        </a:xfrm>
      </p:grpSpPr>
      <p:sp>
        <p:nvSpPr>
          <p:cNvPr id="59" name="Google Shape;59;p4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7"/>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1" name="Google Shape;61;p47"/>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47"/>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3" name="Google Shape;63;p47"/>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4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7" name="Shape 67"/>
        <p:cNvGrpSpPr/>
        <p:nvPr/>
      </p:nvGrpSpPr>
      <p:grpSpPr>
        <a:xfrm>
          <a:off x="0" y="0"/>
          <a:ext cx="0" cy="0"/>
          <a:chOff x="0" y="0"/>
          <a:chExt cx="0" cy="0"/>
        </a:xfrm>
      </p:grpSpPr>
      <p:sp>
        <p:nvSpPr>
          <p:cNvPr id="68" name="Google Shape;68;p4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2" name="Shape 72"/>
        <p:cNvGrpSpPr/>
        <p:nvPr/>
      </p:nvGrpSpPr>
      <p:grpSpPr>
        <a:xfrm>
          <a:off x="0" y="0"/>
          <a:ext cx="0" cy="0"/>
          <a:chOff x="0" y="0"/>
          <a:chExt cx="0" cy="0"/>
        </a:xfrm>
      </p:grpSpPr>
      <p:sp>
        <p:nvSpPr>
          <p:cNvPr id="73" name="Google Shape;73;p4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6" name="Shape 76"/>
        <p:cNvGrpSpPr/>
        <p:nvPr/>
      </p:nvGrpSpPr>
      <p:grpSpPr>
        <a:xfrm>
          <a:off x="0" y="0"/>
          <a:ext cx="0" cy="0"/>
          <a:chOff x="0" y="0"/>
          <a:chExt cx="0" cy="0"/>
        </a:xfrm>
      </p:grpSpPr>
      <p:sp>
        <p:nvSpPr>
          <p:cNvPr id="77" name="Google Shape;77;p50"/>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0"/>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9" name="Google Shape;79;p50"/>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0" name="Google Shape;80;p5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83" name="Shape 83"/>
        <p:cNvGrpSpPr/>
        <p:nvPr/>
      </p:nvGrpSpPr>
      <p:grpSpPr>
        <a:xfrm>
          <a:off x="0" y="0"/>
          <a:ext cx="0" cy="0"/>
          <a:chOff x="0" y="0"/>
          <a:chExt cx="0" cy="0"/>
        </a:xfrm>
      </p:grpSpPr>
      <p:sp>
        <p:nvSpPr>
          <p:cNvPr id="84" name="Google Shape;84;p51"/>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1"/>
          <p:cNvSpPr/>
          <p:nvPr>
            <p:ph idx="2" type="pic"/>
          </p:nvPr>
        </p:nvSpPr>
        <p:spPr>
          <a:xfrm>
            <a:off x="677334" y="609600"/>
            <a:ext cx="8596668" cy="3845718"/>
          </a:xfrm>
          <a:prstGeom prst="rect">
            <a:avLst/>
          </a:prstGeom>
          <a:noFill/>
          <a:ln>
            <a:noFill/>
          </a:ln>
        </p:spPr>
      </p:sp>
      <p:sp>
        <p:nvSpPr>
          <p:cNvPr id="86" name="Google Shape;86;p51"/>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7" name="Google Shape;87;p5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90" name="Shape 90"/>
        <p:cNvGrpSpPr/>
        <p:nvPr/>
      </p:nvGrpSpPr>
      <p:grpSpPr>
        <a:xfrm>
          <a:off x="0" y="0"/>
          <a:ext cx="0" cy="0"/>
          <a:chOff x="0" y="0"/>
          <a:chExt cx="0" cy="0"/>
        </a:xfrm>
      </p:grpSpPr>
      <p:sp>
        <p:nvSpPr>
          <p:cNvPr id="91" name="Google Shape;91;p52"/>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2"/>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3" name="Google Shape;93;p5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96" name="Shape 96"/>
        <p:cNvGrpSpPr/>
        <p:nvPr/>
      </p:nvGrpSpPr>
      <p:grpSpPr>
        <a:xfrm>
          <a:off x="0" y="0"/>
          <a:ext cx="0" cy="0"/>
          <a:chOff x="0" y="0"/>
          <a:chExt cx="0" cy="0"/>
        </a:xfrm>
      </p:grpSpPr>
      <p:sp>
        <p:nvSpPr>
          <p:cNvPr id="97" name="Google Shape;97;p53"/>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3"/>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9" name="Google Shape;99;p53"/>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0" name="Google Shape;100;p5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
        <p:nvSpPr>
          <p:cNvPr id="103" name="Google Shape;103;p53"/>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rgbClr val="BFE471"/>
                </a:solidFill>
                <a:latin typeface="Arial"/>
                <a:ea typeface="Arial"/>
                <a:cs typeface="Arial"/>
                <a:sym typeface="Arial"/>
              </a:rPr>
              <a:t>“</a:t>
            </a:r>
            <a:endParaRPr/>
          </a:p>
        </p:txBody>
      </p:sp>
      <p:sp>
        <p:nvSpPr>
          <p:cNvPr id="104" name="Google Shape;104;p53"/>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05" name="Shape 105"/>
        <p:cNvGrpSpPr/>
        <p:nvPr/>
      </p:nvGrpSpPr>
      <p:grpSpPr>
        <a:xfrm>
          <a:off x="0" y="0"/>
          <a:ext cx="0" cy="0"/>
          <a:chOff x="0" y="0"/>
          <a:chExt cx="0" cy="0"/>
        </a:xfrm>
      </p:grpSpPr>
      <p:sp>
        <p:nvSpPr>
          <p:cNvPr id="106" name="Google Shape;106;p54"/>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4"/>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8" name="Google Shape;108;p5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11" name="Shape 111"/>
        <p:cNvGrpSpPr/>
        <p:nvPr/>
      </p:nvGrpSpPr>
      <p:grpSpPr>
        <a:xfrm>
          <a:off x="0" y="0"/>
          <a:ext cx="0" cy="0"/>
          <a:chOff x="0" y="0"/>
          <a:chExt cx="0" cy="0"/>
        </a:xfrm>
      </p:grpSpPr>
      <p:sp>
        <p:nvSpPr>
          <p:cNvPr id="112" name="Google Shape;112;p55"/>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5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4" name="Google Shape;114;p5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5" name="Google Shape;115;p5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
        <p:nvSpPr>
          <p:cNvPr id="118" name="Google Shape;118;p55"/>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rgbClr val="BFE471"/>
                </a:solidFill>
                <a:latin typeface="Arial"/>
                <a:ea typeface="Arial"/>
                <a:cs typeface="Arial"/>
                <a:sym typeface="Arial"/>
              </a:rPr>
              <a:t>“</a:t>
            </a:r>
            <a:endParaRPr/>
          </a:p>
        </p:txBody>
      </p:sp>
      <p:sp>
        <p:nvSpPr>
          <p:cNvPr id="119" name="Google Shape;119;p55"/>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AR"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20" name="Shape 120"/>
        <p:cNvGrpSpPr/>
        <p:nvPr/>
      </p:nvGrpSpPr>
      <p:grpSpPr>
        <a:xfrm>
          <a:off x="0" y="0"/>
          <a:ext cx="0" cy="0"/>
          <a:chOff x="0" y="0"/>
          <a:chExt cx="0" cy="0"/>
        </a:xfrm>
      </p:grpSpPr>
      <p:sp>
        <p:nvSpPr>
          <p:cNvPr id="121" name="Google Shape;121;p56"/>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56"/>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3" name="Google Shape;123;p56"/>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4" name="Google Shape;124;p5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5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7" name="Shape 127"/>
        <p:cNvGrpSpPr/>
        <p:nvPr/>
      </p:nvGrpSpPr>
      <p:grpSpPr>
        <a:xfrm>
          <a:off x="0" y="0"/>
          <a:ext cx="0" cy="0"/>
          <a:chOff x="0" y="0"/>
          <a:chExt cx="0" cy="0"/>
        </a:xfrm>
      </p:grpSpPr>
      <p:sp>
        <p:nvSpPr>
          <p:cNvPr id="128" name="Google Shape;128;p5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7"/>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0" name="Google Shape;130;p5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5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3" name="Shape 133"/>
        <p:cNvGrpSpPr/>
        <p:nvPr/>
      </p:nvGrpSpPr>
      <p:grpSpPr>
        <a:xfrm>
          <a:off x="0" y="0"/>
          <a:ext cx="0" cy="0"/>
          <a:chOff x="0" y="0"/>
          <a:chExt cx="0" cy="0"/>
        </a:xfrm>
      </p:grpSpPr>
      <p:sp>
        <p:nvSpPr>
          <p:cNvPr id="134" name="Google Shape;134;p58"/>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58"/>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6" name="Google Shape;136;p5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42"/>
          <p:cNvGrpSpPr/>
          <p:nvPr/>
        </p:nvGrpSpPr>
        <p:grpSpPr>
          <a:xfrm>
            <a:off x="0" y="-8467"/>
            <a:ext cx="12192000" cy="6866467"/>
            <a:chOff x="0" y="-8467"/>
            <a:chExt cx="12192000" cy="6866467"/>
          </a:xfrm>
        </p:grpSpPr>
        <p:cxnSp>
          <p:nvCxnSpPr>
            <p:cNvPr id="7" name="Google Shape;7;p42"/>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42"/>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4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0" name="Google Shape;10;p4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42"/>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3" name="Google Shape;13;p4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4" name="Google Shape;14;p4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5" name="Google Shape;15;p42"/>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2"/>
            <p:cNvSpPr/>
            <p:nvPr/>
          </p:nvSpPr>
          <p:spPr>
            <a:xfrm>
              <a:off x="0" y="4013200"/>
              <a:ext cx="448733" cy="2844800"/>
            </a:xfrm>
            <a:prstGeom prst="triangle">
              <a:avLst>
                <a:gd fmla="val 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4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4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4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4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4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Trebuchet MS"/>
              <a:buNone/>
            </a:pPr>
            <a:r>
              <a:rPr lang="es-AR"/>
              <a:t>Extension de Quiebra – Responsabilidad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Extension de quiebra</a:t>
            </a:r>
            <a:endParaRPr/>
          </a:p>
        </p:txBody>
      </p:sp>
      <p:sp>
        <p:nvSpPr>
          <p:cNvPr id="149" name="Google Shape;149;p2"/>
          <p:cNvSpPr txBox="1"/>
          <p:nvPr/>
        </p:nvSpPr>
        <p:spPr>
          <a:xfrm>
            <a:off x="1784195" y="1724412"/>
            <a:ext cx="5330283" cy="369332"/>
          </a:xfrm>
          <a:prstGeom prst="rect">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s-AR" sz="1800" u="none" cap="none" strike="noStrike">
                <a:solidFill>
                  <a:schemeClr val="dk1"/>
                </a:solidFill>
                <a:latin typeface="Trebuchet MS"/>
                <a:ea typeface="Trebuchet MS"/>
                <a:cs typeface="Trebuchet MS"/>
                <a:sym typeface="Trebuchet MS"/>
              </a:rPr>
              <a:t>MEDIO DE INCREMENTAR EL ACTIVO LIQUIDABLE</a:t>
            </a:r>
            <a:endParaRPr/>
          </a:p>
        </p:txBody>
      </p:sp>
      <p:sp>
        <p:nvSpPr>
          <p:cNvPr id="150" name="Google Shape;150;p2"/>
          <p:cNvSpPr/>
          <p:nvPr/>
        </p:nvSpPr>
        <p:spPr>
          <a:xfrm>
            <a:off x="758283" y="2894411"/>
            <a:ext cx="1530607" cy="2033190"/>
          </a:xfrm>
          <a:prstGeom prst="ellipse">
            <a:avLst/>
          </a:prstGeom>
          <a:solidFill>
            <a:srgbClr val="3F7818"/>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51" name="Google Shape;151;p2"/>
          <p:cNvSpPr txBox="1"/>
          <p:nvPr/>
        </p:nvSpPr>
        <p:spPr>
          <a:xfrm>
            <a:off x="846047" y="3463073"/>
            <a:ext cx="135507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Trebuchet MS"/>
                <a:ea typeface="Trebuchet MS"/>
                <a:cs typeface="Trebuchet MS"/>
                <a:sym typeface="Trebuchet MS"/>
              </a:rPr>
              <a:t>QUIEBRA PRINCIPAL</a:t>
            </a:r>
            <a:endParaRPr/>
          </a:p>
        </p:txBody>
      </p:sp>
      <p:sp>
        <p:nvSpPr>
          <p:cNvPr id="152" name="Google Shape;152;p2"/>
          <p:cNvSpPr/>
          <p:nvPr/>
        </p:nvSpPr>
        <p:spPr>
          <a:xfrm>
            <a:off x="2877015" y="3256776"/>
            <a:ext cx="3534936" cy="1136804"/>
          </a:xfrm>
          <a:prstGeom prst="rightArrow">
            <a:avLst>
              <a:gd fmla="val 50000" name="adj1"/>
              <a:gd fmla="val 50000" name="adj2"/>
            </a:avLst>
          </a:prstGeom>
          <a:solidFill>
            <a:srgbClr val="3F7818"/>
          </a:solidFill>
          <a:ln cap="rnd"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53" name="Google Shape;153;p2"/>
          <p:cNvSpPr txBox="1"/>
          <p:nvPr/>
        </p:nvSpPr>
        <p:spPr>
          <a:xfrm>
            <a:off x="3724506" y="3507058"/>
            <a:ext cx="17618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Trebuchet MS"/>
                <a:ea typeface="Trebuchet MS"/>
                <a:cs typeface="Trebuchet MS"/>
                <a:sym typeface="Trebuchet MS"/>
              </a:rPr>
              <a:t>SE EXTIENDE</a:t>
            </a:r>
            <a:endParaRPr/>
          </a:p>
        </p:txBody>
      </p:sp>
      <p:sp>
        <p:nvSpPr>
          <p:cNvPr id="154" name="Google Shape;154;p2"/>
          <p:cNvSpPr/>
          <p:nvPr/>
        </p:nvSpPr>
        <p:spPr>
          <a:xfrm>
            <a:off x="6880302" y="2894411"/>
            <a:ext cx="2040674" cy="1900613"/>
          </a:xfrm>
          <a:prstGeom prst="roundRect">
            <a:avLst>
              <a:gd fmla="val 16667" name="adj"/>
            </a:avLst>
          </a:prstGeom>
          <a:solidFill>
            <a:srgbClr val="3F7818"/>
          </a:solidFill>
          <a:ln cap="rnd" cmpd="sng" w="127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55" name="Google Shape;155;p2"/>
          <p:cNvSpPr txBox="1"/>
          <p:nvPr/>
        </p:nvSpPr>
        <p:spPr>
          <a:xfrm>
            <a:off x="7276170" y="3429000"/>
            <a:ext cx="150541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Trebuchet MS"/>
                <a:ea typeface="Trebuchet MS"/>
                <a:cs typeface="Trebuchet MS"/>
                <a:sym typeface="Trebuchet MS"/>
              </a:rPr>
              <a:t>QUIEBRA </a:t>
            </a:r>
            <a:endParaRPr/>
          </a:p>
          <a:p>
            <a:pPr indent="0" lvl="0" marL="0" marR="0" rtl="0" algn="l">
              <a:spcBef>
                <a:spcPts val="0"/>
              </a:spcBef>
              <a:spcAft>
                <a:spcPts val="0"/>
              </a:spcAft>
              <a:buNone/>
            </a:pPr>
            <a:r>
              <a:rPr lang="es-AR" sz="1800">
                <a:solidFill>
                  <a:schemeClr val="dk1"/>
                </a:solidFill>
                <a:latin typeface="Trebuchet MS"/>
                <a:ea typeface="Trebuchet MS"/>
                <a:cs typeface="Trebuchet MS"/>
                <a:sym typeface="Trebuchet MS"/>
              </a:rPr>
              <a:t>REFLEJA</a:t>
            </a:r>
            <a:endParaRPr/>
          </a:p>
        </p:txBody>
      </p:sp>
      <p:sp>
        <p:nvSpPr>
          <p:cNvPr id="156" name="Google Shape;156;p2"/>
          <p:cNvSpPr/>
          <p:nvPr/>
        </p:nvSpPr>
        <p:spPr>
          <a:xfrm>
            <a:off x="1350585" y="5254289"/>
            <a:ext cx="6389648" cy="1204331"/>
          </a:xfrm>
          <a:prstGeom prst="flowChartTerminator">
            <a:avLst/>
          </a:prstGeom>
          <a:solidFill>
            <a:schemeClr val="accent1"/>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57" name="Google Shape;157;p2"/>
          <p:cNvSpPr txBox="1"/>
          <p:nvPr/>
        </p:nvSpPr>
        <p:spPr>
          <a:xfrm>
            <a:off x="1873404" y="5535290"/>
            <a:ext cx="558676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1800">
                <a:solidFill>
                  <a:schemeClr val="dk1"/>
                </a:solidFill>
                <a:latin typeface="Trebuchet MS"/>
                <a:ea typeface="Trebuchet MS"/>
                <a:cs typeface="Trebuchet MS"/>
                <a:sym typeface="Trebuchet MS"/>
              </a:rPr>
              <a:t>Ven incrementada su esperanza de cobro total al sumarse bienes liquidables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Extension de Quiebra</a:t>
            </a:r>
            <a:endParaRPr/>
          </a:p>
        </p:txBody>
      </p:sp>
      <p:sp>
        <p:nvSpPr>
          <p:cNvPr id="163" name="Google Shape;163;p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80000"/>
              <a:buChar char="►"/>
            </a:pPr>
            <a:r>
              <a:rPr lang="es-AR"/>
              <a:t>Este instituto trata, en definitiva, y en casos de quiebra decretada, de comunicar o propagar a un tercero los efectos </a:t>
            </a:r>
            <a:r>
              <a:rPr b="1" lang="es-AR"/>
              <a:t>de </a:t>
            </a:r>
            <a:r>
              <a:rPr lang="es-AR"/>
              <a:t>ella </a:t>
            </a:r>
            <a:endParaRPr/>
          </a:p>
          <a:p>
            <a:pPr indent="-342900" lvl="0" marL="342900" rtl="0" algn="l">
              <a:spcBef>
                <a:spcPts val="1000"/>
              </a:spcBef>
              <a:spcAft>
                <a:spcPts val="0"/>
              </a:spcAft>
              <a:buSzPct val="80000"/>
              <a:buChar char="►"/>
            </a:pPr>
            <a:r>
              <a:rPr lang="es-AR"/>
              <a:t>Los presupuestos para la extensión están dados por la necesaria existencia de una quiebra declarada a la que denominamos </a:t>
            </a:r>
            <a:r>
              <a:rPr b="1" i="1" lang="es-AR"/>
              <a:t>principal </a:t>
            </a:r>
            <a:r>
              <a:rPr lang="es-AR"/>
              <a:t>y la confluencia </a:t>
            </a:r>
            <a:r>
              <a:rPr b="1" lang="es-AR"/>
              <a:t>de </a:t>
            </a:r>
            <a:r>
              <a:rPr lang="es-AR"/>
              <a:t>las causales de extensión tipificadas en la ley, caso en que la nueva quiebra es considerada como </a:t>
            </a:r>
            <a:r>
              <a:rPr i="1" lang="es-AR"/>
              <a:t>refleja o dependiente.</a:t>
            </a:r>
            <a:endParaRPr/>
          </a:p>
          <a:p>
            <a:pPr indent="-342900" lvl="0" marL="342900" rtl="0" algn="l">
              <a:spcBef>
                <a:spcPts val="1000"/>
              </a:spcBef>
              <a:spcAft>
                <a:spcPts val="0"/>
              </a:spcAft>
              <a:buSzPct val="80000"/>
              <a:buChar char="►"/>
            </a:pPr>
            <a:r>
              <a:rPr i="1" lang="es-AR" u="sng"/>
              <a:t>No es necesario que el sujeto al que se le busca extender la quiebra se encuentre en estado de cesacion de pagos</a:t>
            </a:r>
            <a:r>
              <a:rPr i="1" lang="es-AR"/>
              <a:t> </a:t>
            </a:r>
            <a:endParaRPr/>
          </a:p>
          <a:p>
            <a:pPr indent="-342900" lvl="0" marL="342900" rtl="0" algn="l">
              <a:spcBef>
                <a:spcPts val="1000"/>
              </a:spcBef>
              <a:spcAft>
                <a:spcPts val="0"/>
              </a:spcAft>
              <a:buSzPct val="80000"/>
              <a:buChar char="►"/>
            </a:pPr>
            <a:r>
              <a:rPr i="1" lang="es-AR"/>
              <a:t>Es de interpretación restrictiva dado que es una excepción al criterio general que indica que no hay quiebra sin insolvencia</a:t>
            </a:r>
            <a:endParaRPr/>
          </a:p>
          <a:p>
            <a:pPr indent="-285750" lvl="1" marL="742950" rtl="0" algn="l">
              <a:spcBef>
                <a:spcPts val="1000"/>
              </a:spcBef>
              <a:spcAft>
                <a:spcPts val="0"/>
              </a:spcAft>
              <a:buSzPct val="80000"/>
              <a:buChar char="►"/>
            </a:pPr>
            <a:r>
              <a:rPr i="1" lang="es-AR"/>
              <a:t>Ante encuadre dudoso, el juez deberia denegarlo</a:t>
            </a:r>
            <a:endParaRPr/>
          </a:p>
          <a:p>
            <a:pPr indent="-285750" lvl="1" marL="742950" rtl="0" algn="l">
              <a:spcBef>
                <a:spcPts val="1000"/>
              </a:spcBef>
              <a:spcAft>
                <a:spcPts val="0"/>
              </a:spcAft>
              <a:buSzPct val="80000"/>
              <a:buChar char="►"/>
            </a:pPr>
            <a:r>
              <a:rPr i="1" lang="es-AR"/>
              <a:t>Los supuestos descriptos en la ley son </a:t>
            </a:r>
            <a:r>
              <a:rPr i="1" lang="es-AR" u="sng"/>
              <a:t>numerus clausus</a:t>
            </a:r>
            <a:endParaRPr/>
          </a:p>
          <a:p>
            <a:pPr indent="-285750" lvl="1" marL="742950" rtl="0" algn="l">
              <a:spcBef>
                <a:spcPts val="1000"/>
              </a:spcBef>
              <a:spcAft>
                <a:spcPts val="0"/>
              </a:spcAft>
              <a:buSzPct val="80000"/>
              <a:buChar char="►"/>
            </a:pPr>
            <a:r>
              <a:rPr lang="es-AR"/>
              <a:t>Aplicación como ultima ratio</a:t>
            </a:r>
            <a:endParaRPr/>
          </a:p>
          <a:p>
            <a:pPr indent="-258318" lvl="0" marL="342900" rtl="0" algn="l">
              <a:spcBef>
                <a:spcPts val="1000"/>
              </a:spcBef>
              <a:spcAft>
                <a:spcPts val="0"/>
              </a:spcAft>
              <a:buSzPct val="8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Extensión</a:t>
            </a:r>
            <a:r>
              <a:rPr lang="es-AR"/>
              <a:t> de la Quiebra</a:t>
            </a:r>
            <a:endParaRPr/>
          </a:p>
        </p:txBody>
      </p:sp>
      <p:sp>
        <p:nvSpPr>
          <p:cNvPr id="169" name="Google Shape;169;p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ARTÍCULO</a:t>
            </a:r>
            <a:r>
              <a:rPr lang="es-AR"/>
              <a:t> 160.- Socios con responsabilidad ilimitada. La quiebra de la sociedad importa la quiebra de sus socios con responsabilidad ilimitada. También implica la de los socios con igual responsabilidad que se hubiesen retirado o hubieren sido excluidos después de producida la cesación de pagos, por las deudas existentes a la fecha en la que el retiro fuera inscrito en el Registro Público de Comercio, justificadas en el concurso.</a:t>
            </a:r>
            <a:endParaRPr/>
          </a:p>
          <a:p>
            <a:pPr indent="0" lvl="0" marL="0" rtl="0" algn="l">
              <a:spcBef>
                <a:spcPts val="1000"/>
              </a:spcBef>
              <a:spcAft>
                <a:spcPts val="0"/>
              </a:spcAft>
              <a:buSzPts val="1440"/>
              <a:buNone/>
            </a:pPr>
            <a:r>
              <a:rPr lang="es-AR"/>
              <a:t>	Cada vez que la ley se refiere al fallido o deudor, se entiende que la 	disposición se aplica también a los socios indicados en este artículo.</a:t>
            </a:r>
            <a:endParaRPr/>
          </a:p>
          <a:p>
            <a:pPr indent="0" lvl="0" marL="0" rtl="0" algn="l">
              <a:spcBef>
                <a:spcPts val="1000"/>
              </a:spcBef>
              <a:spcAft>
                <a:spcPts val="0"/>
              </a:spcAft>
              <a:buSzPts val="144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Extension de Quiebra</a:t>
            </a:r>
            <a:endParaRPr/>
          </a:p>
        </p:txBody>
      </p:sp>
      <p:sp>
        <p:nvSpPr>
          <p:cNvPr id="175" name="Google Shape;175;p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La norma alude a los socios ilimitadamente responsables, sin distinguir si esa responsabilidad es solamente originaria (contrato social) o puede ser tambien derivada</a:t>
            </a:r>
            <a:endParaRPr/>
          </a:p>
          <a:p>
            <a:pPr indent="-285750" lvl="1" marL="742950" rtl="0" algn="l">
              <a:spcBef>
                <a:spcPts val="1000"/>
              </a:spcBef>
              <a:spcAft>
                <a:spcPts val="0"/>
              </a:spcAft>
              <a:buSzPts val="1280"/>
              <a:buChar char="►"/>
            </a:pPr>
            <a:r>
              <a:rPr lang="es-AR"/>
              <a:t>CHOMER – “Partiendo del tipo y del contrato social, se puede decir que los socios se han obligado primigeniamente </a:t>
            </a:r>
            <a:r>
              <a:rPr b="1" lang="es-AR"/>
              <a:t>de </a:t>
            </a:r>
            <a:r>
              <a:rPr lang="es-AR"/>
              <a:t>modo ilimitado y </a:t>
            </a:r>
            <a:r>
              <a:rPr b="1" lang="es-AR"/>
              <a:t>que </a:t>
            </a:r>
            <a:r>
              <a:rPr lang="es-AR"/>
              <a:t>los </a:t>
            </a:r>
            <a:r>
              <a:rPr b="1" lang="es-AR"/>
              <a:t>acree</a:t>
            </a:r>
            <a:r>
              <a:rPr lang="es-AR"/>
              <a:t>dores lo tuvieron en cuenta al momento de negociar”</a:t>
            </a:r>
            <a:endParaRPr/>
          </a:p>
          <a:p>
            <a:pPr indent="-342900" lvl="0" marL="342900" rtl="0" algn="l">
              <a:spcBef>
                <a:spcPts val="1000"/>
              </a:spcBef>
              <a:spcAft>
                <a:spcPts val="0"/>
              </a:spcAft>
              <a:buSzPts val="1440"/>
              <a:buChar char="►"/>
            </a:pPr>
            <a:r>
              <a:rPr b="1" lang="es-AR"/>
              <a:t>La </a:t>
            </a:r>
            <a:r>
              <a:rPr lang="es-AR"/>
              <a:t>quiebra de los socios es automática; es decir, se </a:t>
            </a:r>
            <a:r>
              <a:rPr b="1" lang="es-AR"/>
              <a:t>dicta </a:t>
            </a:r>
            <a:r>
              <a:rPr lang="es-AR"/>
              <a:t>y opera desde el mismo instante en que se operó la quiebra principal </a:t>
            </a:r>
            <a:endParaRPr/>
          </a:p>
          <a:p>
            <a:pPr indent="-251460" lvl="0" marL="342900" rtl="0" algn="l">
              <a:spcBef>
                <a:spcPts val="1000"/>
              </a:spcBef>
              <a:spcAft>
                <a:spcPts val="0"/>
              </a:spcAft>
              <a:buSzPts val="1440"/>
              <a:buNone/>
            </a:pPr>
            <a:r>
              <a:t/>
            </a:r>
            <a:endParaRPr/>
          </a:p>
          <a:p>
            <a:pPr indent="-204470" lvl="1" marL="742950" rtl="0" algn="l">
              <a:spcBef>
                <a:spcPts val="1000"/>
              </a:spcBef>
              <a:spcAft>
                <a:spcPts val="0"/>
              </a:spcAft>
              <a:buSzPts val="128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Sistema de masas</a:t>
            </a:r>
            <a:endParaRPr/>
          </a:p>
        </p:txBody>
      </p:sp>
      <p:sp>
        <p:nvSpPr>
          <p:cNvPr id="181" name="Google Shape;181;p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80000"/>
              <a:buChar char="►"/>
            </a:pPr>
            <a:r>
              <a:rPr lang="es-AR"/>
              <a:t>La ley no lo especifica en este caso.</a:t>
            </a:r>
            <a:endParaRPr/>
          </a:p>
          <a:p>
            <a:pPr indent="-342900" lvl="0" marL="342900" rtl="0" algn="l">
              <a:spcBef>
                <a:spcPts val="1000"/>
              </a:spcBef>
              <a:spcAft>
                <a:spcPts val="0"/>
              </a:spcAft>
              <a:buSzPct val="80000"/>
              <a:buChar char="►"/>
            </a:pPr>
            <a:r>
              <a:rPr lang="es-AR"/>
              <a:t>Conforme al articulo 167, la norma es la formacion de masas separadas</a:t>
            </a:r>
            <a:endParaRPr/>
          </a:p>
          <a:p>
            <a:pPr indent="-342900" lvl="0" marL="342900" rtl="0" algn="l">
              <a:spcBef>
                <a:spcPts val="1000"/>
              </a:spcBef>
              <a:spcAft>
                <a:spcPts val="0"/>
              </a:spcAft>
              <a:buSzPct val="80000"/>
              <a:buChar char="►"/>
            </a:pPr>
            <a:r>
              <a:rPr lang="es-AR"/>
              <a:t>Se conformaran masas separadas</a:t>
            </a:r>
            <a:endParaRPr/>
          </a:p>
          <a:p>
            <a:pPr indent="-285750" lvl="1" marL="742950" rtl="0" algn="l">
              <a:spcBef>
                <a:spcPts val="1000"/>
              </a:spcBef>
              <a:spcAft>
                <a:spcPts val="0"/>
              </a:spcAft>
              <a:buSzPct val="80000"/>
              <a:buChar char="►"/>
            </a:pPr>
            <a:r>
              <a:rPr lang="es-AR"/>
              <a:t>Una masa con el activo y pasivo de la sociedad</a:t>
            </a:r>
            <a:endParaRPr/>
          </a:p>
          <a:p>
            <a:pPr indent="-285750" lvl="1" marL="742950" rtl="0" algn="l">
              <a:spcBef>
                <a:spcPts val="1000"/>
              </a:spcBef>
              <a:spcAft>
                <a:spcPts val="0"/>
              </a:spcAft>
              <a:buSzPct val="80000"/>
              <a:buChar char="►"/>
            </a:pPr>
            <a:r>
              <a:rPr lang="es-AR"/>
              <a:t>Tantas masas como socios ilimitadamente responsables existan</a:t>
            </a:r>
            <a:endParaRPr/>
          </a:p>
          <a:p>
            <a:pPr indent="-342900" lvl="0" marL="342900" rtl="0" algn="l">
              <a:spcBef>
                <a:spcPts val="1000"/>
              </a:spcBef>
              <a:spcAft>
                <a:spcPts val="0"/>
              </a:spcAft>
              <a:buSzPct val="80000"/>
              <a:buChar char="►"/>
            </a:pPr>
            <a:r>
              <a:rPr lang="es-AR"/>
              <a:t>los socios son coobligados </a:t>
            </a:r>
            <a:r>
              <a:rPr b="1" lang="es-AR"/>
              <a:t>para </a:t>
            </a:r>
            <a:r>
              <a:rPr lang="es-AR"/>
              <a:t>con las deudas del ente social,exclusivamente.</a:t>
            </a:r>
            <a:endParaRPr/>
          </a:p>
          <a:p>
            <a:pPr indent="-342900" lvl="0" marL="342900" rtl="0" algn="l">
              <a:spcBef>
                <a:spcPts val="1000"/>
              </a:spcBef>
              <a:spcAft>
                <a:spcPts val="0"/>
              </a:spcAft>
              <a:buSzPct val="80000"/>
              <a:buChar char="►"/>
            </a:pPr>
            <a:r>
              <a:rPr lang="es-AR"/>
              <a:t>derecho de repetición que </a:t>
            </a:r>
            <a:r>
              <a:rPr b="1" lang="es-AR"/>
              <a:t>puede </a:t>
            </a:r>
            <a:r>
              <a:rPr lang="es-AR"/>
              <a:t>darse entre las masas. </a:t>
            </a:r>
            <a:endParaRPr/>
          </a:p>
          <a:p>
            <a:pPr indent="-285750" lvl="1" marL="742950" rtl="0" algn="l">
              <a:spcBef>
                <a:spcPts val="1000"/>
              </a:spcBef>
              <a:spcAft>
                <a:spcPts val="0"/>
              </a:spcAft>
              <a:buSzPct val="80000"/>
              <a:buChar char="►"/>
            </a:pPr>
            <a:r>
              <a:rPr lang="es-AR"/>
              <a:t>Si uno de los socios concluyó la quiebra de la sociedad junto con la suya, se entiende que, subrogado en los derechos de los acreedores sociales, puede ejercer sus derechos contra los bienes sociales que hubiere. </a:t>
            </a:r>
            <a:endParaRPr/>
          </a:p>
          <a:p>
            <a:pPr indent="-285750" lvl="1" marL="742950" rtl="0" algn="l">
              <a:spcBef>
                <a:spcPts val="1000"/>
              </a:spcBef>
              <a:spcAft>
                <a:spcPts val="0"/>
              </a:spcAft>
              <a:buSzPct val="80000"/>
              <a:buChar char="►"/>
            </a:pPr>
            <a:r>
              <a:rPr lang="es-AR"/>
              <a:t> si queda remanente y la sociedad entra en liquidacion, se distribuye entre los socios</a:t>
            </a:r>
            <a:endParaRPr/>
          </a:p>
          <a:p>
            <a:pPr indent="-285750" lvl="1" marL="742950" rtl="0" algn="l">
              <a:spcBef>
                <a:spcPts val="1000"/>
              </a:spcBef>
              <a:spcAft>
                <a:spcPts val="0"/>
              </a:spcAft>
              <a:buSzPct val="80000"/>
              <a:buChar char="►"/>
            </a:pPr>
            <a:r>
              <a:rPr lang="es-AR"/>
              <a:t>En cuanto a repeticion se aplica articulo 135 parrafo 2 </a:t>
            </a:r>
            <a:endParaRPr/>
          </a:p>
          <a:p>
            <a:pPr indent="-228600" lvl="2" marL="1143000" rtl="0" algn="l">
              <a:spcBef>
                <a:spcPts val="1000"/>
              </a:spcBef>
              <a:spcAft>
                <a:spcPts val="0"/>
              </a:spcAft>
              <a:buSzPct val="80000"/>
              <a:buChar char="►"/>
            </a:pPr>
            <a:r>
              <a:rPr lang="es-AR"/>
              <a:t>Sera incluido en el pasivo de los consocios por la cuota contributiva a las perdidas</a:t>
            </a:r>
            <a:endParaRPr/>
          </a:p>
          <a:p>
            <a:pPr indent="-258318" lvl="0" marL="342900" rtl="0" algn="l">
              <a:spcBef>
                <a:spcPts val="1000"/>
              </a:spcBef>
              <a:spcAft>
                <a:spcPts val="0"/>
              </a:spcAft>
              <a:buSzPct val="80000"/>
              <a:buNone/>
            </a:pPr>
            <a:r>
              <a:t/>
            </a:r>
            <a:endParaRPr/>
          </a:p>
          <a:p>
            <a:pPr indent="-258318" lvl="0" marL="342900" rtl="0" algn="l">
              <a:spcBef>
                <a:spcPts val="1000"/>
              </a:spcBef>
              <a:spcAft>
                <a:spcPts val="0"/>
              </a:spcAft>
              <a:buSzPct val="8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idx="1" type="body"/>
          </p:nvPr>
        </p:nvSpPr>
        <p:spPr>
          <a:xfrm>
            <a:off x="543984" y="1417639"/>
            <a:ext cx="6214004" cy="3880773"/>
          </a:xfrm>
          <a:prstGeom prst="rect">
            <a:avLst/>
          </a:prstGeom>
          <a:noFill/>
          <a:ln>
            <a:noFill/>
          </a:ln>
        </p:spPr>
        <p:txBody>
          <a:bodyPr anchorCtr="0" anchor="t" bIns="45700" lIns="91425" spcFirstLastPara="1" rIns="91425" wrap="square" tIns="45700">
            <a:normAutofit fontScale="62500" lnSpcReduction="20000"/>
          </a:bodyPr>
          <a:lstStyle/>
          <a:p>
            <a:pPr indent="-315468" lvl="0" marL="342900" rtl="0" algn="l">
              <a:spcBef>
                <a:spcPts val="0"/>
              </a:spcBef>
              <a:spcAft>
                <a:spcPts val="0"/>
              </a:spcAft>
              <a:buSzPct val="80000"/>
              <a:buChar char="►"/>
            </a:pPr>
            <a:r>
              <a:rPr lang="es-AR"/>
              <a:t>Fallida SOCIEDAD COLECTIVA 	</a:t>
            </a:r>
            <a:endParaRPr/>
          </a:p>
          <a:p>
            <a:pPr indent="-261366" lvl="1" marL="742950" rtl="0" algn="l">
              <a:spcBef>
                <a:spcPts val="1000"/>
              </a:spcBef>
              <a:spcAft>
                <a:spcPts val="0"/>
              </a:spcAft>
              <a:buSzPct val="80000"/>
              <a:buChar char="►"/>
            </a:pPr>
            <a:r>
              <a:rPr lang="es-AR"/>
              <a:t>masa activa 100</a:t>
            </a:r>
            <a:endParaRPr/>
          </a:p>
          <a:p>
            <a:pPr indent="-261366" lvl="1" marL="742950" rtl="0" algn="l">
              <a:spcBef>
                <a:spcPts val="1000"/>
              </a:spcBef>
              <a:spcAft>
                <a:spcPts val="0"/>
              </a:spcAft>
              <a:buSzPct val="80000"/>
              <a:buChar char="►"/>
            </a:pPr>
            <a:r>
              <a:rPr lang="es-AR"/>
              <a:t>Masa pasiva </a:t>
            </a:r>
            <a:r>
              <a:rPr lang="es-AR" strike="sngStrike">
                <a:solidFill>
                  <a:srgbClr val="FF0000"/>
                </a:solidFill>
              </a:rPr>
              <a:t>1000</a:t>
            </a:r>
            <a:endParaRPr/>
          </a:p>
          <a:p>
            <a:pPr indent="-315468" lvl="0" marL="342900" rtl="0" algn="l">
              <a:spcBef>
                <a:spcPts val="1000"/>
              </a:spcBef>
              <a:spcAft>
                <a:spcPts val="0"/>
              </a:spcAft>
              <a:buSzPct val="80000"/>
              <a:buChar char="►"/>
            </a:pPr>
            <a:r>
              <a:rPr lang="es-AR"/>
              <a:t>Fallida SOCIO A – </a:t>
            </a:r>
            <a:endParaRPr/>
          </a:p>
          <a:p>
            <a:pPr indent="-261366" lvl="1" marL="742950" rtl="0" algn="l">
              <a:spcBef>
                <a:spcPts val="1000"/>
              </a:spcBef>
              <a:spcAft>
                <a:spcPts val="0"/>
              </a:spcAft>
              <a:buSzPct val="80000"/>
              <a:buChar char="►"/>
            </a:pPr>
            <a:r>
              <a:rPr lang="es-AR"/>
              <a:t>masa activa 20000</a:t>
            </a:r>
            <a:endParaRPr/>
          </a:p>
          <a:p>
            <a:pPr indent="-261366" lvl="1" marL="742950" rtl="0" algn="l">
              <a:spcBef>
                <a:spcPts val="1000"/>
              </a:spcBef>
              <a:spcAft>
                <a:spcPts val="0"/>
              </a:spcAft>
              <a:buSzPct val="80000"/>
              <a:buChar char="►"/>
            </a:pPr>
            <a:r>
              <a:rPr lang="es-AR"/>
              <a:t>Masa pasiva 9000</a:t>
            </a:r>
            <a:endParaRPr/>
          </a:p>
          <a:p>
            <a:pPr indent="-261366" lvl="1" marL="742950" rtl="0" algn="l">
              <a:spcBef>
                <a:spcPts val="1000"/>
              </a:spcBef>
              <a:spcAft>
                <a:spcPts val="0"/>
              </a:spcAft>
              <a:buSzPct val="80000"/>
              <a:buChar char="►"/>
            </a:pPr>
            <a:r>
              <a:rPr b="1" lang="es-AR" u="sng"/>
              <a:t>Masa pasiva 1000 DE LA PPAL</a:t>
            </a:r>
            <a:endParaRPr b="1" u="sng"/>
          </a:p>
          <a:p>
            <a:pPr indent="-315468" lvl="0" marL="342900" rtl="0" algn="l">
              <a:spcBef>
                <a:spcPts val="1000"/>
              </a:spcBef>
              <a:spcAft>
                <a:spcPts val="0"/>
              </a:spcAft>
              <a:buSzPct val="80000"/>
              <a:buChar char="►"/>
            </a:pPr>
            <a:r>
              <a:rPr lang="es-AR"/>
              <a:t>Fallida SOCIO B --- acreedores insatisfechos -- 2000</a:t>
            </a:r>
            <a:endParaRPr/>
          </a:p>
          <a:p>
            <a:pPr indent="-261366" lvl="1" marL="742950" rtl="0" algn="l">
              <a:spcBef>
                <a:spcPts val="1000"/>
              </a:spcBef>
              <a:spcAft>
                <a:spcPts val="0"/>
              </a:spcAft>
              <a:buSzPct val="80000"/>
              <a:buChar char="►"/>
            </a:pPr>
            <a:r>
              <a:rPr lang="es-AR"/>
              <a:t>masa activa 15000</a:t>
            </a:r>
            <a:endParaRPr/>
          </a:p>
          <a:p>
            <a:pPr indent="-261366" lvl="1" marL="742950" rtl="0" algn="l">
              <a:spcBef>
                <a:spcPts val="1000"/>
              </a:spcBef>
              <a:spcAft>
                <a:spcPts val="0"/>
              </a:spcAft>
              <a:buSzPct val="80000"/>
              <a:buChar char="►"/>
            </a:pPr>
            <a:r>
              <a:rPr lang="es-AR"/>
              <a:t>Masa pasiva 17000</a:t>
            </a:r>
            <a:endParaRPr/>
          </a:p>
          <a:p>
            <a:pPr indent="-261366" lvl="1" marL="742950" rtl="0" algn="l">
              <a:spcBef>
                <a:spcPts val="1000"/>
              </a:spcBef>
              <a:spcAft>
                <a:spcPts val="0"/>
              </a:spcAft>
              <a:buSzPct val="80000"/>
              <a:buChar char="►"/>
            </a:pPr>
            <a:r>
              <a:rPr b="1" lang="es-AR" u="sng"/>
              <a:t>Masa pasiva 1000 DE LA PPAL</a:t>
            </a:r>
            <a:endParaRPr b="1" u="sng"/>
          </a:p>
          <a:p>
            <a:pPr indent="-210566" lvl="1" marL="742950" rtl="0" algn="l">
              <a:spcBef>
                <a:spcPts val="1000"/>
              </a:spcBef>
              <a:spcAft>
                <a:spcPts val="0"/>
              </a:spcAft>
              <a:buSzPct val="80000"/>
              <a:buNone/>
            </a:pPr>
            <a:r>
              <a:t/>
            </a:r>
            <a:endParaRPr/>
          </a:p>
          <a:p>
            <a:pPr indent="-258318" lvl="0" marL="342900" rtl="0" algn="l">
              <a:spcBef>
                <a:spcPts val="1000"/>
              </a:spcBef>
              <a:spcAft>
                <a:spcPts val="0"/>
              </a:spcAft>
              <a:buSzPct val="80000"/>
              <a:buNone/>
            </a:pPr>
            <a:r>
              <a:t/>
            </a:r>
            <a:endParaRPr/>
          </a:p>
          <a:p>
            <a:pPr indent="-210566" lvl="1" marL="742950" rtl="0" algn="l">
              <a:spcBef>
                <a:spcPts val="1000"/>
              </a:spcBef>
              <a:spcAft>
                <a:spcPts val="0"/>
              </a:spcAft>
              <a:buSzPct val="80000"/>
              <a:buNone/>
            </a:pPr>
            <a:r>
              <a:t/>
            </a:r>
            <a:endParaRPr/>
          </a:p>
          <a:p>
            <a:pPr indent="-172212" lvl="3" marL="1600200" rtl="0" algn="l">
              <a:spcBef>
                <a:spcPts val="1000"/>
              </a:spcBef>
              <a:spcAft>
                <a:spcPts val="0"/>
              </a:spcAft>
              <a:buSzPct val="8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Jurisprudencia</a:t>
            </a:r>
            <a:endParaRPr/>
          </a:p>
        </p:txBody>
      </p:sp>
      <p:sp>
        <p:nvSpPr>
          <p:cNvPr id="192" name="Google Shape;192;p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80000"/>
              <a:buChar char="►"/>
            </a:pPr>
            <a:r>
              <a:rPr b="1" i="1" lang="es-AR"/>
              <a:t>Socio oculto </a:t>
            </a:r>
            <a:endParaRPr/>
          </a:p>
          <a:p>
            <a:pPr indent="-342900" lvl="0" marL="342900" rtl="0" algn="l">
              <a:spcBef>
                <a:spcPts val="1000"/>
              </a:spcBef>
              <a:spcAft>
                <a:spcPts val="0"/>
              </a:spcAft>
              <a:buSzPct val="80000"/>
              <a:buChar char="►"/>
            </a:pPr>
            <a:r>
              <a:rPr i="1" lang="es-AR"/>
              <a:t>"Cabe extender la declaración de quiebra contra el socio oculto de la fallida, cuando su conducta encuadra específicamente en esa figura, porque actuó como socio gerente mientras figuró en el contrato social y luego de su aparente desvinculación, tambien. Esta singular metodologia queda corroborada cuando se advierte su repetición en otros dos casos, esto es, a su desvinculación de dos sociedades, luego fallidas, con incorporación de directores sin residencia en el pais, cuya actuacion en tal carácter alega ignorar. Por ello, tal desempeño antijuridico esta sancionado por el art. 34 de la LSC con la responsabilidad ilimitada y solidaria, equiparandoselo expresamente a la situación del socio de la sociedad colectiva, por remisión al art. 125, supuesto que a su vez se en- cuadra en la norma del art. 160 de la LCQ, en cuanto establece que la quiebra de la sociedad importa la quiebra de sus socios con responsabilidad ilimitada" (CNCom, Sala A, 26112/97,"Alvear 1850 SRLslquiebra s/inc. de extensión de quiebra"). </a:t>
            </a:r>
            <a:endParaRPr/>
          </a:p>
          <a:p>
            <a:pPr indent="-258318" lvl="0" marL="342900" rtl="0" algn="l">
              <a:spcBef>
                <a:spcPts val="1000"/>
              </a:spcBef>
              <a:spcAft>
                <a:spcPts val="0"/>
              </a:spcAft>
              <a:buSzPct val="8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 Actuación en interés personal. Controlantes. Confusión patrimonial</a:t>
            </a:r>
            <a:endParaRPr/>
          </a:p>
        </p:txBody>
      </p:sp>
      <p:sp>
        <p:nvSpPr>
          <p:cNvPr id="198" name="Google Shape;198;p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SzPct val="80000"/>
              <a:buChar char="►"/>
            </a:pPr>
            <a:r>
              <a:rPr lang="es-AR"/>
              <a:t> La quiebra se extiende:</a:t>
            </a:r>
            <a:endParaRPr/>
          </a:p>
          <a:p>
            <a:pPr indent="-342900" lvl="0" marL="342900" rtl="0" algn="l">
              <a:spcBef>
                <a:spcPts val="1000"/>
              </a:spcBef>
              <a:spcAft>
                <a:spcPts val="0"/>
              </a:spcAft>
              <a:buSzPct val="80000"/>
              <a:buChar char="►"/>
            </a:pPr>
            <a:r>
              <a:rPr lang="es-AR"/>
              <a:t>1) A toda persona que, bajo la apariencia de la actuación de la fallida, ha efectuado los actos en su interés personal y dispuesto de los bienes como si fueran propios, en fraude a sus acreedores;</a:t>
            </a:r>
            <a:endParaRPr/>
          </a:p>
          <a:p>
            <a:pPr indent="-342900" lvl="0" marL="342900" rtl="0" algn="l">
              <a:spcBef>
                <a:spcPts val="1000"/>
              </a:spcBef>
              <a:spcAft>
                <a:spcPts val="0"/>
              </a:spcAft>
              <a:buSzPct val="80000"/>
              <a:buChar char="►"/>
            </a:pPr>
            <a:r>
              <a:rPr lang="es-AR"/>
              <a:t>2) A toda persona controlante de la sociedad fallida, cuando ha desviado indebidamente el interés social de la controlada, sometiéndola a una dirección unificada en interés de la controlante o del grupo económico del que forma parte.</a:t>
            </a:r>
            <a:endParaRPr/>
          </a:p>
          <a:p>
            <a:pPr indent="-342900" lvl="0" marL="342900" rtl="0" algn="l">
              <a:spcBef>
                <a:spcPts val="1000"/>
              </a:spcBef>
              <a:spcAft>
                <a:spcPts val="0"/>
              </a:spcAft>
              <a:buSzPct val="80000"/>
              <a:buChar char="►"/>
            </a:pPr>
            <a:r>
              <a:rPr lang="es-AR"/>
              <a:t>A los fines de esta sección, se entiende por persona controlante:</a:t>
            </a:r>
            <a:endParaRPr/>
          </a:p>
          <a:p>
            <a:pPr indent="-342900" lvl="0" marL="342900" rtl="0" algn="l">
              <a:spcBef>
                <a:spcPts val="1000"/>
              </a:spcBef>
              <a:spcAft>
                <a:spcPts val="0"/>
              </a:spcAft>
              <a:buSzPct val="80000"/>
              <a:buChar char="►"/>
            </a:pPr>
            <a:r>
              <a:rPr lang="es-AR"/>
              <a:t>a) aquella que en forma directa o por intermedio de una sociedad a su vez controlada, posee participación por cualquier título, que otorgue los votos necesarios para formar la voluntad social;</a:t>
            </a:r>
            <a:endParaRPr/>
          </a:p>
          <a:p>
            <a:pPr indent="-342900" lvl="0" marL="342900" rtl="0" algn="l">
              <a:spcBef>
                <a:spcPts val="1000"/>
              </a:spcBef>
              <a:spcAft>
                <a:spcPts val="0"/>
              </a:spcAft>
              <a:buSzPct val="80000"/>
              <a:buChar char="►"/>
            </a:pPr>
            <a:r>
              <a:rPr lang="es-AR"/>
              <a:t>b) cada una de las personas que, actuando conjuntamente, poseen participación en la proporción indicada en el párrafo a) precedente y sean responsables de la conducta descrita en el primer párrafo de este inciso.</a:t>
            </a:r>
            <a:endParaRPr/>
          </a:p>
          <a:p>
            <a:pPr indent="-342900" lvl="0" marL="342900" rtl="0" algn="l">
              <a:spcBef>
                <a:spcPts val="1000"/>
              </a:spcBef>
              <a:spcAft>
                <a:spcPts val="0"/>
              </a:spcAft>
              <a:buSzPct val="80000"/>
              <a:buChar char="►"/>
            </a:pPr>
            <a:r>
              <a:rPr lang="es-AR"/>
              <a:t>3) A toda persona respecto de la cual existe confusión patrimonial inescindible, que impida la clara delimitación de sus activos y pasivos o de la mayor parte de ellos.</a:t>
            </a:r>
            <a:endParaRPr/>
          </a:p>
          <a:p>
            <a:pPr indent="-265176" lvl="0" marL="342900" rtl="0" algn="l">
              <a:spcBef>
                <a:spcPts val="1000"/>
              </a:spcBef>
              <a:spcAft>
                <a:spcPts val="0"/>
              </a:spcAft>
              <a:buSzPct val="8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Actuacion en interés personal</a:t>
            </a:r>
            <a:endParaRPr/>
          </a:p>
        </p:txBody>
      </p:sp>
      <p:sp>
        <p:nvSpPr>
          <p:cNvPr id="204" name="Google Shape;204;p1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s-AR"/>
              <a:t>En el inciso 1 no se deriva de la cesacion de pagos sino de la sujecion economica. Se busca que con la quiebra del sujeto beneficiado se restablezca el desequilibrio generado. Empresario oculto.</a:t>
            </a:r>
            <a:endParaRPr/>
          </a:p>
          <a:p>
            <a:pPr indent="-285750" lvl="1" marL="742950" rtl="0" algn="l">
              <a:spcBef>
                <a:spcPts val="1000"/>
              </a:spcBef>
              <a:spcAft>
                <a:spcPts val="0"/>
              </a:spcAft>
              <a:buSzPts val="1280"/>
              <a:buChar char="►"/>
            </a:pPr>
            <a:r>
              <a:rPr lang="es-AR"/>
              <a:t>Interpretacion restrictiva</a:t>
            </a:r>
            <a:endParaRPr/>
          </a:p>
          <a:p>
            <a:pPr indent="-285750" lvl="1" marL="742950" rtl="0" algn="l">
              <a:spcBef>
                <a:spcPts val="1000"/>
              </a:spcBef>
              <a:spcAft>
                <a:spcPts val="0"/>
              </a:spcAft>
              <a:buSzPts val="1280"/>
              <a:buChar char="►"/>
            </a:pPr>
            <a:r>
              <a:rPr lang="es-AR"/>
              <a:t>No mera vinculacion</a:t>
            </a:r>
            <a:endParaRPr/>
          </a:p>
          <a:p>
            <a:pPr indent="-285750" lvl="1" marL="742950" rtl="0" algn="l">
              <a:spcBef>
                <a:spcPts val="1000"/>
              </a:spcBef>
              <a:spcAft>
                <a:spcPts val="0"/>
              </a:spcAft>
              <a:buSzPts val="1280"/>
              <a:buChar char="►"/>
            </a:pPr>
            <a:r>
              <a:rPr lang="es-AR"/>
              <a:t>Se refiere a casos en que quien ejerce direccion economica y se sirvio de la persona para desarrollar determinados actos.</a:t>
            </a:r>
            <a:endParaRPr/>
          </a:p>
          <a:p>
            <a:pPr indent="-285750" lvl="1" marL="742950" rtl="0" algn="l">
              <a:spcBef>
                <a:spcPts val="1000"/>
              </a:spcBef>
              <a:spcAft>
                <a:spcPts val="0"/>
              </a:spcAft>
              <a:buSzPts val="1280"/>
              <a:buChar char="►"/>
            </a:pPr>
            <a:r>
              <a:rPr lang="es-AR"/>
              <a:t>Debe referirse a una conducta que importe dar preeminencia a los intereses personales por sobre de los de la fallida</a:t>
            </a:r>
            <a:endParaRPr/>
          </a:p>
          <a:p>
            <a:pPr indent="-285750" lvl="1" marL="742950" rtl="0" algn="l">
              <a:spcBef>
                <a:spcPts val="1000"/>
              </a:spcBef>
              <a:spcAft>
                <a:spcPts val="0"/>
              </a:spcAft>
              <a:buSzPts val="1280"/>
              <a:buChar char="►"/>
            </a:pPr>
            <a:r>
              <a:rPr lang="es-AR"/>
              <a:t>Debe haber </a:t>
            </a:r>
            <a:endParaRPr/>
          </a:p>
          <a:p>
            <a:pPr indent="-228600" lvl="2" marL="1143000" rtl="0" algn="l">
              <a:spcBef>
                <a:spcPts val="1000"/>
              </a:spcBef>
              <a:spcAft>
                <a:spcPts val="0"/>
              </a:spcAft>
              <a:buSzPts val="1120"/>
              <a:buChar char="►"/>
            </a:pPr>
            <a:r>
              <a:rPr lang="es-AR"/>
              <a:t>Primacia de interes personal por sobre el de la fallida</a:t>
            </a:r>
            <a:endParaRPr/>
          </a:p>
          <a:p>
            <a:pPr indent="-228600" lvl="2" marL="1143000" rtl="0" algn="l">
              <a:spcBef>
                <a:spcPts val="1000"/>
              </a:spcBef>
              <a:spcAft>
                <a:spcPts val="0"/>
              </a:spcAft>
              <a:buSzPts val="1120"/>
              <a:buChar char="►"/>
            </a:pPr>
            <a:r>
              <a:rPr lang="es-AR"/>
              <a:t>Intencion de defraudar a los acreedores</a:t>
            </a:r>
            <a:endParaRPr/>
          </a:p>
          <a:p>
            <a:pPr indent="-157480" lvl="2" marL="1143000" rtl="0" algn="l">
              <a:spcBef>
                <a:spcPts val="1000"/>
              </a:spcBef>
              <a:spcAft>
                <a:spcPts val="0"/>
              </a:spcAft>
              <a:buSzPts val="112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Control abusivo y desvio del interés social por parte del controlante</a:t>
            </a:r>
            <a:endParaRPr/>
          </a:p>
        </p:txBody>
      </p:sp>
      <p:sp>
        <p:nvSpPr>
          <p:cNvPr id="210" name="Google Shape;210;p1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Supuesto de control en que la controlante ha trasladado todos los perjuicios a terceros a la sociedad controlada y preserva su patrimonio del reclamo de estos.</a:t>
            </a:r>
            <a:endParaRPr/>
          </a:p>
          <a:p>
            <a:pPr indent="-342900" lvl="0" marL="342900" rtl="0" algn="l">
              <a:spcBef>
                <a:spcPts val="1000"/>
              </a:spcBef>
              <a:spcAft>
                <a:spcPts val="0"/>
              </a:spcAft>
              <a:buSzPts val="1440"/>
              <a:buChar char="►"/>
            </a:pPr>
            <a:r>
              <a:rPr lang="es-AR"/>
              <a:t>Presupuestos</a:t>
            </a:r>
            <a:endParaRPr/>
          </a:p>
          <a:p>
            <a:pPr indent="-285750" lvl="1" marL="742950" rtl="0" algn="l">
              <a:spcBef>
                <a:spcPts val="1000"/>
              </a:spcBef>
              <a:spcAft>
                <a:spcPts val="0"/>
              </a:spcAft>
              <a:buSzPts val="1280"/>
              <a:buChar char="►"/>
            </a:pPr>
            <a:r>
              <a:rPr lang="es-AR"/>
              <a:t>Que se verifique la quiebra de una sociedad controlada por una persona controlante</a:t>
            </a:r>
            <a:endParaRPr/>
          </a:p>
          <a:p>
            <a:pPr indent="-285750" lvl="1" marL="742950" rtl="0" algn="l">
              <a:spcBef>
                <a:spcPts val="1000"/>
              </a:spcBef>
              <a:spcAft>
                <a:spcPts val="0"/>
              </a:spcAft>
              <a:buSzPts val="1280"/>
              <a:buChar char="►"/>
            </a:pPr>
            <a:r>
              <a:rPr lang="es-AR"/>
              <a:t>Que el control se haya ejercido de modo abusivo e irregular</a:t>
            </a:r>
            <a:endParaRPr/>
          </a:p>
          <a:p>
            <a:pPr indent="-285750" lvl="1" marL="742950" rtl="0" algn="l">
              <a:spcBef>
                <a:spcPts val="1000"/>
              </a:spcBef>
              <a:spcAft>
                <a:spcPts val="0"/>
              </a:spcAft>
              <a:buSzPts val="1280"/>
              <a:buChar char="►"/>
            </a:pPr>
            <a:r>
              <a:rPr lang="es-AR"/>
              <a:t>Que se logre sometiendola a direccion unificada en beneficio de la controlante</a:t>
            </a:r>
            <a:endParaRPr/>
          </a:p>
          <a:p>
            <a:pPr indent="-204470" lvl="1" marL="742950" rtl="0" algn="l">
              <a:spcBef>
                <a:spcPts val="1000"/>
              </a:spcBef>
              <a:spcAft>
                <a:spcPts val="0"/>
              </a:spcAft>
              <a:buSzPts val="1280"/>
              <a:buNone/>
            </a:pPr>
            <a:r>
              <a:t/>
            </a:r>
            <a:endParaRPr/>
          </a:p>
        </p:txBody>
      </p:sp>
      <p:sp>
        <p:nvSpPr>
          <p:cNvPr id="211" name="Google Shape;211;p11"/>
          <p:cNvSpPr txBox="1"/>
          <p:nvPr/>
        </p:nvSpPr>
        <p:spPr>
          <a:xfrm>
            <a:off x="677334" y="4927601"/>
            <a:ext cx="9936237" cy="1754326"/>
          </a:xfrm>
          <a:prstGeom prst="rect">
            <a:avLst/>
          </a:prstGeom>
          <a:gradFill>
            <a:gsLst>
              <a:gs pos="0">
                <a:srgbClr val="D2E4BB"/>
              </a:gs>
              <a:gs pos="88000">
                <a:srgbClr val="9FC95F"/>
              </a:gs>
              <a:gs pos="100000">
                <a:srgbClr val="9FC95F"/>
              </a:gs>
            </a:gsLst>
            <a:lin ang="5400000" scaled="0"/>
          </a:gradFill>
          <a:ln cap="rnd" cmpd="sng" w="127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s-AR" sz="1800">
                <a:solidFill>
                  <a:schemeClr val="dk1"/>
                </a:solidFill>
                <a:latin typeface="Trebuchet MS"/>
                <a:ea typeface="Trebuchet MS"/>
                <a:cs typeface="Trebuchet MS"/>
                <a:sym typeface="Trebuchet MS"/>
              </a:rPr>
              <a:t>la norma </a:t>
            </a:r>
            <a:r>
              <a:rPr lang="es-AR" sz="1800" u="sng">
                <a:solidFill>
                  <a:schemeClr val="dk1"/>
                </a:solidFill>
                <a:latin typeface="Trebuchet MS"/>
                <a:ea typeface="Trebuchet MS"/>
                <a:cs typeface="Trebuchet MS"/>
                <a:sym typeface="Trebuchet MS"/>
              </a:rPr>
              <a:t>no sanciona</a:t>
            </a:r>
            <a:r>
              <a:rPr lang="es-AR" sz="1800">
                <a:solidFill>
                  <a:schemeClr val="dk1"/>
                </a:solidFill>
                <a:latin typeface="Trebuchet MS"/>
                <a:ea typeface="Trebuchet MS"/>
                <a:cs typeface="Trebuchet MS"/>
                <a:sym typeface="Trebuchet MS"/>
              </a:rPr>
              <a:t> la pertenencia a un grupo societario o el mero control, por lo que las circunstancias</a:t>
            </a:r>
            <a:r>
              <a:rPr b="1" lang="es-AR" sz="1800">
                <a:solidFill>
                  <a:schemeClr val="dk1"/>
                </a:solidFill>
                <a:latin typeface="Trebuchet MS"/>
                <a:ea typeface="Trebuchet MS"/>
                <a:cs typeface="Trebuchet MS"/>
                <a:sym typeface="Trebuchet MS"/>
              </a:rPr>
              <a:t> señaladas </a:t>
            </a:r>
            <a:r>
              <a:rPr lang="es-AR" sz="1800" u="sng">
                <a:solidFill>
                  <a:schemeClr val="dk1"/>
                </a:solidFill>
                <a:latin typeface="Trebuchet MS"/>
                <a:ea typeface="Trebuchet MS"/>
                <a:cs typeface="Trebuchet MS"/>
                <a:sym typeface="Trebuchet MS"/>
              </a:rPr>
              <a:t>no habilitan por sí </a:t>
            </a:r>
            <a:r>
              <a:rPr lang="es-AR" sz="1800">
                <a:solidFill>
                  <a:schemeClr val="dk1"/>
                </a:solidFill>
                <a:latin typeface="Trebuchet MS"/>
                <a:ea typeface="Trebuchet MS"/>
                <a:cs typeface="Trebuchet MS"/>
                <a:sym typeface="Trebuchet MS"/>
              </a:rPr>
              <a:t>la extensión </a:t>
            </a:r>
            <a:r>
              <a:rPr b="1" lang="es-AR" sz="1800">
                <a:solidFill>
                  <a:schemeClr val="dk1"/>
                </a:solidFill>
                <a:latin typeface="Trebuchet MS"/>
                <a:ea typeface="Trebuchet MS"/>
                <a:cs typeface="Trebuchet MS"/>
                <a:sym typeface="Trebuchet MS"/>
              </a:rPr>
              <a:t>de </a:t>
            </a:r>
            <a:r>
              <a:rPr lang="es-AR" sz="1800">
                <a:solidFill>
                  <a:schemeClr val="dk1"/>
                </a:solidFill>
                <a:latin typeface="Trebuchet MS"/>
                <a:ea typeface="Trebuchet MS"/>
                <a:cs typeface="Trebuchet MS"/>
                <a:sym typeface="Trebuchet MS"/>
              </a:rPr>
              <a:t>la quiebra de una </a:t>
            </a:r>
            <a:r>
              <a:rPr b="1" lang="es-AR" sz="1800">
                <a:solidFill>
                  <a:schemeClr val="dk1"/>
                </a:solidFill>
                <a:latin typeface="Trebuchet MS"/>
                <a:ea typeface="Trebuchet MS"/>
                <a:cs typeface="Trebuchet MS"/>
                <a:sym typeface="Trebuchet MS"/>
              </a:rPr>
              <a:t>de </a:t>
            </a:r>
            <a:r>
              <a:rPr lang="es-AR" sz="1800">
                <a:solidFill>
                  <a:schemeClr val="dk1"/>
                </a:solidFill>
                <a:latin typeface="Trebuchet MS"/>
                <a:ea typeface="Trebuchet MS"/>
                <a:cs typeface="Trebuchet MS"/>
                <a:sym typeface="Trebuchet MS"/>
              </a:rPr>
              <a:t>las sociedades a las otras integrantes del grupo. </a:t>
            </a:r>
            <a:r>
              <a:rPr lang="es-AR" sz="1800" u="sng">
                <a:solidFill>
                  <a:schemeClr val="dk1"/>
                </a:solidFill>
                <a:latin typeface="Trebuchet MS"/>
                <a:ea typeface="Trebuchet MS"/>
                <a:cs typeface="Trebuchet MS"/>
                <a:sym typeface="Trebuchet MS"/>
              </a:rPr>
              <a:t>Lo que la norma contempla es el control abusivo, el obrar o la conducta </a:t>
            </a:r>
            <a:r>
              <a:rPr b="1" lang="es-AR" sz="1800" u="sng">
                <a:solidFill>
                  <a:schemeClr val="dk1"/>
                </a:solidFill>
                <a:latin typeface="Trebuchet MS"/>
                <a:ea typeface="Trebuchet MS"/>
                <a:cs typeface="Trebuchet MS"/>
                <a:sym typeface="Trebuchet MS"/>
              </a:rPr>
              <a:t>de </a:t>
            </a:r>
            <a:r>
              <a:rPr lang="es-AR" sz="1800" u="sng">
                <a:solidFill>
                  <a:schemeClr val="dk1"/>
                </a:solidFill>
                <a:latin typeface="Trebuchet MS"/>
                <a:ea typeface="Trebuchet MS"/>
                <a:cs typeface="Trebuchet MS"/>
                <a:sym typeface="Trebuchet MS"/>
              </a:rPr>
              <a:t>la controlante dirigidos a desviar el interés social de la controlada en su beneficio o en el del grupo del </a:t>
            </a:r>
            <a:r>
              <a:rPr b="1" lang="es-AR" sz="1800" u="sng">
                <a:solidFill>
                  <a:schemeClr val="dk1"/>
                </a:solidFill>
                <a:latin typeface="Trebuchet MS"/>
                <a:ea typeface="Trebuchet MS"/>
                <a:cs typeface="Trebuchet MS"/>
                <a:sym typeface="Trebuchet MS"/>
              </a:rPr>
              <a:t>que </a:t>
            </a:r>
            <a:r>
              <a:rPr lang="es-AR" sz="1800" u="sng">
                <a:solidFill>
                  <a:schemeClr val="dk1"/>
                </a:solidFill>
                <a:latin typeface="Trebuchet MS"/>
                <a:ea typeface="Trebuchet MS"/>
                <a:cs typeface="Trebuchet MS"/>
                <a:sym typeface="Trebuchet MS"/>
              </a:rPr>
              <a:t>forma parte. </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Persona Controlante</a:t>
            </a:r>
            <a:endParaRPr/>
          </a:p>
        </p:txBody>
      </p:sp>
      <p:sp>
        <p:nvSpPr>
          <p:cNvPr id="217" name="Google Shape;217;p1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Aquella que de manera directa, o por intermedio de una sociedad a su vez controlada, posee participación, por cualquier titulo, </a:t>
            </a:r>
            <a:r>
              <a:rPr b="1" lang="es-AR"/>
              <a:t>que </a:t>
            </a:r>
            <a:r>
              <a:rPr lang="es-AR"/>
              <a:t>otorgue los votos necesarios </a:t>
            </a:r>
            <a:r>
              <a:rPr b="1" lang="es-AR"/>
              <a:t>para </a:t>
            </a:r>
            <a:r>
              <a:rPr lang="es-AR"/>
              <a:t>formar la voluntad social </a:t>
            </a:r>
            <a:endParaRPr/>
          </a:p>
          <a:p>
            <a:pPr indent="-285750" lvl="1" marL="742950" rtl="0" algn="l">
              <a:spcBef>
                <a:spcPts val="1000"/>
              </a:spcBef>
              <a:spcAft>
                <a:spcPts val="0"/>
              </a:spcAft>
              <a:buSzPts val="1280"/>
              <a:buChar char="►"/>
            </a:pPr>
            <a:r>
              <a:rPr lang="es-AR"/>
              <a:t>CONTROL DIRECTO</a:t>
            </a:r>
            <a:endParaRPr/>
          </a:p>
          <a:p>
            <a:pPr indent="-342900" lvl="0" marL="342900" rtl="0" algn="l">
              <a:spcBef>
                <a:spcPts val="1000"/>
              </a:spcBef>
              <a:spcAft>
                <a:spcPts val="0"/>
              </a:spcAft>
              <a:buSzPts val="1440"/>
              <a:buChar char="►"/>
            </a:pPr>
            <a:r>
              <a:rPr lang="es-AR"/>
              <a:t>cada una de las personas que, actuando conjuntamente, tienen participación en la proporción indicada en el párrafo precedente y sean responsables de la conducta descripta en el primer párrafo del inc. 2. </a:t>
            </a:r>
            <a:endParaRPr/>
          </a:p>
          <a:p>
            <a:pPr indent="-285750" lvl="1" marL="742950" rtl="0" algn="l">
              <a:spcBef>
                <a:spcPts val="1000"/>
              </a:spcBef>
              <a:spcAft>
                <a:spcPts val="0"/>
              </a:spcAft>
              <a:buSzPts val="1280"/>
              <a:buChar char="►"/>
            </a:pPr>
            <a:r>
              <a:rPr lang="es-AR"/>
              <a:t>CONTROL POR PLURALIDAD DE PERSONAS</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Confusion patrimonial inescindible</a:t>
            </a:r>
            <a:endParaRPr/>
          </a:p>
        </p:txBody>
      </p:sp>
      <p:sp>
        <p:nvSpPr>
          <p:cNvPr id="223" name="Google Shape;223;p13"/>
          <p:cNvSpPr txBox="1"/>
          <p:nvPr>
            <p:ph idx="1" type="body"/>
          </p:nvPr>
        </p:nvSpPr>
        <p:spPr>
          <a:xfrm>
            <a:off x="677334" y="2160589"/>
            <a:ext cx="8596668" cy="25638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De carácter excepcional</a:t>
            </a:r>
            <a:endParaRPr/>
          </a:p>
          <a:p>
            <a:pPr indent="-342900" lvl="0" marL="342900" rtl="0" algn="l">
              <a:spcBef>
                <a:spcPts val="1000"/>
              </a:spcBef>
              <a:spcAft>
                <a:spcPts val="0"/>
              </a:spcAft>
              <a:buSzPts val="1440"/>
              <a:buChar char="►"/>
            </a:pPr>
            <a:r>
              <a:rPr lang="es-AR"/>
              <a:t>De interpretacion restrictiva</a:t>
            </a:r>
            <a:endParaRPr/>
          </a:p>
          <a:p>
            <a:pPr indent="-342900" lvl="0" marL="342900" rtl="0" algn="l">
              <a:spcBef>
                <a:spcPts val="1000"/>
              </a:spcBef>
              <a:spcAft>
                <a:spcPts val="0"/>
              </a:spcAft>
              <a:buSzPts val="1440"/>
              <a:buChar char="►"/>
            </a:pPr>
            <a:r>
              <a:rPr lang="es-AR"/>
              <a:t>Involucra a sujetos con patrimonio que conforman una unidad inescindible</a:t>
            </a:r>
            <a:endParaRPr/>
          </a:p>
          <a:p>
            <a:pPr indent="-342900" lvl="0" marL="342900" rtl="0" algn="l">
              <a:spcBef>
                <a:spcPts val="1000"/>
              </a:spcBef>
              <a:spcAft>
                <a:spcPts val="0"/>
              </a:spcAft>
              <a:buSzPts val="1440"/>
              <a:buChar char="►"/>
            </a:pPr>
            <a:r>
              <a:rPr lang="es-AR"/>
              <a:t>No requiere de ninguna conducta reprochable </a:t>
            </a:r>
            <a:endParaRPr/>
          </a:p>
          <a:p>
            <a:pPr indent="-342900" lvl="0" marL="342900" rtl="0" algn="l">
              <a:spcBef>
                <a:spcPts val="1000"/>
              </a:spcBef>
              <a:spcAft>
                <a:spcPts val="0"/>
              </a:spcAft>
              <a:buSzPts val="1440"/>
              <a:buChar char="►"/>
            </a:pPr>
            <a:r>
              <a:rPr lang="es-AR"/>
              <a:t>apunta a una sanción para </a:t>
            </a:r>
            <a:r>
              <a:rPr b="1" lang="es-AR"/>
              <a:t>quienes </a:t>
            </a:r>
            <a:r>
              <a:rPr lang="es-AR"/>
              <a:t>violaron las normas del ordenamiento legal, dirigidas a mantener la diferenciacidn de patrimonios </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
        <p:nvSpPr>
          <p:cNvPr id="224" name="Google Shape;224;p13"/>
          <p:cNvSpPr txBox="1"/>
          <p:nvPr/>
        </p:nvSpPr>
        <p:spPr>
          <a:xfrm>
            <a:off x="677334" y="4724400"/>
            <a:ext cx="10077752" cy="1754326"/>
          </a:xfrm>
          <a:prstGeom prst="rect">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Trebuchet MS"/>
                <a:ea typeface="Trebuchet MS"/>
                <a:cs typeface="Trebuchet MS"/>
                <a:sym typeface="Trebuchet MS"/>
              </a:rPr>
              <a:t>resulta procedente cuando existió dirección unificada entre dos sociedades, contando ellas con los mismos clientes y verificandose traspaso de negocios entre ellas, que se dedicaban ambas al mismo rubro, funcionaban en el mismo lugar y contaban con el mismo personal, a lo cual debe agregarse que la fallida facilitaba sus vehiculos y choferes para la demandada, la cual asumía los gastos de mantenimiento </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Confusión</a:t>
            </a:r>
            <a:r>
              <a:rPr lang="es-AR"/>
              <a:t> patrimonial inescindible</a:t>
            </a:r>
            <a:endParaRPr/>
          </a:p>
        </p:txBody>
      </p:sp>
      <p:sp>
        <p:nvSpPr>
          <p:cNvPr id="230" name="Google Shape;230;p14"/>
          <p:cNvSpPr txBox="1"/>
          <p:nvPr>
            <p:ph idx="1" type="body"/>
          </p:nvPr>
        </p:nvSpPr>
        <p:spPr>
          <a:xfrm>
            <a:off x="677334" y="2160589"/>
            <a:ext cx="8596668" cy="3325811"/>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80000"/>
              <a:buChar char="►"/>
            </a:pPr>
            <a:r>
              <a:rPr lang="es-AR"/>
              <a:t>Vítolo enuncia algunos signos reveladores : </a:t>
            </a:r>
            <a:endParaRPr/>
          </a:p>
          <a:p>
            <a:pPr indent="-285750" lvl="1" marL="742950" rtl="0" algn="l">
              <a:spcBef>
                <a:spcPts val="1000"/>
              </a:spcBef>
              <a:spcAft>
                <a:spcPts val="0"/>
              </a:spcAft>
              <a:buSzPct val="80000"/>
              <a:buChar char="►"/>
            </a:pPr>
            <a:r>
              <a:rPr lang="es-AR"/>
              <a:t>i) utilización común de los ingresos, sin respaldo real en la evolución de las cuentas corrientes mutuas</a:t>
            </a:r>
            <a:endParaRPr/>
          </a:p>
          <a:p>
            <a:pPr indent="-285750" lvl="1" marL="742950" rtl="0" algn="l">
              <a:spcBef>
                <a:spcPts val="1000"/>
              </a:spcBef>
              <a:spcAft>
                <a:spcPts val="0"/>
              </a:spcAft>
              <a:buSzPct val="80000"/>
              <a:buChar char="►"/>
            </a:pPr>
            <a:r>
              <a:rPr lang="es-AR"/>
              <a:t>ii) mancomunación o solidarización de pasivos sin contrapartida o necesidad</a:t>
            </a:r>
            <a:endParaRPr/>
          </a:p>
          <a:p>
            <a:pPr indent="-285750" lvl="1" marL="742950" rtl="0" algn="l">
              <a:spcBef>
                <a:spcPts val="1000"/>
              </a:spcBef>
              <a:spcAft>
                <a:spcPts val="0"/>
              </a:spcAft>
              <a:buSzPct val="80000"/>
              <a:buChar char="►"/>
            </a:pPr>
            <a:r>
              <a:rPr lang="es-AR"/>
              <a:t>iii) afianzamiento sistemático de obligaciones comerciales y financieras</a:t>
            </a:r>
            <a:endParaRPr/>
          </a:p>
          <a:p>
            <a:pPr indent="-285750" lvl="1" marL="742950" rtl="0" algn="l">
              <a:spcBef>
                <a:spcPts val="1000"/>
              </a:spcBef>
              <a:spcAft>
                <a:spcPts val="0"/>
              </a:spcAft>
              <a:buSzPct val="80000"/>
              <a:buChar char="►"/>
            </a:pPr>
            <a:r>
              <a:rPr lang="es-AR"/>
              <a:t>iv) derivación de operaciones comerciales hacia regímenes de promoción, reintegros o créditos fiscales</a:t>
            </a:r>
            <a:endParaRPr/>
          </a:p>
          <a:p>
            <a:pPr indent="-285750" lvl="1" marL="742950" rtl="0" algn="l">
              <a:spcBef>
                <a:spcPts val="1000"/>
              </a:spcBef>
              <a:spcAft>
                <a:spcPts val="0"/>
              </a:spcAft>
              <a:buSzPct val="80000"/>
              <a:buChar char="►"/>
            </a:pPr>
            <a:r>
              <a:rPr lang="es-AR"/>
              <a:t>v) utilización de sistemas de "caja única" (en sentido técnico)</a:t>
            </a:r>
            <a:endParaRPr/>
          </a:p>
          <a:p>
            <a:pPr indent="-285750" lvl="1" marL="742950" rtl="0" algn="l">
              <a:spcBef>
                <a:spcPts val="1000"/>
              </a:spcBef>
              <a:spcAft>
                <a:spcPts val="0"/>
              </a:spcAft>
              <a:buSzPct val="80000"/>
              <a:buChar char="►"/>
            </a:pPr>
            <a:r>
              <a:rPr lang="es-AR"/>
              <a:t>vi) adquisición interpuesta de bienes de uso o de cambio para la utilización exclusiva de los mismos, y en el solo interés de la otra persona; </a:t>
            </a:r>
            <a:endParaRPr/>
          </a:p>
          <a:p>
            <a:pPr indent="-285750" lvl="1" marL="742950" rtl="0" algn="l">
              <a:spcBef>
                <a:spcPts val="1000"/>
              </a:spcBef>
              <a:spcAft>
                <a:spcPts val="0"/>
              </a:spcAft>
              <a:buSzPct val="80000"/>
              <a:buChar char="►"/>
            </a:pPr>
            <a:r>
              <a:rPr lang="es-AR"/>
              <a:t>vii) derivación arbitraria de ganancias y pérdidas a efectos de balancear cuentas fiscales o de resultados; </a:t>
            </a:r>
            <a:endParaRPr/>
          </a:p>
          <a:p>
            <a:pPr indent="-285750" lvl="1" marL="742950" rtl="0" algn="l">
              <a:spcBef>
                <a:spcPts val="1000"/>
              </a:spcBef>
              <a:spcAft>
                <a:spcPts val="0"/>
              </a:spcAft>
              <a:buSzPct val="80000"/>
              <a:buChar char="►"/>
            </a:pPr>
            <a:r>
              <a:rPr lang="es-AR"/>
              <a:t>viii) concesiones mutuas de préstamos de dinero en desproporción a la capacidad de repago o al patrimonio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Competencia – Art 162</a:t>
            </a:r>
            <a:endParaRPr/>
          </a:p>
        </p:txBody>
      </p:sp>
      <p:sp>
        <p:nvSpPr>
          <p:cNvPr id="236" name="Google Shape;236;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El juez que interviene en el juicio de quiebra es competente para decidir su extensión.</a:t>
            </a:r>
            <a:endParaRPr/>
          </a:p>
          <a:p>
            <a:pPr indent="-342900" lvl="0" marL="342900" rtl="0" algn="l">
              <a:spcBef>
                <a:spcPts val="1000"/>
              </a:spcBef>
              <a:spcAft>
                <a:spcPts val="0"/>
              </a:spcAft>
              <a:buSzPts val="1440"/>
              <a:buChar char="►"/>
            </a:pPr>
            <a:r>
              <a:rPr lang="es-AR"/>
              <a:t>Una vez declarada la extensión, conoce en todos los concursos el juez competente respecto de aquel que prima facie </a:t>
            </a:r>
            <a:r>
              <a:rPr b="1" lang="es-AR"/>
              <a:t>posea activo más importante</a:t>
            </a:r>
            <a:r>
              <a:rPr lang="es-AR"/>
              <a:t>. En caso de duda, entiende el juez que previno.</a:t>
            </a:r>
            <a:endParaRPr/>
          </a:p>
          <a:p>
            <a:pPr indent="-342900" lvl="0" marL="342900" rtl="0" algn="l">
              <a:spcBef>
                <a:spcPts val="1000"/>
              </a:spcBef>
              <a:spcAft>
                <a:spcPts val="0"/>
              </a:spcAft>
              <a:buSzPts val="1440"/>
              <a:buChar char="►"/>
            </a:pPr>
            <a:r>
              <a:rPr lang="es-AR"/>
              <a:t>Idénticas reglas se aplican para el caso de extensión respecto de personas cuyo concurso preventivo o quiebra se encuentren abiertos, con conocimiento del juez que entiende en tales procesos.</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Competencia – Art 162</a:t>
            </a:r>
            <a:endParaRPr/>
          </a:p>
        </p:txBody>
      </p:sp>
      <p:sp>
        <p:nvSpPr>
          <p:cNvPr id="242" name="Google Shape;242;p1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i) que el juez que debe entender en una falencia debe intervenir en todas las quiebras, sea principal o accesoria (principio de unidad); </a:t>
            </a:r>
            <a:endParaRPr/>
          </a:p>
          <a:p>
            <a:pPr indent="-342900" lvl="0" marL="342900" rtl="0" algn="l">
              <a:spcBef>
                <a:spcPts val="1000"/>
              </a:spcBef>
              <a:spcAft>
                <a:spcPts val="0"/>
              </a:spcAft>
              <a:buSzPts val="1440"/>
              <a:buChar char="►"/>
            </a:pPr>
            <a:r>
              <a:rPr lang="es-AR"/>
              <a:t>ii) que la competencia de ese juez se determina sobre la base del fallido — principal o extendido— que prima facie tenga el activo más importante (regla del activo más importante);</a:t>
            </a:r>
            <a:endParaRPr/>
          </a:p>
          <a:p>
            <a:pPr indent="-228600" lvl="2" marL="1143000" rtl="0" algn="l">
              <a:spcBef>
                <a:spcPts val="1000"/>
              </a:spcBef>
              <a:spcAft>
                <a:spcPts val="0"/>
              </a:spcAft>
              <a:buSzPts val="1120"/>
              <a:buChar char="►"/>
            </a:pPr>
            <a:r>
              <a:rPr lang="es-AR"/>
              <a:t>La determinación del activo más importante </a:t>
            </a:r>
            <a:r>
              <a:rPr b="1" lang="es-AR" u="sng"/>
              <a:t>es prima facie</a:t>
            </a:r>
            <a:r>
              <a:rPr lang="es-AR"/>
              <a:t>, no siendo necesaria una investigación profunda a los fines de determinar cuál de los quebrados tiene el mayor activo, ni la realización de una pericia contable o dictamen del síndico actuante. </a:t>
            </a:r>
            <a:endParaRPr/>
          </a:p>
          <a:p>
            <a:pPr indent="-228600" lvl="2" marL="1143000" rtl="0" algn="l">
              <a:spcBef>
                <a:spcPts val="1000"/>
              </a:spcBef>
              <a:spcAft>
                <a:spcPts val="0"/>
              </a:spcAft>
              <a:buSzPts val="1120"/>
              <a:buChar char="►"/>
            </a:pPr>
            <a:r>
              <a:rPr lang="es-AR"/>
              <a:t>En caso de duda sobre quién tiene el activo más relevante, debe entender el juez de la quiebra principal. Ello evita discusiones innecesarias sobre la cuantificación del activo y la radicación de todos los juicios falenciales.</a:t>
            </a:r>
            <a:endParaRPr/>
          </a:p>
          <a:p>
            <a:pPr indent="-342900" lvl="0" marL="342900" rtl="0" algn="l">
              <a:spcBef>
                <a:spcPts val="1000"/>
              </a:spcBef>
              <a:spcAft>
                <a:spcPts val="0"/>
              </a:spcAft>
              <a:buSzPts val="1440"/>
              <a:buChar char="►"/>
            </a:pPr>
            <a:r>
              <a:rPr lang="es-AR"/>
              <a:t>iii) en este caso, la regla de aplicación en relación al fallido con mayor activo es la del art. 3º, LCQ</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Petición de la extensión – Art 163</a:t>
            </a:r>
            <a:endParaRPr/>
          </a:p>
        </p:txBody>
      </p:sp>
      <p:sp>
        <p:nvSpPr>
          <p:cNvPr id="248" name="Google Shape;248;p1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440"/>
              <a:buChar char="►"/>
            </a:pPr>
            <a:r>
              <a:rPr lang="es-AR"/>
              <a:t>La extensión de la quiebra puede pedirse por el síndico o por cualquier acreedor.</a:t>
            </a:r>
            <a:endParaRPr/>
          </a:p>
          <a:p>
            <a:pPr indent="-342900" lvl="0" marL="342900" rtl="0" algn="l">
              <a:spcBef>
                <a:spcPts val="1000"/>
              </a:spcBef>
              <a:spcAft>
                <a:spcPts val="0"/>
              </a:spcAft>
              <a:buSzPts val="1440"/>
              <a:buChar char="►"/>
            </a:pPr>
            <a:r>
              <a:rPr lang="es-AR"/>
              <a:t>La petición puede efectuarse en cualquier tiempo después de la declaración de la quiebra y hasta los SEIS (6) meses posteriores a la fecha en que se presentó el informe general del síndico.</a:t>
            </a:r>
            <a:endParaRPr/>
          </a:p>
          <a:p>
            <a:pPr indent="-342900" lvl="0" marL="342900" rtl="0" algn="l">
              <a:spcBef>
                <a:spcPts val="1000"/>
              </a:spcBef>
              <a:spcAft>
                <a:spcPts val="0"/>
              </a:spcAft>
              <a:buSzPts val="1440"/>
              <a:buChar char="►"/>
            </a:pPr>
            <a:r>
              <a:rPr lang="es-AR"/>
              <a:t>Este </a:t>
            </a:r>
            <a:r>
              <a:rPr b="1" lang="es-AR" u="sng"/>
              <a:t>plazo de caducidad </a:t>
            </a:r>
            <a:r>
              <a:rPr lang="es-AR"/>
              <a:t>se extiende:</a:t>
            </a:r>
            <a:endParaRPr/>
          </a:p>
          <a:p>
            <a:pPr indent="-342900" lvl="0" marL="342900" rtl="0" algn="l">
              <a:spcBef>
                <a:spcPts val="1000"/>
              </a:spcBef>
              <a:spcAft>
                <a:spcPts val="0"/>
              </a:spcAft>
              <a:buSzPts val="1440"/>
              <a:buChar char="►"/>
            </a:pPr>
            <a:r>
              <a:rPr lang="es-AR"/>
              <a:t>1) En caso de haberse producido votación negativa de un acuerdo preventivo hasta SEIS (6) meses después del vencimiento del período de exclusividad previsto en el Artículo 43 o del vencimiento del plazo previsto en el Artículo 48 inciso 4) según sea el caso.</a:t>
            </a:r>
            <a:endParaRPr/>
          </a:p>
          <a:p>
            <a:pPr indent="-342900" lvl="0" marL="342900" rtl="0" algn="l">
              <a:spcBef>
                <a:spcPts val="1000"/>
              </a:spcBef>
              <a:spcAft>
                <a:spcPts val="0"/>
              </a:spcAft>
              <a:buSzPts val="1440"/>
              <a:buChar char="►"/>
            </a:pPr>
            <a:r>
              <a:rPr lang="es-AR"/>
              <a:t>2) En caso de no homologación, incumplimiento o nulidad de un acuerdo preventivo o resolutorio, hasta los SEIS (6) meses posteriores a la fecha en que quedó </a:t>
            </a:r>
            <a:r>
              <a:rPr b="1" lang="es-AR" u="sng"/>
              <a:t>firme</a:t>
            </a:r>
            <a:r>
              <a:rPr lang="es-AR"/>
              <a:t> la sentencia respectiva.</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Petición de la extensión</a:t>
            </a:r>
            <a:endParaRPr/>
          </a:p>
        </p:txBody>
      </p:sp>
      <p:sp>
        <p:nvSpPr>
          <p:cNvPr id="254" name="Google Shape;254;p1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80000"/>
              <a:buChar char="►"/>
            </a:pPr>
            <a:r>
              <a:rPr lang="es-AR"/>
              <a:t>Legitimados activos</a:t>
            </a:r>
            <a:endParaRPr/>
          </a:p>
          <a:p>
            <a:pPr indent="-285750" lvl="1" marL="742950" rtl="0" algn="l">
              <a:spcBef>
                <a:spcPts val="1000"/>
              </a:spcBef>
              <a:spcAft>
                <a:spcPts val="0"/>
              </a:spcAft>
              <a:buSzPct val="80000"/>
              <a:buChar char="►"/>
            </a:pPr>
            <a:r>
              <a:rPr lang="es-AR"/>
              <a:t>Sindico</a:t>
            </a:r>
            <a:endParaRPr/>
          </a:p>
          <a:p>
            <a:pPr indent="-228600" lvl="2" marL="1143000" rtl="0" algn="l">
              <a:spcBef>
                <a:spcPts val="1000"/>
              </a:spcBef>
              <a:spcAft>
                <a:spcPts val="0"/>
              </a:spcAft>
              <a:buSzPct val="80000"/>
              <a:buChar char="►"/>
            </a:pPr>
            <a:r>
              <a:rPr lang="es-AR"/>
              <a:t>Legitimado pero no obligado</a:t>
            </a:r>
            <a:endParaRPr/>
          </a:p>
          <a:p>
            <a:pPr indent="-228600" lvl="2" marL="1143000" rtl="0" algn="l">
              <a:spcBef>
                <a:spcPts val="1000"/>
              </a:spcBef>
              <a:spcAft>
                <a:spcPts val="0"/>
              </a:spcAft>
              <a:buSzPct val="80000"/>
              <a:buChar char="►"/>
            </a:pPr>
            <a:r>
              <a:rPr lang="es-AR"/>
              <a:t>Si el incidente es rechazado, se carga con las costas del procedimiento</a:t>
            </a:r>
            <a:endParaRPr/>
          </a:p>
          <a:p>
            <a:pPr indent="-228600" lvl="2" marL="1143000" rtl="0" algn="l">
              <a:spcBef>
                <a:spcPts val="1000"/>
              </a:spcBef>
              <a:spcAft>
                <a:spcPts val="0"/>
              </a:spcAft>
              <a:buSzPct val="80000"/>
              <a:buChar char="►"/>
            </a:pPr>
            <a:r>
              <a:rPr lang="es-AR"/>
              <a:t>No debe pedir autorizacion de los acreedores</a:t>
            </a:r>
            <a:endParaRPr/>
          </a:p>
          <a:p>
            <a:pPr indent="-285750" lvl="1" marL="742950" rtl="0" algn="l">
              <a:spcBef>
                <a:spcPts val="1000"/>
              </a:spcBef>
              <a:spcAft>
                <a:spcPts val="0"/>
              </a:spcAft>
              <a:buSzPct val="80000"/>
              <a:buChar char="►"/>
            </a:pPr>
            <a:r>
              <a:rPr lang="es-AR"/>
              <a:t>cualquier acreedor</a:t>
            </a:r>
            <a:endParaRPr/>
          </a:p>
          <a:p>
            <a:pPr indent="-228600" lvl="2" marL="1143000" rtl="0" algn="l">
              <a:spcBef>
                <a:spcPts val="1000"/>
              </a:spcBef>
              <a:spcAft>
                <a:spcPts val="0"/>
              </a:spcAft>
              <a:buSzPct val="80000"/>
              <a:buChar char="►"/>
            </a:pPr>
            <a:r>
              <a:rPr lang="es-AR"/>
              <a:t>Legitimado originario con el sindico</a:t>
            </a:r>
            <a:endParaRPr/>
          </a:p>
          <a:p>
            <a:pPr indent="-228600" lvl="2" marL="1143000" rtl="0" algn="l">
              <a:spcBef>
                <a:spcPts val="1000"/>
              </a:spcBef>
              <a:spcAft>
                <a:spcPts val="0"/>
              </a:spcAft>
              <a:buSzPct val="80000"/>
              <a:buChar char="►"/>
            </a:pPr>
            <a:r>
              <a:rPr lang="es-AR"/>
              <a:t>No subsidiario </a:t>
            </a:r>
            <a:endParaRPr/>
          </a:p>
          <a:p>
            <a:pPr indent="-228600" lvl="3" marL="1600200" rtl="0" algn="l">
              <a:spcBef>
                <a:spcPts val="1000"/>
              </a:spcBef>
              <a:spcAft>
                <a:spcPts val="0"/>
              </a:spcAft>
              <a:buSzPct val="80000"/>
              <a:buChar char="►"/>
            </a:pPr>
            <a:r>
              <a:rPr lang="es-AR"/>
              <a:t>La ley habla de "cualquier" acreedor</a:t>
            </a:r>
            <a:r>
              <a:rPr b="1" lang="es-AR" u="sng"/>
              <a:t>, excluyendo en primer lugar a otros interesados (terceros</a:t>
            </a:r>
            <a:r>
              <a:rPr lang="es-AR"/>
              <a:t>).</a:t>
            </a:r>
            <a:endParaRPr/>
          </a:p>
          <a:p>
            <a:pPr indent="-228600" lvl="3" marL="1600200" rtl="0" algn="l">
              <a:spcBef>
                <a:spcPts val="1000"/>
              </a:spcBef>
              <a:spcAft>
                <a:spcPts val="0"/>
              </a:spcAft>
              <a:buSzPct val="80000"/>
              <a:buChar char="►"/>
            </a:pPr>
            <a:r>
              <a:rPr lang="es-AR"/>
              <a:t> Podrán </a:t>
            </a:r>
            <a:endParaRPr/>
          </a:p>
          <a:p>
            <a:pPr indent="-228600" lvl="4" marL="2057400" rtl="0" algn="l">
              <a:spcBef>
                <a:spcPts val="1000"/>
              </a:spcBef>
              <a:spcAft>
                <a:spcPts val="0"/>
              </a:spcAft>
              <a:buSzPct val="80000"/>
              <a:buChar char="►"/>
            </a:pPr>
            <a:r>
              <a:rPr lang="es-AR"/>
              <a:t>quienes hayan obtenido sentencia verificatoria favorable (art. 36, LCQ)</a:t>
            </a:r>
            <a:endParaRPr/>
          </a:p>
          <a:p>
            <a:pPr indent="-228600" lvl="4" marL="2057400" rtl="0" algn="l">
              <a:spcBef>
                <a:spcPts val="1000"/>
              </a:spcBef>
              <a:spcAft>
                <a:spcPts val="0"/>
              </a:spcAft>
              <a:buSzPct val="80000"/>
              <a:buChar char="►"/>
            </a:pPr>
            <a:r>
              <a:rPr lang="es-AR"/>
              <a:t>los admitidos por pronto pago (arts. 16 y 183, LCQ)</a:t>
            </a:r>
            <a:endParaRPr/>
          </a:p>
          <a:p>
            <a:pPr indent="-228600" lvl="4" marL="2057400" rtl="0" algn="l">
              <a:spcBef>
                <a:spcPts val="1000"/>
              </a:spcBef>
              <a:spcAft>
                <a:spcPts val="0"/>
              </a:spcAft>
              <a:buSzPct val="80000"/>
              <a:buChar char="►"/>
            </a:pPr>
            <a:r>
              <a:rPr lang="es-AR"/>
              <a:t>los beneficiarios del art. 240, LCQ, </a:t>
            </a:r>
            <a:endParaRPr/>
          </a:p>
          <a:p>
            <a:pPr indent="-228600" lvl="4" marL="2057400" rtl="0" algn="l">
              <a:spcBef>
                <a:spcPts val="1000"/>
              </a:spcBef>
              <a:spcAft>
                <a:spcPts val="0"/>
              </a:spcAft>
              <a:buSzPct val="80000"/>
              <a:buChar char="►"/>
            </a:pPr>
            <a:r>
              <a:rPr lang="es-AR"/>
              <a:t>los verificados tardíos (arts. 56 y 280, LCQ)</a:t>
            </a:r>
            <a:endParaRPr/>
          </a:p>
          <a:p>
            <a:pPr indent="-228600" lvl="4" marL="2057400" rtl="0" algn="l">
              <a:spcBef>
                <a:spcPts val="1000"/>
              </a:spcBef>
              <a:spcAft>
                <a:spcPts val="0"/>
              </a:spcAft>
              <a:buSzPct val="80000"/>
              <a:buChar char="►"/>
            </a:pPr>
            <a:r>
              <a:rPr b="1" lang="es-AR" u="sng"/>
              <a:t>Si existe incidente de revisión pendiente, aún no son acreedores.</a:t>
            </a:r>
            <a:endParaRPr b="1" u="sng"/>
          </a:p>
          <a:p>
            <a:pPr indent="-222758" lvl="1" marL="742950" rtl="0" algn="l">
              <a:spcBef>
                <a:spcPts val="1000"/>
              </a:spcBef>
              <a:spcAft>
                <a:spcPts val="0"/>
              </a:spcAft>
              <a:buSzPct val="8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Trámite. Medidas precautorias. Art.164</a:t>
            </a:r>
            <a:endParaRPr/>
          </a:p>
        </p:txBody>
      </p:sp>
      <p:sp>
        <p:nvSpPr>
          <p:cNvPr id="260" name="Google Shape;260;p1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La petición de extensión tramita por las reglas del juicio ordinario con participación del síndico y de todas las personas a las cuales se pretenda extender la quiebra. Si alguna de estas se encuentra en concurso preventivo o quiebra, es también parte el síndico de ese proceso. La instancia perime a los SEIS (6) meses.</a:t>
            </a:r>
            <a:endParaRPr/>
          </a:p>
          <a:p>
            <a:pPr indent="-342900" lvl="0" marL="342900" rtl="0" algn="l">
              <a:spcBef>
                <a:spcPts val="1000"/>
              </a:spcBef>
              <a:spcAft>
                <a:spcPts val="0"/>
              </a:spcAft>
              <a:buSzPts val="1440"/>
              <a:buChar char="►"/>
            </a:pPr>
            <a:r>
              <a:rPr lang="es-AR"/>
              <a:t>El juez puede dictar las medidas del Artículo 85 respecto de los imputados, bajo la responsabilidad del concurso.</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Coexistencia con otros trámites concursales. Art.165</a:t>
            </a:r>
            <a:endParaRPr/>
          </a:p>
        </p:txBody>
      </p:sp>
      <p:sp>
        <p:nvSpPr>
          <p:cNvPr id="266" name="Google Shape;266;p2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Los recursos contra la sentencia de quiebra no obstan al trámite de extensión. La sentencia sólo puede dictarse cuando se desestimen los recursos.</a:t>
            </a:r>
            <a:endParaRPr/>
          </a:p>
        </p:txBody>
      </p:sp>
      <p:sp>
        <p:nvSpPr>
          <p:cNvPr id="267" name="Google Shape;267;p20"/>
          <p:cNvSpPr/>
          <p:nvPr/>
        </p:nvSpPr>
        <p:spPr>
          <a:xfrm>
            <a:off x="677334" y="3675185"/>
            <a:ext cx="8208758" cy="2121877"/>
          </a:xfrm>
          <a:prstGeom prst="roundRect">
            <a:avLst>
              <a:gd fmla="val 16667" name="adj"/>
            </a:avLst>
          </a:prstGeom>
          <a:solidFill>
            <a:schemeClr val="accent1"/>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171450" lvl="0" marL="171450" marR="0" rtl="0" algn="just">
              <a:spcBef>
                <a:spcPts val="0"/>
              </a:spcBef>
              <a:spcAft>
                <a:spcPts val="0"/>
              </a:spcAft>
              <a:buClr>
                <a:schemeClr val="lt1"/>
              </a:buClr>
              <a:buSzPts val="900"/>
              <a:buFont typeface="Arial"/>
              <a:buChar char="•"/>
            </a:pPr>
            <a:r>
              <a:rPr lang="es-AR" sz="900">
                <a:solidFill>
                  <a:schemeClr val="lt1"/>
                </a:solidFill>
                <a:latin typeface="Trebuchet MS"/>
                <a:ea typeface="Trebuchet MS"/>
                <a:cs typeface="Trebuchet MS"/>
                <a:sym typeface="Trebuchet MS"/>
              </a:rPr>
              <a:t>En todos los supuestos de extensión analizados (arts. 160 y 161, LCQ) </a:t>
            </a:r>
            <a:r>
              <a:rPr b="1" lang="es-AR" sz="900">
                <a:solidFill>
                  <a:schemeClr val="lt1"/>
                </a:solidFill>
                <a:latin typeface="Trebuchet MS"/>
                <a:ea typeface="Trebuchet MS"/>
                <a:cs typeface="Trebuchet MS"/>
                <a:sym typeface="Trebuchet MS"/>
              </a:rPr>
              <a:t>se requiere la declaración de quiebra principal</a:t>
            </a:r>
            <a:r>
              <a:rPr lang="es-AR" sz="900">
                <a:solidFill>
                  <a:schemeClr val="lt1"/>
                </a:solidFill>
                <a:latin typeface="Trebuchet MS"/>
                <a:ea typeface="Trebuchet MS"/>
                <a:cs typeface="Trebuchet MS"/>
                <a:sym typeface="Trebuchet MS"/>
              </a:rPr>
              <a:t>, sin ésta la extensión no resulta posible. </a:t>
            </a:r>
            <a:endParaRPr/>
          </a:p>
          <a:p>
            <a:pPr indent="-171450" lvl="0" marL="171450" marR="0" rtl="0" algn="just">
              <a:spcBef>
                <a:spcPts val="0"/>
              </a:spcBef>
              <a:spcAft>
                <a:spcPts val="0"/>
              </a:spcAft>
              <a:buClr>
                <a:schemeClr val="lt1"/>
              </a:buClr>
              <a:buSzPts val="900"/>
              <a:buFont typeface="Arial"/>
              <a:buChar char="•"/>
            </a:pPr>
            <a:r>
              <a:rPr lang="es-AR" sz="900">
                <a:solidFill>
                  <a:schemeClr val="lt1"/>
                </a:solidFill>
                <a:latin typeface="Trebuchet MS"/>
                <a:ea typeface="Trebuchet MS"/>
                <a:cs typeface="Trebuchet MS"/>
                <a:sym typeface="Trebuchet MS"/>
              </a:rPr>
              <a:t>	la interposición del recurso de reposición (art. 94, LCQ) y pedido de levantamiento sin trámite (art. 96, LCQ) no impiden la prosecución del trámite de extensión. </a:t>
            </a:r>
            <a:endParaRPr/>
          </a:p>
          <a:p>
            <a:pPr indent="-171450" lvl="0" marL="171450" marR="0" rtl="0" algn="just">
              <a:spcBef>
                <a:spcPts val="0"/>
              </a:spcBef>
              <a:spcAft>
                <a:spcPts val="0"/>
              </a:spcAft>
              <a:buClr>
                <a:schemeClr val="lt1"/>
              </a:buClr>
              <a:buSzPts val="900"/>
              <a:buFont typeface="Arial"/>
              <a:buChar char="•"/>
            </a:pPr>
            <a:r>
              <a:rPr lang="es-AR" sz="900">
                <a:solidFill>
                  <a:schemeClr val="lt1"/>
                </a:solidFill>
                <a:latin typeface="Trebuchet MS"/>
                <a:ea typeface="Trebuchet MS"/>
                <a:cs typeface="Trebuchet MS"/>
                <a:sym typeface="Trebuchet MS"/>
              </a:rPr>
              <a:t>si se solicitó la conversión de la quiebra en concurso preventivo (art. 90, LCQ) o si la quiebra principal ha concluido por avenimiento (art. 255, LCQ), por pago total luego de la liquidación de bienes (art. 228, LCQ), por carta de pago otorgada por todos los acreedores (art. 229, LCQ) o por inexistencia de acreedores concurrentes a la quiebra (art. 229, LCQ), o si se hizo lugar a la reposición (art. 98, LCQ) o levantamiento sin trámite (art. 96, LCQ). </a:t>
            </a:r>
            <a:endParaRPr/>
          </a:p>
          <a:p>
            <a:pPr indent="-171450" lvl="1" marL="628650" marR="0" rtl="0" algn="just">
              <a:spcBef>
                <a:spcPts val="0"/>
              </a:spcBef>
              <a:spcAft>
                <a:spcPts val="0"/>
              </a:spcAft>
              <a:buClr>
                <a:schemeClr val="lt1"/>
              </a:buClr>
              <a:buSzPts val="900"/>
              <a:buFont typeface="Arial"/>
              <a:buChar char="•"/>
            </a:pPr>
            <a:r>
              <a:rPr b="1" i="0" lang="es-AR" sz="900" u="sng" cap="none" strike="noStrike">
                <a:solidFill>
                  <a:schemeClr val="lt1"/>
                </a:solidFill>
                <a:latin typeface="Trebuchet MS"/>
                <a:ea typeface="Trebuchet MS"/>
                <a:cs typeface="Trebuchet MS"/>
                <a:sym typeface="Trebuchet MS"/>
              </a:rPr>
              <a:t>En estos casos, los efectos de la quiebra principal cesan, y con ella la posibilidad de extender la quiebra a otros sujetos vinculados con la ex fallida</a:t>
            </a:r>
            <a:endParaRPr b="1" i="0" sz="900" u="sng"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Coordinación de procedimientos</a:t>
            </a:r>
            <a:endParaRPr/>
          </a:p>
        </p:txBody>
      </p:sp>
      <p:sp>
        <p:nvSpPr>
          <p:cNvPr id="273" name="Google Shape;273;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Sindicatura. Al decretar la extensión, el juez debe disponer las medidas de coordinación de procedimientos de todas las falencias.</a:t>
            </a:r>
            <a:endParaRPr/>
          </a:p>
          <a:p>
            <a:pPr indent="-342900" lvl="0" marL="342900" rtl="0" algn="l">
              <a:spcBef>
                <a:spcPts val="1000"/>
              </a:spcBef>
              <a:spcAft>
                <a:spcPts val="0"/>
              </a:spcAft>
              <a:buSzPts val="1440"/>
              <a:buChar char="►"/>
            </a:pPr>
            <a:r>
              <a:rPr lang="es-AR"/>
              <a:t>El síndico ya designado interviene en los concursos de las personas alcanzadas por la extensión, sin perjuicio de la aplicación del Artículo 253, parte final.</a:t>
            </a:r>
            <a:endParaRPr/>
          </a:p>
          <a:p>
            <a:pPr indent="0" lvl="0" marL="0" rtl="0" algn="l">
              <a:spcBef>
                <a:spcPts val="1000"/>
              </a:spcBef>
              <a:spcAft>
                <a:spcPts val="0"/>
              </a:spcAft>
              <a:buSzPts val="144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 Masa única – Art. 167</a:t>
            </a:r>
            <a:endParaRPr/>
          </a:p>
        </p:txBody>
      </p:sp>
      <p:sp>
        <p:nvSpPr>
          <p:cNvPr id="279" name="Google Shape;279;p2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La sentencia que decrete la extensión fundada en el Artículo 161, inciso 3, dispondrá la formación de masa única.</a:t>
            </a:r>
            <a:endParaRPr/>
          </a:p>
          <a:p>
            <a:pPr indent="-342900" lvl="0" marL="342900" rtl="0" algn="l">
              <a:spcBef>
                <a:spcPts val="1000"/>
              </a:spcBef>
              <a:spcAft>
                <a:spcPts val="0"/>
              </a:spcAft>
              <a:buSzPts val="1440"/>
              <a:buChar char="►"/>
            </a:pPr>
            <a:r>
              <a:rPr lang="es-AR"/>
              <a:t>También se forma masa única cuando la extensión ha sido declarada por aplicación del Artículo 161, incisos 1 y 2 y se comprueba que existe confusión patrimonial inescindible. En este caso, la formación de masa única puede requerirla el síndico o cualquiera de los síndicos al presentar el informe indicado en el Artículo 41. Son parte en la articulación los fallidos y síndicos exclusivamente.</a:t>
            </a:r>
            <a:endParaRPr/>
          </a:p>
          <a:p>
            <a:pPr indent="-342900" lvl="0" marL="342900" rtl="0" algn="l">
              <a:spcBef>
                <a:spcPts val="1000"/>
              </a:spcBef>
              <a:spcAft>
                <a:spcPts val="0"/>
              </a:spcAft>
              <a:buSzPts val="1440"/>
              <a:buChar char="►"/>
            </a:pPr>
            <a:r>
              <a:rPr lang="es-AR"/>
              <a:t>El crédito a cargo de más de uno de los fallidos concurrirá una sola vez por el importe mayor verificado.</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 Masa única</a:t>
            </a:r>
            <a:endParaRPr/>
          </a:p>
        </p:txBody>
      </p:sp>
      <p:sp>
        <p:nvSpPr>
          <p:cNvPr id="285" name="Google Shape;285;p2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SzPct val="80000"/>
              <a:buChar char="►"/>
            </a:pPr>
            <a:r>
              <a:rPr lang="es-AR"/>
              <a:t>Regla general </a:t>
            </a:r>
            <a:endParaRPr/>
          </a:p>
          <a:p>
            <a:pPr indent="-285750" lvl="1" marL="742950" rtl="0" algn="l">
              <a:spcBef>
                <a:spcPts val="1000"/>
              </a:spcBef>
              <a:spcAft>
                <a:spcPts val="0"/>
              </a:spcAft>
              <a:buSzPct val="80000"/>
              <a:buChar char="►"/>
            </a:pPr>
            <a:r>
              <a:rPr lang="es-AR"/>
              <a:t>Masas separadas – individualidad de activos y pasivos</a:t>
            </a:r>
            <a:endParaRPr/>
          </a:p>
          <a:p>
            <a:pPr indent="-228600" lvl="2" marL="1143000" rtl="0" algn="l">
              <a:spcBef>
                <a:spcPts val="1000"/>
              </a:spcBef>
              <a:spcAft>
                <a:spcPts val="0"/>
              </a:spcAft>
              <a:buSzPct val="80000"/>
              <a:buChar char="►"/>
            </a:pPr>
            <a:r>
              <a:rPr lang="es-AR"/>
              <a:t>Una para cada falencia</a:t>
            </a:r>
            <a:endParaRPr/>
          </a:p>
          <a:p>
            <a:pPr indent="-342900" lvl="0" marL="342900" rtl="0" algn="l">
              <a:spcBef>
                <a:spcPts val="1000"/>
              </a:spcBef>
              <a:spcAft>
                <a:spcPts val="0"/>
              </a:spcAft>
              <a:buSzPct val="80000"/>
              <a:buChar char="►"/>
            </a:pPr>
            <a:r>
              <a:rPr lang="es-AR"/>
              <a:t>Confusion patrimonial inescindible </a:t>
            </a:r>
            <a:endParaRPr/>
          </a:p>
          <a:p>
            <a:pPr indent="-285750" lvl="1" marL="742950" rtl="0" algn="l">
              <a:spcBef>
                <a:spcPts val="1000"/>
              </a:spcBef>
              <a:spcAft>
                <a:spcPts val="0"/>
              </a:spcAft>
              <a:buSzPct val="80000"/>
              <a:buChar char="►"/>
            </a:pPr>
            <a:r>
              <a:rPr lang="es-AR"/>
              <a:t>La quiebra principal y refleja tienen activos y pasivos confundidos y no puede diferenciarse entre ellos</a:t>
            </a:r>
            <a:endParaRPr/>
          </a:p>
          <a:p>
            <a:pPr indent="-285750" lvl="1" marL="742950" rtl="0" algn="l">
              <a:spcBef>
                <a:spcPts val="1000"/>
              </a:spcBef>
              <a:spcAft>
                <a:spcPts val="0"/>
              </a:spcAft>
              <a:buSzPct val="80000"/>
              <a:buChar char="►"/>
            </a:pPr>
            <a:r>
              <a:rPr lang="es-AR"/>
              <a:t>Si la quiebra fue decretada en los terminos del articulo 160 inciso 1 o 2 pero ademas se acredita confusion patrimonial, </a:t>
            </a:r>
            <a:endParaRPr/>
          </a:p>
          <a:p>
            <a:pPr indent="-342900" lvl="0" marL="342900" rtl="0" algn="l">
              <a:spcBef>
                <a:spcPts val="1000"/>
              </a:spcBef>
              <a:spcAft>
                <a:spcPts val="0"/>
              </a:spcAft>
              <a:buSzPct val="80000"/>
              <a:buChar char="►"/>
            </a:pPr>
            <a:r>
              <a:rPr lang="es-AR"/>
              <a:t>Si hay credito a cargo de mas de un fallido, se debe concurrir una sola vez y por el importe mayor. </a:t>
            </a:r>
            <a:endParaRPr/>
          </a:p>
          <a:p>
            <a:pPr indent="-342900" lvl="0" marL="342900" rtl="0" algn="l">
              <a:spcBef>
                <a:spcPts val="1000"/>
              </a:spcBef>
              <a:spcAft>
                <a:spcPts val="0"/>
              </a:spcAft>
              <a:buSzPct val="80000"/>
              <a:buChar char="►"/>
            </a:pPr>
            <a:r>
              <a:rPr lang="es-AR"/>
              <a:t>Los privilegios reconocidos en cada una de las quiebras se mantienen, aun cuando existe la formación de una masa única. En consecuencia, si el crédito reviste privilegio especial (arts. 241 y 242, LCQ) o general (arts. 246 y 247, LCQ), este carácter debe respetarse en la distribución final.</a:t>
            </a:r>
            <a:endParaRPr/>
          </a:p>
          <a:p>
            <a:pPr indent="-342900" lvl="0" marL="342900" rtl="0" algn="l">
              <a:spcBef>
                <a:spcPts val="1000"/>
              </a:spcBef>
              <a:spcAft>
                <a:spcPts val="0"/>
              </a:spcAft>
              <a:buSzPct val="80000"/>
              <a:buChar char="►"/>
            </a:pPr>
            <a:r>
              <a:rPr lang="es-AR"/>
              <a:t>Los créditos entre fallidos en caso de masa única no pueden participar de la distribución de la masa (art. 170, 3º párr., LCQ). </a:t>
            </a:r>
            <a:endParaRPr/>
          </a:p>
          <a:p>
            <a:pPr indent="-285750" lvl="1" marL="742950" rtl="0" algn="l">
              <a:spcBef>
                <a:spcPts val="1000"/>
              </a:spcBef>
              <a:spcAft>
                <a:spcPts val="0"/>
              </a:spcAft>
              <a:buSzPct val="80000"/>
              <a:buChar char="►"/>
            </a:pPr>
            <a:r>
              <a:rPr lang="es-AR"/>
              <a:t>de existir un remanente, deberá priorizarse —previo la devolución a los fallidos— la cancelación de los créditos entre fallidos.</a:t>
            </a:r>
            <a:endParaRPr/>
          </a:p>
          <a:p>
            <a:pPr indent="-342900" lvl="0" marL="342900" rtl="0" algn="l">
              <a:spcBef>
                <a:spcPts val="1000"/>
              </a:spcBef>
              <a:spcAft>
                <a:spcPts val="0"/>
              </a:spcAft>
              <a:buSzPct val="80000"/>
              <a:buChar char="►"/>
            </a:pPr>
            <a:r>
              <a:rPr lang="es-AR"/>
              <a:t>El remanente de la masa única deberá devolverse a los quebrados en proporción a su participación en la masa, o, en su defecto, a prorrata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Masas separadas – Remanentes – Art. 168</a:t>
            </a:r>
            <a:endParaRPr/>
          </a:p>
        </p:txBody>
      </p:sp>
      <p:sp>
        <p:nvSpPr>
          <p:cNvPr id="291" name="Google Shape;291;p2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En los casos no previstos en el artículo anterior, se consideran separadamente los bienes y crédito pertenecientes a cada fallido.</a:t>
            </a:r>
            <a:endParaRPr/>
          </a:p>
          <a:p>
            <a:pPr indent="-342900" lvl="0" marL="342900" rtl="0" algn="l">
              <a:spcBef>
                <a:spcPts val="1000"/>
              </a:spcBef>
              <a:spcAft>
                <a:spcPts val="0"/>
              </a:spcAft>
              <a:buSzPts val="1440"/>
              <a:buChar char="►"/>
            </a:pPr>
            <a:r>
              <a:rPr lang="es-AR"/>
              <a:t>Los remanentes de cada masa separada, constituyen un </a:t>
            </a:r>
            <a:r>
              <a:rPr b="1" lang="es-AR"/>
              <a:t>fondo común</a:t>
            </a:r>
            <a:r>
              <a:rPr lang="es-AR"/>
              <a:t>, para ser distribuido entre los acreedores no satisfechos por la liquidación de la masa en la que participaron, </a:t>
            </a:r>
            <a:r>
              <a:rPr b="1" lang="es-AR"/>
              <a:t>sin atender a privilegios.</a:t>
            </a:r>
            <a:endParaRPr b="1"/>
          </a:p>
          <a:p>
            <a:pPr indent="-342900" lvl="0" marL="342900" rtl="0" algn="l">
              <a:spcBef>
                <a:spcPts val="1000"/>
              </a:spcBef>
              <a:spcAft>
                <a:spcPts val="0"/>
              </a:spcAft>
              <a:buSzPts val="1440"/>
              <a:buChar char="►"/>
            </a:pPr>
            <a:r>
              <a:rPr lang="es-AR"/>
              <a:t>Sin embargo, los créditos de quien ha actuado en su interés personal, en el caso del Artículo 161, inciso 1 o de la persona controlante en el caso del Artículo 161, inciso 2 </a:t>
            </a:r>
            <a:r>
              <a:rPr b="1" lang="es-AR"/>
              <a:t>no participan en la distribución del mencionado fondo común.</a:t>
            </a:r>
            <a:endParaRPr/>
          </a:p>
          <a:p>
            <a:pPr indent="0" lvl="0" marL="0" rtl="0" algn="l">
              <a:spcBef>
                <a:spcPts val="1000"/>
              </a:spcBef>
              <a:spcAft>
                <a:spcPts val="0"/>
              </a:spcAft>
              <a:buSzPts val="144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Masas separadas - Remanentes</a:t>
            </a:r>
            <a:endParaRPr/>
          </a:p>
        </p:txBody>
      </p:sp>
      <p:sp>
        <p:nvSpPr>
          <p:cNvPr id="297" name="Google Shape;297;p25"/>
          <p:cNvSpPr txBox="1"/>
          <p:nvPr>
            <p:ph idx="1" type="body"/>
          </p:nvPr>
        </p:nvSpPr>
        <p:spPr>
          <a:xfrm>
            <a:off x="677334" y="1811215"/>
            <a:ext cx="8596668" cy="4566139"/>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SzPct val="80000"/>
              <a:buChar char="►"/>
            </a:pPr>
            <a:r>
              <a:rPr lang="es-AR"/>
              <a:t>Se mantiene la unidad de cada persona quebrada</a:t>
            </a:r>
            <a:endParaRPr/>
          </a:p>
          <a:p>
            <a:pPr indent="-342900" lvl="0" marL="342900" rtl="0" algn="l">
              <a:spcBef>
                <a:spcPts val="1000"/>
              </a:spcBef>
              <a:spcAft>
                <a:spcPts val="0"/>
              </a:spcAft>
              <a:buSzPct val="80000"/>
              <a:buChar char="►"/>
            </a:pPr>
            <a:r>
              <a:rPr lang="es-AR"/>
              <a:t>se forman por separado tantas masas de activos y pasivos como sujetos quebrados haya. </a:t>
            </a:r>
            <a:endParaRPr/>
          </a:p>
          <a:p>
            <a:pPr indent="-342900" lvl="0" marL="342900" rtl="0" algn="l">
              <a:spcBef>
                <a:spcPts val="1000"/>
              </a:spcBef>
              <a:spcAft>
                <a:spcPts val="0"/>
              </a:spcAft>
              <a:buSzPct val="80000"/>
              <a:buChar char="►"/>
            </a:pPr>
            <a:r>
              <a:rPr lang="es-AR"/>
              <a:t>cada acreedor concurre a la quiebra en cuya masa pasiva participa; una vez liquidada, percibirá el crédito verificado conforme al resultado de la liquidación y la distribucidn que se realice </a:t>
            </a:r>
            <a:endParaRPr/>
          </a:p>
          <a:p>
            <a:pPr indent="-342900" lvl="0" marL="342900" rtl="0" algn="l">
              <a:spcBef>
                <a:spcPts val="1000"/>
              </a:spcBef>
              <a:spcAft>
                <a:spcPts val="0"/>
              </a:spcAft>
              <a:buSzPct val="80000"/>
              <a:buChar char="►"/>
            </a:pPr>
            <a:r>
              <a:rPr lang="es-AR"/>
              <a:t>Si queda remanente, se conforma masa remanente para ser distribuido entre acreedores insatisfechos</a:t>
            </a:r>
            <a:endParaRPr/>
          </a:p>
          <a:p>
            <a:pPr indent="-342900" lvl="0" marL="342900" rtl="0" algn="l">
              <a:spcBef>
                <a:spcPts val="1000"/>
              </a:spcBef>
              <a:spcAft>
                <a:spcPts val="0"/>
              </a:spcAft>
              <a:buSzPct val="80000"/>
              <a:buChar char="►"/>
            </a:pPr>
            <a:r>
              <a:rPr b="1" i="1" lang="es-AR" u="sng"/>
              <a:t>los creditos de quien ha actuado en su interés personal, en el caso delart.161,inc. 1,o de la persona controlante, en el caso del art. 161, inc. 2, no participan en la distribución del mencionado fondo común. </a:t>
            </a:r>
            <a:endParaRPr/>
          </a:p>
          <a:p>
            <a:pPr indent="-285750" lvl="1" marL="742950" rtl="0" algn="l">
              <a:spcBef>
                <a:spcPts val="1000"/>
              </a:spcBef>
              <a:spcAft>
                <a:spcPts val="0"/>
              </a:spcAft>
              <a:buSzPct val="80000"/>
              <a:buChar char="►"/>
            </a:pPr>
            <a:r>
              <a:rPr lang="es-AR"/>
              <a:t>En el fondo común formado por el remanente de las masas separadas, </a:t>
            </a:r>
            <a:r>
              <a:rPr b="1" lang="es-AR" u="sng"/>
              <a:t>sólo pueden participar y cobrar los acreedores (saldo insoluto) del quebrado principal, pero no se distribuirá entre los acreedores no satisfechos en la masa de los quebrados reflejos</a:t>
            </a:r>
            <a:endParaRPr/>
          </a:p>
          <a:p>
            <a:pPr indent="-228600" lvl="2" marL="1143000" rtl="0" algn="l">
              <a:spcBef>
                <a:spcPts val="1000"/>
              </a:spcBef>
              <a:spcAft>
                <a:spcPts val="0"/>
              </a:spcAft>
              <a:buSzPct val="80000"/>
              <a:buChar char="►"/>
            </a:pPr>
            <a:r>
              <a:rPr i="1" lang="es-AR" u="sng"/>
              <a:t>peculiaridad.</a:t>
            </a:r>
            <a:endParaRPr/>
          </a:p>
          <a:p>
            <a:pPr indent="-228600" lvl="2" marL="1143000" rtl="0" algn="l">
              <a:spcBef>
                <a:spcPts val="1000"/>
              </a:spcBef>
              <a:spcAft>
                <a:spcPts val="0"/>
              </a:spcAft>
              <a:buSzPct val="80000"/>
              <a:buChar char="►"/>
            </a:pPr>
            <a:r>
              <a:rPr i="1" lang="es-AR"/>
              <a:t>supuesto frecuente que la extensión de la quiebra social se extienda a los socios ----- si existe remanente en la quiebra principal, éste no se distribuye entre los acreedores de los quebrados reflejos, sino que pasa a integrar el peculio personal de los socios (art. 228, 3º párr., LCQ). </a:t>
            </a:r>
            <a:endParaRPr/>
          </a:p>
          <a:p>
            <a:pPr indent="-228600" lvl="3" marL="1600200" rtl="0" algn="l">
              <a:spcBef>
                <a:spcPts val="1000"/>
              </a:spcBef>
              <a:spcAft>
                <a:spcPts val="0"/>
              </a:spcAft>
              <a:buSzPct val="80000"/>
              <a:buChar char="►"/>
            </a:pPr>
            <a:r>
              <a:rPr i="1" lang="es-AR"/>
              <a:t>los socios están en quiebra (y por ello, desapoderados de pleno derecho de sus bienes —art. 107, LCQ—) y que el remanente del art. 228, in fine, LCQ, también forma parte de su patrimonio. Por ello, en este especialísimo caso, el remanente ingresará nuevamente a la masa de los socios fallidos (salvo, por supuesto, que hayan sido rehabilitados —art. 104, 2º párr., LCQ—) y deberá distribuirse entre los acreedores del socio fallido, pero —esta vez— respetando los privilegios.</a:t>
            </a:r>
            <a:endParaRPr/>
          </a:p>
          <a:p>
            <a:pPr indent="-222758" lvl="1" marL="742950" rtl="0" algn="l">
              <a:spcBef>
                <a:spcPts val="1000"/>
              </a:spcBef>
              <a:spcAft>
                <a:spcPts val="0"/>
              </a:spcAft>
              <a:buSzPct val="80000"/>
              <a:buNone/>
            </a:pPr>
            <a:r>
              <a:t/>
            </a:r>
            <a:endParaRPr i="1"/>
          </a:p>
          <a:p>
            <a:pPr indent="-272034" lvl="0" marL="342900" rtl="0" algn="l">
              <a:spcBef>
                <a:spcPts val="1000"/>
              </a:spcBef>
              <a:spcAft>
                <a:spcPts val="0"/>
              </a:spcAft>
              <a:buSzPct val="80000"/>
              <a:buNone/>
            </a:pPr>
            <a:r>
              <a:t/>
            </a:r>
            <a:endParaRPr/>
          </a:p>
          <a:p>
            <a:pPr indent="-272034" lvl="0" marL="342900" rtl="0" algn="l">
              <a:spcBef>
                <a:spcPts val="1000"/>
              </a:spcBef>
              <a:spcAft>
                <a:spcPts val="0"/>
              </a:spcAft>
              <a:buSzPct val="80000"/>
              <a:buNone/>
            </a:pPr>
            <a:r>
              <a:t/>
            </a:r>
            <a:endParaRPr/>
          </a:p>
          <a:p>
            <a:pPr indent="-272034" lvl="0" marL="342900" rtl="0" algn="l">
              <a:spcBef>
                <a:spcPts val="1000"/>
              </a:spcBef>
              <a:spcAft>
                <a:spcPts val="0"/>
              </a:spcAft>
              <a:buSzPct val="80000"/>
              <a:buNone/>
            </a:pPr>
            <a:r>
              <a:t/>
            </a:r>
            <a:endParaRPr/>
          </a:p>
          <a:p>
            <a:pPr indent="-272034" lvl="0" marL="342900" rtl="0" algn="l">
              <a:spcBef>
                <a:spcPts val="1000"/>
              </a:spcBef>
              <a:spcAft>
                <a:spcPts val="0"/>
              </a:spcAft>
              <a:buSzPct val="80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6"/>
          <p:cNvSpPr txBox="1"/>
          <p:nvPr>
            <p:ph idx="1" type="body"/>
          </p:nvPr>
        </p:nvSpPr>
        <p:spPr>
          <a:xfrm>
            <a:off x="543984" y="1417639"/>
            <a:ext cx="6214004"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Fallida ppal A –  acreedores insatisfechos </a:t>
            </a:r>
            <a:r>
              <a:rPr b="1" lang="es-AR" u="sng">
                <a:solidFill>
                  <a:srgbClr val="FF0000"/>
                </a:solidFill>
              </a:rPr>
              <a:t>-- 90000	</a:t>
            </a:r>
            <a:endParaRPr/>
          </a:p>
          <a:p>
            <a:pPr indent="-285750" lvl="1" marL="742950" rtl="0" algn="l">
              <a:spcBef>
                <a:spcPts val="1000"/>
              </a:spcBef>
              <a:spcAft>
                <a:spcPts val="0"/>
              </a:spcAft>
              <a:buSzPts val="1280"/>
              <a:buChar char="►"/>
            </a:pPr>
            <a:r>
              <a:rPr lang="es-AR"/>
              <a:t>masa activa 10000</a:t>
            </a:r>
            <a:endParaRPr/>
          </a:p>
          <a:p>
            <a:pPr indent="-285750" lvl="1" marL="742950" rtl="0" algn="l">
              <a:spcBef>
                <a:spcPts val="1000"/>
              </a:spcBef>
              <a:spcAft>
                <a:spcPts val="0"/>
              </a:spcAft>
              <a:buSzPts val="1280"/>
              <a:buChar char="►"/>
            </a:pPr>
            <a:r>
              <a:rPr lang="es-AR"/>
              <a:t>Masa pasiva 100000</a:t>
            </a:r>
            <a:endParaRPr/>
          </a:p>
          <a:p>
            <a:pPr indent="-342900" lvl="0" marL="342900" rtl="0" algn="l">
              <a:spcBef>
                <a:spcPts val="1000"/>
              </a:spcBef>
              <a:spcAft>
                <a:spcPts val="0"/>
              </a:spcAft>
              <a:buSzPts val="1440"/>
              <a:buChar char="►"/>
            </a:pPr>
            <a:r>
              <a:rPr lang="es-AR"/>
              <a:t>Fallida refleja B – remanente de 11000</a:t>
            </a:r>
            <a:endParaRPr/>
          </a:p>
          <a:p>
            <a:pPr indent="-285750" lvl="1" marL="742950" rtl="0" algn="l">
              <a:spcBef>
                <a:spcPts val="1000"/>
              </a:spcBef>
              <a:spcAft>
                <a:spcPts val="0"/>
              </a:spcAft>
              <a:buSzPts val="1280"/>
              <a:buChar char="►"/>
            </a:pPr>
            <a:r>
              <a:rPr lang="es-AR"/>
              <a:t>masa activa 20000</a:t>
            </a:r>
            <a:endParaRPr/>
          </a:p>
          <a:p>
            <a:pPr indent="-285750" lvl="1" marL="742950" rtl="0" algn="l">
              <a:spcBef>
                <a:spcPts val="1000"/>
              </a:spcBef>
              <a:spcAft>
                <a:spcPts val="0"/>
              </a:spcAft>
              <a:buSzPts val="1280"/>
              <a:buChar char="►"/>
            </a:pPr>
            <a:r>
              <a:rPr lang="es-AR"/>
              <a:t>Masa pasiva 9000</a:t>
            </a:r>
            <a:endParaRPr/>
          </a:p>
          <a:p>
            <a:pPr indent="-251460" lvl="0" marL="342900" rtl="0" algn="l">
              <a:spcBef>
                <a:spcPts val="1000"/>
              </a:spcBef>
              <a:spcAft>
                <a:spcPts val="0"/>
              </a:spcAft>
              <a:buSzPts val="1440"/>
              <a:buNone/>
            </a:pPr>
            <a:r>
              <a:t/>
            </a:r>
            <a:endParaRPr/>
          </a:p>
          <a:p>
            <a:pPr indent="-204470" lvl="1" marL="742950" rtl="0" algn="l">
              <a:spcBef>
                <a:spcPts val="1000"/>
              </a:spcBef>
              <a:spcAft>
                <a:spcPts val="0"/>
              </a:spcAft>
              <a:buSzPts val="1280"/>
              <a:buNone/>
            </a:pPr>
            <a:r>
              <a:t/>
            </a:r>
            <a:endParaRPr/>
          </a:p>
          <a:p>
            <a:pPr indent="-167640" lvl="3" marL="1600200" rtl="0" algn="l">
              <a:spcBef>
                <a:spcPts val="1000"/>
              </a:spcBef>
              <a:spcAft>
                <a:spcPts val="0"/>
              </a:spcAft>
              <a:buSzPts val="960"/>
              <a:buNone/>
            </a:pPr>
            <a:r>
              <a:t/>
            </a:r>
            <a:endParaRPr/>
          </a:p>
        </p:txBody>
      </p:sp>
      <p:sp>
        <p:nvSpPr>
          <p:cNvPr id="303" name="Google Shape;303;p26"/>
          <p:cNvSpPr/>
          <p:nvPr/>
        </p:nvSpPr>
        <p:spPr>
          <a:xfrm>
            <a:off x="6910388" y="2286000"/>
            <a:ext cx="2471738" cy="1781175"/>
          </a:xfrm>
          <a:prstGeom prst="ellipse">
            <a:avLst/>
          </a:prstGeom>
          <a:solidFill>
            <a:schemeClr val="accent1"/>
          </a:solidFill>
          <a:ln cap="rnd" cmpd="sng" w="1905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AR" sz="1800">
                <a:solidFill>
                  <a:schemeClr val="lt1"/>
                </a:solidFill>
                <a:latin typeface="Trebuchet MS"/>
                <a:ea typeface="Trebuchet MS"/>
                <a:cs typeface="Trebuchet MS"/>
                <a:sym typeface="Trebuchet MS"/>
              </a:rPr>
              <a:t>MASA REMANENTE</a:t>
            </a:r>
            <a:endParaRPr/>
          </a:p>
          <a:p>
            <a:pPr indent="0" lvl="0" marL="0" marR="0" rtl="0" algn="ctr">
              <a:spcBef>
                <a:spcPts val="0"/>
              </a:spcBef>
              <a:spcAft>
                <a:spcPts val="0"/>
              </a:spcAft>
              <a:buNone/>
            </a:pPr>
            <a:r>
              <a:rPr lang="es-AR" sz="1800">
                <a:solidFill>
                  <a:schemeClr val="lt1"/>
                </a:solidFill>
                <a:latin typeface="Trebuchet MS"/>
                <a:ea typeface="Trebuchet MS"/>
                <a:cs typeface="Trebuchet MS"/>
                <a:sym typeface="Trebuchet MS"/>
              </a:rPr>
              <a:t>11000</a:t>
            </a:r>
            <a:endParaRPr/>
          </a:p>
        </p:txBody>
      </p:sp>
      <p:cxnSp>
        <p:nvCxnSpPr>
          <p:cNvPr id="304" name="Google Shape;304;p26"/>
          <p:cNvCxnSpPr/>
          <p:nvPr/>
        </p:nvCxnSpPr>
        <p:spPr>
          <a:xfrm rot="10800000">
            <a:off x="5853113" y="1785938"/>
            <a:ext cx="904875" cy="1033462"/>
          </a:xfrm>
          <a:prstGeom prst="straightConnector1">
            <a:avLst/>
          </a:prstGeom>
          <a:noFill/>
          <a:ln cap="rnd" cmpd="sng" w="12700">
            <a:solidFill>
              <a:schemeClr val="accent1"/>
            </a:solidFill>
            <a:prstDash val="solid"/>
            <a:round/>
            <a:headEnd len="sm" w="sm" type="none"/>
            <a:tailEnd len="med" w="med" type="triangle"/>
          </a:ln>
        </p:spPr>
      </p:cxnSp>
      <p:sp>
        <p:nvSpPr>
          <p:cNvPr id="305" name="Google Shape;305;p26"/>
          <p:cNvSpPr txBox="1"/>
          <p:nvPr/>
        </p:nvSpPr>
        <p:spPr>
          <a:xfrm>
            <a:off x="7127163" y="1347575"/>
            <a:ext cx="2038200" cy="867600"/>
          </a:xfrm>
          <a:prstGeom prst="rect">
            <a:avLst/>
          </a:prstGeom>
          <a:noFill/>
          <a:ln cap="flat" cmpd="sng" w="9525">
            <a:solidFill>
              <a:srgbClr val="1C458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AR" sz="1800">
                <a:solidFill>
                  <a:srgbClr val="3F3F3F"/>
                </a:solidFill>
                <a:latin typeface="Trebuchet MS"/>
                <a:ea typeface="Trebuchet MS"/>
                <a:cs typeface="Trebuchet MS"/>
                <a:sym typeface="Trebuchet MS"/>
              </a:rPr>
              <a:t>SIN ATENDER A PRIVILEGIOS!!</a:t>
            </a:r>
            <a:endParaRPr sz="1800">
              <a:solidFill>
                <a:srgbClr val="3F3F3F"/>
              </a:solidFill>
              <a:latin typeface="Trebuchet MS"/>
              <a:ea typeface="Trebuchet MS"/>
              <a:cs typeface="Trebuchet MS"/>
              <a:sym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Cesacion de pagos</a:t>
            </a:r>
            <a:endParaRPr/>
          </a:p>
        </p:txBody>
      </p:sp>
      <p:sp>
        <p:nvSpPr>
          <p:cNvPr id="311" name="Google Shape;311;p2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En caso de masa única, la fecha de iniciación del estado de cesación de pagos que se determine a los efectos de los Artículos 118 y siguientes, es la misma respecto de todos los fallidos. Se la determina al decretarse la formación de masa única o posteriormente.</a:t>
            </a:r>
            <a:endParaRPr/>
          </a:p>
          <a:p>
            <a:pPr indent="-342900" lvl="0" marL="342900" rtl="0" algn="l">
              <a:spcBef>
                <a:spcPts val="1000"/>
              </a:spcBef>
              <a:spcAft>
                <a:spcPts val="0"/>
              </a:spcAft>
              <a:buSzPts val="1440"/>
              <a:buChar char="►"/>
            </a:pPr>
            <a:r>
              <a:rPr lang="es-AR"/>
              <a:t>Cuando existan masas separadas, se determina la fecha de iniciación de la cesación de pagos respecto de cada fallido.</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Créditos entre fallidos</a:t>
            </a:r>
            <a:endParaRPr/>
          </a:p>
        </p:txBody>
      </p:sp>
      <p:sp>
        <p:nvSpPr>
          <p:cNvPr id="317" name="Google Shape;317;p2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Los créditos entre fallidos se verifican mediante informe del síndico, o en su caso mediante un informe conjunto de los síndicos actuantes en las diversas quiebras, en la oportunidad prevista en el Artículo 35, sin necesidad de pedido de verificación.</a:t>
            </a:r>
            <a:endParaRPr/>
          </a:p>
          <a:p>
            <a:pPr indent="-342900" lvl="0" marL="342900" rtl="0" algn="l">
              <a:spcBef>
                <a:spcPts val="1000"/>
              </a:spcBef>
              <a:spcAft>
                <a:spcPts val="0"/>
              </a:spcAft>
              <a:buSzPts val="1440"/>
              <a:buChar char="►"/>
            </a:pPr>
            <a:r>
              <a:rPr lang="es-AR"/>
              <a:t>Dichos créditos no participan del fondo común previsto en el Artículo 168.</a:t>
            </a:r>
            <a:endParaRPr/>
          </a:p>
          <a:p>
            <a:pPr indent="-342900" lvl="0" marL="342900" rtl="0" algn="l">
              <a:spcBef>
                <a:spcPts val="1000"/>
              </a:spcBef>
              <a:spcAft>
                <a:spcPts val="0"/>
              </a:spcAft>
              <a:buSzPts val="1440"/>
              <a:buChar char="►"/>
            </a:pPr>
            <a:r>
              <a:rPr lang="es-AR"/>
              <a:t>No son considerados los créditos entre los fallidos, comprendidos entre la masa única.</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Efectos de la sentencia de extensión</a:t>
            </a:r>
            <a:endParaRPr/>
          </a:p>
        </p:txBody>
      </p:sp>
      <p:sp>
        <p:nvSpPr>
          <p:cNvPr id="323" name="Google Shape;323;p2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Los efectos de la quiebra declarada por extensión se producen a partir de la sentencia que la decrete.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Responsabilidad de terceros - Responsabilidad de representantes</a:t>
            </a:r>
            <a:endParaRPr/>
          </a:p>
        </p:txBody>
      </p:sp>
      <p:sp>
        <p:nvSpPr>
          <p:cNvPr id="329" name="Google Shape;329;p3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b="1" lang="es-AR"/>
              <a:t>Los representantes, administradores, mandatarios o gestores de negocios</a:t>
            </a:r>
            <a:r>
              <a:rPr lang="es-AR"/>
              <a:t> del fallido que </a:t>
            </a:r>
            <a:r>
              <a:rPr b="1" lang="es-AR"/>
              <a:t>dolosamente</a:t>
            </a:r>
            <a:r>
              <a:rPr lang="es-AR"/>
              <a:t> hubieren producido, facilitado, permitido o agravado la situación patrimonial del deudor o su insolvencia, deben indemnizar los perjuicios causados.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Responsabilidad de terceros - Responsabilidad de representantes</a:t>
            </a:r>
            <a:endParaRPr/>
          </a:p>
        </p:txBody>
      </p:sp>
      <p:sp>
        <p:nvSpPr>
          <p:cNvPr id="335" name="Google Shape;335;p3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SzPct val="80000"/>
              <a:buChar char="►"/>
            </a:pPr>
            <a:r>
              <a:rPr b="1" i="1" lang="es-AR"/>
              <a:t>Sujetos </a:t>
            </a:r>
            <a:r>
              <a:rPr lang="es-AR"/>
              <a:t>responsables pueden ser los representantes, administradores, mandatarios o gestores de negocios de la persona fallida. </a:t>
            </a:r>
            <a:endParaRPr/>
          </a:p>
          <a:p>
            <a:pPr indent="-342900" lvl="0" marL="342900" rtl="0" algn="l">
              <a:spcBef>
                <a:spcPts val="1000"/>
              </a:spcBef>
              <a:spcAft>
                <a:spcPts val="0"/>
              </a:spcAft>
              <a:buSzPct val="80000"/>
              <a:buChar char="►"/>
            </a:pPr>
            <a:r>
              <a:rPr lang="es-AR"/>
              <a:t>La conducta legalmente reprochada que origina la responsabilidad patrimonial de los terceros consiste en haber: </a:t>
            </a:r>
            <a:endParaRPr/>
          </a:p>
          <a:p>
            <a:pPr indent="-285750" lvl="1" marL="742950" rtl="0" algn="l">
              <a:spcBef>
                <a:spcPts val="1000"/>
              </a:spcBef>
              <a:spcAft>
                <a:spcPts val="0"/>
              </a:spcAft>
              <a:buSzPct val="80000"/>
              <a:buChar char="►"/>
            </a:pPr>
            <a:r>
              <a:rPr lang="es-AR"/>
              <a:t>1)producido; Producir es aportar una condición esencial al resultado dañoso (ej: enajenación simulada de bienes)</a:t>
            </a:r>
            <a:endParaRPr/>
          </a:p>
          <a:p>
            <a:pPr indent="-285750" lvl="1" marL="742950" rtl="0" algn="l">
              <a:spcBef>
                <a:spcPts val="1000"/>
              </a:spcBef>
              <a:spcAft>
                <a:spcPts val="0"/>
              </a:spcAft>
              <a:buSzPct val="80000"/>
              <a:buChar char="►"/>
            </a:pPr>
            <a:r>
              <a:rPr b="1" lang="es-AR"/>
              <a:t>2)</a:t>
            </a:r>
            <a:r>
              <a:rPr lang="es-AR"/>
              <a:t>facilitado; Facilitar implica conductas que ayuden a generar la insolvencia o la disminución de la responsabilidad patrimonial</a:t>
            </a:r>
            <a:endParaRPr/>
          </a:p>
          <a:p>
            <a:pPr indent="-285750" lvl="1" marL="742950" rtl="0" algn="l">
              <a:spcBef>
                <a:spcPts val="1000"/>
              </a:spcBef>
              <a:spcAft>
                <a:spcPts val="0"/>
              </a:spcAft>
              <a:buSzPct val="80000"/>
              <a:buChar char="►"/>
            </a:pPr>
            <a:r>
              <a:rPr i="1" lang="es-AR"/>
              <a:t>3) </a:t>
            </a:r>
            <a:r>
              <a:rPr lang="es-AR"/>
              <a:t>permitido,  Permitir hace referencia a conductas omisivas de abandono de las tareas que impone imperativamente la ley a los administradores en defensa del patrimonio confiado a la gestión o control del sujeto</a:t>
            </a:r>
            <a:endParaRPr/>
          </a:p>
          <a:p>
            <a:pPr indent="-285750" lvl="1" marL="742950" rtl="0" algn="l">
              <a:spcBef>
                <a:spcPts val="1000"/>
              </a:spcBef>
              <a:spcAft>
                <a:spcPts val="0"/>
              </a:spcAft>
              <a:buSzPct val="80000"/>
              <a:buChar char="►"/>
            </a:pPr>
            <a:r>
              <a:rPr lang="es-AR"/>
              <a:t>4) agravado la insolvencia del patrimonio del fallido, o la disminución de su responsabilidad patrimonial. Agravar y prolongar suponen ya el estado de insolvencia y refieren a conductas dañosas, bajo pretexto de intentar salvar la situación, como cuando se continúa el giro de los negocios en estado de cesación de pagos y se recurre a operaciones ruinosas para intentar paliar la situación.</a:t>
            </a:r>
            <a:endParaRPr/>
          </a:p>
          <a:p>
            <a:pPr indent="-342900" lvl="0" marL="342900" rtl="0" algn="l">
              <a:spcBef>
                <a:spcPts val="1000"/>
              </a:spcBef>
              <a:spcAft>
                <a:spcPts val="0"/>
              </a:spcAft>
              <a:buSzPct val="80000"/>
              <a:buChar char="►"/>
            </a:pPr>
            <a:r>
              <a:rPr lang="es-AR"/>
              <a:t>La actuación del tercero subsumible en alguno de los supuestos descriptos precedentemente tiene que estar signada por el </a:t>
            </a:r>
            <a:r>
              <a:rPr b="1" lang="es-AR" u="sng"/>
              <a:t>dolo</a:t>
            </a:r>
            <a:r>
              <a:rPr lang="es-AR"/>
              <a:t> del autor </a:t>
            </a:r>
            <a:endParaRPr/>
          </a:p>
          <a:p>
            <a:pPr indent="-342900" lvl="0" marL="342900" rtl="0" algn="l">
              <a:spcBef>
                <a:spcPts val="1000"/>
              </a:spcBef>
              <a:spcAft>
                <a:spcPts val="0"/>
              </a:spcAft>
              <a:buSzPct val="80000"/>
              <a:buChar char="►"/>
            </a:pPr>
            <a:r>
              <a:rPr lang="es-AR"/>
              <a:t>La conducta antijurídica dolosamente ejecutada por alguno de los sujetos pasivos de la acción debe tener relación de causalidad con el estado de cesación de pagos o con la disminución de la responsabilidad patrimonial del fallido</a:t>
            </a:r>
            <a:endParaRPr/>
          </a:p>
          <a:p>
            <a:pPr indent="-342900" lvl="0" marL="342900" rtl="0" algn="l">
              <a:spcBef>
                <a:spcPts val="1000"/>
              </a:spcBef>
              <a:spcAft>
                <a:spcPts val="0"/>
              </a:spcAft>
              <a:buSzPct val="80000"/>
              <a:buChar char="►"/>
            </a:pPr>
            <a:r>
              <a:rPr lang="es-AR"/>
              <a:t>Debe existir daño </a:t>
            </a:r>
            <a:endParaRPr/>
          </a:p>
          <a:p>
            <a:pPr indent="-342900" lvl="0" marL="342900" rtl="0" algn="l">
              <a:spcBef>
                <a:spcPts val="1000"/>
              </a:spcBef>
              <a:spcAft>
                <a:spcPts val="0"/>
              </a:spcAft>
              <a:buSzPct val="80000"/>
              <a:buChar char="►"/>
            </a:pPr>
            <a:r>
              <a:rPr lang="es-AR"/>
              <a:t>La consecuencia en caso de progreso de la acción, se extiende a </a:t>
            </a:r>
            <a:r>
              <a:rPr b="1" i="1" lang="es-AR"/>
              <a:t>indemnizar </a:t>
            </a:r>
            <a:r>
              <a:rPr lang="es-AR"/>
              <a:t>los perjuicios causados 	</a:t>
            </a:r>
            <a:endParaRPr/>
          </a:p>
          <a:p>
            <a:pPr indent="-234950" lvl="1" marL="742950" rtl="0" algn="l">
              <a:spcBef>
                <a:spcPts val="1000"/>
              </a:spcBef>
              <a:spcAft>
                <a:spcPts val="0"/>
              </a:spcAft>
              <a:buSzPct val="80000"/>
              <a:buNone/>
            </a:pPr>
            <a:r>
              <a:t/>
            </a:r>
            <a:endParaRPr/>
          </a:p>
          <a:p>
            <a:pPr indent="0" lvl="0" marL="0" rtl="0" algn="l">
              <a:spcBef>
                <a:spcPts val="1000"/>
              </a:spcBef>
              <a:spcAft>
                <a:spcPts val="0"/>
              </a:spcAft>
              <a:buSzPct val="80000"/>
              <a:buNone/>
            </a:pPr>
            <a:r>
              <a:t/>
            </a:r>
            <a:endParaRPr/>
          </a:p>
          <a:p>
            <a:pPr indent="-285750" lvl="0" marL="342900" rtl="0" algn="l">
              <a:spcBef>
                <a:spcPts val="1000"/>
              </a:spcBef>
              <a:spcAft>
                <a:spcPts val="0"/>
              </a:spcAft>
              <a:buSzPct val="80000"/>
              <a:buNone/>
            </a:pPr>
            <a:r>
              <a:t/>
            </a:r>
            <a:endParaRPr/>
          </a:p>
          <a:p>
            <a:pPr indent="-285750" lvl="0" marL="342900" rtl="0" algn="l">
              <a:spcBef>
                <a:spcPts val="1000"/>
              </a:spcBef>
              <a:spcAft>
                <a:spcPts val="0"/>
              </a:spcAft>
              <a:buSzPct val="80000"/>
              <a:buNone/>
            </a:pPr>
            <a:r>
              <a:t/>
            </a:r>
            <a:endParaRPr/>
          </a:p>
          <a:p>
            <a:pPr indent="-285750" lvl="0" marL="342900" rtl="0" algn="l">
              <a:spcBef>
                <a:spcPts val="1000"/>
              </a:spcBef>
              <a:spcAft>
                <a:spcPts val="0"/>
              </a:spcAft>
              <a:buSzPct val="8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Indemnizacion</a:t>
            </a:r>
            <a:endParaRPr/>
          </a:p>
        </p:txBody>
      </p:sp>
      <p:sp>
        <p:nvSpPr>
          <p:cNvPr id="341" name="Google Shape;341;p32"/>
          <p:cNvSpPr txBox="1"/>
          <p:nvPr>
            <p:ph idx="1" type="body"/>
          </p:nvPr>
        </p:nvSpPr>
        <p:spPr>
          <a:xfrm>
            <a:off x="677334" y="2367628"/>
            <a:ext cx="8596668" cy="1856030"/>
          </a:xfrm>
          <a:prstGeom prst="rect">
            <a:avLst/>
          </a:prstGeom>
          <a:gradFill>
            <a:gsLst>
              <a:gs pos="0">
                <a:srgbClr val="D2E4BB"/>
              </a:gs>
              <a:gs pos="88000">
                <a:srgbClr val="9FC95F"/>
              </a:gs>
              <a:gs pos="100000">
                <a:srgbClr val="9FC95F"/>
              </a:gs>
            </a:gsLst>
            <a:lin ang="5400000" scaled="0"/>
          </a:gradFill>
          <a:ln cap="rnd" cmpd="sng" w="12700">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solidFill>
                  <a:schemeClr val="dk1"/>
                </a:solidFill>
                <a:latin typeface="Trebuchet MS"/>
                <a:ea typeface="Trebuchet MS"/>
                <a:cs typeface="Trebuchet MS"/>
                <a:sym typeface="Trebuchet MS"/>
              </a:rPr>
              <a:t>extensión del resarcimiento en la actuación dolosa, </a:t>
            </a:r>
            <a:endParaRPr/>
          </a:p>
          <a:p>
            <a:pPr indent="-285750" lvl="1" marL="742950" rtl="0" algn="l">
              <a:spcBef>
                <a:spcPts val="1000"/>
              </a:spcBef>
              <a:spcAft>
                <a:spcPts val="0"/>
              </a:spcAft>
              <a:buSzPts val="1280"/>
              <a:buChar char="►"/>
            </a:pPr>
            <a:r>
              <a:rPr lang="es-AR">
                <a:solidFill>
                  <a:schemeClr val="dk1"/>
                </a:solidFill>
                <a:latin typeface="Trebuchet MS"/>
                <a:ea typeface="Trebuchet MS"/>
                <a:cs typeface="Trebuchet MS"/>
                <a:sym typeface="Trebuchet MS"/>
              </a:rPr>
              <a:t>el art. 1740 CCCN establece que la reparación del daño debe ser plena:</a:t>
            </a:r>
            <a:endParaRPr/>
          </a:p>
          <a:p>
            <a:pPr indent="-228600" lvl="2" marL="1143000" rtl="0" algn="l">
              <a:spcBef>
                <a:spcPts val="1000"/>
              </a:spcBef>
              <a:spcAft>
                <a:spcPts val="0"/>
              </a:spcAft>
              <a:buSzPts val="1120"/>
              <a:buChar char="►"/>
            </a:pPr>
            <a:r>
              <a:rPr lang="es-AR">
                <a:solidFill>
                  <a:schemeClr val="dk1"/>
                </a:solidFill>
                <a:latin typeface="Trebuchet MS"/>
                <a:ea typeface="Trebuchet MS"/>
                <a:cs typeface="Trebuchet MS"/>
                <a:sym typeface="Trebuchet MS"/>
              </a:rPr>
              <a:t> consiste en </a:t>
            </a:r>
            <a:endParaRPr/>
          </a:p>
          <a:p>
            <a:pPr indent="-228600" lvl="3" marL="1600200" rtl="0" algn="l">
              <a:spcBef>
                <a:spcPts val="1000"/>
              </a:spcBef>
              <a:spcAft>
                <a:spcPts val="0"/>
              </a:spcAft>
              <a:buSzPts val="960"/>
              <a:buChar char="►"/>
            </a:pPr>
            <a:r>
              <a:rPr b="1" lang="es-AR" u="sng">
                <a:solidFill>
                  <a:schemeClr val="dk1"/>
                </a:solidFill>
                <a:latin typeface="Trebuchet MS"/>
                <a:ea typeface="Trebuchet MS"/>
                <a:cs typeface="Trebuchet MS"/>
                <a:sym typeface="Trebuchet MS"/>
              </a:rPr>
              <a:t>la restitución de la situación del damnificado al estado anterior al hecho dañoso, sea por el pago en dinero o en especie.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Responsabilidad de terceros - Responsabilidad de terceros</a:t>
            </a:r>
            <a:endParaRPr/>
          </a:p>
        </p:txBody>
      </p:sp>
      <p:sp>
        <p:nvSpPr>
          <p:cNvPr id="347" name="Google Shape;347;p3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Quienes de cualquier forma participen </a:t>
            </a:r>
            <a:r>
              <a:rPr b="1" lang="es-AR" u="sng"/>
              <a:t>dolosamente</a:t>
            </a:r>
            <a:r>
              <a:rPr lang="es-AR"/>
              <a:t> en actos tendientes a la disminución del activo o exageración del pasivo, antes o después de la declaración de quiebra, deben reintegrar los bienes que aún tengan en su poder e indemnizar los daños causados, no pudiendo tampoco reclamar ningún derecho en el concurso.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Responsabilidad de terceros - Responsabilidad de terceros</a:t>
            </a:r>
            <a:endParaRPr/>
          </a:p>
        </p:txBody>
      </p:sp>
      <p:sp>
        <p:nvSpPr>
          <p:cNvPr id="353" name="Google Shape;353;p3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Sujeto pasivo de la acción puede ser </a:t>
            </a:r>
            <a:r>
              <a:rPr b="1" lang="es-AR"/>
              <a:t>cualquier tercero</a:t>
            </a:r>
            <a:r>
              <a:rPr lang="es-AR"/>
              <a:t>; esto es, cualquier persona que no sea el propio fallido </a:t>
            </a:r>
            <a:endParaRPr/>
          </a:p>
          <a:p>
            <a:pPr indent="-285750" lvl="1" marL="742950" rtl="0" algn="l">
              <a:spcBef>
                <a:spcPts val="1000"/>
              </a:spcBef>
              <a:spcAft>
                <a:spcPts val="0"/>
              </a:spcAft>
              <a:buSzPts val="1280"/>
              <a:buChar char="►"/>
            </a:pPr>
            <a:r>
              <a:rPr lang="es-AR"/>
              <a:t>la directriz no está en la vinculación con el deudor, sino en la acción: participar en actos tendientes a disminuir la responsabilidad del deudor. </a:t>
            </a:r>
            <a:endParaRPr/>
          </a:p>
          <a:p>
            <a:pPr indent="-342900" lvl="0" marL="342900" rtl="0" algn="l">
              <a:spcBef>
                <a:spcPts val="1000"/>
              </a:spcBef>
              <a:spcAft>
                <a:spcPts val="0"/>
              </a:spcAft>
              <a:buSzPts val="1440"/>
              <a:buChar char="►"/>
            </a:pPr>
            <a:r>
              <a:rPr lang="es-AR"/>
              <a:t>b) La conducta legalmente reprochada es la participación en actos (lo cual excluiría la conducta omisiva) tendientes a </a:t>
            </a:r>
            <a:endParaRPr/>
          </a:p>
          <a:p>
            <a:pPr indent="-285750" lvl="1" marL="742950" rtl="0" algn="l">
              <a:spcBef>
                <a:spcPts val="1000"/>
              </a:spcBef>
              <a:spcAft>
                <a:spcPts val="0"/>
              </a:spcAft>
              <a:buSzPts val="1280"/>
              <a:buChar char="►"/>
            </a:pPr>
            <a:r>
              <a:rPr lang="es-AR"/>
              <a:t>la disminución </a:t>
            </a:r>
            <a:r>
              <a:rPr b="1" lang="es-AR"/>
              <a:t>del </a:t>
            </a:r>
            <a:r>
              <a:rPr lang="es-AR"/>
              <a:t>activo o </a:t>
            </a:r>
            <a:endParaRPr/>
          </a:p>
          <a:p>
            <a:pPr indent="-285750" lvl="1" marL="742950" rtl="0" algn="l">
              <a:spcBef>
                <a:spcPts val="1000"/>
              </a:spcBef>
              <a:spcAft>
                <a:spcPts val="0"/>
              </a:spcAft>
              <a:buSzPts val="1280"/>
              <a:buChar char="►"/>
            </a:pPr>
            <a:r>
              <a:rPr lang="es-AR"/>
              <a:t>la exageración </a:t>
            </a:r>
            <a:r>
              <a:rPr b="1" lang="es-AR"/>
              <a:t>del </a:t>
            </a:r>
            <a:r>
              <a:rPr lang="es-AR"/>
              <a:t>pasivo</a:t>
            </a:r>
            <a:endParaRPr/>
          </a:p>
          <a:p>
            <a:pPr indent="-342900" lvl="0" marL="342900" rtl="0" algn="l">
              <a:spcBef>
                <a:spcPts val="1000"/>
              </a:spcBef>
              <a:spcAft>
                <a:spcPts val="0"/>
              </a:spcAft>
              <a:buSzPts val="1440"/>
              <a:buChar char="►"/>
            </a:pPr>
            <a:r>
              <a:rPr lang="es-AR"/>
              <a:t>Siempre la conducta reprochada debe estar signada por el </a:t>
            </a:r>
            <a:r>
              <a:rPr b="1" lang="es-AR"/>
              <a:t>dolo</a:t>
            </a:r>
            <a:r>
              <a:rPr lang="es-AR"/>
              <a:t>. </a:t>
            </a:r>
            <a:endParaRPr/>
          </a:p>
          <a:p>
            <a:pPr indent="-342900" lvl="0" marL="342900" rtl="0" algn="l">
              <a:spcBef>
                <a:spcPts val="1000"/>
              </a:spcBef>
              <a:spcAft>
                <a:spcPts val="0"/>
              </a:spcAft>
              <a:buSzPts val="1440"/>
              <a:buChar char="►"/>
            </a:pPr>
            <a:r>
              <a:rPr b="1" lang="es-AR"/>
              <a:t>La existencia de daño y la relación de causalidad </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Deber de indemnizar de terceros</a:t>
            </a:r>
            <a:endParaRPr/>
          </a:p>
        </p:txBody>
      </p:sp>
      <p:sp>
        <p:nvSpPr>
          <p:cNvPr id="359" name="Google Shape;359;p35"/>
          <p:cNvSpPr txBox="1"/>
          <p:nvPr>
            <p:ph idx="1" type="body"/>
          </p:nvPr>
        </p:nvSpPr>
        <p:spPr>
          <a:xfrm>
            <a:off x="764420" y="1930400"/>
            <a:ext cx="8596668" cy="3880773"/>
          </a:xfrm>
          <a:prstGeom prst="rect">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t" bIns="45700" lIns="91425" spcFirstLastPara="1" rIns="91425" wrap="square" tIns="45700">
            <a:normAutofit/>
          </a:bodyPr>
          <a:lstStyle/>
          <a:p>
            <a:pPr indent="-251460" lvl="0" marL="342900" rtl="0" algn="l">
              <a:spcBef>
                <a:spcPts val="0"/>
              </a:spcBef>
              <a:spcAft>
                <a:spcPts val="0"/>
              </a:spcAft>
              <a:buSzPts val="1440"/>
              <a:buNone/>
            </a:pPr>
            <a:r>
              <a:t/>
            </a:r>
            <a:endParaRPr/>
          </a:p>
          <a:p>
            <a:pPr indent="-342900" lvl="0" marL="342900" rtl="0" algn="l">
              <a:spcBef>
                <a:spcPts val="1000"/>
              </a:spcBef>
              <a:spcAft>
                <a:spcPts val="0"/>
              </a:spcAft>
              <a:buSzPts val="1440"/>
              <a:buChar char="►"/>
            </a:pPr>
            <a:r>
              <a:rPr lang="es-AR">
                <a:solidFill>
                  <a:schemeClr val="dk1"/>
                </a:solidFill>
                <a:latin typeface="Trebuchet MS"/>
                <a:ea typeface="Trebuchet MS"/>
                <a:cs typeface="Trebuchet MS"/>
                <a:sym typeface="Trebuchet MS"/>
              </a:rPr>
              <a:t>DAÑOS CAUSADOS</a:t>
            </a:r>
            <a:endParaRPr/>
          </a:p>
          <a:p>
            <a:pPr indent="0" lvl="0" marL="0" rtl="0" algn="l">
              <a:spcBef>
                <a:spcPts val="1000"/>
              </a:spcBef>
              <a:spcAft>
                <a:spcPts val="0"/>
              </a:spcAft>
              <a:buSzPts val="1440"/>
              <a:buNone/>
            </a:pPr>
            <a:r>
              <a:t/>
            </a:r>
            <a:endParaRPr/>
          </a:p>
          <a:p>
            <a:pPr indent="-342900" lvl="0" marL="342900" rtl="0" algn="l">
              <a:spcBef>
                <a:spcPts val="1000"/>
              </a:spcBef>
              <a:spcAft>
                <a:spcPts val="0"/>
              </a:spcAft>
              <a:buSzPts val="1440"/>
              <a:buChar char="►"/>
            </a:pPr>
            <a:r>
              <a:rPr lang="es-AR">
                <a:solidFill>
                  <a:schemeClr val="dk1"/>
                </a:solidFill>
                <a:latin typeface="Trebuchet MS"/>
                <a:ea typeface="Trebuchet MS"/>
                <a:cs typeface="Trebuchet MS"/>
                <a:sym typeface="Trebuchet MS"/>
              </a:rPr>
              <a:t>DEBER DE REINTEGRAR BIENES DEL FALLIDO QUE OBREN EN SU PODER</a:t>
            </a:r>
            <a:endParaRPr/>
          </a:p>
          <a:p>
            <a:pPr indent="-251460" lvl="0" marL="342900" rtl="0" algn="l">
              <a:spcBef>
                <a:spcPts val="1000"/>
              </a:spcBef>
              <a:spcAft>
                <a:spcPts val="0"/>
              </a:spcAft>
              <a:buSzPts val="1440"/>
              <a:buNone/>
            </a:pPr>
            <a:r>
              <a:t/>
            </a:r>
            <a:endParaRPr/>
          </a:p>
          <a:p>
            <a:pPr indent="-342900" lvl="0" marL="342900" rtl="0" algn="l">
              <a:spcBef>
                <a:spcPts val="1000"/>
              </a:spcBef>
              <a:spcAft>
                <a:spcPts val="0"/>
              </a:spcAft>
              <a:buSzPts val="1440"/>
              <a:buChar char="►"/>
            </a:pPr>
            <a:r>
              <a:rPr lang="es-AR">
                <a:solidFill>
                  <a:schemeClr val="dk1"/>
                </a:solidFill>
                <a:latin typeface="Trebuchet MS"/>
                <a:ea typeface="Trebuchet MS"/>
                <a:cs typeface="Trebuchet MS"/>
                <a:sym typeface="Trebuchet MS"/>
              </a:rPr>
              <a:t>PERDIDA DE CUALQUIER DERECHO QUE QUIERA RECLAMAR EN EL CONCURSO</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Extensión, trámite y prescripción.</a:t>
            </a:r>
            <a:endParaRPr/>
          </a:p>
        </p:txBody>
      </p:sp>
      <p:sp>
        <p:nvSpPr>
          <p:cNvPr id="365" name="Google Shape;365;p3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La responsabilidad prevista en el artículo anterior se extiende a los actos practicados hasta UN (1) año antes de la fecha inicial de la cesación de pagos y se declara y determina en proceso que corresponde deducir al síndico. La acción tramitará por las reglas del juicio ordinario, prescribe a los DOS (2) años contados desde la fecha de sentencia de quiebra y la instancia perime a los SEIS (6) meses. A los efectos de la promoción de la acción rige el régimen de autorización previa del Artículo 119 tercer párrafo.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Extensión, trámite y prescripción.</a:t>
            </a:r>
            <a:endParaRPr/>
          </a:p>
        </p:txBody>
      </p:sp>
      <p:sp>
        <p:nvSpPr>
          <p:cNvPr id="371" name="Google Shape;371;p37"/>
          <p:cNvSpPr txBox="1"/>
          <p:nvPr>
            <p:ph idx="1" type="body"/>
          </p:nvPr>
        </p:nvSpPr>
        <p:spPr>
          <a:xfrm>
            <a:off x="677334" y="2160589"/>
            <a:ext cx="8596668" cy="15732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promoverse en relacion a actos </a:t>
            </a:r>
            <a:r>
              <a:rPr b="1" lang="es-AR"/>
              <a:t>llevados </a:t>
            </a:r>
            <a:r>
              <a:rPr lang="es-AR"/>
              <a:t>a </a:t>
            </a:r>
            <a:r>
              <a:rPr b="1" lang="es-AR"/>
              <a:t>cabo "hasta un año </a:t>
            </a:r>
            <a:r>
              <a:rPr lang="es-AR"/>
              <a:t>antes de la fecha inicial de la cesación de pagos</a:t>
            </a:r>
            <a:endParaRPr/>
          </a:p>
          <a:p>
            <a:pPr indent="-342900" lvl="0" marL="342900" rtl="0" algn="l">
              <a:spcBef>
                <a:spcPts val="1000"/>
              </a:spcBef>
              <a:spcAft>
                <a:spcPts val="0"/>
              </a:spcAft>
              <a:buSzPts val="1440"/>
              <a:buChar char="►"/>
            </a:pPr>
            <a:r>
              <a:rPr b="1" lang="es-AR" u="sng"/>
              <a:t>no rige el plazo máximo de retroacción </a:t>
            </a:r>
            <a:endParaRPr/>
          </a:p>
          <a:p>
            <a:pPr indent="-251460" lvl="0" marL="342900" rtl="0" algn="l">
              <a:spcBef>
                <a:spcPts val="1000"/>
              </a:spcBef>
              <a:spcAft>
                <a:spcPts val="0"/>
              </a:spcAft>
              <a:buSzPts val="1440"/>
              <a:buNone/>
            </a:pPr>
            <a:r>
              <a:t/>
            </a:r>
            <a:endParaRPr b="1" u="sng"/>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
        <p:nvSpPr>
          <p:cNvPr id="372" name="Google Shape;372;p37"/>
          <p:cNvSpPr txBox="1"/>
          <p:nvPr/>
        </p:nvSpPr>
        <p:spPr>
          <a:xfrm>
            <a:off x="677333" y="4169229"/>
            <a:ext cx="8876975" cy="1200329"/>
          </a:xfrm>
          <a:prstGeom prst="rect">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Trebuchet MS"/>
                <a:ea typeface="Trebuchet MS"/>
                <a:cs typeface="Trebuchet MS"/>
                <a:sym typeface="Trebuchet MS"/>
              </a:rPr>
              <a:t>De este modo, los actos que generan la responsabilidad patrimonial </a:t>
            </a:r>
            <a:r>
              <a:rPr b="1" lang="es-AR" sz="1800">
                <a:solidFill>
                  <a:schemeClr val="dk1"/>
                </a:solidFill>
                <a:latin typeface="Trebuchet MS"/>
                <a:ea typeface="Trebuchet MS"/>
                <a:cs typeface="Trebuchet MS"/>
                <a:sym typeface="Trebuchet MS"/>
              </a:rPr>
              <a:t>de </a:t>
            </a:r>
            <a:r>
              <a:rPr lang="es-AR" sz="1800">
                <a:solidFill>
                  <a:schemeClr val="dk1"/>
                </a:solidFill>
                <a:latin typeface="Trebuchet MS"/>
                <a:ea typeface="Trebuchet MS"/>
                <a:cs typeface="Trebuchet MS"/>
                <a:sym typeface="Trebuchet MS"/>
              </a:rPr>
              <a:t>terceros y representantes en caso de quiebra (art. 173, LCQ) pueden haber sido efectua- dos </a:t>
            </a:r>
            <a:r>
              <a:rPr b="1" lang="es-AR" sz="1800" u="sng">
                <a:solidFill>
                  <a:schemeClr val="dk1"/>
                </a:solidFill>
                <a:latin typeface="Trebuchet MS"/>
                <a:ea typeface="Trebuchet MS"/>
                <a:cs typeface="Trebuchet MS"/>
                <a:sym typeface="Trebuchet MS"/>
              </a:rPr>
              <a:t>mucho tiempo atrás de la declaración judicial de la respectiva falencia</a:t>
            </a:r>
            <a:r>
              <a:rPr lang="es-AR" sz="1800">
                <a:solidFill>
                  <a:schemeClr val="dk1"/>
                </a:solidFill>
                <a:latin typeface="Trebuchet MS"/>
                <a:ea typeface="Trebuchet MS"/>
                <a:cs typeface="Trebuchet MS"/>
                <a:sym typeface="Trebuchet MS"/>
              </a:rPr>
              <a:t>. </a:t>
            </a:r>
            <a:endParaRPr/>
          </a:p>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Extensión, trámite y prescripción.</a:t>
            </a:r>
            <a:endParaRPr/>
          </a:p>
        </p:txBody>
      </p:sp>
      <p:sp>
        <p:nvSpPr>
          <p:cNvPr id="378" name="Google Shape;378;p38"/>
          <p:cNvSpPr txBox="1"/>
          <p:nvPr>
            <p:ph idx="1" type="body"/>
          </p:nvPr>
        </p:nvSpPr>
        <p:spPr>
          <a:xfrm>
            <a:off x="677334" y="2160589"/>
            <a:ext cx="8596668" cy="132080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Legitimacion activa</a:t>
            </a:r>
            <a:endParaRPr/>
          </a:p>
          <a:p>
            <a:pPr indent="-285750" lvl="1" marL="742950" rtl="0" algn="l">
              <a:spcBef>
                <a:spcPts val="1000"/>
              </a:spcBef>
              <a:spcAft>
                <a:spcPts val="0"/>
              </a:spcAft>
              <a:buSzPts val="1280"/>
              <a:buChar char="►"/>
            </a:pPr>
            <a:r>
              <a:rPr lang="es-AR"/>
              <a:t>Principal Sindico</a:t>
            </a:r>
            <a:endParaRPr/>
          </a:p>
          <a:p>
            <a:pPr indent="-285750" lvl="1" marL="742950" rtl="0" algn="l">
              <a:spcBef>
                <a:spcPts val="1000"/>
              </a:spcBef>
              <a:spcAft>
                <a:spcPts val="0"/>
              </a:spcAft>
              <a:buSzPts val="1280"/>
              <a:buChar char="►"/>
            </a:pPr>
            <a:r>
              <a:rPr lang="es-AR"/>
              <a:t>En defecto de este, cualquier acreedor interesado</a:t>
            </a:r>
            <a:endParaRPr/>
          </a:p>
          <a:p>
            <a:pPr indent="-204470" lvl="1" marL="742950" rtl="0" algn="l">
              <a:spcBef>
                <a:spcPts val="1000"/>
              </a:spcBef>
              <a:spcAft>
                <a:spcPts val="0"/>
              </a:spcAft>
              <a:buSzPts val="1280"/>
              <a:buNone/>
            </a:pPr>
            <a:r>
              <a:t/>
            </a:r>
            <a:endParaRPr/>
          </a:p>
        </p:txBody>
      </p:sp>
      <p:sp>
        <p:nvSpPr>
          <p:cNvPr id="379" name="Google Shape;379;p38"/>
          <p:cNvSpPr txBox="1"/>
          <p:nvPr/>
        </p:nvSpPr>
        <p:spPr>
          <a:xfrm>
            <a:off x="759395" y="3864429"/>
            <a:ext cx="8684380" cy="1477328"/>
          </a:xfrm>
          <a:prstGeom prst="rect">
            <a:avLst/>
          </a:prstGeom>
          <a:gradFill>
            <a:gsLst>
              <a:gs pos="0">
                <a:srgbClr val="62A541"/>
              </a:gs>
              <a:gs pos="78000">
                <a:srgbClr val="4C911E"/>
              </a:gs>
              <a:gs pos="100000">
                <a:srgbClr val="4C911E"/>
              </a:gs>
            </a:gsLst>
            <a:lin ang="5400000" scaled="0"/>
          </a:gradFill>
          <a:ln cap="rnd" cmpd="sng" w="12700">
            <a:solidFill>
              <a:schemeClr val="accent2"/>
            </a:solidFill>
            <a:prstDash val="solid"/>
            <a:round/>
            <a:headEnd len="sm" w="sm" type="none"/>
            <a:tailEnd len="sm" w="sm" type="none"/>
          </a:ln>
          <a:effectLst>
            <a:outerShdw blurRad="38100" rotWithShape="0" dir="5400000" dist="25400">
              <a:srgbClr val="000000">
                <a:alpha val="34901"/>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s-AR" sz="1800" u="sng">
                <a:solidFill>
                  <a:schemeClr val="lt1"/>
                </a:solidFill>
                <a:latin typeface="Trebuchet MS"/>
                <a:ea typeface="Trebuchet MS"/>
                <a:cs typeface="Trebuchet MS"/>
                <a:sym typeface="Trebuchet MS"/>
              </a:rPr>
              <a:t>Se aplica el articulo 120</a:t>
            </a:r>
            <a:r>
              <a:rPr lang="es-AR" sz="1800">
                <a:solidFill>
                  <a:schemeClr val="lt1"/>
                </a:solidFill>
                <a:latin typeface="Trebuchet MS"/>
                <a:ea typeface="Trebuchet MS"/>
                <a:cs typeface="Trebuchet MS"/>
                <a:sym typeface="Trebuchet MS"/>
              </a:rPr>
              <a:t> respecto de la actuacion subsidiaria de cualquier acreedor interesado, como tambien en la necesidad del sindico de obtener las mayorias del articulo para promover la accion</a:t>
            </a:r>
            <a:endParaRPr/>
          </a:p>
          <a:p>
            <a:pPr indent="-285750" lvl="1" marL="742950" marR="0" rtl="0" algn="l">
              <a:spcBef>
                <a:spcPts val="0"/>
              </a:spcBef>
              <a:spcAft>
                <a:spcPts val="0"/>
              </a:spcAft>
              <a:buClr>
                <a:schemeClr val="lt1"/>
              </a:buClr>
              <a:buSzPts val="1800"/>
              <a:buFont typeface="Arial"/>
              <a:buChar char="•"/>
            </a:pPr>
            <a:r>
              <a:rPr b="0" i="0" lang="es-AR" sz="1800" u="none" cap="none" strike="noStrike">
                <a:solidFill>
                  <a:schemeClr val="lt1"/>
                </a:solidFill>
                <a:latin typeface="Trebuchet MS"/>
                <a:ea typeface="Trebuchet MS"/>
                <a:cs typeface="Trebuchet MS"/>
                <a:sym typeface="Trebuchet MS"/>
              </a:rPr>
              <a:t>mayoría simple del capital quirografario verificado y admitido </a:t>
            </a:r>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Socios y otros responsables</a:t>
            </a:r>
            <a:endParaRPr/>
          </a:p>
        </p:txBody>
      </p:sp>
      <p:sp>
        <p:nvSpPr>
          <p:cNvPr id="385" name="Google Shape;385;p3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El ejercicio de las acciones de responsabilidad contra socios limitadamente responsables, administradores, síndicos y liquidadores, corresponde al síndico.</a:t>
            </a:r>
            <a:endParaRPr/>
          </a:p>
          <a:p>
            <a:pPr indent="-342900" lvl="0" marL="342900" rtl="0" algn="l">
              <a:spcBef>
                <a:spcPts val="1000"/>
              </a:spcBef>
              <a:spcAft>
                <a:spcPts val="0"/>
              </a:spcAft>
              <a:buSzPts val="1440"/>
              <a:buChar char="►"/>
            </a:pPr>
            <a:r>
              <a:rPr lang="es-AR"/>
              <a:t>Acciones en trámite. Si existen acciones de responsabilidad iniciadas con anterioridad, continúan por ante el Juzgado del concurso. El síndico puede optar entre hacerse parte coadyuvante en los procesos en el estado en que se encuentren o bien mantenerse fuera de ellos y deducir las acciones que corresponden al concurso por separado.</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Acciones Societarias</a:t>
            </a:r>
            <a:endParaRPr/>
          </a:p>
        </p:txBody>
      </p:sp>
      <p:sp>
        <p:nvSpPr>
          <p:cNvPr id="391" name="Google Shape;391;p4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En orden a la legitimación activa, deben ser promovidas por el síndico de la quiebra, en función de la sustitución procesal autorizada legalmente (arts. 278, LGS, y 175, LCQ)</a:t>
            </a:r>
            <a:endParaRPr/>
          </a:p>
          <a:p>
            <a:pPr indent="-342900" lvl="0" marL="342900" rtl="0" algn="l">
              <a:spcBef>
                <a:spcPts val="1000"/>
              </a:spcBef>
              <a:spcAft>
                <a:spcPts val="0"/>
              </a:spcAft>
              <a:buSzPts val="1440"/>
              <a:buChar char="►"/>
            </a:pPr>
            <a:r>
              <a:rPr lang="es-AR"/>
              <a:t>Los socios y los acreedores también pueden promoverla (arts. 278, LGS, y 119, LCQ), por expreso reenvío del art. 176, in fine</a:t>
            </a:r>
            <a:endParaRPr/>
          </a:p>
          <a:p>
            <a:pPr indent="-342900" lvl="0" marL="342900" rtl="0" algn="l">
              <a:spcBef>
                <a:spcPts val="1000"/>
              </a:spcBef>
              <a:spcAft>
                <a:spcPts val="0"/>
              </a:spcAft>
              <a:buSzPts val="1440"/>
              <a:buChar char="►"/>
            </a:pPr>
            <a:r>
              <a:rPr lang="es-AR"/>
              <a:t>la remisión que realiza el art. 176 en forma genérica a los arts. 119 y 120, en lo pertinente, no puede extenderse analógicamente al sistema de autorización que violenta el principio general y que, por tratarse de un régimen excepcional, merece una interpretación estricta.</a:t>
            </a:r>
            <a:endParaRPr/>
          </a:p>
          <a:p>
            <a:pPr indent="-342900" lvl="0" marL="342900" rtl="0" algn="l">
              <a:spcBef>
                <a:spcPts val="1000"/>
              </a:spcBef>
              <a:spcAft>
                <a:spcPts val="0"/>
              </a:spcAft>
              <a:buSzPts val="1440"/>
              <a:buChar char="►"/>
            </a:pPr>
            <a:r>
              <a:rPr lang="es-AR"/>
              <a:t>FACTOR DE ATRIBUCIÓN A TÍTULO DE CULPA Y DOLO: </a:t>
            </a:r>
            <a:r>
              <a:rPr lang="es-AR" u="sng"/>
              <a:t>EL BUEN HOMBRE DE NEGOCIOS</a:t>
            </a:r>
            <a:endParaRPr/>
          </a:p>
          <a:p>
            <a:pPr indent="-204470" lvl="1" marL="742950" rtl="0" algn="l">
              <a:spcBef>
                <a:spcPts val="1000"/>
              </a:spcBef>
              <a:spcAft>
                <a:spcPts val="0"/>
              </a:spcAft>
              <a:buSzPts val="1280"/>
              <a:buNone/>
            </a:pPr>
            <a:r>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s-AR"/>
              <a:t>Medidas precautorias.</a:t>
            </a:r>
            <a:endParaRPr/>
          </a:p>
        </p:txBody>
      </p:sp>
      <p:sp>
        <p:nvSpPr>
          <p:cNvPr id="397" name="Google Shape;397;p4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s-AR"/>
              <a:t>En los casos de los artículos precedentes, bajo la responsabilidad del concurso y a pedido del síndico, el juez puede adoptar las medidas precautorias por el monto que determine, aun antes de iniciada la acción.</a:t>
            </a:r>
            <a:endParaRPr/>
          </a:p>
          <a:p>
            <a:pPr indent="-342900" lvl="0" marL="342900" rtl="0" algn="l">
              <a:spcBef>
                <a:spcPts val="1000"/>
              </a:spcBef>
              <a:spcAft>
                <a:spcPts val="0"/>
              </a:spcAft>
              <a:buSzPts val="1440"/>
              <a:buChar char="►"/>
            </a:pPr>
            <a:r>
              <a:rPr lang="es-AR"/>
              <a:t>Para disponerlo se requiere que sumaria y verosímilmente se acredite la responsabilidad que se imputa.</a:t>
            </a:r>
            <a:endParaRPr/>
          </a:p>
          <a:p>
            <a:pPr indent="-342900" lvl="0" marL="342900" rtl="0" algn="l">
              <a:spcBef>
                <a:spcPts val="1000"/>
              </a:spcBef>
              <a:spcAft>
                <a:spcPts val="0"/>
              </a:spcAft>
              <a:buSzPts val="1440"/>
              <a:buChar char="►"/>
            </a:pPr>
            <a:r>
              <a:rPr lang="es-AR"/>
              <a:t>Las acciones reguladas en esta sección se tramitan por ante el juez del concurso y son aplicables los Artículos 119 y 120, en lo pertinente.</a:t>
            </a:r>
            <a:endParaRPr/>
          </a:p>
          <a:p>
            <a:pPr indent="-251460" lvl="0" marL="342900" rtl="0" algn="l">
              <a:spcBef>
                <a:spcPts val="1000"/>
              </a:spcBef>
              <a:spcAft>
                <a:spcPts val="0"/>
              </a:spcAft>
              <a:buSzPts val="14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a">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2020-06-01T16:42:24Z</dcterms:created>
  <dc:creator>Microsoft Office User</dc:creator>
</cp:coreProperties>
</file>