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7053250" cy="9309100"/>
  <p:embeddedFontLst>
    <p:embeddedFont>
      <p:font typeface="Roboto"/>
      <p:regular r:id="rId33"/>
      <p:bold r:id="rId34"/>
      <p:italic r:id="rId35"/>
      <p:boldItalic r:id="rId36"/>
    </p:embeddedFont>
    <p:embeddedFont>
      <p:font typeface="Corbel"/>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hqXnB/MKQKGgn2tBq1wVhB7Zdf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orbel-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schemas.openxmlformats.org/officeDocument/2006/relationships/font" Target="fonts/Corbel-regular.fnt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39" Type="http://schemas.openxmlformats.org/officeDocument/2006/relationships/font" Target="fonts/Corbel-italic.fntdata"/><Relationship Id="rId16" Type="http://schemas.openxmlformats.org/officeDocument/2006/relationships/slide" Target="slides/slide11.xml"/><Relationship Id="rId38" Type="http://schemas.openxmlformats.org/officeDocument/2006/relationships/font" Target="fonts/Corbel-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56414" cy="467071"/>
          </a:xfrm>
          <a:prstGeom prst="rect">
            <a:avLst/>
          </a:prstGeom>
          <a:noFill/>
          <a:ln>
            <a:noFill/>
          </a:ln>
        </p:spPr>
        <p:txBody>
          <a:bodyPr anchorCtr="0" anchor="t" bIns="46725" lIns="93475" spcFirstLastPara="1" rIns="93475" wrap="square" tIns="467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95217" y="0"/>
            <a:ext cx="3056414" cy="467071"/>
          </a:xfrm>
          <a:prstGeom prst="rect">
            <a:avLst/>
          </a:prstGeom>
          <a:noFill/>
          <a:ln>
            <a:noFill/>
          </a:ln>
        </p:spPr>
        <p:txBody>
          <a:bodyPr anchorCtr="0" anchor="t" bIns="46725" lIns="93475" spcFirstLastPara="1" rIns="93475" wrap="square" tIns="4672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5327" y="4480004"/>
            <a:ext cx="5642610" cy="3665459"/>
          </a:xfrm>
          <a:prstGeom prst="rect">
            <a:avLst/>
          </a:prstGeom>
          <a:noFill/>
          <a:ln>
            <a:noFill/>
          </a:ln>
        </p:spPr>
        <p:txBody>
          <a:bodyPr anchorCtr="0" anchor="t" bIns="46725" lIns="93475" spcFirstLastPara="1" rIns="93475" wrap="square" tIns="467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42030"/>
            <a:ext cx="3056414" cy="467070"/>
          </a:xfrm>
          <a:prstGeom prst="rect">
            <a:avLst/>
          </a:prstGeom>
          <a:noFill/>
          <a:ln>
            <a:noFill/>
          </a:ln>
        </p:spPr>
        <p:txBody>
          <a:bodyPr anchorCtr="0" anchor="b" bIns="46725" lIns="93475" spcFirstLastPara="1" rIns="93475" wrap="square" tIns="467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95217" y="8842030"/>
            <a:ext cx="3056414" cy="467070"/>
          </a:xfrm>
          <a:prstGeom prst="rect">
            <a:avLst/>
          </a:prstGeom>
          <a:noFill/>
          <a:ln>
            <a:noFill/>
          </a:ln>
        </p:spPr>
        <p:txBody>
          <a:bodyPr anchorCtr="0" anchor="b" bIns="46725" lIns="93475" spcFirstLastPara="1" rIns="93475" wrap="square" tIns="46725">
            <a:noAutofit/>
          </a:bodyPr>
          <a:lstStyle/>
          <a:p>
            <a:pPr indent="0" lvl="0" marL="0" marR="0" rtl="0" algn="r">
              <a:spcBef>
                <a:spcPts val="0"/>
              </a:spcBef>
              <a:spcAft>
                <a:spcPts val="0"/>
              </a:spcAft>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11" name="Google Shape;111;p1: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30" name="Google Shape;130;p3: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50" name="Google Shape;150;p5: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61" name="Google Shape;161;p6: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198" name="Google Shape;198;p8: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07" name="Google Shape;207;p9: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17" name="Google Shape;217;p10: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34" name="Google Shape;234;p11: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47" name="Google Shape;247;p12: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57" name="Google Shape;257;p13: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08351395c9_0_0:notes"/>
          <p:cNvSpPr/>
          <p:nvPr>
            <p:ph idx="2" type="sldImg"/>
          </p:nvPr>
        </p:nvSpPr>
        <p:spPr>
          <a:xfrm>
            <a:off x="733425" y="1163638"/>
            <a:ext cx="5586300" cy="31416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08351395c9_0_0:notes"/>
          <p:cNvSpPr txBox="1"/>
          <p:nvPr>
            <p:ph idx="1" type="body"/>
          </p:nvPr>
        </p:nvSpPr>
        <p:spPr>
          <a:xfrm>
            <a:off x="705327" y="4480004"/>
            <a:ext cx="5642700" cy="3665400"/>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68" name="Google Shape;268;g308351395c9_0_0:notes"/>
          <p:cNvSpPr txBox="1"/>
          <p:nvPr>
            <p:ph idx="12" type="sldNum"/>
          </p:nvPr>
        </p:nvSpPr>
        <p:spPr>
          <a:xfrm>
            <a:off x="3995217" y="8842030"/>
            <a:ext cx="3056400" cy="467100"/>
          </a:xfrm>
          <a:prstGeom prst="rect">
            <a:avLst/>
          </a:prstGeom>
        </p:spPr>
        <p:txBody>
          <a:bodyPr anchorCtr="0" anchor="b" bIns="46725" lIns="93475" spcFirstLastPara="1" rIns="93475" wrap="square" tIns="46725">
            <a:noAutofit/>
          </a:bodyPr>
          <a:lstStyle/>
          <a:p>
            <a:pPr indent="0" lvl="0" marL="0" rtl="0" algn="r">
              <a:spcBef>
                <a:spcPts val="0"/>
              </a:spcBef>
              <a:spcAft>
                <a:spcPts val="0"/>
              </a:spcAft>
              <a:buClr>
                <a:srgbClr val="000000"/>
              </a:buClr>
              <a:buFont typeface="Arial"/>
              <a:buNone/>
            </a:pPr>
            <a:fld id="{00000000-1234-1234-1234-123412341234}" type="slidenum">
              <a:rPr lang="es-A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83" name="Google Shape;283;p15: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292" name="Google Shape;292;p16: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7: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07" name="Google Shape;307;p17: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8: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26" name="Google Shape;326;p18: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9: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36" name="Google Shape;336;p19: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0: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46" name="Google Shape;346;p20: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1: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56" name="Google Shape;356;p21: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2: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66" name="Google Shape;366;p22: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3: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75" name="Google Shape;375;p23: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4: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385" name="Google Shape;385;p24: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5: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401" name="Google Shape;401;p25: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6:notes"/>
          <p:cNvSpPr txBox="1"/>
          <p:nvPr>
            <p:ph idx="1" type="body"/>
          </p:nvPr>
        </p:nvSpPr>
        <p:spPr>
          <a:xfrm>
            <a:off x="705327" y="4480004"/>
            <a:ext cx="5642610" cy="3665459"/>
          </a:xfrm>
          <a:prstGeom prst="rect">
            <a:avLst/>
          </a:prstGeom>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
        <p:nvSpPr>
          <p:cNvPr id="407" name="Google Shape;407;p26: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6" name="Shape 16"/>
        <p:cNvGrpSpPr/>
        <p:nvPr/>
      </p:nvGrpSpPr>
      <p:grpSpPr>
        <a:xfrm>
          <a:off x="0" y="0"/>
          <a:ext cx="0" cy="0"/>
          <a:chOff x="0" y="0"/>
          <a:chExt cx="0" cy="0"/>
        </a:xfrm>
      </p:grpSpPr>
      <p:sp>
        <p:nvSpPr>
          <p:cNvPr id="17" name="Google Shape;17;p30"/>
          <p:cNvSpPr/>
          <p:nvPr/>
        </p:nvSpPr>
        <p:spPr>
          <a:xfrm>
            <a:off x="231140" y="243840"/>
            <a:ext cx="11724640" cy="6377939"/>
          </a:xfrm>
          <a:prstGeom prst="rect">
            <a:avLst/>
          </a:prstGeom>
          <a:solidFill>
            <a:schemeClr val="accent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0"/>
          <p:cNvSpPr txBox="1"/>
          <p:nvPr>
            <p:ph type="ctrTitle"/>
          </p:nvPr>
        </p:nvSpPr>
        <p:spPr>
          <a:xfrm>
            <a:off x="1109980" y="882376"/>
            <a:ext cx="9966960" cy="2926080"/>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rgbClr val="FFFFFF"/>
              </a:buClr>
              <a:buSzPts val="7200"/>
              <a:buFont typeface="Corbel"/>
              <a:buNone/>
              <a:defRPr b="1" sz="720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subTitle"/>
          </p:nvPr>
        </p:nvSpPr>
        <p:spPr>
          <a:xfrm>
            <a:off x="1709530" y="3869634"/>
            <a:ext cx="8767860" cy="138816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400"/>
              </a:spcBef>
              <a:spcAft>
                <a:spcPts val="0"/>
              </a:spcAft>
              <a:buSzPts val="1760"/>
              <a:buNone/>
              <a:defRPr sz="2200">
                <a:solidFill>
                  <a:srgbClr val="FFFFFF"/>
                </a:solidFill>
              </a:defRPr>
            </a:lvl1pPr>
            <a:lvl2pPr lvl="1" algn="ctr">
              <a:lnSpc>
                <a:spcPct val="90000"/>
              </a:lnSpc>
              <a:spcBef>
                <a:spcPts val="200"/>
              </a:spcBef>
              <a:spcAft>
                <a:spcPts val="0"/>
              </a:spcAft>
              <a:buSzPts val="1760"/>
              <a:buNone/>
              <a:defRPr sz="2200"/>
            </a:lvl2pPr>
            <a:lvl3pPr lvl="2" algn="ctr">
              <a:lnSpc>
                <a:spcPct val="90000"/>
              </a:lnSpc>
              <a:spcBef>
                <a:spcPts val="400"/>
              </a:spcBef>
              <a:spcAft>
                <a:spcPts val="0"/>
              </a:spcAft>
              <a:buSzPts val="1760"/>
              <a:buNone/>
              <a:defRPr sz="2200"/>
            </a:lvl3pPr>
            <a:lvl4pPr lvl="3" algn="ctr">
              <a:lnSpc>
                <a:spcPct val="90000"/>
              </a:lnSpc>
              <a:spcBef>
                <a:spcPts val="400"/>
              </a:spcBef>
              <a:spcAft>
                <a:spcPts val="0"/>
              </a:spcAft>
              <a:buSzPts val="1600"/>
              <a:buNone/>
              <a:defRPr sz="2000"/>
            </a:lvl4pPr>
            <a:lvl5pPr lvl="4" algn="ctr">
              <a:lnSpc>
                <a:spcPct val="90000"/>
              </a:lnSpc>
              <a:spcBef>
                <a:spcPts val="400"/>
              </a:spcBef>
              <a:spcAft>
                <a:spcPts val="0"/>
              </a:spcAft>
              <a:buSzPts val="1600"/>
              <a:buNone/>
              <a:defRPr sz="2000"/>
            </a:lvl5pPr>
            <a:lvl6pPr lvl="5" algn="ctr">
              <a:lnSpc>
                <a:spcPct val="90000"/>
              </a:lnSpc>
              <a:spcBef>
                <a:spcPts val="400"/>
              </a:spcBef>
              <a:spcAft>
                <a:spcPts val="0"/>
              </a:spcAft>
              <a:buSzPts val="1600"/>
              <a:buNone/>
              <a:defRPr sz="2000"/>
            </a:lvl6pPr>
            <a:lvl7pPr lvl="6" algn="ctr">
              <a:lnSpc>
                <a:spcPct val="90000"/>
              </a:lnSpc>
              <a:spcBef>
                <a:spcPts val="400"/>
              </a:spcBef>
              <a:spcAft>
                <a:spcPts val="0"/>
              </a:spcAft>
              <a:buSzPts val="1600"/>
              <a:buNone/>
              <a:defRPr sz="2000"/>
            </a:lvl7pPr>
            <a:lvl8pPr lvl="7" algn="ctr">
              <a:lnSpc>
                <a:spcPct val="90000"/>
              </a:lnSpc>
              <a:spcBef>
                <a:spcPts val="400"/>
              </a:spcBef>
              <a:spcAft>
                <a:spcPts val="0"/>
              </a:spcAft>
              <a:buSzPts val="1600"/>
              <a:buNone/>
              <a:defRPr sz="2000"/>
            </a:lvl8pPr>
            <a:lvl9pPr lvl="8" algn="ctr">
              <a:lnSpc>
                <a:spcPct val="90000"/>
              </a:lnSpc>
              <a:spcBef>
                <a:spcPts val="400"/>
              </a:spcBef>
              <a:spcAft>
                <a:spcPts val="400"/>
              </a:spcAft>
              <a:buSzPts val="1600"/>
              <a:buNone/>
              <a:defRPr sz="2000"/>
            </a:lvl9pPr>
          </a:lstStyle>
          <a:p/>
        </p:txBody>
      </p:sp>
      <p:sp>
        <p:nvSpPr>
          <p:cNvPr id="20" name="Google Shape;20;p30"/>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orbel"/>
                <a:ea typeface="Corbel"/>
                <a:cs typeface="Corbel"/>
                <a:sym typeface="Corbel"/>
              </a:defRPr>
            </a:lvl1pPr>
            <a:lvl2pPr indent="0" lvl="1" marL="0" algn="r">
              <a:spcBef>
                <a:spcPts val="0"/>
              </a:spcBef>
              <a:buNone/>
              <a:defRPr b="0" i="0" sz="1200" u="none" cap="none" strike="noStrike">
                <a:solidFill>
                  <a:srgbClr val="FFFFFF"/>
                </a:solidFill>
                <a:latin typeface="Corbel"/>
                <a:ea typeface="Corbel"/>
                <a:cs typeface="Corbel"/>
                <a:sym typeface="Corbel"/>
              </a:defRPr>
            </a:lvl2pPr>
            <a:lvl3pPr indent="0" lvl="2" marL="0" algn="r">
              <a:spcBef>
                <a:spcPts val="0"/>
              </a:spcBef>
              <a:buNone/>
              <a:defRPr b="0" i="0" sz="1200" u="none" cap="none" strike="noStrike">
                <a:solidFill>
                  <a:srgbClr val="FFFFFF"/>
                </a:solidFill>
                <a:latin typeface="Corbel"/>
                <a:ea typeface="Corbel"/>
                <a:cs typeface="Corbel"/>
                <a:sym typeface="Corbel"/>
              </a:defRPr>
            </a:lvl3pPr>
            <a:lvl4pPr indent="0" lvl="3" marL="0" algn="r">
              <a:spcBef>
                <a:spcPts val="0"/>
              </a:spcBef>
              <a:buNone/>
              <a:defRPr b="0" i="0" sz="1200" u="none" cap="none" strike="noStrike">
                <a:solidFill>
                  <a:srgbClr val="FFFFFF"/>
                </a:solidFill>
                <a:latin typeface="Corbel"/>
                <a:ea typeface="Corbel"/>
                <a:cs typeface="Corbel"/>
                <a:sym typeface="Corbel"/>
              </a:defRPr>
            </a:lvl4pPr>
            <a:lvl5pPr indent="0" lvl="4" marL="0" algn="r">
              <a:spcBef>
                <a:spcPts val="0"/>
              </a:spcBef>
              <a:buNone/>
              <a:defRPr b="0" i="0" sz="1200" u="none" cap="none" strike="noStrike">
                <a:solidFill>
                  <a:srgbClr val="FFFFFF"/>
                </a:solidFill>
                <a:latin typeface="Corbel"/>
                <a:ea typeface="Corbel"/>
                <a:cs typeface="Corbel"/>
                <a:sym typeface="Corbel"/>
              </a:defRPr>
            </a:lvl5pPr>
            <a:lvl6pPr indent="0" lvl="5" marL="0" algn="r">
              <a:spcBef>
                <a:spcPts val="0"/>
              </a:spcBef>
              <a:buNone/>
              <a:defRPr b="0" i="0" sz="1200" u="none" cap="none" strike="noStrike">
                <a:solidFill>
                  <a:srgbClr val="FFFFFF"/>
                </a:solidFill>
                <a:latin typeface="Corbel"/>
                <a:ea typeface="Corbel"/>
                <a:cs typeface="Corbel"/>
                <a:sym typeface="Corbel"/>
              </a:defRPr>
            </a:lvl6pPr>
            <a:lvl7pPr indent="0" lvl="6" marL="0" algn="r">
              <a:spcBef>
                <a:spcPts val="0"/>
              </a:spcBef>
              <a:buNone/>
              <a:defRPr b="0" i="0" sz="1200" u="none" cap="none" strike="noStrike">
                <a:solidFill>
                  <a:srgbClr val="FFFFFF"/>
                </a:solidFill>
                <a:latin typeface="Corbel"/>
                <a:ea typeface="Corbel"/>
                <a:cs typeface="Corbel"/>
                <a:sym typeface="Corbel"/>
              </a:defRPr>
            </a:lvl7pPr>
            <a:lvl8pPr indent="0" lvl="7" marL="0" algn="r">
              <a:spcBef>
                <a:spcPts val="0"/>
              </a:spcBef>
              <a:buNone/>
              <a:defRPr b="0" i="0" sz="1200" u="none" cap="none" strike="noStrike">
                <a:solidFill>
                  <a:srgbClr val="FFFFFF"/>
                </a:solidFill>
                <a:latin typeface="Corbel"/>
                <a:ea typeface="Corbel"/>
                <a:cs typeface="Corbel"/>
                <a:sym typeface="Corbel"/>
              </a:defRPr>
            </a:lvl8pPr>
            <a:lvl9pPr indent="0" lvl="8" mar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AR"/>
              <a:t>‹#›</a:t>
            </a:fld>
            <a:endParaRPr/>
          </a:p>
        </p:txBody>
      </p:sp>
      <p:cxnSp>
        <p:nvCxnSpPr>
          <p:cNvPr id="23" name="Google Shape;23;p30"/>
          <p:cNvCxnSpPr/>
          <p:nvPr/>
        </p:nvCxnSpPr>
        <p:spPr>
          <a:xfrm>
            <a:off x="1978660" y="3733800"/>
            <a:ext cx="8229601" cy="0"/>
          </a:xfrm>
          <a:prstGeom prst="straightConnector1">
            <a:avLst/>
          </a:prstGeom>
          <a:noFill/>
          <a:ln cap="flat" cmpd="sng" w="10000">
            <a:solidFill>
              <a:srgbClr val="FFFFF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4" name="Shape 24"/>
        <p:cNvGrpSpPr/>
        <p:nvPr/>
      </p:nvGrpSpPr>
      <p:grpSpPr>
        <a:xfrm>
          <a:off x="0" y="0"/>
          <a:ext cx="0" cy="0"/>
          <a:chOff x="0" y="0"/>
          <a:chExt cx="0" cy="0"/>
        </a:xfrm>
      </p:grpSpPr>
      <p:sp>
        <p:nvSpPr>
          <p:cNvPr id="25" name="Google Shape;25;p32"/>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2"/>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27" name="Google Shape;27;p32"/>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2"/>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2"/>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7" name="Shape 37"/>
        <p:cNvGrpSpPr/>
        <p:nvPr/>
      </p:nvGrpSpPr>
      <p:grpSpPr>
        <a:xfrm>
          <a:off x="0" y="0"/>
          <a:ext cx="0" cy="0"/>
          <a:chOff x="0" y="0"/>
          <a:chExt cx="0" cy="0"/>
        </a:xfrm>
      </p:grpSpPr>
      <p:sp>
        <p:nvSpPr>
          <p:cNvPr id="38" name="Google Shape;38;p31"/>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1"/>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40" name="Google Shape;40;p31"/>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1"/>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43" name="Shape 43"/>
        <p:cNvGrpSpPr/>
        <p:nvPr/>
      </p:nvGrpSpPr>
      <p:grpSpPr>
        <a:xfrm>
          <a:off x="0" y="0"/>
          <a:ext cx="0" cy="0"/>
          <a:chOff x="0" y="0"/>
          <a:chExt cx="0" cy="0"/>
        </a:xfrm>
      </p:grpSpPr>
      <p:sp>
        <p:nvSpPr>
          <p:cNvPr id="44" name="Google Shape;44;p29"/>
          <p:cNvSpPr/>
          <p:nvPr/>
        </p:nvSpPr>
        <p:spPr>
          <a:xfrm>
            <a:off x="231140" y="243840"/>
            <a:ext cx="11724640" cy="6377939"/>
          </a:xfrm>
          <a:prstGeom prst="rect">
            <a:avLst/>
          </a:prstGeom>
          <a:solidFill>
            <a:schemeClr val="accent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9"/>
          <p:cNvSpPr txBox="1"/>
          <p:nvPr>
            <p:ph type="ctrTitle"/>
          </p:nvPr>
        </p:nvSpPr>
        <p:spPr>
          <a:xfrm>
            <a:off x="1109980" y="882376"/>
            <a:ext cx="9966960" cy="2926080"/>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rgbClr val="FFFFFF"/>
              </a:buClr>
              <a:buSzPts val="7200"/>
              <a:buFont typeface="Corbel"/>
              <a:buNone/>
              <a:defRPr b="1" sz="720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9"/>
          <p:cNvSpPr txBox="1"/>
          <p:nvPr>
            <p:ph idx="1" type="subTitle"/>
          </p:nvPr>
        </p:nvSpPr>
        <p:spPr>
          <a:xfrm>
            <a:off x="1709530" y="3869634"/>
            <a:ext cx="8767860" cy="138816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400"/>
              </a:spcBef>
              <a:spcAft>
                <a:spcPts val="0"/>
              </a:spcAft>
              <a:buSzPts val="1760"/>
              <a:buNone/>
              <a:defRPr sz="2200">
                <a:solidFill>
                  <a:srgbClr val="FFFFFF"/>
                </a:solidFill>
              </a:defRPr>
            </a:lvl1pPr>
            <a:lvl2pPr lvl="1" algn="ctr">
              <a:lnSpc>
                <a:spcPct val="90000"/>
              </a:lnSpc>
              <a:spcBef>
                <a:spcPts val="200"/>
              </a:spcBef>
              <a:spcAft>
                <a:spcPts val="0"/>
              </a:spcAft>
              <a:buSzPts val="1760"/>
              <a:buNone/>
              <a:defRPr sz="2200"/>
            </a:lvl2pPr>
            <a:lvl3pPr lvl="2" algn="ctr">
              <a:lnSpc>
                <a:spcPct val="90000"/>
              </a:lnSpc>
              <a:spcBef>
                <a:spcPts val="400"/>
              </a:spcBef>
              <a:spcAft>
                <a:spcPts val="0"/>
              </a:spcAft>
              <a:buSzPts val="1760"/>
              <a:buNone/>
              <a:defRPr sz="2200"/>
            </a:lvl3pPr>
            <a:lvl4pPr lvl="3" algn="ctr">
              <a:lnSpc>
                <a:spcPct val="90000"/>
              </a:lnSpc>
              <a:spcBef>
                <a:spcPts val="400"/>
              </a:spcBef>
              <a:spcAft>
                <a:spcPts val="0"/>
              </a:spcAft>
              <a:buSzPts val="1600"/>
              <a:buNone/>
              <a:defRPr sz="2000"/>
            </a:lvl4pPr>
            <a:lvl5pPr lvl="4" algn="ctr">
              <a:lnSpc>
                <a:spcPct val="90000"/>
              </a:lnSpc>
              <a:spcBef>
                <a:spcPts val="400"/>
              </a:spcBef>
              <a:spcAft>
                <a:spcPts val="0"/>
              </a:spcAft>
              <a:buSzPts val="1600"/>
              <a:buNone/>
              <a:defRPr sz="2000"/>
            </a:lvl5pPr>
            <a:lvl6pPr lvl="5" algn="ctr">
              <a:lnSpc>
                <a:spcPct val="90000"/>
              </a:lnSpc>
              <a:spcBef>
                <a:spcPts val="400"/>
              </a:spcBef>
              <a:spcAft>
                <a:spcPts val="0"/>
              </a:spcAft>
              <a:buSzPts val="1600"/>
              <a:buNone/>
              <a:defRPr sz="2000"/>
            </a:lvl6pPr>
            <a:lvl7pPr lvl="6" algn="ctr">
              <a:lnSpc>
                <a:spcPct val="90000"/>
              </a:lnSpc>
              <a:spcBef>
                <a:spcPts val="400"/>
              </a:spcBef>
              <a:spcAft>
                <a:spcPts val="0"/>
              </a:spcAft>
              <a:buSzPts val="1600"/>
              <a:buNone/>
              <a:defRPr sz="2000"/>
            </a:lvl7pPr>
            <a:lvl8pPr lvl="7" algn="ctr">
              <a:lnSpc>
                <a:spcPct val="90000"/>
              </a:lnSpc>
              <a:spcBef>
                <a:spcPts val="400"/>
              </a:spcBef>
              <a:spcAft>
                <a:spcPts val="0"/>
              </a:spcAft>
              <a:buSzPts val="1600"/>
              <a:buNone/>
              <a:defRPr sz="2000"/>
            </a:lvl8pPr>
            <a:lvl9pPr lvl="8" algn="ctr">
              <a:lnSpc>
                <a:spcPct val="90000"/>
              </a:lnSpc>
              <a:spcBef>
                <a:spcPts val="400"/>
              </a:spcBef>
              <a:spcAft>
                <a:spcPts val="400"/>
              </a:spcAft>
              <a:buSzPts val="1600"/>
              <a:buNone/>
              <a:defRPr sz="2000"/>
            </a:lvl9pPr>
          </a:lstStyle>
          <a:p/>
        </p:txBody>
      </p:sp>
      <p:sp>
        <p:nvSpPr>
          <p:cNvPr id="47" name="Google Shape;47;p29"/>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9"/>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orbel"/>
                <a:ea typeface="Corbel"/>
                <a:cs typeface="Corbel"/>
                <a:sym typeface="Corbel"/>
              </a:defRPr>
            </a:lvl1pPr>
            <a:lvl2pPr indent="0" lvl="1" marL="0" algn="r">
              <a:spcBef>
                <a:spcPts val="0"/>
              </a:spcBef>
              <a:buNone/>
              <a:defRPr b="0" i="0" sz="1200" u="none" cap="none" strike="noStrike">
                <a:solidFill>
                  <a:srgbClr val="FFFFFF"/>
                </a:solidFill>
                <a:latin typeface="Corbel"/>
                <a:ea typeface="Corbel"/>
                <a:cs typeface="Corbel"/>
                <a:sym typeface="Corbel"/>
              </a:defRPr>
            </a:lvl2pPr>
            <a:lvl3pPr indent="0" lvl="2" marL="0" algn="r">
              <a:spcBef>
                <a:spcPts val="0"/>
              </a:spcBef>
              <a:buNone/>
              <a:defRPr b="0" i="0" sz="1200" u="none" cap="none" strike="noStrike">
                <a:solidFill>
                  <a:srgbClr val="FFFFFF"/>
                </a:solidFill>
                <a:latin typeface="Corbel"/>
                <a:ea typeface="Corbel"/>
                <a:cs typeface="Corbel"/>
                <a:sym typeface="Corbel"/>
              </a:defRPr>
            </a:lvl3pPr>
            <a:lvl4pPr indent="0" lvl="3" marL="0" algn="r">
              <a:spcBef>
                <a:spcPts val="0"/>
              </a:spcBef>
              <a:buNone/>
              <a:defRPr b="0" i="0" sz="1200" u="none" cap="none" strike="noStrike">
                <a:solidFill>
                  <a:srgbClr val="FFFFFF"/>
                </a:solidFill>
                <a:latin typeface="Corbel"/>
                <a:ea typeface="Corbel"/>
                <a:cs typeface="Corbel"/>
                <a:sym typeface="Corbel"/>
              </a:defRPr>
            </a:lvl4pPr>
            <a:lvl5pPr indent="0" lvl="4" marL="0" algn="r">
              <a:spcBef>
                <a:spcPts val="0"/>
              </a:spcBef>
              <a:buNone/>
              <a:defRPr b="0" i="0" sz="1200" u="none" cap="none" strike="noStrike">
                <a:solidFill>
                  <a:srgbClr val="FFFFFF"/>
                </a:solidFill>
                <a:latin typeface="Corbel"/>
                <a:ea typeface="Corbel"/>
                <a:cs typeface="Corbel"/>
                <a:sym typeface="Corbel"/>
              </a:defRPr>
            </a:lvl5pPr>
            <a:lvl6pPr indent="0" lvl="5" marL="0" algn="r">
              <a:spcBef>
                <a:spcPts val="0"/>
              </a:spcBef>
              <a:buNone/>
              <a:defRPr b="0" i="0" sz="1200" u="none" cap="none" strike="noStrike">
                <a:solidFill>
                  <a:srgbClr val="FFFFFF"/>
                </a:solidFill>
                <a:latin typeface="Corbel"/>
                <a:ea typeface="Corbel"/>
                <a:cs typeface="Corbel"/>
                <a:sym typeface="Corbel"/>
              </a:defRPr>
            </a:lvl6pPr>
            <a:lvl7pPr indent="0" lvl="6" marL="0" algn="r">
              <a:spcBef>
                <a:spcPts val="0"/>
              </a:spcBef>
              <a:buNone/>
              <a:defRPr b="0" i="0" sz="1200" u="none" cap="none" strike="noStrike">
                <a:solidFill>
                  <a:srgbClr val="FFFFFF"/>
                </a:solidFill>
                <a:latin typeface="Corbel"/>
                <a:ea typeface="Corbel"/>
                <a:cs typeface="Corbel"/>
                <a:sym typeface="Corbel"/>
              </a:defRPr>
            </a:lvl7pPr>
            <a:lvl8pPr indent="0" lvl="7" marL="0" algn="r">
              <a:spcBef>
                <a:spcPts val="0"/>
              </a:spcBef>
              <a:buNone/>
              <a:defRPr b="0" i="0" sz="1200" u="none" cap="none" strike="noStrike">
                <a:solidFill>
                  <a:srgbClr val="FFFFFF"/>
                </a:solidFill>
                <a:latin typeface="Corbel"/>
                <a:ea typeface="Corbel"/>
                <a:cs typeface="Corbel"/>
                <a:sym typeface="Corbel"/>
              </a:defRPr>
            </a:lvl8pPr>
            <a:lvl9pPr indent="0" lvl="8" mar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AR"/>
              <a:t>‹#›</a:t>
            </a:fld>
            <a:endParaRPr/>
          </a:p>
        </p:txBody>
      </p:sp>
      <p:cxnSp>
        <p:nvCxnSpPr>
          <p:cNvPr id="50" name="Google Shape;50;p29"/>
          <p:cNvCxnSpPr/>
          <p:nvPr/>
        </p:nvCxnSpPr>
        <p:spPr>
          <a:xfrm>
            <a:off x="1978660" y="3733800"/>
            <a:ext cx="8229601" cy="0"/>
          </a:xfrm>
          <a:prstGeom prst="straightConnector1">
            <a:avLst/>
          </a:prstGeom>
          <a:noFill/>
          <a:ln cap="flat" cmpd="sng" w="10000">
            <a:solidFill>
              <a:srgbClr val="FFFFF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51" name="Shape 51"/>
        <p:cNvGrpSpPr/>
        <p:nvPr/>
      </p:nvGrpSpPr>
      <p:grpSpPr>
        <a:xfrm>
          <a:off x="0" y="0"/>
          <a:ext cx="0" cy="0"/>
          <a:chOff x="0" y="0"/>
          <a:chExt cx="0" cy="0"/>
        </a:xfrm>
      </p:grpSpPr>
      <p:sp>
        <p:nvSpPr>
          <p:cNvPr id="52" name="Google Shape;52;p33"/>
          <p:cNvSpPr txBox="1"/>
          <p:nvPr>
            <p:ph type="title"/>
          </p:nvPr>
        </p:nvSpPr>
        <p:spPr>
          <a:xfrm>
            <a:off x="1106424" y="1173575"/>
            <a:ext cx="9966960" cy="2926080"/>
          </a:xfrm>
          <a:prstGeom prst="rect">
            <a:avLst/>
          </a:prstGeom>
          <a:noFill/>
          <a:ln>
            <a:noFill/>
          </a:ln>
        </p:spPr>
        <p:txBody>
          <a:bodyPr anchorCtr="0" anchor="b" bIns="45700" lIns="91425" spcFirstLastPara="1" rIns="91425" wrap="square" tIns="45700">
            <a:noAutofit/>
          </a:bodyPr>
          <a:lstStyle>
            <a:lvl1pPr lvl="0" algn="ctr">
              <a:lnSpc>
                <a:spcPct val="85000"/>
              </a:lnSpc>
              <a:spcBef>
                <a:spcPts val="0"/>
              </a:spcBef>
              <a:spcAft>
                <a:spcPts val="0"/>
              </a:spcAft>
              <a:buClr>
                <a:schemeClr val="accent1"/>
              </a:buClr>
              <a:buSzPts val="7200"/>
              <a:buFont typeface="Corbel"/>
              <a:buNone/>
              <a:defRPr b="0" sz="7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3"/>
          <p:cNvSpPr txBox="1"/>
          <p:nvPr>
            <p:ph idx="1" type="body"/>
          </p:nvPr>
        </p:nvSpPr>
        <p:spPr>
          <a:xfrm>
            <a:off x="1709928" y="4154520"/>
            <a:ext cx="8769096" cy="1363806"/>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400"/>
              </a:spcBef>
              <a:spcAft>
                <a:spcPts val="0"/>
              </a:spcAft>
              <a:buSzPts val="1760"/>
              <a:buNone/>
              <a:defRPr sz="2200">
                <a:solidFill>
                  <a:schemeClr val="accent1"/>
                </a:solidFill>
              </a:defRPr>
            </a:lvl1pPr>
            <a:lvl2pPr indent="-228600" lvl="1" marL="914400" algn="l">
              <a:lnSpc>
                <a:spcPct val="90000"/>
              </a:lnSpc>
              <a:spcBef>
                <a:spcPts val="200"/>
              </a:spcBef>
              <a:spcAft>
                <a:spcPts val="0"/>
              </a:spcAft>
              <a:buSzPts val="1440"/>
              <a:buNone/>
              <a:defRPr sz="1800">
                <a:solidFill>
                  <a:srgbClr val="888888"/>
                </a:solidFill>
              </a:defRPr>
            </a:lvl2pPr>
            <a:lvl3pPr indent="-228600" lvl="2" marL="1371600" algn="l">
              <a:lnSpc>
                <a:spcPct val="90000"/>
              </a:lnSpc>
              <a:spcBef>
                <a:spcPts val="400"/>
              </a:spcBef>
              <a:spcAft>
                <a:spcPts val="0"/>
              </a:spcAft>
              <a:buSzPts val="1280"/>
              <a:buNone/>
              <a:defRPr sz="1600">
                <a:solidFill>
                  <a:srgbClr val="888888"/>
                </a:solidFill>
              </a:defRPr>
            </a:lvl3pPr>
            <a:lvl4pPr indent="-228600" lvl="3" marL="1828800" algn="l">
              <a:lnSpc>
                <a:spcPct val="90000"/>
              </a:lnSpc>
              <a:spcBef>
                <a:spcPts val="400"/>
              </a:spcBef>
              <a:spcAft>
                <a:spcPts val="0"/>
              </a:spcAft>
              <a:buSzPts val="1120"/>
              <a:buNone/>
              <a:defRPr sz="1400">
                <a:solidFill>
                  <a:srgbClr val="888888"/>
                </a:solidFill>
              </a:defRPr>
            </a:lvl4pPr>
            <a:lvl5pPr indent="-228600" lvl="4" marL="2286000" algn="l">
              <a:lnSpc>
                <a:spcPct val="90000"/>
              </a:lnSpc>
              <a:spcBef>
                <a:spcPts val="400"/>
              </a:spcBef>
              <a:spcAft>
                <a:spcPts val="0"/>
              </a:spcAft>
              <a:buSzPts val="1120"/>
              <a:buNone/>
              <a:defRPr sz="1400">
                <a:solidFill>
                  <a:srgbClr val="888888"/>
                </a:solidFill>
              </a:defRPr>
            </a:lvl5pPr>
            <a:lvl6pPr indent="-228600" lvl="5" marL="2743200" algn="l">
              <a:lnSpc>
                <a:spcPct val="90000"/>
              </a:lnSpc>
              <a:spcBef>
                <a:spcPts val="400"/>
              </a:spcBef>
              <a:spcAft>
                <a:spcPts val="0"/>
              </a:spcAft>
              <a:buSzPts val="1120"/>
              <a:buNone/>
              <a:defRPr sz="1400">
                <a:solidFill>
                  <a:srgbClr val="888888"/>
                </a:solidFill>
              </a:defRPr>
            </a:lvl6pPr>
            <a:lvl7pPr indent="-228600" lvl="6" marL="3200400" algn="l">
              <a:lnSpc>
                <a:spcPct val="90000"/>
              </a:lnSpc>
              <a:spcBef>
                <a:spcPts val="400"/>
              </a:spcBef>
              <a:spcAft>
                <a:spcPts val="0"/>
              </a:spcAft>
              <a:buSzPts val="1120"/>
              <a:buNone/>
              <a:defRPr sz="1400">
                <a:solidFill>
                  <a:srgbClr val="888888"/>
                </a:solidFill>
              </a:defRPr>
            </a:lvl7pPr>
            <a:lvl8pPr indent="-228600" lvl="7" marL="3657600" algn="l">
              <a:lnSpc>
                <a:spcPct val="90000"/>
              </a:lnSpc>
              <a:spcBef>
                <a:spcPts val="400"/>
              </a:spcBef>
              <a:spcAft>
                <a:spcPts val="0"/>
              </a:spcAft>
              <a:buSzPts val="1120"/>
              <a:buNone/>
              <a:defRPr sz="1400">
                <a:solidFill>
                  <a:srgbClr val="888888"/>
                </a:solidFill>
              </a:defRPr>
            </a:lvl8pPr>
            <a:lvl9pPr indent="-228600" lvl="8" marL="4114800" algn="l">
              <a:lnSpc>
                <a:spcPct val="90000"/>
              </a:lnSpc>
              <a:spcBef>
                <a:spcPts val="400"/>
              </a:spcBef>
              <a:spcAft>
                <a:spcPts val="400"/>
              </a:spcAft>
              <a:buSzPts val="1120"/>
              <a:buNone/>
              <a:defRPr sz="1400">
                <a:solidFill>
                  <a:srgbClr val="888888"/>
                </a:solidFill>
              </a:defRPr>
            </a:lvl9pPr>
          </a:lstStyle>
          <a:p/>
        </p:txBody>
      </p:sp>
      <p:sp>
        <p:nvSpPr>
          <p:cNvPr id="54" name="Google Shape;54;p33"/>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3"/>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cxnSp>
        <p:nvCxnSpPr>
          <p:cNvPr id="57" name="Google Shape;57;p33"/>
          <p:cNvCxnSpPr/>
          <p:nvPr/>
        </p:nvCxnSpPr>
        <p:spPr>
          <a:xfrm>
            <a:off x="1981200" y="4020408"/>
            <a:ext cx="8229601" cy="0"/>
          </a:xfrm>
          <a:prstGeom prst="straightConnector1">
            <a:avLst/>
          </a:prstGeom>
          <a:noFill/>
          <a:ln cap="flat" cmpd="sng" w="1000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8" name="Shape 58"/>
        <p:cNvGrpSpPr/>
        <p:nvPr/>
      </p:nvGrpSpPr>
      <p:grpSpPr>
        <a:xfrm>
          <a:off x="0" y="0"/>
          <a:ext cx="0" cy="0"/>
          <a:chOff x="0" y="0"/>
          <a:chExt cx="0" cy="0"/>
        </a:xfrm>
      </p:grpSpPr>
      <p:sp>
        <p:nvSpPr>
          <p:cNvPr id="59" name="Google Shape;59;p34"/>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4"/>
          <p:cNvSpPr txBox="1"/>
          <p:nvPr>
            <p:ph idx="1" type="body"/>
          </p:nvPr>
        </p:nvSpPr>
        <p:spPr>
          <a:xfrm>
            <a:off x="1143000" y="2057399"/>
            <a:ext cx="4754880" cy="402336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61" name="Google Shape;61;p34"/>
          <p:cNvSpPr txBox="1"/>
          <p:nvPr>
            <p:ph idx="2" type="body"/>
          </p:nvPr>
        </p:nvSpPr>
        <p:spPr>
          <a:xfrm>
            <a:off x="6267612" y="2057400"/>
            <a:ext cx="4754880" cy="402336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62" name="Google Shape;62;p34"/>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5" name="Shape 65"/>
        <p:cNvGrpSpPr/>
        <p:nvPr/>
      </p:nvGrpSpPr>
      <p:grpSpPr>
        <a:xfrm>
          <a:off x="0" y="0"/>
          <a:ext cx="0" cy="0"/>
          <a:chOff x="0" y="0"/>
          <a:chExt cx="0" cy="0"/>
        </a:xfrm>
      </p:grpSpPr>
      <p:sp>
        <p:nvSpPr>
          <p:cNvPr id="66" name="Google Shape;66;p35"/>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5"/>
          <p:cNvSpPr txBox="1"/>
          <p:nvPr>
            <p:ph idx="1" type="body"/>
          </p:nvPr>
        </p:nvSpPr>
        <p:spPr>
          <a:xfrm>
            <a:off x="1143000" y="2001511"/>
            <a:ext cx="4754880" cy="77724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1920"/>
              <a:buNone/>
              <a:defRPr b="1" sz="2400"/>
            </a:lvl1pPr>
            <a:lvl2pPr indent="-228600" lvl="1" marL="914400" algn="l">
              <a:lnSpc>
                <a:spcPct val="90000"/>
              </a:lnSpc>
              <a:spcBef>
                <a:spcPts val="200"/>
              </a:spcBef>
              <a:spcAft>
                <a:spcPts val="0"/>
              </a:spcAft>
              <a:buSzPts val="1600"/>
              <a:buNone/>
              <a:defRPr b="1" sz="2000"/>
            </a:lvl2pPr>
            <a:lvl3pPr indent="-228600" lvl="2" marL="1371600" algn="l">
              <a:lnSpc>
                <a:spcPct val="90000"/>
              </a:lnSpc>
              <a:spcBef>
                <a:spcPts val="400"/>
              </a:spcBef>
              <a:spcAft>
                <a:spcPts val="0"/>
              </a:spcAft>
              <a:buSzPts val="1440"/>
              <a:buNone/>
              <a:defRPr b="1" sz="1800"/>
            </a:lvl3pPr>
            <a:lvl4pPr indent="-228600" lvl="3" marL="1828800" algn="l">
              <a:lnSpc>
                <a:spcPct val="90000"/>
              </a:lnSpc>
              <a:spcBef>
                <a:spcPts val="400"/>
              </a:spcBef>
              <a:spcAft>
                <a:spcPts val="0"/>
              </a:spcAft>
              <a:buSzPts val="1280"/>
              <a:buNone/>
              <a:defRPr b="1" sz="1600"/>
            </a:lvl4pPr>
            <a:lvl5pPr indent="-228600" lvl="4" marL="2286000" algn="l">
              <a:lnSpc>
                <a:spcPct val="90000"/>
              </a:lnSpc>
              <a:spcBef>
                <a:spcPts val="400"/>
              </a:spcBef>
              <a:spcAft>
                <a:spcPts val="0"/>
              </a:spcAft>
              <a:buSzPts val="1280"/>
              <a:buNone/>
              <a:defRPr b="1" sz="1600"/>
            </a:lvl5pPr>
            <a:lvl6pPr indent="-228600" lvl="5" marL="2743200" algn="l">
              <a:lnSpc>
                <a:spcPct val="90000"/>
              </a:lnSpc>
              <a:spcBef>
                <a:spcPts val="400"/>
              </a:spcBef>
              <a:spcAft>
                <a:spcPts val="0"/>
              </a:spcAft>
              <a:buSzPts val="1280"/>
              <a:buNone/>
              <a:defRPr b="1" sz="1600"/>
            </a:lvl6pPr>
            <a:lvl7pPr indent="-228600" lvl="6" marL="3200400" algn="l">
              <a:lnSpc>
                <a:spcPct val="90000"/>
              </a:lnSpc>
              <a:spcBef>
                <a:spcPts val="400"/>
              </a:spcBef>
              <a:spcAft>
                <a:spcPts val="0"/>
              </a:spcAft>
              <a:buSzPts val="1280"/>
              <a:buNone/>
              <a:defRPr b="1" sz="1600"/>
            </a:lvl7pPr>
            <a:lvl8pPr indent="-228600" lvl="7" marL="3657600" algn="l">
              <a:lnSpc>
                <a:spcPct val="90000"/>
              </a:lnSpc>
              <a:spcBef>
                <a:spcPts val="400"/>
              </a:spcBef>
              <a:spcAft>
                <a:spcPts val="0"/>
              </a:spcAft>
              <a:buSzPts val="1280"/>
              <a:buNone/>
              <a:defRPr b="1" sz="1600"/>
            </a:lvl8pPr>
            <a:lvl9pPr indent="-228600" lvl="8" marL="4114800" algn="l">
              <a:lnSpc>
                <a:spcPct val="90000"/>
              </a:lnSpc>
              <a:spcBef>
                <a:spcPts val="400"/>
              </a:spcBef>
              <a:spcAft>
                <a:spcPts val="400"/>
              </a:spcAft>
              <a:buSzPts val="1280"/>
              <a:buNone/>
              <a:defRPr b="1" sz="1600"/>
            </a:lvl9pPr>
          </a:lstStyle>
          <a:p/>
        </p:txBody>
      </p:sp>
      <p:sp>
        <p:nvSpPr>
          <p:cNvPr id="68" name="Google Shape;68;p35"/>
          <p:cNvSpPr txBox="1"/>
          <p:nvPr>
            <p:ph idx="2" type="body"/>
          </p:nvPr>
        </p:nvSpPr>
        <p:spPr>
          <a:xfrm>
            <a:off x="1143000" y="2721483"/>
            <a:ext cx="4754880" cy="338328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69" name="Google Shape;69;p35"/>
          <p:cNvSpPr txBox="1"/>
          <p:nvPr>
            <p:ph idx="3" type="body"/>
          </p:nvPr>
        </p:nvSpPr>
        <p:spPr>
          <a:xfrm>
            <a:off x="6269173" y="1999032"/>
            <a:ext cx="4754880" cy="77724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1920"/>
              <a:buNone/>
              <a:defRPr b="1" sz="2400"/>
            </a:lvl1pPr>
            <a:lvl2pPr indent="-228600" lvl="1" marL="914400" algn="l">
              <a:lnSpc>
                <a:spcPct val="90000"/>
              </a:lnSpc>
              <a:spcBef>
                <a:spcPts val="200"/>
              </a:spcBef>
              <a:spcAft>
                <a:spcPts val="0"/>
              </a:spcAft>
              <a:buSzPts val="1600"/>
              <a:buNone/>
              <a:defRPr b="1" sz="2000"/>
            </a:lvl2pPr>
            <a:lvl3pPr indent="-228600" lvl="2" marL="1371600" algn="l">
              <a:lnSpc>
                <a:spcPct val="90000"/>
              </a:lnSpc>
              <a:spcBef>
                <a:spcPts val="400"/>
              </a:spcBef>
              <a:spcAft>
                <a:spcPts val="0"/>
              </a:spcAft>
              <a:buSzPts val="1440"/>
              <a:buNone/>
              <a:defRPr b="1" sz="1800"/>
            </a:lvl3pPr>
            <a:lvl4pPr indent="-228600" lvl="3" marL="1828800" algn="l">
              <a:lnSpc>
                <a:spcPct val="90000"/>
              </a:lnSpc>
              <a:spcBef>
                <a:spcPts val="400"/>
              </a:spcBef>
              <a:spcAft>
                <a:spcPts val="0"/>
              </a:spcAft>
              <a:buSzPts val="1280"/>
              <a:buNone/>
              <a:defRPr b="1" sz="1600"/>
            </a:lvl4pPr>
            <a:lvl5pPr indent="-228600" lvl="4" marL="2286000" algn="l">
              <a:lnSpc>
                <a:spcPct val="90000"/>
              </a:lnSpc>
              <a:spcBef>
                <a:spcPts val="400"/>
              </a:spcBef>
              <a:spcAft>
                <a:spcPts val="0"/>
              </a:spcAft>
              <a:buSzPts val="1280"/>
              <a:buNone/>
              <a:defRPr b="1" sz="1600"/>
            </a:lvl5pPr>
            <a:lvl6pPr indent="-228600" lvl="5" marL="2743200" algn="l">
              <a:lnSpc>
                <a:spcPct val="90000"/>
              </a:lnSpc>
              <a:spcBef>
                <a:spcPts val="400"/>
              </a:spcBef>
              <a:spcAft>
                <a:spcPts val="0"/>
              </a:spcAft>
              <a:buSzPts val="1280"/>
              <a:buNone/>
              <a:defRPr b="1" sz="1600"/>
            </a:lvl6pPr>
            <a:lvl7pPr indent="-228600" lvl="6" marL="3200400" algn="l">
              <a:lnSpc>
                <a:spcPct val="90000"/>
              </a:lnSpc>
              <a:spcBef>
                <a:spcPts val="400"/>
              </a:spcBef>
              <a:spcAft>
                <a:spcPts val="0"/>
              </a:spcAft>
              <a:buSzPts val="1280"/>
              <a:buNone/>
              <a:defRPr b="1" sz="1600"/>
            </a:lvl7pPr>
            <a:lvl8pPr indent="-228600" lvl="7" marL="3657600" algn="l">
              <a:lnSpc>
                <a:spcPct val="90000"/>
              </a:lnSpc>
              <a:spcBef>
                <a:spcPts val="400"/>
              </a:spcBef>
              <a:spcAft>
                <a:spcPts val="0"/>
              </a:spcAft>
              <a:buSzPts val="1280"/>
              <a:buNone/>
              <a:defRPr b="1" sz="1600"/>
            </a:lvl8pPr>
            <a:lvl9pPr indent="-228600" lvl="8" marL="4114800" algn="l">
              <a:lnSpc>
                <a:spcPct val="90000"/>
              </a:lnSpc>
              <a:spcBef>
                <a:spcPts val="400"/>
              </a:spcBef>
              <a:spcAft>
                <a:spcPts val="400"/>
              </a:spcAft>
              <a:buSzPts val="1280"/>
              <a:buNone/>
              <a:defRPr b="1" sz="1600"/>
            </a:lvl9pPr>
          </a:lstStyle>
          <a:p/>
        </p:txBody>
      </p:sp>
      <p:sp>
        <p:nvSpPr>
          <p:cNvPr id="70" name="Google Shape;70;p35"/>
          <p:cNvSpPr txBox="1"/>
          <p:nvPr>
            <p:ph idx="4" type="body"/>
          </p:nvPr>
        </p:nvSpPr>
        <p:spPr>
          <a:xfrm>
            <a:off x="6269173" y="2719322"/>
            <a:ext cx="4754880" cy="338328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71" name="Google Shape;71;p35"/>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74" name="Shape 74"/>
        <p:cNvGrpSpPr/>
        <p:nvPr/>
      </p:nvGrpSpPr>
      <p:grpSpPr>
        <a:xfrm>
          <a:off x="0" y="0"/>
          <a:ext cx="0" cy="0"/>
          <a:chOff x="0" y="0"/>
          <a:chExt cx="0" cy="0"/>
        </a:xfrm>
      </p:grpSpPr>
      <p:sp>
        <p:nvSpPr>
          <p:cNvPr id="75" name="Google Shape;75;p36"/>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9" name="Shape 79"/>
        <p:cNvGrpSpPr/>
        <p:nvPr/>
      </p:nvGrpSpPr>
      <p:grpSpPr>
        <a:xfrm>
          <a:off x="0" y="0"/>
          <a:ext cx="0" cy="0"/>
          <a:chOff x="0" y="0"/>
          <a:chExt cx="0" cy="0"/>
        </a:xfrm>
      </p:grpSpPr>
      <p:sp>
        <p:nvSpPr>
          <p:cNvPr id="80" name="Google Shape;80;p37"/>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7"/>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83" name="Shape 83"/>
        <p:cNvGrpSpPr/>
        <p:nvPr/>
      </p:nvGrpSpPr>
      <p:grpSpPr>
        <a:xfrm>
          <a:off x="0" y="0"/>
          <a:ext cx="0" cy="0"/>
          <a:chOff x="0" y="0"/>
          <a:chExt cx="0" cy="0"/>
        </a:xfrm>
      </p:grpSpPr>
      <p:sp>
        <p:nvSpPr>
          <p:cNvPr id="84" name="Google Shape;84;p38"/>
          <p:cNvSpPr txBox="1"/>
          <p:nvPr>
            <p:ph type="title"/>
          </p:nvPr>
        </p:nvSpPr>
        <p:spPr>
          <a:xfrm>
            <a:off x="1143000" y="1097280"/>
            <a:ext cx="3931920" cy="173736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4000"/>
              <a:buFont typeface="Corbel"/>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8"/>
          <p:cNvSpPr txBox="1"/>
          <p:nvPr>
            <p:ph idx="1" type="body"/>
          </p:nvPr>
        </p:nvSpPr>
        <p:spPr>
          <a:xfrm>
            <a:off x="5852159" y="1097280"/>
            <a:ext cx="5212080" cy="466344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400"/>
              </a:spcBef>
              <a:spcAft>
                <a:spcPts val="0"/>
              </a:spcAft>
              <a:buSzPts val="2560"/>
              <a:buChar char="•"/>
              <a:defRPr sz="3200"/>
            </a:lvl1pPr>
            <a:lvl2pPr indent="-370840" lvl="1" marL="914400" algn="l">
              <a:lnSpc>
                <a:spcPct val="90000"/>
              </a:lnSpc>
              <a:spcBef>
                <a:spcPts val="200"/>
              </a:spcBef>
              <a:spcAft>
                <a:spcPts val="0"/>
              </a:spcAft>
              <a:buSzPts val="2240"/>
              <a:buChar char="•"/>
              <a:defRPr sz="2800"/>
            </a:lvl2pPr>
            <a:lvl3pPr indent="-350520" lvl="2" marL="1371600" algn="l">
              <a:lnSpc>
                <a:spcPct val="90000"/>
              </a:lnSpc>
              <a:spcBef>
                <a:spcPts val="400"/>
              </a:spcBef>
              <a:spcAft>
                <a:spcPts val="0"/>
              </a:spcAft>
              <a:buSzPts val="1920"/>
              <a:buChar char="•"/>
              <a:defRPr sz="2400"/>
            </a:lvl3pPr>
            <a:lvl4pPr indent="-330200" lvl="3" marL="1828800" algn="l">
              <a:lnSpc>
                <a:spcPct val="90000"/>
              </a:lnSpc>
              <a:spcBef>
                <a:spcPts val="400"/>
              </a:spcBef>
              <a:spcAft>
                <a:spcPts val="0"/>
              </a:spcAft>
              <a:buSzPts val="1600"/>
              <a:buChar char="•"/>
              <a:defRPr sz="2000"/>
            </a:lvl4pPr>
            <a:lvl5pPr indent="-330200" lvl="4" marL="2286000" algn="l">
              <a:lnSpc>
                <a:spcPct val="90000"/>
              </a:lnSpc>
              <a:spcBef>
                <a:spcPts val="400"/>
              </a:spcBef>
              <a:spcAft>
                <a:spcPts val="0"/>
              </a:spcAft>
              <a:buSzPts val="1600"/>
              <a:buChar char="•"/>
              <a:defRPr sz="2000"/>
            </a:lvl5pPr>
            <a:lvl6pPr indent="-330200" lvl="5" marL="2743200" algn="l">
              <a:lnSpc>
                <a:spcPct val="90000"/>
              </a:lnSpc>
              <a:spcBef>
                <a:spcPts val="400"/>
              </a:spcBef>
              <a:spcAft>
                <a:spcPts val="0"/>
              </a:spcAft>
              <a:buSzPts val="1600"/>
              <a:buChar char="•"/>
              <a:defRPr sz="2000"/>
            </a:lvl6pPr>
            <a:lvl7pPr indent="-330200" lvl="6" marL="3200400" algn="l">
              <a:lnSpc>
                <a:spcPct val="90000"/>
              </a:lnSpc>
              <a:spcBef>
                <a:spcPts val="400"/>
              </a:spcBef>
              <a:spcAft>
                <a:spcPts val="0"/>
              </a:spcAft>
              <a:buSzPts val="1600"/>
              <a:buChar char="•"/>
              <a:defRPr sz="2000"/>
            </a:lvl7pPr>
            <a:lvl8pPr indent="-330200" lvl="7" marL="3657600" algn="l">
              <a:lnSpc>
                <a:spcPct val="90000"/>
              </a:lnSpc>
              <a:spcBef>
                <a:spcPts val="400"/>
              </a:spcBef>
              <a:spcAft>
                <a:spcPts val="0"/>
              </a:spcAft>
              <a:buSzPts val="1600"/>
              <a:buChar char="•"/>
              <a:defRPr sz="2000"/>
            </a:lvl8pPr>
            <a:lvl9pPr indent="-330200" lvl="8" marL="4114800" algn="l">
              <a:lnSpc>
                <a:spcPct val="90000"/>
              </a:lnSpc>
              <a:spcBef>
                <a:spcPts val="400"/>
              </a:spcBef>
              <a:spcAft>
                <a:spcPts val="400"/>
              </a:spcAft>
              <a:buSzPts val="1600"/>
              <a:buChar char="•"/>
              <a:defRPr sz="2000"/>
            </a:lvl9pPr>
          </a:lstStyle>
          <a:p/>
        </p:txBody>
      </p:sp>
      <p:sp>
        <p:nvSpPr>
          <p:cNvPr id="86" name="Google Shape;86;p38"/>
          <p:cNvSpPr txBox="1"/>
          <p:nvPr>
            <p:ph idx="2" type="body"/>
          </p:nvPr>
        </p:nvSpPr>
        <p:spPr>
          <a:xfrm>
            <a:off x="1143000" y="2834640"/>
            <a:ext cx="3931920" cy="301752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360"/>
              <a:buNone/>
              <a:defRPr sz="1700"/>
            </a:lvl1pPr>
            <a:lvl2pPr indent="-228600" lvl="1" marL="914400" algn="l">
              <a:lnSpc>
                <a:spcPct val="90000"/>
              </a:lnSpc>
              <a:spcBef>
                <a:spcPts val="200"/>
              </a:spcBef>
              <a:spcAft>
                <a:spcPts val="0"/>
              </a:spcAft>
              <a:buSzPts val="960"/>
              <a:buNone/>
              <a:defRPr sz="1200"/>
            </a:lvl2pPr>
            <a:lvl3pPr indent="-228600" lvl="2" marL="1371600" algn="l">
              <a:lnSpc>
                <a:spcPct val="90000"/>
              </a:lnSpc>
              <a:spcBef>
                <a:spcPts val="400"/>
              </a:spcBef>
              <a:spcAft>
                <a:spcPts val="0"/>
              </a:spcAft>
              <a:buSzPts val="800"/>
              <a:buNone/>
              <a:defRPr sz="1000"/>
            </a:lvl3pPr>
            <a:lvl4pPr indent="-228600" lvl="3" marL="1828800" algn="l">
              <a:lnSpc>
                <a:spcPct val="90000"/>
              </a:lnSpc>
              <a:spcBef>
                <a:spcPts val="400"/>
              </a:spcBef>
              <a:spcAft>
                <a:spcPts val="0"/>
              </a:spcAft>
              <a:buSzPts val="720"/>
              <a:buNone/>
              <a:defRPr sz="900"/>
            </a:lvl4pPr>
            <a:lvl5pPr indent="-228600" lvl="4" marL="2286000" algn="l">
              <a:lnSpc>
                <a:spcPct val="90000"/>
              </a:lnSpc>
              <a:spcBef>
                <a:spcPts val="400"/>
              </a:spcBef>
              <a:spcAft>
                <a:spcPts val="0"/>
              </a:spcAft>
              <a:buSzPts val="720"/>
              <a:buNone/>
              <a:defRPr sz="900"/>
            </a:lvl5pPr>
            <a:lvl6pPr indent="-228600" lvl="5" marL="2743200" algn="l">
              <a:lnSpc>
                <a:spcPct val="90000"/>
              </a:lnSpc>
              <a:spcBef>
                <a:spcPts val="400"/>
              </a:spcBef>
              <a:spcAft>
                <a:spcPts val="0"/>
              </a:spcAft>
              <a:buSzPts val="720"/>
              <a:buNone/>
              <a:defRPr sz="900"/>
            </a:lvl6pPr>
            <a:lvl7pPr indent="-228600" lvl="6" marL="3200400" algn="l">
              <a:lnSpc>
                <a:spcPct val="90000"/>
              </a:lnSpc>
              <a:spcBef>
                <a:spcPts val="400"/>
              </a:spcBef>
              <a:spcAft>
                <a:spcPts val="0"/>
              </a:spcAft>
              <a:buSzPts val="720"/>
              <a:buNone/>
              <a:defRPr sz="900"/>
            </a:lvl7pPr>
            <a:lvl8pPr indent="-228600" lvl="7" marL="3657600" algn="l">
              <a:lnSpc>
                <a:spcPct val="90000"/>
              </a:lnSpc>
              <a:spcBef>
                <a:spcPts val="400"/>
              </a:spcBef>
              <a:spcAft>
                <a:spcPts val="0"/>
              </a:spcAft>
              <a:buSzPts val="720"/>
              <a:buNone/>
              <a:defRPr sz="900"/>
            </a:lvl8pPr>
            <a:lvl9pPr indent="-228600" lvl="8" marL="4114800" algn="l">
              <a:lnSpc>
                <a:spcPct val="90000"/>
              </a:lnSpc>
              <a:spcBef>
                <a:spcPts val="400"/>
              </a:spcBef>
              <a:spcAft>
                <a:spcPts val="400"/>
              </a:spcAft>
              <a:buSzPts val="720"/>
              <a:buNone/>
              <a:defRPr sz="900"/>
            </a:lvl9pPr>
          </a:lstStyle>
          <a:p/>
        </p:txBody>
      </p:sp>
      <p:sp>
        <p:nvSpPr>
          <p:cNvPr id="87" name="Google Shape;87;p38"/>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8"/>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8"/>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90" name="Shape 90"/>
        <p:cNvGrpSpPr/>
        <p:nvPr/>
      </p:nvGrpSpPr>
      <p:grpSpPr>
        <a:xfrm>
          <a:off x="0" y="0"/>
          <a:ext cx="0" cy="0"/>
          <a:chOff x="0" y="0"/>
          <a:chExt cx="0" cy="0"/>
        </a:xfrm>
      </p:grpSpPr>
      <p:sp>
        <p:nvSpPr>
          <p:cNvPr id="91" name="Google Shape;91;p39"/>
          <p:cNvSpPr txBox="1"/>
          <p:nvPr>
            <p:ph type="title"/>
          </p:nvPr>
        </p:nvSpPr>
        <p:spPr>
          <a:xfrm>
            <a:off x="1143000" y="1097280"/>
            <a:ext cx="3931920" cy="173736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4000"/>
              <a:buFont typeface="Corbel"/>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9"/>
          <p:cNvSpPr/>
          <p:nvPr>
            <p:ph idx="2" type="pic"/>
          </p:nvPr>
        </p:nvSpPr>
        <p:spPr>
          <a:xfrm>
            <a:off x="5413248" y="1069847"/>
            <a:ext cx="6099048" cy="4800600"/>
          </a:xfrm>
          <a:prstGeom prst="rect">
            <a:avLst/>
          </a:prstGeom>
          <a:noFill/>
          <a:ln>
            <a:noFill/>
          </a:ln>
        </p:spPr>
      </p:sp>
      <p:sp>
        <p:nvSpPr>
          <p:cNvPr id="93" name="Google Shape;93;p39"/>
          <p:cNvSpPr txBox="1"/>
          <p:nvPr>
            <p:ph idx="1" type="body"/>
          </p:nvPr>
        </p:nvSpPr>
        <p:spPr>
          <a:xfrm>
            <a:off x="1143000" y="2834640"/>
            <a:ext cx="3931920" cy="288036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360"/>
              <a:buNone/>
              <a:defRPr sz="1700"/>
            </a:lvl1pPr>
            <a:lvl2pPr indent="-228600" lvl="1" marL="914400" algn="l">
              <a:lnSpc>
                <a:spcPct val="90000"/>
              </a:lnSpc>
              <a:spcBef>
                <a:spcPts val="200"/>
              </a:spcBef>
              <a:spcAft>
                <a:spcPts val="0"/>
              </a:spcAft>
              <a:buSzPts val="960"/>
              <a:buNone/>
              <a:defRPr sz="1200"/>
            </a:lvl2pPr>
            <a:lvl3pPr indent="-228600" lvl="2" marL="1371600" algn="l">
              <a:lnSpc>
                <a:spcPct val="90000"/>
              </a:lnSpc>
              <a:spcBef>
                <a:spcPts val="400"/>
              </a:spcBef>
              <a:spcAft>
                <a:spcPts val="0"/>
              </a:spcAft>
              <a:buSzPts val="800"/>
              <a:buNone/>
              <a:defRPr sz="1000"/>
            </a:lvl3pPr>
            <a:lvl4pPr indent="-228600" lvl="3" marL="1828800" algn="l">
              <a:lnSpc>
                <a:spcPct val="90000"/>
              </a:lnSpc>
              <a:spcBef>
                <a:spcPts val="400"/>
              </a:spcBef>
              <a:spcAft>
                <a:spcPts val="0"/>
              </a:spcAft>
              <a:buSzPts val="720"/>
              <a:buNone/>
              <a:defRPr sz="900"/>
            </a:lvl4pPr>
            <a:lvl5pPr indent="-228600" lvl="4" marL="2286000" algn="l">
              <a:lnSpc>
                <a:spcPct val="90000"/>
              </a:lnSpc>
              <a:spcBef>
                <a:spcPts val="400"/>
              </a:spcBef>
              <a:spcAft>
                <a:spcPts val="0"/>
              </a:spcAft>
              <a:buSzPts val="720"/>
              <a:buNone/>
              <a:defRPr sz="900"/>
            </a:lvl5pPr>
            <a:lvl6pPr indent="-228600" lvl="5" marL="2743200" algn="l">
              <a:lnSpc>
                <a:spcPct val="90000"/>
              </a:lnSpc>
              <a:spcBef>
                <a:spcPts val="400"/>
              </a:spcBef>
              <a:spcAft>
                <a:spcPts val="0"/>
              </a:spcAft>
              <a:buSzPts val="720"/>
              <a:buNone/>
              <a:defRPr sz="900"/>
            </a:lvl6pPr>
            <a:lvl7pPr indent="-228600" lvl="6" marL="3200400" algn="l">
              <a:lnSpc>
                <a:spcPct val="90000"/>
              </a:lnSpc>
              <a:spcBef>
                <a:spcPts val="400"/>
              </a:spcBef>
              <a:spcAft>
                <a:spcPts val="0"/>
              </a:spcAft>
              <a:buSzPts val="720"/>
              <a:buNone/>
              <a:defRPr sz="900"/>
            </a:lvl7pPr>
            <a:lvl8pPr indent="-228600" lvl="7" marL="3657600" algn="l">
              <a:lnSpc>
                <a:spcPct val="90000"/>
              </a:lnSpc>
              <a:spcBef>
                <a:spcPts val="400"/>
              </a:spcBef>
              <a:spcAft>
                <a:spcPts val="0"/>
              </a:spcAft>
              <a:buSzPts val="720"/>
              <a:buNone/>
              <a:defRPr sz="900"/>
            </a:lvl8pPr>
            <a:lvl9pPr indent="-228600" lvl="8" marL="4114800" algn="l">
              <a:lnSpc>
                <a:spcPct val="90000"/>
              </a:lnSpc>
              <a:spcBef>
                <a:spcPts val="400"/>
              </a:spcBef>
              <a:spcAft>
                <a:spcPts val="400"/>
              </a:spcAft>
              <a:buSzPts val="720"/>
              <a:buNone/>
              <a:defRPr sz="900"/>
            </a:lvl9pPr>
          </a:lstStyle>
          <a:p/>
        </p:txBody>
      </p:sp>
      <p:sp>
        <p:nvSpPr>
          <p:cNvPr id="94" name="Google Shape;94;p39"/>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9"/>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9"/>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97" name="Shape 97"/>
        <p:cNvGrpSpPr/>
        <p:nvPr/>
      </p:nvGrpSpPr>
      <p:grpSpPr>
        <a:xfrm>
          <a:off x="0" y="0"/>
          <a:ext cx="0" cy="0"/>
          <a:chOff x="0" y="0"/>
          <a:chExt cx="0" cy="0"/>
        </a:xfrm>
      </p:grpSpPr>
      <p:sp>
        <p:nvSpPr>
          <p:cNvPr id="98" name="Google Shape;98;p40"/>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40"/>
          <p:cNvSpPr txBox="1"/>
          <p:nvPr>
            <p:ph idx="1" type="body"/>
          </p:nvPr>
        </p:nvSpPr>
        <p:spPr>
          <a:xfrm rot="5400000">
            <a:off x="4060136" y="-859736"/>
            <a:ext cx="4038600" cy="9872871"/>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100" name="Google Shape;100;p40"/>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0"/>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0"/>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03" name="Shape 103"/>
        <p:cNvGrpSpPr/>
        <p:nvPr/>
      </p:nvGrpSpPr>
      <p:grpSpPr>
        <a:xfrm>
          <a:off x="0" y="0"/>
          <a:ext cx="0" cy="0"/>
          <a:chOff x="0" y="0"/>
          <a:chExt cx="0" cy="0"/>
        </a:xfrm>
      </p:grpSpPr>
      <p:sp>
        <p:nvSpPr>
          <p:cNvPr id="104" name="Google Shape;104;p41"/>
          <p:cNvSpPr txBox="1"/>
          <p:nvPr>
            <p:ph type="title"/>
          </p:nvPr>
        </p:nvSpPr>
        <p:spPr>
          <a:xfrm rot="5400000">
            <a:off x="7181850" y="2305050"/>
            <a:ext cx="5410200" cy="2324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41"/>
          <p:cNvSpPr txBox="1"/>
          <p:nvPr>
            <p:ph idx="1" type="body"/>
          </p:nvPr>
        </p:nvSpPr>
        <p:spPr>
          <a:xfrm rot="5400000">
            <a:off x="2152650" y="-247650"/>
            <a:ext cx="5410200" cy="74295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106" name="Google Shape;106;p41"/>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4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1"/>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2" Type="http://schemas.openxmlformats.org/officeDocument/2006/relationships/theme" Target="../theme/theme3.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 name="Shape 9"/>
        <p:cNvGrpSpPr/>
        <p:nvPr/>
      </p:nvGrpSpPr>
      <p:grpSpPr>
        <a:xfrm>
          <a:off x="0" y="0"/>
          <a:ext cx="0" cy="0"/>
          <a:chOff x="0" y="0"/>
          <a:chExt cx="0" cy="0"/>
        </a:xfrm>
      </p:grpSpPr>
      <p:sp>
        <p:nvSpPr>
          <p:cNvPr id="10" name="Google Shape;10;p28"/>
          <p:cNvSpPr/>
          <p:nvPr/>
        </p:nvSpPr>
        <p:spPr>
          <a:xfrm>
            <a:off x="231140" y="243840"/>
            <a:ext cx="11724640" cy="6377939"/>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8"/>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1"/>
              </a:buClr>
              <a:buSzPts val="4400"/>
              <a:buFont typeface="Corbel"/>
              <a:buNone/>
              <a:defRPr b="0" i="0" sz="4400" u="none" cap="none" strike="noStrike">
                <a:solidFill>
                  <a:schemeClr val="accen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8"/>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lvl1pPr indent="-340360" lvl="0" marL="457200" marR="0" rtl="0" algn="l">
              <a:lnSpc>
                <a:spcPct val="90000"/>
              </a:lnSpc>
              <a:spcBef>
                <a:spcPts val="1400"/>
              </a:spcBef>
              <a:spcAft>
                <a:spcPts val="0"/>
              </a:spcAft>
              <a:buClr>
                <a:schemeClr val="accent1"/>
              </a:buClr>
              <a:buSzPts val="1760"/>
              <a:buFont typeface="Corbel"/>
              <a:buChar char="•"/>
              <a:defRPr b="0" i="0" sz="2200" u="none" cap="none" strike="noStrike">
                <a:solidFill>
                  <a:schemeClr val="accent1"/>
                </a:solidFill>
                <a:latin typeface="Corbel"/>
                <a:ea typeface="Corbel"/>
                <a:cs typeface="Corbel"/>
                <a:sym typeface="Corbel"/>
              </a:defRPr>
            </a:lvl1pPr>
            <a:lvl2pPr indent="-330200" lvl="1" marL="914400" marR="0" rtl="0" algn="l">
              <a:lnSpc>
                <a:spcPct val="90000"/>
              </a:lnSpc>
              <a:spcBef>
                <a:spcPts val="200"/>
              </a:spcBef>
              <a:spcAft>
                <a:spcPts val="0"/>
              </a:spcAft>
              <a:buClr>
                <a:schemeClr val="accent1"/>
              </a:buClr>
              <a:buSzPts val="1600"/>
              <a:buFont typeface="Corbel"/>
              <a:buChar char="•"/>
              <a:defRPr b="0" i="0" sz="2000" u="none" cap="none" strike="noStrike">
                <a:solidFill>
                  <a:schemeClr val="accent1"/>
                </a:solidFill>
                <a:latin typeface="Corbel"/>
                <a:ea typeface="Corbel"/>
                <a:cs typeface="Corbel"/>
                <a:sym typeface="Corbel"/>
              </a:defRPr>
            </a:lvl2pPr>
            <a:lvl3pPr indent="-320040" lvl="2" marL="1371600" marR="0" rtl="0" algn="l">
              <a:lnSpc>
                <a:spcPct val="90000"/>
              </a:lnSpc>
              <a:spcBef>
                <a:spcPts val="400"/>
              </a:spcBef>
              <a:spcAft>
                <a:spcPts val="0"/>
              </a:spcAft>
              <a:buClr>
                <a:schemeClr val="accent1"/>
              </a:buClr>
              <a:buSzPts val="1440"/>
              <a:buFont typeface="Corbel"/>
              <a:buChar char="•"/>
              <a:defRPr b="0" i="0" sz="1800" u="none" cap="none" strike="noStrike">
                <a:solidFill>
                  <a:schemeClr val="accent1"/>
                </a:solidFill>
                <a:latin typeface="Corbel"/>
                <a:ea typeface="Corbel"/>
                <a:cs typeface="Corbel"/>
                <a:sym typeface="Corbel"/>
              </a:defRPr>
            </a:lvl3pPr>
            <a:lvl4pPr indent="-309880" lvl="3" marL="18288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4pPr>
            <a:lvl5pPr indent="-309880" lvl="4" marL="22860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5pPr>
            <a:lvl6pPr indent="-309880" lvl="5" marL="27432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6pPr>
            <a:lvl7pPr indent="-309880" lvl="6" marL="32004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7pPr>
            <a:lvl8pPr indent="-309880" lvl="7" marL="36576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8pPr>
            <a:lvl9pPr indent="-309880" lvl="8" marL="4114800" marR="0" rtl="0" algn="l">
              <a:lnSpc>
                <a:spcPct val="90000"/>
              </a:lnSpc>
              <a:spcBef>
                <a:spcPts val="400"/>
              </a:spcBef>
              <a:spcAft>
                <a:spcPts val="40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9pPr>
          </a:lstStyle>
          <a:p/>
        </p:txBody>
      </p:sp>
      <p:sp>
        <p:nvSpPr>
          <p:cNvPr id="13" name="Google Shape;13;p28"/>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accen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 name="Google Shape;14;p28"/>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accen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 name="Google Shape;15;p28"/>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accent1"/>
                </a:solidFill>
                <a:latin typeface="Corbel"/>
                <a:ea typeface="Corbel"/>
                <a:cs typeface="Corbel"/>
                <a:sym typeface="Corbel"/>
              </a:defRPr>
            </a:lvl1pPr>
            <a:lvl2pPr indent="0" lvl="1" marL="0" marR="0" rtl="0" algn="r">
              <a:spcBef>
                <a:spcPts val="0"/>
              </a:spcBef>
              <a:buNone/>
              <a:defRPr b="0" i="0" sz="1200" u="none" cap="none" strike="noStrike">
                <a:solidFill>
                  <a:schemeClr val="accent1"/>
                </a:solidFill>
                <a:latin typeface="Corbel"/>
                <a:ea typeface="Corbel"/>
                <a:cs typeface="Corbel"/>
                <a:sym typeface="Corbel"/>
              </a:defRPr>
            </a:lvl2pPr>
            <a:lvl3pPr indent="0" lvl="2" marL="0" marR="0" rtl="0" algn="r">
              <a:spcBef>
                <a:spcPts val="0"/>
              </a:spcBef>
              <a:buNone/>
              <a:defRPr b="0" i="0" sz="1200" u="none" cap="none" strike="noStrike">
                <a:solidFill>
                  <a:schemeClr val="accent1"/>
                </a:solidFill>
                <a:latin typeface="Corbel"/>
                <a:ea typeface="Corbel"/>
                <a:cs typeface="Corbel"/>
                <a:sym typeface="Corbel"/>
              </a:defRPr>
            </a:lvl3pPr>
            <a:lvl4pPr indent="0" lvl="3" marL="0" marR="0" rtl="0" algn="r">
              <a:spcBef>
                <a:spcPts val="0"/>
              </a:spcBef>
              <a:buNone/>
              <a:defRPr b="0" i="0" sz="1200" u="none" cap="none" strike="noStrike">
                <a:solidFill>
                  <a:schemeClr val="accent1"/>
                </a:solidFill>
                <a:latin typeface="Corbel"/>
                <a:ea typeface="Corbel"/>
                <a:cs typeface="Corbel"/>
                <a:sym typeface="Corbel"/>
              </a:defRPr>
            </a:lvl4pPr>
            <a:lvl5pPr indent="0" lvl="4" marL="0" marR="0" rtl="0" algn="r">
              <a:spcBef>
                <a:spcPts val="0"/>
              </a:spcBef>
              <a:buNone/>
              <a:defRPr b="0" i="0" sz="1200" u="none" cap="none" strike="noStrike">
                <a:solidFill>
                  <a:schemeClr val="accent1"/>
                </a:solidFill>
                <a:latin typeface="Corbel"/>
                <a:ea typeface="Corbel"/>
                <a:cs typeface="Corbel"/>
                <a:sym typeface="Corbel"/>
              </a:defRPr>
            </a:lvl5pPr>
            <a:lvl6pPr indent="0" lvl="5" marL="0" marR="0" rtl="0" algn="r">
              <a:spcBef>
                <a:spcPts val="0"/>
              </a:spcBef>
              <a:buNone/>
              <a:defRPr b="0" i="0" sz="1200" u="none" cap="none" strike="noStrike">
                <a:solidFill>
                  <a:schemeClr val="accent1"/>
                </a:solidFill>
                <a:latin typeface="Corbel"/>
                <a:ea typeface="Corbel"/>
                <a:cs typeface="Corbel"/>
                <a:sym typeface="Corbel"/>
              </a:defRPr>
            </a:lvl6pPr>
            <a:lvl7pPr indent="0" lvl="6" marL="0" marR="0" rtl="0" algn="r">
              <a:spcBef>
                <a:spcPts val="0"/>
              </a:spcBef>
              <a:buNone/>
              <a:defRPr b="0" i="0" sz="1200" u="none" cap="none" strike="noStrike">
                <a:solidFill>
                  <a:schemeClr val="accent1"/>
                </a:solidFill>
                <a:latin typeface="Corbel"/>
                <a:ea typeface="Corbel"/>
                <a:cs typeface="Corbel"/>
                <a:sym typeface="Corbel"/>
              </a:defRPr>
            </a:lvl7pPr>
            <a:lvl8pPr indent="0" lvl="7" marL="0" marR="0" rtl="0" algn="r">
              <a:spcBef>
                <a:spcPts val="0"/>
              </a:spcBef>
              <a:buNone/>
              <a:defRPr b="0" i="0" sz="1200" u="none" cap="none" strike="noStrike">
                <a:solidFill>
                  <a:schemeClr val="accent1"/>
                </a:solidFill>
                <a:latin typeface="Corbel"/>
                <a:ea typeface="Corbel"/>
                <a:cs typeface="Corbel"/>
                <a:sym typeface="Corbel"/>
              </a:defRPr>
            </a:lvl8pPr>
            <a:lvl9pPr indent="0" lvl="8" marL="0" marR="0" rtl="0" algn="r">
              <a:spcBef>
                <a:spcPts val="0"/>
              </a:spcBef>
              <a:buNone/>
              <a:defRPr b="0" i="0" sz="12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 name="Shape 30"/>
        <p:cNvGrpSpPr/>
        <p:nvPr/>
      </p:nvGrpSpPr>
      <p:grpSpPr>
        <a:xfrm>
          <a:off x="0" y="0"/>
          <a:ext cx="0" cy="0"/>
          <a:chOff x="0" y="0"/>
          <a:chExt cx="0" cy="0"/>
        </a:xfrm>
      </p:grpSpPr>
      <p:sp>
        <p:nvSpPr>
          <p:cNvPr id="31" name="Google Shape;31;p27"/>
          <p:cNvSpPr/>
          <p:nvPr/>
        </p:nvSpPr>
        <p:spPr>
          <a:xfrm>
            <a:off x="231140" y="243840"/>
            <a:ext cx="11724640" cy="637793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7"/>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1"/>
              </a:buClr>
              <a:buSzPts val="4400"/>
              <a:buFont typeface="Corbel"/>
              <a:buNone/>
              <a:defRPr b="0" i="0" sz="4400" u="none" cap="none" strike="noStrike">
                <a:solidFill>
                  <a:schemeClr val="accen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27"/>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lvl1pPr indent="-340360" lvl="0" marL="457200" marR="0" rtl="0" algn="l">
              <a:lnSpc>
                <a:spcPct val="90000"/>
              </a:lnSpc>
              <a:spcBef>
                <a:spcPts val="1400"/>
              </a:spcBef>
              <a:spcAft>
                <a:spcPts val="0"/>
              </a:spcAft>
              <a:buClr>
                <a:schemeClr val="accent1"/>
              </a:buClr>
              <a:buSzPts val="1760"/>
              <a:buFont typeface="Corbel"/>
              <a:buChar char="•"/>
              <a:defRPr b="0" i="0" sz="2200" u="none" cap="none" strike="noStrike">
                <a:solidFill>
                  <a:schemeClr val="accent1"/>
                </a:solidFill>
                <a:latin typeface="Corbel"/>
                <a:ea typeface="Corbel"/>
                <a:cs typeface="Corbel"/>
                <a:sym typeface="Corbel"/>
              </a:defRPr>
            </a:lvl1pPr>
            <a:lvl2pPr indent="-330200" lvl="1" marL="914400" marR="0" rtl="0" algn="l">
              <a:lnSpc>
                <a:spcPct val="90000"/>
              </a:lnSpc>
              <a:spcBef>
                <a:spcPts val="200"/>
              </a:spcBef>
              <a:spcAft>
                <a:spcPts val="0"/>
              </a:spcAft>
              <a:buClr>
                <a:schemeClr val="accent1"/>
              </a:buClr>
              <a:buSzPts val="1600"/>
              <a:buFont typeface="Corbel"/>
              <a:buChar char="•"/>
              <a:defRPr b="0" i="0" sz="2000" u="none" cap="none" strike="noStrike">
                <a:solidFill>
                  <a:schemeClr val="accent1"/>
                </a:solidFill>
                <a:latin typeface="Corbel"/>
                <a:ea typeface="Corbel"/>
                <a:cs typeface="Corbel"/>
                <a:sym typeface="Corbel"/>
              </a:defRPr>
            </a:lvl2pPr>
            <a:lvl3pPr indent="-320040" lvl="2" marL="1371600" marR="0" rtl="0" algn="l">
              <a:lnSpc>
                <a:spcPct val="90000"/>
              </a:lnSpc>
              <a:spcBef>
                <a:spcPts val="400"/>
              </a:spcBef>
              <a:spcAft>
                <a:spcPts val="0"/>
              </a:spcAft>
              <a:buClr>
                <a:schemeClr val="accent1"/>
              </a:buClr>
              <a:buSzPts val="1440"/>
              <a:buFont typeface="Corbel"/>
              <a:buChar char="•"/>
              <a:defRPr b="0" i="0" sz="1800" u="none" cap="none" strike="noStrike">
                <a:solidFill>
                  <a:schemeClr val="accent1"/>
                </a:solidFill>
                <a:latin typeface="Corbel"/>
                <a:ea typeface="Corbel"/>
                <a:cs typeface="Corbel"/>
                <a:sym typeface="Corbel"/>
              </a:defRPr>
            </a:lvl3pPr>
            <a:lvl4pPr indent="-309880" lvl="3" marL="18288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4pPr>
            <a:lvl5pPr indent="-309880" lvl="4" marL="22860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5pPr>
            <a:lvl6pPr indent="-309880" lvl="5" marL="27432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6pPr>
            <a:lvl7pPr indent="-309880" lvl="6" marL="32004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7pPr>
            <a:lvl8pPr indent="-309880" lvl="7" marL="36576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8pPr>
            <a:lvl9pPr indent="-309880" lvl="8" marL="4114800" marR="0" rtl="0" algn="l">
              <a:lnSpc>
                <a:spcPct val="90000"/>
              </a:lnSpc>
              <a:spcBef>
                <a:spcPts val="400"/>
              </a:spcBef>
              <a:spcAft>
                <a:spcPts val="40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9pPr>
          </a:lstStyle>
          <a:p/>
        </p:txBody>
      </p:sp>
      <p:sp>
        <p:nvSpPr>
          <p:cNvPr id="34" name="Google Shape;34;p27"/>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accen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35" name="Google Shape;35;p27"/>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accen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36" name="Google Shape;36;p27"/>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accent1"/>
                </a:solidFill>
                <a:latin typeface="Corbel"/>
                <a:ea typeface="Corbel"/>
                <a:cs typeface="Corbel"/>
                <a:sym typeface="Corbel"/>
              </a:defRPr>
            </a:lvl1pPr>
            <a:lvl2pPr indent="0" lvl="1" marL="0" marR="0" rtl="0" algn="r">
              <a:spcBef>
                <a:spcPts val="0"/>
              </a:spcBef>
              <a:buNone/>
              <a:defRPr b="0" i="0" sz="1200" u="none" cap="none" strike="noStrike">
                <a:solidFill>
                  <a:schemeClr val="accent1"/>
                </a:solidFill>
                <a:latin typeface="Corbel"/>
                <a:ea typeface="Corbel"/>
                <a:cs typeface="Corbel"/>
                <a:sym typeface="Corbel"/>
              </a:defRPr>
            </a:lvl2pPr>
            <a:lvl3pPr indent="0" lvl="2" marL="0" marR="0" rtl="0" algn="r">
              <a:spcBef>
                <a:spcPts val="0"/>
              </a:spcBef>
              <a:buNone/>
              <a:defRPr b="0" i="0" sz="1200" u="none" cap="none" strike="noStrike">
                <a:solidFill>
                  <a:schemeClr val="accent1"/>
                </a:solidFill>
                <a:latin typeface="Corbel"/>
                <a:ea typeface="Corbel"/>
                <a:cs typeface="Corbel"/>
                <a:sym typeface="Corbel"/>
              </a:defRPr>
            </a:lvl3pPr>
            <a:lvl4pPr indent="0" lvl="3" marL="0" marR="0" rtl="0" algn="r">
              <a:spcBef>
                <a:spcPts val="0"/>
              </a:spcBef>
              <a:buNone/>
              <a:defRPr b="0" i="0" sz="1200" u="none" cap="none" strike="noStrike">
                <a:solidFill>
                  <a:schemeClr val="accent1"/>
                </a:solidFill>
                <a:latin typeface="Corbel"/>
                <a:ea typeface="Corbel"/>
                <a:cs typeface="Corbel"/>
                <a:sym typeface="Corbel"/>
              </a:defRPr>
            </a:lvl4pPr>
            <a:lvl5pPr indent="0" lvl="4" marL="0" marR="0" rtl="0" algn="r">
              <a:spcBef>
                <a:spcPts val="0"/>
              </a:spcBef>
              <a:buNone/>
              <a:defRPr b="0" i="0" sz="1200" u="none" cap="none" strike="noStrike">
                <a:solidFill>
                  <a:schemeClr val="accent1"/>
                </a:solidFill>
                <a:latin typeface="Corbel"/>
                <a:ea typeface="Corbel"/>
                <a:cs typeface="Corbel"/>
                <a:sym typeface="Corbel"/>
              </a:defRPr>
            </a:lvl5pPr>
            <a:lvl6pPr indent="0" lvl="5" marL="0" marR="0" rtl="0" algn="r">
              <a:spcBef>
                <a:spcPts val="0"/>
              </a:spcBef>
              <a:buNone/>
              <a:defRPr b="0" i="0" sz="1200" u="none" cap="none" strike="noStrike">
                <a:solidFill>
                  <a:schemeClr val="accent1"/>
                </a:solidFill>
                <a:latin typeface="Corbel"/>
                <a:ea typeface="Corbel"/>
                <a:cs typeface="Corbel"/>
                <a:sym typeface="Corbel"/>
              </a:defRPr>
            </a:lvl6pPr>
            <a:lvl7pPr indent="0" lvl="6" marL="0" marR="0" rtl="0" algn="r">
              <a:spcBef>
                <a:spcPts val="0"/>
              </a:spcBef>
              <a:buNone/>
              <a:defRPr b="0" i="0" sz="1200" u="none" cap="none" strike="noStrike">
                <a:solidFill>
                  <a:schemeClr val="accent1"/>
                </a:solidFill>
                <a:latin typeface="Corbel"/>
                <a:ea typeface="Corbel"/>
                <a:cs typeface="Corbel"/>
                <a:sym typeface="Corbel"/>
              </a:defRPr>
            </a:lvl7pPr>
            <a:lvl8pPr indent="0" lvl="7" marL="0" marR="0" rtl="0" algn="r">
              <a:spcBef>
                <a:spcPts val="0"/>
              </a:spcBef>
              <a:buNone/>
              <a:defRPr b="0" i="0" sz="1200" u="none" cap="none" strike="noStrike">
                <a:solidFill>
                  <a:schemeClr val="accent1"/>
                </a:solidFill>
                <a:latin typeface="Corbel"/>
                <a:ea typeface="Corbel"/>
                <a:cs typeface="Corbel"/>
                <a:sym typeface="Corbel"/>
              </a:defRPr>
            </a:lvl8pPr>
            <a:lvl9pPr indent="0" lvl="8" marL="0" marR="0" rtl="0" algn="r">
              <a:spcBef>
                <a:spcPts val="0"/>
              </a:spcBef>
              <a:buNone/>
              <a:defRPr b="0" i="0" sz="12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2" name="Shape 112"/>
        <p:cNvGrpSpPr/>
        <p:nvPr/>
      </p:nvGrpSpPr>
      <p:grpSpPr>
        <a:xfrm>
          <a:off x="0" y="0"/>
          <a:ext cx="0" cy="0"/>
          <a:chOff x="0" y="0"/>
          <a:chExt cx="0" cy="0"/>
        </a:xfrm>
      </p:grpSpPr>
      <p:pic>
        <p:nvPicPr>
          <p:cNvPr descr="Mano con lápiz sombreando círculos en una hoja" id="113" name="Google Shape;113;p1"/>
          <p:cNvPicPr preferRelativeResize="0"/>
          <p:nvPr/>
        </p:nvPicPr>
        <p:blipFill rotWithShape="1">
          <a:blip r:embed="rId3">
            <a:alphaModFix amt="50000"/>
          </a:blip>
          <a:srcRect b="2560" l="0" r="0" t="873"/>
          <a:stretch/>
        </p:blipFill>
        <p:spPr>
          <a:xfrm>
            <a:off x="20" y="1"/>
            <a:ext cx="12191980" cy="6857999"/>
          </a:xfrm>
          <a:prstGeom prst="rect">
            <a:avLst/>
          </a:prstGeom>
          <a:noFill/>
          <a:ln>
            <a:noFill/>
          </a:ln>
        </p:spPr>
      </p:pic>
      <p:sp>
        <p:nvSpPr>
          <p:cNvPr id="114" name="Google Shape;114;p1"/>
          <p:cNvSpPr txBox="1"/>
          <p:nvPr>
            <p:ph type="ctr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FFFFFF"/>
              </a:buClr>
              <a:buSzPts val="7200"/>
              <a:buFont typeface="Corbel"/>
              <a:buNone/>
            </a:pPr>
            <a:r>
              <a:rPr lang="es-AR">
                <a:solidFill>
                  <a:srgbClr val="FFFFFF"/>
                </a:solidFill>
              </a:rPr>
              <a:t>CESACIÓN DE PAGOS – PERIODO DE SOSPECHA</a:t>
            </a:r>
            <a:endParaRPr>
              <a:solidFill>
                <a:srgbClr val="FFFFFF"/>
              </a:solidFill>
            </a:endParaRPr>
          </a:p>
        </p:txBody>
      </p:sp>
      <p:sp>
        <p:nvSpPr>
          <p:cNvPr id="115" name="Google Shape;115;p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14"/>
                                        </p:tgtEl>
                                        <p:attrNameLst>
                                          <p:attrName>style.visibility</p:attrName>
                                        </p:attrNameLst>
                                      </p:cBhvr>
                                      <p:to>
                                        <p:strVal val="visible"/>
                                      </p:to>
                                    </p:set>
                                    <p:animEffect filter="fade" transition="in">
                                      <p:cBhvr>
                                        <p:cTn dur="7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9" name="Shape 119"/>
        <p:cNvGrpSpPr/>
        <p:nvPr/>
      </p:nvGrpSpPr>
      <p:grpSpPr>
        <a:xfrm>
          <a:off x="0" y="0"/>
          <a:ext cx="0" cy="0"/>
          <a:chOff x="0" y="0"/>
          <a:chExt cx="0" cy="0"/>
        </a:xfrm>
      </p:grpSpPr>
      <p:sp>
        <p:nvSpPr>
          <p:cNvPr id="120" name="Google Shape;120;p2"/>
          <p:cNvSpPr txBox="1"/>
          <p:nvPr>
            <p:ph type="title"/>
          </p:nvPr>
        </p:nvSpPr>
        <p:spPr>
          <a:xfrm>
            <a:off x="838200" y="365125"/>
            <a:ext cx="6254496" cy="182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Cesación de Pagos</a:t>
            </a:r>
            <a:endParaRPr/>
          </a:p>
        </p:txBody>
      </p:sp>
      <p:grpSp>
        <p:nvGrpSpPr>
          <p:cNvPr id="121" name="Google Shape;121;p2"/>
          <p:cNvGrpSpPr/>
          <p:nvPr/>
        </p:nvGrpSpPr>
        <p:grpSpPr>
          <a:xfrm>
            <a:off x="838200" y="2372760"/>
            <a:ext cx="6254496" cy="3758400"/>
            <a:chOff x="0" y="50184"/>
            <a:chExt cx="6254496" cy="3758400"/>
          </a:xfrm>
        </p:grpSpPr>
        <p:sp>
          <p:nvSpPr>
            <p:cNvPr id="122" name="Google Shape;122;p2"/>
            <p:cNvSpPr/>
            <p:nvPr/>
          </p:nvSpPr>
          <p:spPr>
            <a:xfrm>
              <a:off x="0" y="50184"/>
              <a:ext cx="6254496" cy="1853280"/>
            </a:xfrm>
            <a:prstGeom prst="roundRect">
              <a:avLst>
                <a:gd fmla="val 16667" name="adj"/>
              </a:avLst>
            </a:prstGeom>
            <a:solidFill>
              <a:srgbClr val="D6D445"/>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txBox="1"/>
            <p:nvPr/>
          </p:nvSpPr>
          <p:spPr>
            <a:xfrm>
              <a:off x="90470" y="140654"/>
              <a:ext cx="6073556" cy="1672340"/>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Corbel"/>
                <a:buNone/>
              </a:pPr>
              <a:r>
                <a:rPr b="0" i="0" lang="es-AR" sz="1800" u="none" cap="none" strike="noStrike">
                  <a:solidFill>
                    <a:schemeClr val="lt1"/>
                  </a:solidFill>
                  <a:latin typeface="Corbel"/>
                  <a:ea typeface="Corbel"/>
                  <a:cs typeface="Corbel"/>
                  <a:sym typeface="Corbel"/>
                </a:rPr>
                <a:t>ARTICULO 115.- Fecha de cesación de pagos: efectos. La fecha que se determine por resolución firme como de iniciación de la cesación de pagos, hace cosa juzgada respecto del fallido, de los acreedores y de los terceros que intervinieron en el trámite para su determinación y es presunción admite prueba contraria respecto de los terceros que no intervinieron.</a:t>
              </a:r>
              <a:endParaRPr b="0" i="0" sz="1800" u="none" cap="none" strike="noStrike">
                <a:solidFill>
                  <a:schemeClr val="lt1"/>
                </a:solidFill>
                <a:latin typeface="Corbel"/>
                <a:ea typeface="Corbel"/>
                <a:cs typeface="Corbel"/>
                <a:sym typeface="Corbel"/>
              </a:endParaRPr>
            </a:p>
          </p:txBody>
        </p:sp>
        <p:sp>
          <p:nvSpPr>
            <p:cNvPr id="124" name="Google Shape;124;p2"/>
            <p:cNvSpPr/>
            <p:nvPr/>
          </p:nvSpPr>
          <p:spPr>
            <a:xfrm>
              <a:off x="0" y="1955304"/>
              <a:ext cx="6254496" cy="1853280"/>
            </a:xfrm>
            <a:prstGeom prst="roundRect">
              <a:avLst>
                <a:gd fmla="val 16667" name="adj"/>
              </a:avLst>
            </a:prstGeom>
            <a:solidFill>
              <a:srgbClr val="81818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txBox="1"/>
            <p:nvPr/>
          </p:nvSpPr>
          <p:spPr>
            <a:xfrm>
              <a:off x="90470" y="2045774"/>
              <a:ext cx="6073556" cy="1672340"/>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Corbel"/>
                <a:buNone/>
              </a:pPr>
              <a:r>
                <a:rPr b="0" i="0" lang="es-AR" sz="1800" u="none" cap="none" strike="noStrike">
                  <a:solidFill>
                    <a:schemeClr val="lt1"/>
                  </a:solidFill>
                  <a:latin typeface="Corbel"/>
                  <a:ea typeface="Corbel"/>
                  <a:cs typeface="Corbel"/>
                  <a:sym typeface="Corbel"/>
                </a:rPr>
                <a:t>Cuando la quiebra se declare por alguna de las causas es del Artículo 77, inciso 1, o estando pendiente el cumplimiento de un acuerdo preventivo, la fecha a determinar es la que corresponda a la iniciación de la cesación de pagos, anterior a la presentación indicada en el Artículo 11.</a:t>
              </a:r>
              <a:endParaRPr b="0" i="0" sz="1800" u="none" cap="none" strike="noStrike">
                <a:solidFill>
                  <a:schemeClr val="lt1"/>
                </a:solidFill>
                <a:latin typeface="Corbel"/>
                <a:ea typeface="Corbel"/>
                <a:cs typeface="Corbel"/>
                <a:sym typeface="Corbel"/>
              </a:endParaRPr>
            </a:p>
          </p:txBody>
        </p:sp>
      </p:grpSp>
      <p:sp>
        <p:nvSpPr>
          <p:cNvPr id="126" name="Google Shape;126;p2"/>
          <p:cNvSpPr txBox="1"/>
          <p:nvPr>
            <p:ph idx="11" type="ftr"/>
          </p:nvPr>
        </p:nvSpPr>
        <p:spPr>
          <a:xfrm>
            <a:off x="3548958" y="6356350"/>
            <a:ext cx="353085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s-AR">
                <a:solidFill>
                  <a:schemeClr val="lt1"/>
                </a:solidFill>
              </a:rPr>
              <a:t>Derecho Crediticio Bursatil e Insolvencia</a:t>
            </a:r>
            <a:endParaRPr>
              <a:solidFill>
                <a:schemeClr val="lt1"/>
              </a:solidFill>
            </a:endParaRPr>
          </a:p>
        </p:txBody>
      </p:sp>
      <p:pic>
        <p:nvPicPr>
          <p:cNvPr id="127" name="Google Shape;127;p2"/>
          <p:cNvPicPr preferRelativeResize="0"/>
          <p:nvPr/>
        </p:nvPicPr>
        <p:blipFill rotWithShape="1">
          <a:blip r:embed="rId3">
            <a:alphaModFix/>
          </a:blip>
          <a:srcRect b="-1" l="37098" r="23493" t="0"/>
          <a:stretch/>
        </p:blipFill>
        <p:spPr>
          <a:xfrm>
            <a:off x="7552266" y="10"/>
            <a:ext cx="4639733" cy="685799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Cesación de Pagos</a:t>
            </a:r>
            <a:endParaRPr/>
          </a:p>
        </p:txBody>
      </p:sp>
      <p:sp>
        <p:nvSpPr>
          <p:cNvPr id="133" name="Google Shape;133;p3"/>
          <p:cNvSpPr txBox="1"/>
          <p:nvPr>
            <p:ph idx="1" type="body"/>
          </p:nvPr>
        </p:nvSpPr>
        <p:spPr>
          <a:xfrm>
            <a:off x="677334" y="2160590"/>
            <a:ext cx="8596668" cy="10509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60"/>
              <a:buNone/>
            </a:pPr>
            <a:r>
              <a:rPr lang="es-AR"/>
              <a:t>Al estado de cesación de pagos preexistente a la declaración judicial de quiebra se le asigna la virtualidad de incidir sobre ciertas relaciones contraídas durante un lapso inmediatamente anterior a la sentencia </a:t>
            </a:r>
            <a:endParaRPr/>
          </a:p>
          <a:p>
            <a:pPr indent="-71120" lvl="0" marL="228600" rtl="0" algn="l">
              <a:lnSpc>
                <a:spcPct val="90000"/>
              </a:lnSpc>
              <a:spcBef>
                <a:spcPts val="1400"/>
              </a:spcBef>
              <a:spcAft>
                <a:spcPts val="0"/>
              </a:spcAft>
              <a:buSzPts val="1760"/>
              <a:buNone/>
            </a:pPr>
            <a:r>
              <a:t/>
            </a:r>
            <a:endParaRPr/>
          </a:p>
          <a:p>
            <a:pPr indent="-71120" lvl="0" marL="228600" rtl="0" algn="l">
              <a:lnSpc>
                <a:spcPct val="90000"/>
              </a:lnSpc>
              <a:spcBef>
                <a:spcPts val="1400"/>
              </a:spcBef>
              <a:spcAft>
                <a:spcPts val="0"/>
              </a:spcAft>
              <a:buSzPts val="1760"/>
              <a:buNone/>
            </a:pPr>
            <a:r>
              <a:t/>
            </a:r>
            <a:endParaRPr/>
          </a:p>
        </p:txBody>
      </p:sp>
      <p:sp>
        <p:nvSpPr>
          <p:cNvPr id="134" name="Google Shape;134;p3"/>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a:t>Derecho Crediticio Bursatil e Insolvencia</a:t>
            </a:r>
            <a:endParaRPr/>
          </a:p>
        </p:txBody>
      </p:sp>
      <p:sp>
        <p:nvSpPr>
          <p:cNvPr id="135" name="Google Shape;135;p3"/>
          <p:cNvSpPr/>
          <p:nvPr/>
        </p:nvSpPr>
        <p:spPr>
          <a:xfrm>
            <a:off x="4348976" y="3211552"/>
            <a:ext cx="1747024" cy="970155"/>
          </a:xfrm>
          <a:prstGeom prst="downArrow">
            <a:avLst>
              <a:gd fmla="val 50000" name="adj1"/>
              <a:gd fmla="val 50000" name="adj2"/>
            </a:avLst>
          </a:prstGeom>
          <a:solidFill>
            <a:schemeClr val="accent1"/>
          </a:solidFill>
          <a:ln cap="flat" cmpd="sng" w="19050">
            <a:solidFill>
              <a:srgbClr val="7985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36" name="Google Shape;136;p3"/>
          <p:cNvSpPr txBox="1"/>
          <p:nvPr/>
        </p:nvSpPr>
        <p:spPr>
          <a:xfrm>
            <a:off x="2746917" y="4616605"/>
            <a:ext cx="4951142" cy="369332"/>
          </a:xfrm>
          <a:prstGeom prst="rect">
            <a:avLst/>
          </a:prstGeom>
          <a:gradFill>
            <a:gsLst>
              <a:gs pos="0">
                <a:schemeClr val="accent1"/>
              </a:gs>
              <a:gs pos="90000">
                <a:srgbClr val="A8BA23"/>
              </a:gs>
              <a:gs pos="100000">
                <a:srgbClr val="9EB215"/>
              </a:gs>
            </a:gsLst>
            <a:path path="circle">
              <a:fillToRect b="50%" l="50%" r="50%" t="50%"/>
            </a:path>
            <a:tileRect/>
          </a:gradFill>
          <a:ln cap="flat" cmpd="sng" w="10000">
            <a:solidFill>
              <a:schemeClr val="accent1"/>
            </a:solidFill>
            <a:prstDash val="solid"/>
            <a:round/>
            <a:headEnd len="sm" w="sm" type="none"/>
            <a:tailEnd len="sm" w="sm" type="none"/>
          </a:ln>
          <a:effectLst>
            <a:outerShdw blurRad="38100" rotWithShape="0" dir="5400000" dist="25400">
              <a:srgbClr val="000000">
                <a:alpha val="4470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0" i="0" lang="es-AR" sz="1800" u="none" cap="none" strike="noStrike">
                <a:solidFill>
                  <a:schemeClr val="lt1"/>
                </a:solidFill>
                <a:latin typeface="Corbel"/>
                <a:ea typeface="Corbel"/>
                <a:cs typeface="Corbel"/>
                <a:sym typeface="Corbel"/>
              </a:rPr>
              <a:t>Periodo de sospecha</a:t>
            </a:r>
            <a:endParaRPr/>
          </a:p>
        </p:txBody>
      </p:sp>
      <p:cxnSp>
        <p:nvCxnSpPr>
          <p:cNvPr id="137" name="Google Shape;137;p3"/>
          <p:cNvCxnSpPr/>
          <p:nvPr/>
        </p:nvCxnSpPr>
        <p:spPr>
          <a:xfrm>
            <a:off x="3211551" y="5174166"/>
            <a:ext cx="1550100" cy="691500"/>
          </a:xfrm>
          <a:prstGeom prst="bentConnector3">
            <a:avLst>
              <a:gd fmla="val 50000" name="adj1"/>
            </a:avLst>
          </a:prstGeom>
          <a:noFill/>
          <a:ln cap="flat" cmpd="dbl" w="53975">
            <a:solidFill>
              <a:schemeClr val="accent1"/>
            </a:solidFill>
            <a:prstDash val="solid"/>
            <a:round/>
            <a:headEnd len="sm" w="sm" type="none"/>
            <a:tailEnd len="med" w="med" type="triangle"/>
          </a:ln>
          <a:effectLst>
            <a:outerShdw blurRad="38100" rotWithShape="0" dir="5400000" dist="25400">
              <a:srgbClr val="000000">
                <a:alpha val="44705"/>
              </a:srgbClr>
            </a:outerShdw>
          </a:effectLst>
        </p:spPr>
      </p:cxnSp>
      <p:sp>
        <p:nvSpPr>
          <p:cNvPr id="138" name="Google Shape;138;p3"/>
          <p:cNvSpPr txBox="1"/>
          <p:nvPr/>
        </p:nvSpPr>
        <p:spPr>
          <a:xfrm>
            <a:off x="5222488" y="5519853"/>
            <a:ext cx="3129775" cy="646331"/>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AR" sz="1800" u="none" cap="none" strike="noStrike">
                <a:solidFill>
                  <a:schemeClr val="lt1"/>
                </a:solidFill>
                <a:latin typeface="Corbel"/>
                <a:ea typeface="Corbel"/>
                <a:cs typeface="Corbel"/>
                <a:sym typeface="Corbel"/>
              </a:rPr>
              <a:t>Acciones de recomposicion patrimonial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Cesación de Pagos</a:t>
            </a:r>
            <a:endParaRPr/>
          </a:p>
        </p:txBody>
      </p:sp>
      <p:sp>
        <p:nvSpPr>
          <p:cNvPr id="144" name="Google Shape;144;p4"/>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lnSpcReduction="10000"/>
          </a:bodyPr>
          <a:lstStyle/>
          <a:p>
            <a:pPr indent="-182880" lvl="0" marL="228600" rtl="0" algn="l">
              <a:lnSpc>
                <a:spcPct val="90000"/>
              </a:lnSpc>
              <a:spcBef>
                <a:spcPts val="0"/>
              </a:spcBef>
              <a:spcAft>
                <a:spcPts val="0"/>
              </a:spcAft>
              <a:buSzPts val="1760"/>
              <a:buChar char="•"/>
            </a:pPr>
            <a:r>
              <a:rPr lang="es-AR"/>
              <a:t>Epoca en que se produjo</a:t>
            </a:r>
            <a:endParaRPr/>
          </a:p>
          <a:p>
            <a:pPr indent="-182880" lvl="1" marL="457200" rtl="0" algn="l">
              <a:lnSpc>
                <a:spcPct val="90000"/>
              </a:lnSpc>
              <a:spcBef>
                <a:spcPts val="200"/>
              </a:spcBef>
              <a:spcAft>
                <a:spcPts val="0"/>
              </a:spcAft>
              <a:buSzPts val="1600"/>
              <a:buChar char="•"/>
            </a:pPr>
            <a:r>
              <a:rPr lang="es-AR"/>
              <a:t>Sindico. Articulo 39 inciso 5</a:t>
            </a:r>
            <a:endParaRPr/>
          </a:p>
          <a:p>
            <a:pPr indent="-182880" lvl="2" marL="731520" rtl="0" algn="l">
              <a:lnSpc>
                <a:spcPct val="90000"/>
              </a:lnSpc>
              <a:spcBef>
                <a:spcPts val="600"/>
              </a:spcBef>
              <a:spcAft>
                <a:spcPts val="0"/>
              </a:spcAft>
              <a:buSzPts val="1440"/>
              <a:buChar char="•"/>
            </a:pPr>
            <a:r>
              <a:rPr lang="es-AR"/>
              <a:t>Acreedores, deudor, interesados</a:t>
            </a:r>
            <a:endParaRPr/>
          </a:p>
          <a:p>
            <a:pPr indent="-182880" lvl="3" marL="1005840" rtl="0" algn="l">
              <a:lnSpc>
                <a:spcPct val="90000"/>
              </a:lnSpc>
              <a:spcBef>
                <a:spcPts val="600"/>
              </a:spcBef>
              <a:spcAft>
                <a:spcPts val="0"/>
              </a:spcAft>
              <a:buSzPts val="1280"/>
              <a:buChar char="•"/>
            </a:pPr>
            <a:r>
              <a:rPr lang="es-AR"/>
              <a:t>Observaciones</a:t>
            </a:r>
            <a:endParaRPr/>
          </a:p>
          <a:p>
            <a:pPr indent="-182880" lvl="3" marL="1005840" rtl="0" algn="l">
              <a:lnSpc>
                <a:spcPct val="90000"/>
              </a:lnSpc>
              <a:spcBef>
                <a:spcPts val="600"/>
              </a:spcBef>
              <a:spcAft>
                <a:spcPts val="0"/>
              </a:spcAft>
              <a:buSzPts val="1280"/>
              <a:buChar char="•"/>
            </a:pPr>
            <a:r>
              <a:rPr lang="es-AR"/>
              <a:t>Traslado al sindico</a:t>
            </a:r>
            <a:endParaRPr/>
          </a:p>
          <a:p>
            <a:pPr indent="-182880" lvl="3" marL="1005840" rtl="0" algn="l">
              <a:lnSpc>
                <a:spcPct val="90000"/>
              </a:lnSpc>
              <a:spcBef>
                <a:spcPts val="600"/>
              </a:spcBef>
              <a:spcAft>
                <a:spcPts val="0"/>
              </a:spcAft>
              <a:buSzPts val="1280"/>
              <a:buChar char="•"/>
            </a:pPr>
            <a:r>
              <a:rPr lang="es-AR"/>
              <a:t>Puede ordenarse producción de prueba</a:t>
            </a:r>
            <a:endParaRPr/>
          </a:p>
          <a:p>
            <a:pPr indent="-182880" lvl="0" marL="228600" rtl="0" algn="l">
              <a:lnSpc>
                <a:spcPct val="90000"/>
              </a:lnSpc>
              <a:spcBef>
                <a:spcPts val="1800"/>
              </a:spcBef>
              <a:spcAft>
                <a:spcPts val="0"/>
              </a:spcAft>
              <a:buSzPts val="1760"/>
              <a:buChar char="•"/>
            </a:pPr>
            <a:r>
              <a:rPr lang="es-AR"/>
              <a:t>Inicio del Período de Sospecha</a:t>
            </a:r>
            <a:endParaRPr/>
          </a:p>
          <a:p>
            <a:pPr indent="-182880" lvl="0" marL="228600" rtl="0" algn="l">
              <a:lnSpc>
                <a:spcPct val="90000"/>
              </a:lnSpc>
              <a:spcBef>
                <a:spcPts val="1400"/>
              </a:spcBef>
              <a:spcAft>
                <a:spcPts val="0"/>
              </a:spcAft>
              <a:buSzPts val="1760"/>
              <a:buChar char="•"/>
            </a:pPr>
            <a:r>
              <a:rPr lang="es-AR"/>
              <a:t>Una vez firme</a:t>
            </a:r>
            <a:endParaRPr/>
          </a:p>
          <a:p>
            <a:pPr indent="-182880" lvl="1" marL="457200" rtl="0" algn="l">
              <a:lnSpc>
                <a:spcPct val="90000"/>
              </a:lnSpc>
              <a:spcBef>
                <a:spcPts val="200"/>
              </a:spcBef>
              <a:spcAft>
                <a:spcPts val="0"/>
              </a:spcAft>
              <a:buSzPts val="1600"/>
              <a:buChar char="•"/>
            </a:pPr>
            <a:r>
              <a:rPr lang="es-AR"/>
              <a:t>Cosa juzgada respecto</a:t>
            </a:r>
            <a:endParaRPr/>
          </a:p>
          <a:p>
            <a:pPr indent="-182880" lvl="2" marL="731520" rtl="0" algn="l">
              <a:lnSpc>
                <a:spcPct val="90000"/>
              </a:lnSpc>
              <a:spcBef>
                <a:spcPts val="600"/>
              </a:spcBef>
              <a:spcAft>
                <a:spcPts val="0"/>
              </a:spcAft>
              <a:buSzPts val="1440"/>
              <a:buChar char="•"/>
            </a:pPr>
            <a:r>
              <a:rPr lang="es-AR"/>
              <a:t>Fallido</a:t>
            </a:r>
            <a:endParaRPr/>
          </a:p>
          <a:p>
            <a:pPr indent="-182880" lvl="2" marL="731520" rtl="0" algn="l">
              <a:lnSpc>
                <a:spcPct val="90000"/>
              </a:lnSpc>
              <a:spcBef>
                <a:spcPts val="600"/>
              </a:spcBef>
              <a:spcAft>
                <a:spcPts val="0"/>
              </a:spcAft>
              <a:buSzPts val="1440"/>
              <a:buChar char="•"/>
            </a:pPr>
            <a:r>
              <a:rPr lang="es-AR"/>
              <a:t>Acreedores concurrentes </a:t>
            </a:r>
            <a:endParaRPr/>
          </a:p>
          <a:p>
            <a:pPr indent="-182880" lvl="2" marL="731520" rtl="0" algn="l">
              <a:lnSpc>
                <a:spcPct val="90000"/>
              </a:lnSpc>
              <a:spcBef>
                <a:spcPts val="600"/>
              </a:spcBef>
              <a:spcAft>
                <a:spcPts val="0"/>
              </a:spcAft>
              <a:buSzPts val="1440"/>
              <a:buChar char="•"/>
            </a:pPr>
            <a:r>
              <a:rPr lang="es-AR"/>
              <a:t>Terceros que formularon observaciones</a:t>
            </a:r>
            <a:endParaRPr/>
          </a:p>
        </p:txBody>
      </p:sp>
      <p:sp>
        <p:nvSpPr>
          <p:cNvPr id="145" name="Google Shape;145;p4"/>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a:t>Derecho Crediticio Bursatil e Insolvencia</a:t>
            </a:r>
            <a:endParaRPr/>
          </a:p>
        </p:txBody>
      </p:sp>
      <p:sp>
        <p:nvSpPr>
          <p:cNvPr id="146" name="Google Shape;146;p4"/>
          <p:cNvSpPr/>
          <p:nvPr/>
        </p:nvSpPr>
        <p:spPr>
          <a:xfrm>
            <a:off x="4750420" y="4672361"/>
            <a:ext cx="1806497" cy="836341"/>
          </a:xfrm>
          <a:prstGeom prst="notchedRightArrow">
            <a:avLst>
              <a:gd fmla="val 50000" name="adj1"/>
              <a:gd fmla="val 50000" name="adj2"/>
            </a:avLst>
          </a:prstGeom>
          <a:solidFill>
            <a:schemeClr val="accent1"/>
          </a:solidFill>
          <a:ln cap="flat" cmpd="sng" w="19050">
            <a:solidFill>
              <a:srgbClr val="7985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47" name="Google Shape;147;p4"/>
          <p:cNvSpPr txBox="1"/>
          <p:nvPr/>
        </p:nvSpPr>
        <p:spPr>
          <a:xfrm>
            <a:off x="7069873" y="4427034"/>
            <a:ext cx="2375210" cy="1477328"/>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s-AR" sz="1800" u="none" cap="none" strike="noStrike">
                <a:solidFill>
                  <a:schemeClr val="lt1"/>
                </a:solidFill>
                <a:latin typeface="Corbel"/>
                <a:ea typeface="Corbel"/>
                <a:cs typeface="Corbel"/>
                <a:sym typeface="Corbel"/>
              </a:rPr>
              <a:t>Para los terceros que se mantuvieron al margen constituye una presuncion iuris tantum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1" name="Shape 151"/>
        <p:cNvGrpSpPr/>
        <p:nvPr/>
      </p:nvGrpSpPr>
      <p:grpSpPr>
        <a:xfrm>
          <a:off x="0" y="0"/>
          <a:ext cx="0" cy="0"/>
          <a:chOff x="0" y="0"/>
          <a:chExt cx="0" cy="0"/>
        </a:xfrm>
      </p:grpSpPr>
      <p:sp>
        <p:nvSpPr>
          <p:cNvPr id="152" name="Google Shape;152;p5"/>
          <p:cNvSpPr txBox="1"/>
          <p:nvPr>
            <p:ph type="title"/>
          </p:nvPr>
        </p:nvSpPr>
        <p:spPr>
          <a:xfrm>
            <a:off x="653145" y="609599"/>
            <a:ext cx="3364378" cy="56061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800"/>
              <a:buFont typeface="Corbel"/>
              <a:buNone/>
            </a:pPr>
            <a:r>
              <a:rPr lang="es-AR" sz="4800"/>
              <a:t>Fecha de cesación de pagos</a:t>
            </a:r>
            <a:endParaRPr/>
          </a:p>
        </p:txBody>
      </p:sp>
      <p:sp>
        <p:nvSpPr>
          <p:cNvPr id="153" name="Google Shape;153;p5"/>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t>Derecho Crediticio Bursatil e Insolvencia</a:t>
            </a:r>
            <a:endParaRPr/>
          </a:p>
        </p:txBody>
      </p:sp>
      <p:grpSp>
        <p:nvGrpSpPr>
          <p:cNvPr id="154" name="Google Shape;154;p5"/>
          <p:cNvGrpSpPr/>
          <p:nvPr/>
        </p:nvGrpSpPr>
        <p:grpSpPr>
          <a:xfrm>
            <a:off x="4545013" y="1497361"/>
            <a:ext cx="6451943" cy="3872880"/>
            <a:chOff x="0" y="297503"/>
            <a:chExt cx="6451943" cy="3872880"/>
          </a:xfrm>
        </p:grpSpPr>
        <p:sp>
          <p:nvSpPr>
            <p:cNvPr id="155" name="Google Shape;155;p5"/>
            <p:cNvSpPr/>
            <p:nvPr/>
          </p:nvSpPr>
          <p:spPr>
            <a:xfrm>
              <a:off x="0" y="297503"/>
              <a:ext cx="6451943" cy="1904760"/>
            </a:xfrm>
            <a:prstGeom prst="roundRect">
              <a:avLst>
                <a:gd fmla="val 16667" name="adj"/>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92983" y="390486"/>
              <a:ext cx="6265977" cy="1718794"/>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Corbel"/>
                <a:buNone/>
              </a:pPr>
              <a:r>
                <a:rPr lang="es-AR" sz="2200">
                  <a:solidFill>
                    <a:schemeClr val="lt1"/>
                  </a:solidFill>
                  <a:latin typeface="Corbel"/>
                  <a:ea typeface="Corbel"/>
                  <a:cs typeface="Corbel"/>
                  <a:sym typeface="Corbel"/>
                </a:rPr>
                <a:t>ARTICULO 116.- retroacción. La fijación de la fecha de iniciación de la cesación de pagos no puede retrotraerse a los efectos previstos por esta sección, más allá de los DOS (2) años de la fecha del auto de quiebra o de presentación en concurso preventivo.</a:t>
              </a:r>
              <a:endParaRPr sz="2200">
                <a:solidFill>
                  <a:schemeClr val="lt1"/>
                </a:solidFill>
                <a:latin typeface="Corbel"/>
                <a:ea typeface="Corbel"/>
                <a:cs typeface="Corbel"/>
                <a:sym typeface="Corbel"/>
              </a:endParaRPr>
            </a:p>
          </p:txBody>
        </p:sp>
        <p:sp>
          <p:nvSpPr>
            <p:cNvPr id="157" name="Google Shape;157;p5"/>
            <p:cNvSpPr/>
            <p:nvPr/>
          </p:nvSpPr>
          <p:spPr>
            <a:xfrm>
              <a:off x="0" y="2265623"/>
              <a:ext cx="6451943" cy="1904760"/>
            </a:xfrm>
            <a:prstGeom prst="roundRect">
              <a:avLst>
                <a:gd fmla="val 16667" name="adj"/>
              </a:avLst>
            </a:prstGeom>
            <a:solidFill>
              <a:srgbClr val="FC9C0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txBox="1"/>
            <p:nvPr/>
          </p:nvSpPr>
          <p:spPr>
            <a:xfrm>
              <a:off x="92983" y="2358606"/>
              <a:ext cx="6265977" cy="1718794"/>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Corbel"/>
                <a:buNone/>
              </a:pPr>
              <a:r>
                <a:rPr lang="es-AR" sz="2200">
                  <a:solidFill>
                    <a:schemeClr val="lt1"/>
                  </a:solidFill>
                  <a:latin typeface="Corbel"/>
                  <a:ea typeface="Corbel"/>
                  <a:cs typeface="Corbel"/>
                  <a:sym typeface="Corbel"/>
                </a:rPr>
                <a:t>Período de sospecha. Denomínase período de sospecha al que transcurre entre la fecha que se determine como iniciación de la cesación de pagos y la sentencia de quiebra.</a:t>
              </a:r>
              <a:endParaRPr sz="2200">
                <a:solidFill>
                  <a:schemeClr val="lt1"/>
                </a:solidFill>
                <a:latin typeface="Corbel"/>
                <a:ea typeface="Corbel"/>
                <a:cs typeface="Corbel"/>
                <a:sym typeface="Corbe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2" name="Shape 162"/>
        <p:cNvGrpSpPr/>
        <p:nvPr/>
      </p:nvGrpSpPr>
      <p:grpSpPr>
        <a:xfrm>
          <a:off x="0" y="0"/>
          <a:ext cx="0" cy="0"/>
          <a:chOff x="0" y="0"/>
          <a:chExt cx="0" cy="0"/>
        </a:xfrm>
      </p:grpSpPr>
      <p:sp>
        <p:nvSpPr>
          <p:cNvPr id="163" name="Google Shape;163;p6"/>
          <p:cNvSpPr/>
          <p:nvPr/>
        </p:nvSpPr>
        <p:spPr>
          <a:xfrm>
            <a:off x="0" y="0"/>
            <a:ext cx="12192001"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64" name="Google Shape;164;p6"/>
          <p:cNvSpPr/>
          <p:nvPr/>
        </p:nvSpPr>
        <p:spPr>
          <a:xfrm>
            <a:off x="231140" y="243840"/>
            <a:ext cx="11724640" cy="6377939"/>
          </a:xfrm>
          <a:prstGeom prst="rect">
            <a:avLst/>
          </a:prstGeom>
          <a:no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txBox="1"/>
          <p:nvPr>
            <p:ph type="title"/>
          </p:nvPr>
        </p:nvSpPr>
        <p:spPr>
          <a:xfrm>
            <a:off x="661855" y="696686"/>
            <a:ext cx="3570511" cy="53993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AR" sz="3200">
                <a:solidFill>
                  <a:srgbClr val="FFFFFF"/>
                </a:solidFill>
              </a:rPr>
              <a:t>Fecha de cesación de pagos</a:t>
            </a:r>
            <a:endParaRPr/>
          </a:p>
        </p:txBody>
      </p:sp>
      <p:cxnSp>
        <p:nvCxnSpPr>
          <p:cNvPr id="166" name="Google Shape;166;p6"/>
          <p:cNvCxnSpPr/>
          <p:nvPr/>
        </p:nvCxnSpPr>
        <p:spPr>
          <a:xfrm rot="10800000">
            <a:off x="4653842" y="2054826"/>
            <a:ext cx="0" cy="2743200"/>
          </a:xfrm>
          <a:prstGeom prst="straightConnector1">
            <a:avLst/>
          </a:prstGeom>
          <a:noFill/>
          <a:ln cap="flat" cmpd="sng" w="12700">
            <a:solidFill>
              <a:srgbClr val="FFFFFF"/>
            </a:solidFill>
            <a:prstDash val="solid"/>
            <a:round/>
            <a:headEnd len="sm" w="sm" type="none"/>
            <a:tailEnd len="sm" w="sm" type="none"/>
          </a:ln>
        </p:spPr>
      </p:cxnSp>
      <p:sp>
        <p:nvSpPr>
          <p:cNvPr id="167" name="Google Shape;167;p6"/>
          <p:cNvSpPr txBox="1"/>
          <p:nvPr>
            <p:ph idx="1" type="body"/>
          </p:nvPr>
        </p:nvSpPr>
        <p:spPr>
          <a:xfrm>
            <a:off x="5075318" y="609600"/>
            <a:ext cx="6359029" cy="5486400"/>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600"/>
              <a:buChar char="•"/>
            </a:pPr>
            <a:r>
              <a:rPr lang="es-AR" sz="2000">
                <a:solidFill>
                  <a:srgbClr val="FFFFFF"/>
                </a:solidFill>
              </a:rPr>
              <a:t>Fecha Inicial </a:t>
            </a:r>
            <a:r>
              <a:rPr b="1" lang="es-AR" sz="2000" u="sng">
                <a:solidFill>
                  <a:srgbClr val="FFFFFF"/>
                </a:solidFill>
              </a:rPr>
              <a:t>debe ser determinada por resolución judicial</a:t>
            </a:r>
            <a:endParaRPr/>
          </a:p>
          <a:p>
            <a:pPr indent="-182880" lvl="1" marL="457200" rtl="0" algn="l">
              <a:lnSpc>
                <a:spcPct val="90000"/>
              </a:lnSpc>
              <a:spcBef>
                <a:spcPts val="200"/>
              </a:spcBef>
              <a:spcAft>
                <a:spcPts val="0"/>
              </a:spcAft>
              <a:buSzPts val="1600"/>
              <a:buChar char="•"/>
            </a:pPr>
            <a:r>
              <a:rPr lang="es-AR">
                <a:solidFill>
                  <a:srgbClr val="FFFFFF"/>
                </a:solidFill>
              </a:rPr>
              <a:t>Aun si se ubica más allá de los 2 años, debe constar en la resolución</a:t>
            </a:r>
            <a:endParaRPr/>
          </a:p>
          <a:p>
            <a:pPr indent="-182880" lvl="1" marL="457200" rtl="0" algn="l">
              <a:lnSpc>
                <a:spcPct val="90000"/>
              </a:lnSpc>
              <a:spcBef>
                <a:spcPts val="600"/>
              </a:spcBef>
              <a:spcAft>
                <a:spcPts val="0"/>
              </a:spcAft>
              <a:buSzPts val="1600"/>
              <a:buChar char="•"/>
            </a:pPr>
            <a:r>
              <a:rPr lang="es-AR">
                <a:solidFill>
                  <a:srgbClr val="FFFFFF"/>
                </a:solidFill>
              </a:rPr>
              <a:t>Período de retracción máxima a los efectos de promover ineficacias</a:t>
            </a:r>
            <a:endParaRPr/>
          </a:p>
          <a:p>
            <a:pPr indent="-182880" lvl="2" marL="731520" rtl="0" algn="l">
              <a:lnSpc>
                <a:spcPct val="90000"/>
              </a:lnSpc>
              <a:spcBef>
                <a:spcPts val="600"/>
              </a:spcBef>
              <a:spcAft>
                <a:spcPts val="0"/>
              </a:spcAft>
              <a:buSzPts val="1600"/>
              <a:buChar char="•"/>
            </a:pPr>
            <a:r>
              <a:rPr lang="es-AR" sz="2000">
                <a:solidFill>
                  <a:srgbClr val="FFFFFF"/>
                </a:solidFill>
              </a:rPr>
              <a:t>No se aplica en todos los casos (149,160,174)</a:t>
            </a:r>
            <a:endParaRPr/>
          </a:p>
        </p:txBody>
      </p:sp>
      <p:sp>
        <p:nvSpPr>
          <p:cNvPr id="168" name="Google Shape;168;p6"/>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Periodo de Sospecha – Determinación.</a:t>
            </a:r>
            <a:endParaRPr/>
          </a:p>
        </p:txBody>
      </p:sp>
      <p:sp>
        <p:nvSpPr>
          <p:cNvPr id="174" name="Google Shape;174;p7"/>
          <p:cNvSpPr txBox="1"/>
          <p:nvPr>
            <p:ph idx="1" type="body"/>
          </p:nvPr>
        </p:nvSpPr>
        <p:spPr>
          <a:xfrm>
            <a:off x="766119" y="1822839"/>
            <a:ext cx="8507883" cy="151348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SzPct val="80000"/>
              <a:buNone/>
            </a:pPr>
            <a:r>
              <a:t/>
            </a:r>
            <a:endParaRPr/>
          </a:p>
          <a:p>
            <a:pPr indent="-182880" lvl="0" marL="228600" rtl="0" algn="l">
              <a:lnSpc>
                <a:spcPct val="90000"/>
              </a:lnSpc>
              <a:spcBef>
                <a:spcPts val="1400"/>
              </a:spcBef>
              <a:spcAft>
                <a:spcPts val="0"/>
              </a:spcAft>
              <a:buSzPct val="80000"/>
              <a:buChar char="•"/>
            </a:pPr>
            <a:r>
              <a:rPr lang="es-AR"/>
              <a:t>Transcurre entre la fecha de cesación de pagos y la fecha de declaración de quiebra o la presentación en concurso preventivo (la anterior).</a:t>
            </a:r>
            <a:endParaRPr/>
          </a:p>
          <a:p>
            <a:pPr indent="-182880" lvl="0" marL="228600" rtl="0" algn="l">
              <a:lnSpc>
                <a:spcPct val="90000"/>
              </a:lnSpc>
              <a:spcBef>
                <a:spcPts val="1400"/>
              </a:spcBef>
              <a:spcAft>
                <a:spcPts val="0"/>
              </a:spcAft>
              <a:buSzPct val="80000"/>
              <a:buChar char="•"/>
            </a:pPr>
            <a:r>
              <a:rPr lang="es-AR"/>
              <a:t>Periodo de retracción tendrá un limite máximo de 2 años</a:t>
            </a:r>
            <a:endParaRPr/>
          </a:p>
        </p:txBody>
      </p:sp>
      <p:sp>
        <p:nvSpPr>
          <p:cNvPr id="175" name="Google Shape;175;p7"/>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a:t>Derecho Crediticio Bursatil e Insolvencia</a:t>
            </a:r>
            <a:endParaRPr/>
          </a:p>
        </p:txBody>
      </p:sp>
      <p:cxnSp>
        <p:nvCxnSpPr>
          <p:cNvPr id="176" name="Google Shape;176;p7"/>
          <p:cNvCxnSpPr/>
          <p:nvPr/>
        </p:nvCxnSpPr>
        <p:spPr>
          <a:xfrm flipH="1" rot="10800000">
            <a:off x="1235676" y="4382530"/>
            <a:ext cx="1664043" cy="24713"/>
          </a:xfrm>
          <a:prstGeom prst="straightConnector1">
            <a:avLst/>
          </a:prstGeom>
          <a:noFill/>
          <a:ln cap="flat" cmpd="sng" w="10000">
            <a:solidFill>
              <a:schemeClr val="accent1"/>
            </a:solidFill>
            <a:prstDash val="solid"/>
            <a:round/>
            <a:headEnd len="sm" w="sm" type="none"/>
            <a:tailEnd len="sm" w="sm" type="none"/>
          </a:ln>
        </p:spPr>
      </p:cxnSp>
      <p:cxnSp>
        <p:nvCxnSpPr>
          <p:cNvPr id="177" name="Google Shape;177;p7"/>
          <p:cNvCxnSpPr/>
          <p:nvPr/>
        </p:nvCxnSpPr>
        <p:spPr>
          <a:xfrm>
            <a:off x="2899719" y="4382530"/>
            <a:ext cx="1672281" cy="0"/>
          </a:xfrm>
          <a:prstGeom prst="straightConnector1">
            <a:avLst/>
          </a:prstGeom>
          <a:noFill/>
          <a:ln cap="flat" cmpd="sng" w="10000">
            <a:solidFill>
              <a:schemeClr val="accent6"/>
            </a:solidFill>
            <a:prstDash val="solid"/>
            <a:round/>
            <a:headEnd len="sm" w="sm" type="none"/>
            <a:tailEnd len="sm" w="sm" type="none"/>
          </a:ln>
        </p:spPr>
      </p:cxnSp>
      <p:cxnSp>
        <p:nvCxnSpPr>
          <p:cNvPr id="178" name="Google Shape;178;p7"/>
          <p:cNvCxnSpPr/>
          <p:nvPr/>
        </p:nvCxnSpPr>
        <p:spPr>
          <a:xfrm rot="10800000">
            <a:off x="2899719" y="4258962"/>
            <a:ext cx="0" cy="123568"/>
          </a:xfrm>
          <a:prstGeom prst="straightConnector1">
            <a:avLst/>
          </a:prstGeom>
          <a:noFill/>
          <a:ln cap="flat" cmpd="sng" w="10000">
            <a:solidFill>
              <a:schemeClr val="accent1"/>
            </a:solidFill>
            <a:prstDash val="solid"/>
            <a:round/>
            <a:headEnd len="sm" w="sm" type="none"/>
            <a:tailEnd len="sm" w="sm" type="none"/>
          </a:ln>
        </p:spPr>
      </p:cxnSp>
      <p:cxnSp>
        <p:nvCxnSpPr>
          <p:cNvPr id="179" name="Google Shape;179;p7"/>
          <p:cNvCxnSpPr/>
          <p:nvPr/>
        </p:nvCxnSpPr>
        <p:spPr>
          <a:xfrm rot="10800000">
            <a:off x="4572000" y="4258962"/>
            <a:ext cx="0" cy="123568"/>
          </a:xfrm>
          <a:prstGeom prst="straightConnector1">
            <a:avLst/>
          </a:prstGeom>
          <a:noFill/>
          <a:ln cap="flat" cmpd="sng" w="10000">
            <a:solidFill>
              <a:schemeClr val="accent1"/>
            </a:solidFill>
            <a:prstDash val="solid"/>
            <a:round/>
            <a:headEnd len="sm" w="sm" type="none"/>
            <a:tailEnd len="sm" w="sm" type="none"/>
          </a:ln>
        </p:spPr>
      </p:cxnSp>
      <p:sp>
        <p:nvSpPr>
          <p:cNvPr id="180" name="Google Shape;180;p7"/>
          <p:cNvSpPr txBox="1"/>
          <p:nvPr/>
        </p:nvSpPr>
        <p:spPr>
          <a:xfrm>
            <a:off x="1128584" y="3386096"/>
            <a:ext cx="4959178" cy="5693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300" u="sng">
                <a:solidFill>
                  <a:schemeClr val="dk1"/>
                </a:solidFill>
                <a:latin typeface="Corbel"/>
                <a:ea typeface="Corbel"/>
                <a:cs typeface="Corbel"/>
                <a:sym typeface="Corbel"/>
              </a:rPr>
              <a:t>En caso de quiebra directa </a:t>
            </a:r>
            <a:endParaRPr/>
          </a:p>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1" name="Google Shape;181;p7"/>
          <p:cNvSpPr txBox="1"/>
          <p:nvPr/>
        </p:nvSpPr>
        <p:spPr>
          <a:xfrm>
            <a:off x="3216876" y="4506099"/>
            <a:ext cx="103796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700">
                <a:solidFill>
                  <a:schemeClr val="dk1"/>
                </a:solidFill>
                <a:latin typeface="Corbel"/>
                <a:ea typeface="Corbel"/>
                <a:cs typeface="Corbel"/>
                <a:sym typeface="Corbel"/>
              </a:rPr>
              <a:t>Plazo máximo de retracción 2 años</a:t>
            </a:r>
            <a:endParaRPr/>
          </a:p>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7"/>
          <p:cNvSpPr txBox="1"/>
          <p:nvPr/>
        </p:nvSpPr>
        <p:spPr>
          <a:xfrm>
            <a:off x="3534032" y="3875391"/>
            <a:ext cx="211712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700">
                <a:solidFill>
                  <a:schemeClr val="dk1"/>
                </a:solidFill>
                <a:latin typeface="Corbel"/>
                <a:ea typeface="Corbel"/>
                <a:cs typeface="Corbel"/>
                <a:sym typeface="Corbel"/>
              </a:rPr>
              <a:t>Declaración de</a:t>
            </a:r>
            <a:endParaRPr/>
          </a:p>
          <a:p>
            <a:pPr indent="0" lvl="0" marL="0" marR="0" rtl="0" algn="ctr">
              <a:spcBef>
                <a:spcPts val="0"/>
              </a:spcBef>
              <a:spcAft>
                <a:spcPts val="0"/>
              </a:spcAft>
              <a:buNone/>
            </a:pPr>
            <a:r>
              <a:rPr lang="es-AR" sz="700">
                <a:solidFill>
                  <a:schemeClr val="dk1"/>
                </a:solidFill>
                <a:latin typeface="Corbel"/>
                <a:ea typeface="Corbel"/>
                <a:cs typeface="Corbel"/>
                <a:sym typeface="Corbel"/>
              </a:rPr>
              <a:t>quiebra </a:t>
            </a:r>
            <a:endParaRPr sz="700">
              <a:solidFill>
                <a:schemeClr val="dk1"/>
              </a:solidFill>
              <a:latin typeface="Corbel"/>
              <a:ea typeface="Corbel"/>
              <a:cs typeface="Corbel"/>
              <a:sym typeface="Corbel"/>
            </a:endParaRPr>
          </a:p>
        </p:txBody>
      </p:sp>
      <p:sp>
        <p:nvSpPr>
          <p:cNvPr id="183" name="Google Shape;183;p7"/>
          <p:cNvSpPr txBox="1"/>
          <p:nvPr/>
        </p:nvSpPr>
        <p:spPr>
          <a:xfrm>
            <a:off x="6862117" y="3437032"/>
            <a:ext cx="3896498" cy="14927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700">
                <a:solidFill>
                  <a:schemeClr val="dk1"/>
                </a:solidFill>
                <a:latin typeface="Corbel"/>
                <a:ea typeface="Corbel"/>
                <a:cs typeface="Corbel"/>
                <a:sym typeface="Corbel"/>
              </a:rPr>
              <a:t>Ejemplo:</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Declaración de quiebra: 13/01/2015</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Cesación de Pagos: 05/06/2009</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Periodo de Sospecha entre: 13/01/2013 y 13/01/2015 (2 años – Plazo Máximo)</a:t>
            </a:r>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a:t>
            </a:r>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Declaración de quiebra: 13/01/2015</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Cesación de Pagos: 05/06/2013</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Periodo de Sospecha entre: 05/06/2013 y 13/01/2015.</a:t>
            </a:r>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p:txBody>
      </p:sp>
      <p:sp>
        <p:nvSpPr>
          <p:cNvPr id="184" name="Google Shape;184;p7"/>
          <p:cNvSpPr txBox="1"/>
          <p:nvPr/>
        </p:nvSpPr>
        <p:spPr>
          <a:xfrm>
            <a:off x="1128584" y="4929748"/>
            <a:ext cx="3204519" cy="5693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300" u="sng">
                <a:solidFill>
                  <a:schemeClr val="dk1"/>
                </a:solidFill>
                <a:latin typeface="Corbel"/>
                <a:ea typeface="Corbel"/>
                <a:cs typeface="Corbel"/>
                <a:sym typeface="Corbel"/>
              </a:rPr>
              <a:t>En caso de quiebra indirecta </a:t>
            </a:r>
            <a:endParaRPr/>
          </a:p>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cxnSp>
        <p:nvCxnSpPr>
          <p:cNvPr id="185" name="Google Shape;185;p7"/>
          <p:cNvCxnSpPr/>
          <p:nvPr/>
        </p:nvCxnSpPr>
        <p:spPr>
          <a:xfrm flipH="1" rot="10800000">
            <a:off x="1161532" y="5791200"/>
            <a:ext cx="976185" cy="16476"/>
          </a:xfrm>
          <a:prstGeom prst="straightConnector1">
            <a:avLst/>
          </a:prstGeom>
          <a:noFill/>
          <a:ln cap="flat" cmpd="sng" w="10000">
            <a:solidFill>
              <a:schemeClr val="dk1"/>
            </a:solidFill>
            <a:prstDash val="solid"/>
            <a:round/>
            <a:headEnd len="sm" w="sm" type="none"/>
            <a:tailEnd len="sm" w="sm" type="none"/>
          </a:ln>
        </p:spPr>
      </p:cxnSp>
      <p:cxnSp>
        <p:nvCxnSpPr>
          <p:cNvPr id="186" name="Google Shape;186;p7"/>
          <p:cNvCxnSpPr/>
          <p:nvPr/>
        </p:nvCxnSpPr>
        <p:spPr>
          <a:xfrm>
            <a:off x="2137717" y="5791200"/>
            <a:ext cx="914402" cy="8238"/>
          </a:xfrm>
          <a:prstGeom prst="straightConnector1">
            <a:avLst/>
          </a:prstGeom>
          <a:noFill/>
          <a:ln cap="flat" cmpd="sng" w="10000">
            <a:solidFill>
              <a:schemeClr val="accent1"/>
            </a:solidFill>
            <a:prstDash val="solid"/>
            <a:round/>
            <a:headEnd len="sm" w="sm" type="none"/>
            <a:tailEnd len="sm" w="sm" type="none"/>
          </a:ln>
        </p:spPr>
      </p:cxnSp>
      <p:cxnSp>
        <p:nvCxnSpPr>
          <p:cNvPr id="187" name="Google Shape;187;p7"/>
          <p:cNvCxnSpPr/>
          <p:nvPr/>
        </p:nvCxnSpPr>
        <p:spPr>
          <a:xfrm>
            <a:off x="3052119" y="5799438"/>
            <a:ext cx="902043" cy="8238"/>
          </a:xfrm>
          <a:prstGeom prst="straightConnector1">
            <a:avLst/>
          </a:prstGeom>
          <a:noFill/>
          <a:ln cap="flat" cmpd="sng" w="10000">
            <a:solidFill>
              <a:schemeClr val="accent6"/>
            </a:solidFill>
            <a:prstDash val="solid"/>
            <a:round/>
            <a:headEnd len="sm" w="sm" type="none"/>
            <a:tailEnd len="sm" w="sm" type="none"/>
          </a:ln>
        </p:spPr>
      </p:cxnSp>
      <p:cxnSp>
        <p:nvCxnSpPr>
          <p:cNvPr id="188" name="Google Shape;188;p7"/>
          <p:cNvCxnSpPr/>
          <p:nvPr/>
        </p:nvCxnSpPr>
        <p:spPr>
          <a:xfrm>
            <a:off x="2137717" y="5791200"/>
            <a:ext cx="0" cy="0"/>
          </a:xfrm>
          <a:prstGeom prst="straightConnector1">
            <a:avLst/>
          </a:prstGeom>
          <a:noFill/>
          <a:ln cap="flat" cmpd="sng" w="10000">
            <a:solidFill>
              <a:schemeClr val="dk1"/>
            </a:solidFill>
            <a:prstDash val="solid"/>
            <a:round/>
            <a:headEnd len="sm" w="sm" type="none"/>
            <a:tailEnd len="sm" w="sm" type="none"/>
          </a:ln>
        </p:spPr>
      </p:cxnSp>
      <p:cxnSp>
        <p:nvCxnSpPr>
          <p:cNvPr id="189" name="Google Shape;189;p7"/>
          <p:cNvCxnSpPr/>
          <p:nvPr/>
        </p:nvCxnSpPr>
        <p:spPr>
          <a:xfrm rot="10800000">
            <a:off x="2137717" y="5675870"/>
            <a:ext cx="0" cy="115330"/>
          </a:xfrm>
          <a:prstGeom prst="straightConnector1">
            <a:avLst/>
          </a:prstGeom>
          <a:noFill/>
          <a:ln cap="flat" cmpd="sng" w="10000">
            <a:solidFill>
              <a:schemeClr val="accent1"/>
            </a:solidFill>
            <a:prstDash val="solid"/>
            <a:round/>
            <a:headEnd len="sm" w="sm" type="none"/>
            <a:tailEnd len="sm" w="sm" type="none"/>
          </a:ln>
        </p:spPr>
      </p:cxnSp>
      <p:cxnSp>
        <p:nvCxnSpPr>
          <p:cNvPr id="190" name="Google Shape;190;p7"/>
          <p:cNvCxnSpPr/>
          <p:nvPr/>
        </p:nvCxnSpPr>
        <p:spPr>
          <a:xfrm rot="10800000">
            <a:off x="3052119" y="5675870"/>
            <a:ext cx="0" cy="115330"/>
          </a:xfrm>
          <a:prstGeom prst="straightConnector1">
            <a:avLst/>
          </a:prstGeom>
          <a:noFill/>
          <a:ln cap="flat" cmpd="sng" w="10000">
            <a:solidFill>
              <a:schemeClr val="accent1"/>
            </a:solidFill>
            <a:prstDash val="solid"/>
            <a:round/>
            <a:headEnd len="sm" w="sm" type="none"/>
            <a:tailEnd len="sm" w="sm" type="none"/>
          </a:ln>
        </p:spPr>
      </p:cxnSp>
      <p:cxnSp>
        <p:nvCxnSpPr>
          <p:cNvPr id="191" name="Google Shape;191;p7"/>
          <p:cNvCxnSpPr/>
          <p:nvPr/>
        </p:nvCxnSpPr>
        <p:spPr>
          <a:xfrm rot="10800000">
            <a:off x="3962400" y="5675870"/>
            <a:ext cx="0" cy="115330"/>
          </a:xfrm>
          <a:prstGeom prst="straightConnector1">
            <a:avLst/>
          </a:prstGeom>
          <a:noFill/>
          <a:ln cap="flat" cmpd="sng" w="10000">
            <a:solidFill>
              <a:schemeClr val="accent1"/>
            </a:solidFill>
            <a:prstDash val="solid"/>
            <a:round/>
            <a:headEnd len="sm" w="sm" type="none"/>
            <a:tailEnd len="sm" w="sm" type="none"/>
          </a:ln>
        </p:spPr>
      </p:cxnSp>
      <p:sp>
        <p:nvSpPr>
          <p:cNvPr id="192" name="Google Shape;192;p7"/>
          <p:cNvSpPr txBox="1"/>
          <p:nvPr/>
        </p:nvSpPr>
        <p:spPr>
          <a:xfrm>
            <a:off x="2895600" y="5345183"/>
            <a:ext cx="211712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700">
                <a:solidFill>
                  <a:schemeClr val="dk1"/>
                </a:solidFill>
                <a:latin typeface="Corbel"/>
                <a:ea typeface="Corbel"/>
                <a:cs typeface="Corbel"/>
                <a:sym typeface="Corbel"/>
              </a:rPr>
              <a:t>Declaración de</a:t>
            </a:r>
            <a:endParaRPr/>
          </a:p>
          <a:p>
            <a:pPr indent="0" lvl="0" marL="0" marR="0" rtl="0" algn="ctr">
              <a:spcBef>
                <a:spcPts val="0"/>
              </a:spcBef>
              <a:spcAft>
                <a:spcPts val="0"/>
              </a:spcAft>
              <a:buNone/>
            </a:pPr>
            <a:r>
              <a:rPr lang="es-AR" sz="700">
                <a:solidFill>
                  <a:schemeClr val="dk1"/>
                </a:solidFill>
                <a:latin typeface="Corbel"/>
                <a:ea typeface="Corbel"/>
                <a:cs typeface="Corbel"/>
                <a:sym typeface="Corbel"/>
              </a:rPr>
              <a:t>quiebra </a:t>
            </a:r>
            <a:endParaRPr sz="700">
              <a:solidFill>
                <a:schemeClr val="dk1"/>
              </a:solidFill>
              <a:latin typeface="Corbel"/>
              <a:ea typeface="Corbel"/>
              <a:cs typeface="Corbel"/>
              <a:sym typeface="Corbel"/>
            </a:endParaRPr>
          </a:p>
        </p:txBody>
      </p:sp>
      <p:sp>
        <p:nvSpPr>
          <p:cNvPr id="193" name="Google Shape;193;p7"/>
          <p:cNvSpPr txBox="1"/>
          <p:nvPr/>
        </p:nvSpPr>
        <p:spPr>
          <a:xfrm>
            <a:off x="1993557" y="5327523"/>
            <a:ext cx="211712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700">
                <a:solidFill>
                  <a:schemeClr val="dk1"/>
                </a:solidFill>
                <a:latin typeface="Corbel"/>
                <a:ea typeface="Corbel"/>
                <a:cs typeface="Corbel"/>
                <a:sym typeface="Corbel"/>
              </a:rPr>
              <a:t>Presentación en </a:t>
            </a:r>
            <a:endParaRPr/>
          </a:p>
          <a:p>
            <a:pPr indent="0" lvl="0" marL="0" marR="0" rtl="0" algn="ctr">
              <a:spcBef>
                <a:spcPts val="0"/>
              </a:spcBef>
              <a:spcAft>
                <a:spcPts val="0"/>
              </a:spcAft>
              <a:buNone/>
            </a:pPr>
            <a:r>
              <a:rPr lang="es-AR" sz="700">
                <a:solidFill>
                  <a:schemeClr val="dk1"/>
                </a:solidFill>
                <a:latin typeface="Corbel"/>
                <a:ea typeface="Corbel"/>
                <a:cs typeface="Corbel"/>
                <a:sym typeface="Corbel"/>
              </a:rPr>
              <a:t>Concurso Preventivo</a:t>
            </a:r>
            <a:endParaRPr sz="700">
              <a:solidFill>
                <a:schemeClr val="dk1"/>
              </a:solidFill>
              <a:latin typeface="Corbel"/>
              <a:ea typeface="Corbel"/>
              <a:cs typeface="Corbel"/>
              <a:sym typeface="Corbel"/>
            </a:endParaRPr>
          </a:p>
        </p:txBody>
      </p:sp>
      <p:sp>
        <p:nvSpPr>
          <p:cNvPr id="194" name="Google Shape;194;p7"/>
          <p:cNvSpPr txBox="1"/>
          <p:nvPr/>
        </p:nvSpPr>
        <p:spPr>
          <a:xfrm>
            <a:off x="2174786" y="5929440"/>
            <a:ext cx="103796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700">
                <a:solidFill>
                  <a:schemeClr val="dk1"/>
                </a:solidFill>
                <a:latin typeface="Corbel"/>
                <a:ea typeface="Corbel"/>
                <a:cs typeface="Corbel"/>
                <a:sym typeface="Corbel"/>
              </a:rPr>
              <a:t>Plazo máximo de retracción 2 años</a:t>
            </a:r>
            <a:endParaRPr/>
          </a:p>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5" name="Google Shape;195;p7"/>
          <p:cNvSpPr txBox="1"/>
          <p:nvPr/>
        </p:nvSpPr>
        <p:spPr>
          <a:xfrm>
            <a:off x="6862117" y="4891497"/>
            <a:ext cx="389649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700">
                <a:solidFill>
                  <a:schemeClr val="dk1"/>
                </a:solidFill>
                <a:latin typeface="Corbel"/>
                <a:ea typeface="Corbel"/>
                <a:cs typeface="Corbel"/>
                <a:sym typeface="Corbel"/>
              </a:rPr>
              <a:t>Ejemplo:</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Declaración de quiebra: 13/01/2015</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Presentacion en Concurso Preventivo: 14/02/2010</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Cesación de Pagos: 05/06/2009</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Periodo de Sospecha entre: 05/06/2009 y 14/02/2010</a:t>
            </a:r>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a:t>
            </a:r>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Declaración de quiebra: 13/01/2015</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Presentacion en Concurso Preventivo: 14/02/2010</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Fecha de Cesación de Pagos: 05/06/2004</a:t>
            </a:r>
            <a:endParaRPr/>
          </a:p>
          <a:p>
            <a:pPr indent="-285750" lvl="0" marL="285750" marR="0" rtl="0" algn="l">
              <a:spcBef>
                <a:spcPts val="0"/>
              </a:spcBef>
              <a:spcAft>
                <a:spcPts val="0"/>
              </a:spcAft>
              <a:buClr>
                <a:schemeClr val="dk1"/>
              </a:buClr>
              <a:buSzPts val="700"/>
              <a:buFont typeface="Noto Sans Symbols"/>
              <a:buChar char="⮚"/>
            </a:pPr>
            <a:r>
              <a:rPr lang="es-AR" sz="700">
                <a:solidFill>
                  <a:schemeClr val="dk1"/>
                </a:solidFill>
                <a:latin typeface="Corbel"/>
                <a:ea typeface="Corbel"/>
                <a:cs typeface="Corbel"/>
                <a:sym typeface="Corbel"/>
              </a:rPr>
              <a:t>Periodo de Sospecha entre: 14/02/2008 y 14/02/2010 (2 años – plazo máximo de retracción)</a:t>
            </a:r>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a:p>
            <a:pPr indent="-241300" lvl="0" marL="285750" marR="0" rtl="0" algn="l">
              <a:spcBef>
                <a:spcPts val="0"/>
              </a:spcBef>
              <a:spcAft>
                <a:spcPts val="0"/>
              </a:spcAft>
              <a:buClr>
                <a:schemeClr val="dk1"/>
              </a:buClr>
              <a:buSzPts val="700"/>
              <a:buFont typeface="Noto Sans Symbols"/>
              <a:buNone/>
            </a:pPr>
            <a:r>
              <a:t/>
            </a:r>
            <a:endParaRPr sz="700">
              <a:solidFill>
                <a:schemeClr val="dk1"/>
              </a:solidFill>
              <a:latin typeface="Corbel"/>
              <a:ea typeface="Corbel"/>
              <a:cs typeface="Corbel"/>
              <a:sym typeface="Corbe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p8"/>
          <p:cNvSpPr/>
          <p:nvPr/>
        </p:nvSpPr>
        <p:spPr>
          <a:xfrm>
            <a:off x="1" y="1"/>
            <a:ext cx="12191999" cy="685799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1" y="0"/>
            <a:ext cx="4155058" cy="6858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02" name="Google Shape;202;p8"/>
          <p:cNvSpPr txBox="1"/>
          <p:nvPr>
            <p:ph type="title"/>
          </p:nvPr>
        </p:nvSpPr>
        <p:spPr>
          <a:xfrm>
            <a:off x="441009" y="873457"/>
            <a:ext cx="3273042" cy="5222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Corbel"/>
              <a:buNone/>
            </a:pPr>
            <a:r>
              <a:rPr lang="es-AR" sz="2800">
                <a:solidFill>
                  <a:srgbClr val="FFFFFF"/>
                </a:solidFill>
              </a:rPr>
              <a:t>Cesación de pagos: determinación de su fecha inicial</a:t>
            </a:r>
            <a:endParaRPr/>
          </a:p>
        </p:txBody>
      </p:sp>
      <p:sp>
        <p:nvSpPr>
          <p:cNvPr id="203" name="Google Shape;203;p8"/>
          <p:cNvSpPr txBox="1"/>
          <p:nvPr>
            <p:ph idx="1" type="body"/>
          </p:nvPr>
        </p:nvSpPr>
        <p:spPr>
          <a:xfrm>
            <a:off x="4995081" y="873457"/>
            <a:ext cx="6020790" cy="5222543"/>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600"/>
              <a:buChar char="•"/>
            </a:pPr>
            <a:r>
              <a:rPr lang="es-AR" sz="2000">
                <a:solidFill>
                  <a:schemeClr val="dk1"/>
                </a:solidFill>
              </a:rPr>
              <a:t>ARTICULO 117.-. Dentro de los TREINTA (30) días posteriores a la presentación del informe general, los interesados pueden observar la fecha inicial del estado de cesación de pagos propuesta por el síndico.</a:t>
            </a:r>
            <a:endParaRPr/>
          </a:p>
          <a:p>
            <a:pPr indent="-182880" lvl="0" marL="228600" rtl="0" algn="l">
              <a:lnSpc>
                <a:spcPct val="90000"/>
              </a:lnSpc>
              <a:spcBef>
                <a:spcPts val="1400"/>
              </a:spcBef>
              <a:spcAft>
                <a:spcPts val="0"/>
              </a:spcAft>
              <a:buSzPts val="1600"/>
              <a:buChar char="•"/>
            </a:pPr>
            <a:r>
              <a:rPr lang="es-AR" sz="2000">
                <a:solidFill>
                  <a:schemeClr val="dk1"/>
                </a:solidFill>
              </a:rPr>
              <a:t>Los escritos se presentan por triplicado y de ellos se da traslado al síndico, junto con los que sobre el particular se hubieren presentado de acuerdo con el Artículo 40.</a:t>
            </a:r>
            <a:endParaRPr/>
          </a:p>
          <a:p>
            <a:pPr indent="-182880" lvl="0" marL="228600" rtl="0" algn="l">
              <a:lnSpc>
                <a:spcPct val="90000"/>
              </a:lnSpc>
              <a:spcBef>
                <a:spcPts val="1400"/>
              </a:spcBef>
              <a:spcAft>
                <a:spcPts val="0"/>
              </a:spcAft>
              <a:buSzPts val="1600"/>
              <a:buChar char="•"/>
            </a:pPr>
            <a:r>
              <a:rPr lang="es-AR" sz="2000">
                <a:solidFill>
                  <a:schemeClr val="dk1"/>
                </a:solidFill>
              </a:rPr>
              <a:t>El juez puede ordenar la prueba que estime necesaria.</a:t>
            </a:r>
            <a:endParaRPr/>
          </a:p>
          <a:p>
            <a:pPr indent="-182880" lvl="0" marL="228600" rtl="0" algn="l">
              <a:lnSpc>
                <a:spcPct val="90000"/>
              </a:lnSpc>
              <a:spcBef>
                <a:spcPts val="1400"/>
              </a:spcBef>
              <a:spcAft>
                <a:spcPts val="0"/>
              </a:spcAft>
              <a:buSzPts val="1600"/>
              <a:buChar char="•"/>
            </a:pPr>
            <a:r>
              <a:rPr lang="es-AR" sz="2000">
                <a:solidFill>
                  <a:schemeClr val="dk1"/>
                </a:solidFill>
              </a:rPr>
              <a:t>La resolución que fija la fecha de iniciación de la cesación de pagos es apelables por quienes hayan intervenido en la articulación y por el fallido.</a:t>
            </a:r>
            <a:endParaRPr/>
          </a:p>
          <a:p>
            <a:pPr indent="-81280" lvl="0" marL="228600" rtl="0" algn="l">
              <a:lnSpc>
                <a:spcPct val="90000"/>
              </a:lnSpc>
              <a:spcBef>
                <a:spcPts val="1400"/>
              </a:spcBef>
              <a:spcAft>
                <a:spcPts val="0"/>
              </a:spcAft>
              <a:buSzPts val="1600"/>
              <a:buNone/>
            </a:pPr>
            <a:r>
              <a:t/>
            </a:r>
            <a:endParaRPr sz="2000">
              <a:solidFill>
                <a:schemeClr val="dk1"/>
              </a:solidFill>
            </a:endParaRPr>
          </a:p>
        </p:txBody>
      </p:sp>
      <p:sp>
        <p:nvSpPr>
          <p:cNvPr id="204" name="Google Shape;204;p8"/>
          <p:cNvSpPr txBox="1"/>
          <p:nvPr>
            <p:ph idx="11" type="ftr"/>
          </p:nvPr>
        </p:nvSpPr>
        <p:spPr>
          <a:xfrm>
            <a:off x="4995080" y="6223828"/>
            <a:ext cx="448329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s-AR"/>
              <a:t>Derecho Crediticio Bursatil e Insolvencia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8" name="Shape 208"/>
        <p:cNvGrpSpPr/>
        <p:nvPr/>
      </p:nvGrpSpPr>
      <p:grpSpPr>
        <a:xfrm>
          <a:off x="0" y="0"/>
          <a:ext cx="0" cy="0"/>
          <a:chOff x="0" y="0"/>
          <a:chExt cx="0" cy="0"/>
        </a:xfrm>
      </p:grpSpPr>
      <p:sp>
        <p:nvSpPr>
          <p:cNvPr id="209" name="Google Shape;209;p9"/>
          <p:cNvSpPr/>
          <p:nvPr/>
        </p:nvSpPr>
        <p:spPr>
          <a:xfrm>
            <a:off x="0" y="0"/>
            <a:ext cx="12192001"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10" name="Google Shape;210;p9"/>
          <p:cNvSpPr/>
          <p:nvPr/>
        </p:nvSpPr>
        <p:spPr>
          <a:xfrm>
            <a:off x="231140" y="243840"/>
            <a:ext cx="11724640" cy="6377939"/>
          </a:xfrm>
          <a:prstGeom prst="rect">
            <a:avLst/>
          </a:prstGeom>
          <a:no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txBox="1"/>
          <p:nvPr>
            <p:ph type="title"/>
          </p:nvPr>
        </p:nvSpPr>
        <p:spPr>
          <a:xfrm>
            <a:off x="661855" y="696686"/>
            <a:ext cx="3570511" cy="53993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AR" sz="3200">
                <a:solidFill>
                  <a:srgbClr val="FFFFFF"/>
                </a:solidFill>
              </a:rPr>
              <a:t>Cesación de pagos: determinación de su fecha inicial</a:t>
            </a:r>
            <a:endParaRPr/>
          </a:p>
        </p:txBody>
      </p:sp>
      <p:cxnSp>
        <p:nvCxnSpPr>
          <p:cNvPr id="212" name="Google Shape;212;p9"/>
          <p:cNvCxnSpPr/>
          <p:nvPr/>
        </p:nvCxnSpPr>
        <p:spPr>
          <a:xfrm rot="10800000">
            <a:off x="4653842" y="2054826"/>
            <a:ext cx="0" cy="2743200"/>
          </a:xfrm>
          <a:prstGeom prst="straightConnector1">
            <a:avLst/>
          </a:prstGeom>
          <a:noFill/>
          <a:ln cap="flat" cmpd="sng" w="12700">
            <a:solidFill>
              <a:srgbClr val="FFFFFF"/>
            </a:solidFill>
            <a:prstDash val="solid"/>
            <a:round/>
            <a:headEnd len="sm" w="sm" type="none"/>
            <a:tailEnd len="sm" w="sm" type="none"/>
          </a:ln>
        </p:spPr>
      </p:cxnSp>
      <p:sp>
        <p:nvSpPr>
          <p:cNvPr id="213" name="Google Shape;213;p9"/>
          <p:cNvSpPr txBox="1"/>
          <p:nvPr>
            <p:ph idx="1" type="body"/>
          </p:nvPr>
        </p:nvSpPr>
        <p:spPr>
          <a:xfrm>
            <a:off x="5075318" y="609600"/>
            <a:ext cx="6359029" cy="5486400"/>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600"/>
              <a:buChar char="•"/>
            </a:pPr>
            <a:r>
              <a:rPr lang="es-AR" sz="2000">
                <a:solidFill>
                  <a:srgbClr val="FFFFFF"/>
                </a:solidFill>
              </a:rPr>
              <a:t>Legitimados activos</a:t>
            </a:r>
            <a:endParaRPr/>
          </a:p>
          <a:p>
            <a:pPr indent="-182880" lvl="1" marL="457200" rtl="0" algn="l">
              <a:lnSpc>
                <a:spcPct val="90000"/>
              </a:lnSpc>
              <a:spcBef>
                <a:spcPts val="200"/>
              </a:spcBef>
              <a:spcAft>
                <a:spcPts val="0"/>
              </a:spcAft>
              <a:buSzPts val="1600"/>
              <a:buChar char="•"/>
            </a:pPr>
            <a:r>
              <a:rPr lang="es-AR">
                <a:solidFill>
                  <a:srgbClr val="FFFFFF"/>
                </a:solidFill>
              </a:rPr>
              <a:t>Interesados</a:t>
            </a:r>
            <a:endParaRPr/>
          </a:p>
          <a:p>
            <a:pPr indent="-182880" lvl="2" marL="731520" rtl="0" algn="l">
              <a:lnSpc>
                <a:spcPct val="90000"/>
              </a:lnSpc>
              <a:spcBef>
                <a:spcPts val="600"/>
              </a:spcBef>
              <a:spcAft>
                <a:spcPts val="0"/>
              </a:spcAft>
              <a:buSzPts val="1600"/>
              <a:buChar char="•"/>
            </a:pPr>
            <a:r>
              <a:rPr lang="es-AR" sz="2000">
                <a:solidFill>
                  <a:srgbClr val="FFFFFF"/>
                </a:solidFill>
              </a:rPr>
              <a:t>Aquien puede afectarlos</a:t>
            </a:r>
            <a:endParaRPr/>
          </a:p>
          <a:p>
            <a:pPr indent="-182880" lvl="3" marL="1005840" rtl="0" algn="l">
              <a:lnSpc>
                <a:spcPct val="90000"/>
              </a:lnSpc>
              <a:spcBef>
                <a:spcPts val="600"/>
              </a:spcBef>
              <a:spcAft>
                <a:spcPts val="0"/>
              </a:spcAft>
              <a:buSzPts val="1600"/>
              <a:buChar char="•"/>
            </a:pPr>
            <a:r>
              <a:rPr lang="es-AR" sz="2000">
                <a:solidFill>
                  <a:srgbClr val="FFFFFF"/>
                </a:solidFill>
              </a:rPr>
              <a:t>Deudor</a:t>
            </a:r>
            <a:endParaRPr/>
          </a:p>
          <a:p>
            <a:pPr indent="-182880" lvl="3" marL="1005840" rtl="0" algn="l">
              <a:lnSpc>
                <a:spcPct val="90000"/>
              </a:lnSpc>
              <a:spcBef>
                <a:spcPts val="600"/>
              </a:spcBef>
              <a:spcAft>
                <a:spcPts val="0"/>
              </a:spcAft>
              <a:buSzPts val="1600"/>
              <a:buChar char="•"/>
            </a:pPr>
            <a:r>
              <a:rPr lang="es-AR" sz="2000">
                <a:solidFill>
                  <a:srgbClr val="FFFFFF"/>
                </a:solidFill>
              </a:rPr>
              <a:t>Acreedores verificantes</a:t>
            </a:r>
            <a:endParaRPr/>
          </a:p>
          <a:p>
            <a:pPr indent="-182880" lvl="3" marL="1005840" rtl="0" algn="l">
              <a:lnSpc>
                <a:spcPct val="90000"/>
              </a:lnSpc>
              <a:spcBef>
                <a:spcPts val="600"/>
              </a:spcBef>
              <a:spcAft>
                <a:spcPts val="0"/>
              </a:spcAft>
              <a:buSzPts val="1600"/>
              <a:buChar char="•"/>
            </a:pPr>
            <a:r>
              <a:rPr lang="es-AR" sz="2000">
                <a:solidFill>
                  <a:srgbClr val="FFFFFF"/>
                </a:solidFill>
              </a:rPr>
              <a:t>Terceros afectados por </a:t>
            </a:r>
            <a:endParaRPr/>
          </a:p>
          <a:p>
            <a:pPr indent="-182880" lvl="4" marL="1280160" rtl="0" algn="l">
              <a:lnSpc>
                <a:spcPct val="90000"/>
              </a:lnSpc>
              <a:spcBef>
                <a:spcPts val="600"/>
              </a:spcBef>
              <a:spcAft>
                <a:spcPts val="0"/>
              </a:spcAft>
              <a:buSzPts val="1600"/>
              <a:buChar char="•"/>
            </a:pPr>
            <a:r>
              <a:rPr lang="es-AR" sz="2000">
                <a:solidFill>
                  <a:srgbClr val="FFFFFF"/>
                </a:solidFill>
              </a:rPr>
              <a:t>acción de ineficacia falencial.</a:t>
            </a:r>
            <a:endParaRPr/>
          </a:p>
          <a:p>
            <a:pPr indent="-182880" lvl="4" marL="1280160" rtl="0" algn="l">
              <a:lnSpc>
                <a:spcPct val="90000"/>
              </a:lnSpc>
              <a:spcBef>
                <a:spcPts val="600"/>
              </a:spcBef>
              <a:spcAft>
                <a:spcPts val="0"/>
              </a:spcAft>
              <a:buSzPts val="1600"/>
              <a:buChar char="•"/>
            </a:pPr>
            <a:r>
              <a:rPr lang="es-AR" sz="2000">
                <a:solidFill>
                  <a:srgbClr val="FFFFFF"/>
                </a:solidFill>
              </a:rPr>
              <a:t>Extension de quiebra</a:t>
            </a:r>
            <a:endParaRPr/>
          </a:p>
          <a:p>
            <a:pPr indent="-182880" lvl="4" marL="1280160" rtl="0" algn="l">
              <a:lnSpc>
                <a:spcPct val="90000"/>
              </a:lnSpc>
              <a:spcBef>
                <a:spcPts val="600"/>
              </a:spcBef>
              <a:spcAft>
                <a:spcPts val="0"/>
              </a:spcAft>
              <a:buSzPts val="1600"/>
              <a:buChar char="•"/>
            </a:pPr>
            <a:r>
              <a:rPr lang="es-AR" sz="2000">
                <a:solidFill>
                  <a:srgbClr val="FFFFFF"/>
                </a:solidFill>
              </a:rPr>
              <a:t>Responsabilidad de terceros</a:t>
            </a:r>
            <a:endParaRPr/>
          </a:p>
          <a:p>
            <a:pPr indent="-182880" lvl="4" marL="1280160" rtl="0" algn="l">
              <a:lnSpc>
                <a:spcPct val="90000"/>
              </a:lnSpc>
              <a:spcBef>
                <a:spcPts val="600"/>
              </a:spcBef>
              <a:spcAft>
                <a:spcPts val="0"/>
              </a:spcAft>
              <a:buSzPts val="1600"/>
              <a:buChar char="•"/>
            </a:pPr>
            <a:r>
              <a:rPr lang="es-AR" sz="2000">
                <a:solidFill>
                  <a:srgbClr val="FFFFFF"/>
                </a:solidFill>
              </a:rPr>
              <a:t>Inhabilitaciones falenciales</a:t>
            </a:r>
            <a:endParaRPr/>
          </a:p>
          <a:p>
            <a:pPr indent="-182880" lvl="0" marL="228600" rtl="0" algn="l">
              <a:lnSpc>
                <a:spcPct val="90000"/>
              </a:lnSpc>
              <a:spcBef>
                <a:spcPts val="1800"/>
              </a:spcBef>
              <a:spcAft>
                <a:spcPts val="0"/>
              </a:spcAft>
              <a:buSzPts val="1600"/>
              <a:buChar char="•"/>
            </a:pPr>
            <a:r>
              <a:rPr lang="es-AR" sz="2000">
                <a:solidFill>
                  <a:srgbClr val="FFFFFF"/>
                </a:solidFill>
              </a:rPr>
              <a:t>Quiebra Indirecta</a:t>
            </a:r>
            <a:endParaRPr/>
          </a:p>
          <a:p>
            <a:pPr indent="-182880" lvl="1" marL="457200" rtl="0" algn="l">
              <a:lnSpc>
                <a:spcPct val="90000"/>
              </a:lnSpc>
              <a:spcBef>
                <a:spcPts val="200"/>
              </a:spcBef>
              <a:spcAft>
                <a:spcPts val="0"/>
              </a:spcAft>
              <a:buSzPts val="1600"/>
              <a:buChar char="•"/>
            </a:pPr>
            <a:r>
              <a:rPr lang="es-AR">
                <a:solidFill>
                  <a:srgbClr val="FFFFFF"/>
                </a:solidFill>
              </a:rPr>
              <a:t>Se observa fecha de cesación de pagos en el articulo 40 sin sustanciar y sin medidas probatorias.</a:t>
            </a:r>
            <a:endParaRPr/>
          </a:p>
          <a:p>
            <a:pPr indent="-182880" lvl="2" marL="731520" rtl="0" algn="l">
              <a:lnSpc>
                <a:spcPct val="90000"/>
              </a:lnSpc>
              <a:spcBef>
                <a:spcPts val="600"/>
              </a:spcBef>
              <a:spcAft>
                <a:spcPts val="0"/>
              </a:spcAft>
              <a:buSzPts val="1600"/>
              <a:buChar char="•"/>
            </a:pPr>
            <a:r>
              <a:rPr lang="es-AR" sz="2000">
                <a:solidFill>
                  <a:srgbClr val="FFFFFF"/>
                </a:solidFill>
              </a:rPr>
              <a:t>Al fracasar se agregan, se sustancian y trasladan</a:t>
            </a:r>
            <a:endParaRPr/>
          </a:p>
        </p:txBody>
      </p:sp>
      <p:sp>
        <p:nvSpPr>
          <p:cNvPr id="214" name="Google Shape;214;p9"/>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18" name="Shape 218"/>
        <p:cNvGrpSpPr/>
        <p:nvPr/>
      </p:nvGrpSpPr>
      <p:grpSpPr>
        <a:xfrm>
          <a:off x="0" y="0"/>
          <a:ext cx="0" cy="0"/>
          <a:chOff x="0" y="0"/>
          <a:chExt cx="0" cy="0"/>
        </a:xfrm>
      </p:grpSpPr>
      <p:sp>
        <p:nvSpPr>
          <p:cNvPr id="219" name="Google Shape;219;p10"/>
          <p:cNvSpPr txBox="1"/>
          <p:nvPr>
            <p:ph type="title"/>
          </p:nvPr>
        </p:nvSpPr>
        <p:spPr>
          <a:xfrm>
            <a:off x="653145" y="609599"/>
            <a:ext cx="3364378" cy="56061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800"/>
              <a:buFont typeface="Corbel"/>
              <a:buNone/>
            </a:pPr>
            <a:r>
              <a:rPr lang="es-AR" sz="4800"/>
              <a:t>Actos ineficaces de pleno derecho</a:t>
            </a:r>
            <a:endParaRPr/>
          </a:p>
        </p:txBody>
      </p:sp>
      <p:sp>
        <p:nvSpPr>
          <p:cNvPr id="220" name="Google Shape;220;p10"/>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t>Derecho Crediticio Bursatil e Insolvencia</a:t>
            </a:r>
            <a:endParaRPr/>
          </a:p>
        </p:txBody>
      </p:sp>
      <p:grpSp>
        <p:nvGrpSpPr>
          <p:cNvPr id="221" name="Google Shape;221;p10"/>
          <p:cNvGrpSpPr/>
          <p:nvPr/>
        </p:nvGrpSpPr>
        <p:grpSpPr>
          <a:xfrm>
            <a:off x="4545013" y="1249628"/>
            <a:ext cx="6451943" cy="4368346"/>
            <a:chOff x="0" y="49770"/>
            <a:chExt cx="6451943" cy="4368346"/>
          </a:xfrm>
        </p:grpSpPr>
        <p:sp>
          <p:nvSpPr>
            <p:cNvPr id="222" name="Google Shape;222;p10"/>
            <p:cNvSpPr/>
            <p:nvPr/>
          </p:nvSpPr>
          <p:spPr>
            <a:xfrm>
              <a:off x="0" y="49770"/>
              <a:ext cx="6451943" cy="839109"/>
            </a:xfrm>
            <a:prstGeom prst="roundRect">
              <a:avLst>
                <a:gd fmla="val 16667" name="adj"/>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txBox="1"/>
            <p:nvPr/>
          </p:nvSpPr>
          <p:spPr>
            <a:xfrm>
              <a:off x="40962" y="90732"/>
              <a:ext cx="6370019" cy="757185"/>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chemeClr val="lt1"/>
                </a:buClr>
                <a:buSzPts val="1500"/>
                <a:buFont typeface="Corbel"/>
                <a:buNone/>
              </a:pPr>
              <a:r>
                <a:rPr lang="es-AR" sz="1500">
                  <a:solidFill>
                    <a:schemeClr val="lt1"/>
                  </a:solidFill>
                  <a:latin typeface="Corbel"/>
                  <a:ea typeface="Corbel"/>
                  <a:cs typeface="Corbel"/>
                  <a:sym typeface="Corbel"/>
                </a:rPr>
                <a:t>ARTICULO 118.- Son ineficaces respecto de los acreedores los actos realizados por el deudor en el período de sospecha, que consistan en:</a:t>
              </a:r>
              <a:endParaRPr sz="1500">
                <a:solidFill>
                  <a:schemeClr val="lt1"/>
                </a:solidFill>
                <a:latin typeface="Corbel"/>
                <a:ea typeface="Corbel"/>
                <a:cs typeface="Corbel"/>
                <a:sym typeface="Corbel"/>
              </a:endParaRPr>
            </a:p>
          </p:txBody>
        </p:sp>
        <p:sp>
          <p:nvSpPr>
            <p:cNvPr id="224" name="Google Shape;224;p10"/>
            <p:cNvSpPr/>
            <p:nvPr/>
          </p:nvSpPr>
          <p:spPr>
            <a:xfrm>
              <a:off x="0" y="932079"/>
              <a:ext cx="6451943" cy="839109"/>
            </a:xfrm>
            <a:prstGeom prst="roundRect">
              <a:avLst>
                <a:gd fmla="val 16667" name="adj"/>
              </a:avLst>
            </a:prstGeom>
            <a:solidFill>
              <a:srgbClr val="E65F1C"/>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txBox="1"/>
            <p:nvPr/>
          </p:nvSpPr>
          <p:spPr>
            <a:xfrm>
              <a:off x="40962" y="973041"/>
              <a:ext cx="6370019" cy="757185"/>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chemeClr val="lt1"/>
                </a:buClr>
                <a:buSzPts val="1500"/>
                <a:buFont typeface="Corbel"/>
                <a:buNone/>
              </a:pPr>
              <a:r>
                <a:rPr lang="es-AR" sz="1500">
                  <a:solidFill>
                    <a:schemeClr val="lt1"/>
                  </a:solidFill>
                  <a:latin typeface="Corbel"/>
                  <a:ea typeface="Corbel"/>
                  <a:cs typeface="Corbel"/>
                  <a:sym typeface="Corbel"/>
                </a:rPr>
                <a:t>1) Actos a título gratuito;</a:t>
              </a:r>
              <a:endParaRPr sz="1500">
                <a:solidFill>
                  <a:schemeClr val="lt1"/>
                </a:solidFill>
                <a:latin typeface="Corbel"/>
                <a:ea typeface="Corbel"/>
                <a:cs typeface="Corbel"/>
                <a:sym typeface="Corbel"/>
              </a:endParaRPr>
            </a:p>
          </p:txBody>
        </p:sp>
        <p:sp>
          <p:nvSpPr>
            <p:cNvPr id="226" name="Google Shape;226;p10"/>
            <p:cNvSpPr/>
            <p:nvPr/>
          </p:nvSpPr>
          <p:spPr>
            <a:xfrm>
              <a:off x="0" y="1814388"/>
              <a:ext cx="6451943" cy="839109"/>
            </a:xfrm>
            <a:prstGeom prst="roundRect">
              <a:avLst>
                <a:gd fmla="val 16667" name="adj"/>
              </a:avLst>
            </a:prstGeom>
            <a:solidFill>
              <a:srgbClr val="ED7013"/>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txBox="1"/>
            <p:nvPr/>
          </p:nvSpPr>
          <p:spPr>
            <a:xfrm>
              <a:off x="40962" y="1855350"/>
              <a:ext cx="6370019" cy="757185"/>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chemeClr val="lt1"/>
                </a:buClr>
                <a:buSzPts val="1500"/>
                <a:buFont typeface="Corbel"/>
                <a:buNone/>
              </a:pPr>
              <a:r>
                <a:rPr lang="es-AR" sz="1500">
                  <a:solidFill>
                    <a:schemeClr val="lt1"/>
                  </a:solidFill>
                  <a:latin typeface="Corbel"/>
                  <a:ea typeface="Corbel"/>
                  <a:cs typeface="Corbel"/>
                  <a:sym typeface="Corbel"/>
                </a:rPr>
                <a:t>2) Pago anticipado de deudas cuyo vencimiento según el título debía producirse en el día de la quiebra o con posterioridad;</a:t>
              </a:r>
              <a:endParaRPr sz="1500">
                <a:solidFill>
                  <a:schemeClr val="lt1"/>
                </a:solidFill>
                <a:latin typeface="Corbel"/>
                <a:ea typeface="Corbel"/>
                <a:cs typeface="Corbel"/>
                <a:sym typeface="Corbel"/>
              </a:endParaRPr>
            </a:p>
          </p:txBody>
        </p:sp>
        <p:sp>
          <p:nvSpPr>
            <p:cNvPr id="228" name="Google Shape;228;p10"/>
            <p:cNvSpPr/>
            <p:nvPr/>
          </p:nvSpPr>
          <p:spPr>
            <a:xfrm>
              <a:off x="0" y="2696698"/>
              <a:ext cx="6451943" cy="839109"/>
            </a:xfrm>
            <a:prstGeom prst="roundRect">
              <a:avLst>
                <a:gd fmla="val 16667" name="adj"/>
              </a:avLst>
            </a:prstGeom>
            <a:solidFill>
              <a:srgbClr val="F68508"/>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txBox="1"/>
            <p:nvPr/>
          </p:nvSpPr>
          <p:spPr>
            <a:xfrm>
              <a:off x="40962" y="2737660"/>
              <a:ext cx="6370019" cy="757185"/>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chemeClr val="lt1"/>
                </a:buClr>
                <a:buSzPts val="1500"/>
                <a:buFont typeface="Corbel"/>
                <a:buNone/>
              </a:pPr>
              <a:r>
                <a:rPr lang="es-AR" sz="1500">
                  <a:solidFill>
                    <a:schemeClr val="lt1"/>
                  </a:solidFill>
                  <a:latin typeface="Corbel"/>
                  <a:ea typeface="Corbel"/>
                  <a:cs typeface="Corbel"/>
                  <a:sym typeface="Corbel"/>
                </a:rPr>
                <a:t>3) Constitución de hipoteca o prenda o cualquier otra preferencia, respecto de obligación no vencida que originariamente no tenía esa garantía.</a:t>
              </a:r>
              <a:endParaRPr sz="1500">
                <a:solidFill>
                  <a:schemeClr val="lt1"/>
                </a:solidFill>
                <a:latin typeface="Corbel"/>
                <a:ea typeface="Corbel"/>
                <a:cs typeface="Corbel"/>
                <a:sym typeface="Corbel"/>
              </a:endParaRPr>
            </a:p>
          </p:txBody>
        </p:sp>
        <p:sp>
          <p:nvSpPr>
            <p:cNvPr id="230" name="Google Shape;230;p10"/>
            <p:cNvSpPr/>
            <p:nvPr/>
          </p:nvSpPr>
          <p:spPr>
            <a:xfrm>
              <a:off x="0" y="3579007"/>
              <a:ext cx="6451943" cy="839109"/>
            </a:xfrm>
            <a:prstGeom prst="roundRect">
              <a:avLst>
                <a:gd fmla="val 16667" name="adj"/>
              </a:avLst>
            </a:prstGeom>
            <a:solidFill>
              <a:srgbClr val="FC9C0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txBox="1"/>
            <p:nvPr/>
          </p:nvSpPr>
          <p:spPr>
            <a:xfrm>
              <a:off x="40962" y="3619969"/>
              <a:ext cx="6370019" cy="757185"/>
            </a:xfrm>
            <a:prstGeom prst="rect">
              <a:avLst/>
            </a:prstGeom>
            <a:no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chemeClr val="lt1"/>
                </a:buClr>
                <a:buSzPts val="1500"/>
                <a:buFont typeface="Corbel"/>
                <a:buNone/>
              </a:pPr>
              <a:r>
                <a:rPr lang="es-AR" sz="1500">
                  <a:solidFill>
                    <a:schemeClr val="lt1"/>
                  </a:solidFill>
                  <a:latin typeface="Corbel"/>
                  <a:ea typeface="Corbel"/>
                  <a:cs typeface="Corbel"/>
                  <a:sym typeface="Corbel"/>
                </a:rPr>
                <a:t>La declaración de ineficacia se pronuncia sin necesidad de acción o petición o expresa y sin tramitación. La resolución es apelable y recurrible por vía incidental.</a:t>
              </a:r>
              <a:endParaRPr sz="1500">
                <a:solidFill>
                  <a:schemeClr val="lt1"/>
                </a:solidFill>
                <a:latin typeface="Corbel"/>
                <a:ea typeface="Corbel"/>
                <a:cs typeface="Corbel"/>
                <a:sym typeface="Corbe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35" name="Shape 235"/>
        <p:cNvGrpSpPr/>
        <p:nvPr/>
      </p:nvGrpSpPr>
      <p:grpSpPr>
        <a:xfrm>
          <a:off x="0" y="0"/>
          <a:ext cx="0" cy="0"/>
          <a:chOff x="0" y="0"/>
          <a:chExt cx="0" cy="0"/>
        </a:xfrm>
      </p:grpSpPr>
      <p:sp>
        <p:nvSpPr>
          <p:cNvPr id="236" name="Google Shape;236;p11"/>
          <p:cNvSpPr txBox="1"/>
          <p:nvPr>
            <p:ph type="title"/>
          </p:nvPr>
        </p:nvSpPr>
        <p:spPr>
          <a:xfrm>
            <a:off x="653145" y="609599"/>
            <a:ext cx="3364378" cy="56061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800"/>
              <a:buFont typeface="Corbel"/>
              <a:buNone/>
            </a:pPr>
            <a:r>
              <a:rPr lang="es-AR" sz="4800"/>
              <a:t>Actos ineficaces de pleno derecho</a:t>
            </a:r>
            <a:endParaRPr/>
          </a:p>
        </p:txBody>
      </p:sp>
      <p:sp>
        <p:nvSpPr>
          <p:cNvPr id="237" name="Google Shape;237;p1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t>Derecho Crediticio Bursatil e Insolvencia</a:t>
            </a:r>
            <a:endParaRPr/>
          </a:p>
        </p:txBody>
      </p:sp>
      <p:grpSp>
        <p:nvGrpSpPr>
          <p:cNvPr id="238" name="Google Shape;238;p11"/>
          <p:cNvGrpSpPr/>
          <p:nvPr/>
        </p:nvGrpSpPr>
        <p:grpSpPr>
          <a:xfrm>
            <a:off x="4545013" y="1606441"/>
            <a:ext cx="6451943" cy="3654720"/>
            <a:chOff x="0" y="406583"/>
            <a:chExt cx="6451943" cy="3654720"/>
          </a:xfrm>
        </p:grpSpPr>
        <p:sp>
          <p:nvSpPr>
            <p:cNvPr id="239" name="Google Shape;239;p11"/>
            <p:cNvSpPr/>
            <p:nvPr/>
          </p:nvSpPr>
          <p:spPr>
            <a:xfrm>
              <a:off x="0" y="406583"/>
              <a:ext cx="6451943" cy="575639"/>
            </a:xfrm>
            <a:prstGeom prst="roundRect">
              <a:avLst>
                <a:gd fmla="val 16667" name="adj"/>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txBox="1"/>
            <p:nvPr/>
          </p:nvSpPr>
          <p:spPr>
            <a:xfrm>
              <a:off x="28100" y="434683"/>
              <a:ext cx="6395743" cy="519439"/>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Corbel"/>
                <a:buNone/>
              </a:pPr>
              <a:r>
                <a:rPr lang="es-AR" sz="2400">
                  <a:solidFill>
                    <a:schemeClr val="lt1"/>
                  </a:solidFill>
                  <a:latin typeface="Corbel"/>
                  <a:ea typeface="Corbel"/>
                  <a:cs typeface="Corbel"/>
                  <a:sym typeface="Corbel"/>
                </a:rPr>
                <a:t>Inoponibles a los acreedores</a:t>
              </a:r>
              <a:endParaRPr sz="2400">
                <a:solidFill>
                  <a:schemeClr val="lt1"/>
                </a:solidFill>
                <a:latin typeface="Corbel"/>
                <a:ea typeface="Corbel"/>
                <a:cs typeface="Corbel"/>
                <a:sym typeface="Corbel"/>
              </a:endParaRPr>
            </a:p>
          </p:txBody>
        </p:sp>
        <p:sp>
          <p:nvSpPr>
            <p:cNvPr id="241" name="Google Shape;241;p11"/>
            <p:cNvSpPr/>
            <p:nvPr/>
          </p:nvSpPr>
          <p:spPr>
            <a:xfrm>
              <a:off x="0" y="1051343"/>
              <a:ext cx="6451943" cy="575639"/>
            </a:xfrm>
            <a:prstGeom prst="roundRect">
              <a:avLst>
                <a:gd fmla="val 16667" name="adj"/>
              </a:avLst>
            </a:prstGeom>
            <a:solidFill>
              <a:srgbClr val="FC9C0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txBox="1"/>
            <p:nvPr/>
          </p:nvSpPr>
          <p:spPr>
            <a:xfrm>
              <a:off x="28100" y="1079443"/>
              <a:ext cx="6395743" cy="519439"/>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Corbel"/>
                <a:buNone/>
              </a:pPr>
              <a:r>
                <a:rPr lang="es-AR" sz="2400">
                  <a:solidFill>
                    <a:schemeClr val="lt1"/>
                  </a:solidFill>
                  <a:latin typeface="Corbel"/>
                  <a:ea typeface="Corbel"/>
                  <a:cs typeface="Corbel"/>
                  <a:sym typeface="Corbel"/>
                </a:rPr>
                <a:t>Para que funcione debe tenerse en cuenta</a:t>
              </a:r>
              <a:endParaRPr sz="2400">
                <a:solidFill>
                  <a:schemeClr val="lt1"/>
                </a:solidFill>
                <a:latin typeface="Corbel"/>
                <a:ea typeface="Corbel"/>
                <a:cs typeface="Corbel"/>
                <a:sym typeface="Corbel"/>
              </a:endParaRPr>
            </a:p>
          </p:txBody>
        </p:sp>
        <p:sp>
          <p:nvSpPr>
            <p:cNvPr id="243" name="Google Shape;243;p11"/>
            <p:cNvSpPr/>
            <p:nvPr/>
          </p:nvSpPr>
          <p:spPr>
            <a:xfrm>
              <a:off x="0" y="1626983"/>
              <a:ext cx="6451943" cy="2434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txBox="1"/>
            <p:nvPr/>
          </p:nvSpPr>
          <p:spPr>
            <a:xfrm>
              <a:off x="0" y="1626983"/>
              <a:ext cx="6451943" cy="2434320"/>
            </a:xfrm>
            <a:prstGeom prst="rect">
              <a:avLst/>
            </a:prstGeom>
            <a:noFill/>
            <a:ln>
              <a:noFill/>
            </a:ln>
          </p:spPr>
          <p:txBody>
            <a:bodyPr anchorCtr="0" anchor="t" bIns="30475" lIns="204825"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Corbel"/>
                <a:buChar char="•"/>
              </a:pPr>
              <a:r>
                <a:rPr b="0" i="0" lang="es-AR" sz="1900" u="none" cap="none" strike="noStrike">
                  <a:solidFill>
                    <a:schemeClr val="dk1"/>
                  </a:solidFill>
                  <a:latin typeface="Corbel"/>
                  <a:ea typeface="Corbel"/>
                  <a:cs typeface="Corbel"/>
                  <a:sym typeface="Corbel"/>
                </a:rPr>
                <a:t>El acto debe haberse realizado durante el período de sospecha</a:t>
              </a:r>
              <a:endParaRPr b="0" i="0" sz="1900" u="none" cap="none" strike="noStrike">
                <a:solidFill>
                  <a:schemeClr val="dk1"/>
                </a:solidFill>
                <a:latin typeface="Corbel"/>
                <a:ea typeface="Corbel"/>
                <a:cs typeface="Corbel"/>
                <a:sym typeface="Corbel"/>
              </a:endParaRPr>
            </a:p>
            <a:p>
              <a:pPr indent="-171450" lvl="1" marL="171450" marR="0" rtl="0" algn="l">
                <a:lnSpc>
                  <a:spcPct val="90000"/>
                </a:lnSpc>
                <a:spcBef>
                  <a:spcPts val="380"/>
                </a:spcBef>
                <a:spcAft>
                  <a:spcPts val="0"/>
                </a:spcAft>
                <a:buClr>
                  <a:schemeClr val="dk1"/>
                </a:buClr>
                <a:buSzPts val="1900"/>
                <a:buFont typeface="Corbel"/>
                <a:buChar char="•"/>
              </a:pPr>
              <a:r>
                <a:rPr b="0" i="0" lang="es-AR" sz="1900" u="none" cap="none" strike="noStrike">
                  <a:solidFill>
                    <a:schemeClr val="dk1"/>
                  </a:solidFill>
                  <a:latin typeface="Corbel"/>
                  <a:ea typeface="Corbel"/>
                  <a:cs typeface="Corbel"/>
                  <a:sym typeface="Corbel"/>
                </a:rPr>
                <a:t>El juez debe contar con elementos suficientes para acreditar la existencia de alguno de los actos enumerados</a:t>
              </a:r>
              <a:endParaRPr b="0" i="0" sz="1900" u="none" cap="none" strike="noStrike">
                <a:solidFill>
                  <a:schemeClr val="dk1"/>
                </a:solidFill>
                <a:latin typeface="Corbel"/>
                <a:ea typeface="Corbel"/>
                <a:cs typeface="Corbel"/>
                <a:sym typeface="Corbel"/>
              </a:endParaRPr>
            </a:p>
            <a:p>
              <a:pPr indent="-171450" lvl="1" marL="171450" marR="0" rtl="0" algn="l">
                <a:lnSpc>
                  <a:spcPct val="90000"/>
                </a:lnSpc>
                <a:spcBef>
                  <a:spcPts val="380"/>
                </a:spcBef>
                <a:spcAft>
                  <a:spcPts val="0"/>
                </a:spcAft>
                <a:buClr>
                  <a:schemeClr val="dk1"/>
                </a:buClr>
                <a:buSzPts val="1900"/>
                <a:buFont typeface="Corbel"/>
                <a:buChar char="•"/>
              </a:pPr>
              <a:r>
                <a:rPr b="0" i="0" lang="es-AR" sz="1900" u="none" cap="none" strike="noStrike">
                  <a:solidFill>
                    <a:schemeClr val="dk1"/>
                  </a:solidFill>
                  <a:latin typeface="Corbel"/>
                  <a:ea typeface="Corbel"/>
                  <a:cs typeface="Corbel"/>
                  <a:sym typeface="Corbel"/>
                </a:rPr>
                <a:t>El acto se declara inoponible en interés de los acreedores</a:t>
              </a:r>
              <a:endParaRPr b="0" i="0" sz="1900" u="none" cap="none" strike="noStrike">
                <a:solidFill>
                  <a:schemeClr val="dk1"/>
                </a:solidFill>
                <a:latin typeface="Corbel"/>
                <a:ea typeface="Corbel"/>
                <a:cs typeface="Corbel"/>
                <a:sym typeface="Corbel"/>
              </a:endParaRPr>
            </a:p>
            <a:p>
              <a:pPr indent="-171450" lvl="1" marL="171450" marR="0" rtl="0" algn="l">
                <a:lnSpc>
                  <a:spcPct val="90000"/>
                </a:lnSpc>
                <a:spcBef>
                  <a:spcPts val="380"/>
                </a:spcBef>
                <a:spcAft>
                  <a:spcPts val="0"/>
                </a:spcAft>
                <a:buClr>
                  <a:schemeClr val="dk1"/>
                </a:buClr>
                <a:buSzPts val="1900"/>
                <a:buFont typeface="Corbel"/>
                <a:buChar char="•"/>
              </a:pPr>
              <a:r>
                <a:rPr b="0" i="0" lang="es-AR" sz="1900" u="none" cap="none" strike="noStrike">
                  <a:solidFill>
                    <a:schemeClr val="dk1"/>
                  </a:solidFill>
                  <a:latin typeface="Corbel"/>
                  <a:ea typeface="Corbel"/>
                  <a:cs typeface="Corbel"/>
                  <a:sym typeface="Corbel"/>
                </a:rPr>
                <a:t>La enumeracion es taxativa y de interpretación restringida</a:t>
              </a:r>
              <a:endParaRPr b="0" i="0" sz="1900" u="none" cap="none" strike="noStrike">
                <a:solidFill>
                  <a:schemeClr val="dk1"/>
                </a:solidFill>
                <a:latin typeface="Corbel"/>
                <a:ea typeface="Corbel"/>
                <a:cs typeface="Corbel"/>
                <a:sym typeface="Corbel"/>
              </a:endParaRPr>
            </a:p>
            <a:p>
              <a:pPr indent="-171450" lvl="1" marL="171450" marR="0" rtl="0" algn="l">
                <a:lnSpc>
                  <a:spcPct val="90000"/>
                </a:lnSpc>
                <a:spcBef>
                  <a:spcPts val="380"/>
                </a:spcBef>
                <a:spcAft>
                  <a:spcPts val="0"/>
                </a:spcAft>
                <a:buClr>
                  <a:schemeClr val="dk1"/>
                </a:buClr>
                <a:buSzPts val="1900"/>
                <a:buFont typeface="Corbel"/>
                <a:buChar char="•"/>
              </a:pPr>
              <a:r>
                <a:rPr b="0" i="0" lang="es-AR" sz="1900" u="none" cap="none" strike="noStrike">
                  <a:solidFill>
                    <a:schemeClr val="dk1"/>
                  </a:solidFill>
                  <a:latin typeface="Corbel"/>
                  <a:ea typeface="Corbel"/>
                  <a:cs typeface="Corbel"/>
                  <a:sym typeface="Corbel"/>
                </a:rPr>
                <a:t>El agraviado puede recurrir ante el mismo juez del concurso por incidente o apelar ante el superior</a:t>
              </a:r>
              <a:endParaRPr b="0" i="0" sz="1900" u="none" cap="none" strike="noStrike">
                <a:solidFill>
                  <a:schemeClr val="dk1"/>
                </a:solidFill>
                <a:latin typeface="Corbel"/>
                <a:ea typeface="Corbel"/>
                <a:cs typeface="Corbel"/>
                <a:sym typeface="Corbe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8" name="Shape 248"/>
        <p:cNvGrpSpPr/>
        <p:nvPr/>
      </p:nvGrpSpPr>
      <p:grpSpPr>
        <a:xfrm>
          <a:off x="0" y="0"/>
          <a:ext cx="0" cy="0"/>
          <a:chOff x="0" y="0"/>
          <a:chExt cx="0" cy="0"/>
        </a:xfrm>
      </p:grpSpPr>
      <p:sp>
        <p:nvSpPr>
          <p:cNvPr id="249" name="Google Shape;249;p12"/>
          <p:cNvSpPr/>
          <p:nvPr/>
        </p:nvSpPr>
        <p:spPr>
          <a:xfrm>
            <a:off x="0" y="0"/>
            <a:ext cx="1219200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50" name="Google Shape;250;p12"/>
          <p:cNvSpPr/>
          <p:nvPr/>
        </p:nvSpPr>
        <p:spPr>
          <a:xfrm>
            <a:off x="231140" y="4572000"/>
            <a:ext cx="11724640" cy="204977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231140" y="245246"/>
            <a:ext cx="11724640" cy="6376533"/>
          </a:xfrm>
          <a:prstGeom prst="rect">
            <a:avLst/>
          </a:prstGeom>
          <a:no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txBox="1"/>
          <p:nvPr>
            <p:ph type="title"/>
          </p:nvPr>
        </p:nvSpPr>
        <p:spPr>
          <a:xfrm>
            <a:off x="1143000" y="4780722"/>
            <a:ext cx="9875520" cy="1410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orbel"/>
              <a:buNone/>
            </a:pPr>
            <a:r>
              <a:rPr lang="es-AR">
                <a:solidFill>
                  <a:srgbClr val="FFFFFF"/>
                </a:solidFill>
              </a:rPr>
              <a:t>Actos ineficaces de pleno derecho - Jurisprudencia</a:t>
            </a:r>
            <a:endParaRPr/>
          </a:p>
        </p:txBody>
      </p:sp>
      <p:sp>
        <p:nvSpPr>
          <p:cNvPr id="253" name="Google Shape;253;p12"/>
          <p:cNvSpPr txBox="1"/>
          <p:nvPr>
            <p:ph idx="1" type="body"/>
          </p:nvPr>
        </p:nvSpPr>
        <p:spPr>
          <a:xfrm>
            <a:off x="1143000" y="632873"/>
            <a:ext cx="9872871" cy="3551501"/>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200"/>
              <a:buChar char="•"/>
            </a:pPr>
            <a:r>
              <a:rPr b="1" i="1" lang="es-AR" sz="1500">
                <a:solidFill>
                  <a:schemeClr val="dk1"/>
                </a:solidFill>
              </a:rPr>
              <a:t>CONCURSOS. EFECTOS SOBRE ACTOS PERJUDICIALES A LOS ACREEDORES. ACTOS INEFICACES DE PLENO DERECHO. INEFICACIA CONCURSAL. DIFERENCIAS CON LA NULIDAD. </a:t>
            </a:r>
            <a:endParaRPr/>
          </a:p>
          <a:p>
            <a:pPr indent="-182880" lvl="0" marL="228600" rtl="0" algn="l">
              <a:lnSpc>
                <a:spcPct val="90000"/>
              </a:lnSpc>
              <a:spcBef>
                <a:spcPts val="1400"/>
              </a:spcBef>
              <a:spcAft>
                <a:spcPts val="0"/>
              </a:spcAft>
              <a:buSzPts val="1200"/>
              <a:buChar char="•"/>
            </a:pPr>
            <a:br>
              <a:rPr b="1" i="1" lang="es-AR" sz="1500">
                <a:solidFill>
                  <a:schemeClr val="dk1"/>
                </a:solidFill>
              </a:rPr>
            </a:br>
            <a:r>
              <a:rPr i="1" lang="es-AR" sz="1500">
                <a:solidFill>
                  <a:schemeClr val="dk1"/>
                </a:solidFill>
              </a:rPr>
              <a:t>DEBE DISTINGUIRSE EL CONCEPTO CONCURSAL DE INEFICACIA O INOPONIBILIDAD DE UN ACTO JURIDICO DEL CONCEPTO CIVIL DE NULIDAD DE TALES ACTOS. ELLO, EN TANTO LA NULIDAD ES LA RESULTANTE DE VICIOS DE CONSTITUCION DEL ACTO, QUE LO PRIVA ABSOLUTAMENTE DE SUS EFECTOS NATURALES, MIENTRAS QUE LA INEFICACIA O INOPONIBILIDAD SE PRESENTA CUANDO UN ACTO, EN SI MISMO VALIDO, CARECE DE EFECTOS RESPECTO DE ALGUNA PERSONA O CATEGORIA DE PERSONAS COMO, EN MATERIA CONCURSAL, SON LOS ACREEDORES DE UN SUJETO FALLIDO. DE TAL MODO, UN ACTO VALIDO ENTRE QUIENES LO CELEBRARON SIN VICIOS DE CONSTITUCION, PUEDE SER INEFICAZ RESPECTO DE LOS ACREEDORES DE UNO DE LOS SUJETOS QUE LO CELEBRO. </a:t>
            </a:r>
            <a:endParaRPr/>
          </a:p>
          <a:p>
            <a:pPr indent="-182880" lvl="0" marL="228600" rtl="0" algn="l">
              <a:lnSpc>
                <a:spcPct val="90000"/>
              </a:lnSpc>
              <a:spcBef>
                <a:spcPts val="1400"/>
              </a:spcBef>
              <a:spcAft>
                <a:spcPts val="0"/>
              </a:spcAft>
              <a:buSzPts val="1200"/>
              <a:buChar char="•"/>
            </a:pPr>
            <a:r>
              <a:rPr b="1" lang="es-AR" sz="1500">
                <a:solidFill>
                  <a:schemeClr val="dk1"/>
                </a:solidFill>
              </a:rPr>
              <a:t>ALBERTI - ROTMAN - CUARTERO</a:t>
            </a:r>
            <a:br>
              <a:rPr b="1" lang="es-AR" sz="1500">
                <a:solidFill>
                  <a:schemeClr val="dk1"/>
                </a:solidFill>
              </a:rPr>
            </a:br>
            <a:r>
              <a:rPr b="1" lang="es-AR" sz="1500">
                <a:solidFill>
                  <a:schemeClr val="dk1"/>
                </a:solidFill>
              </a:rPr>
              <a:t>DI PAOLO SA S/ QUIEBRA S/ INC. DE INEFICACIA DE ACTO POR AGIO SIGARENFABRICKEN (LL 9.3.93).9/11/92 CAMARA COMERCIAL</a:t>
            </a:r>
            <a:endParaRPr sz="1500">
              <a:solidFill>
                <a:schemeClr val="dk1"/>
              </a:solidFill>
            </a:endParaRPr>
          </a:p>
          <a:p>
            <a:pPr indent="-106680" lvl="0" marL="228600" rtl="0" algn="l">
              <a:lnSpc>
                <a:spcPct val="90000"/>
              </a:lnSpc>
              <a:spcBef>
                <a:spcPts val="1400"/>
              </a:spcBef>
              <a:spcAft>
                <a:spcPts val="0"/>
              </a:spcAft>
              <a:buSzPts val="1200"/>
              <a:buNone/>
            </a:pPr>
            <a:r>
              <a:t/>
            </a:r>
            <a:endParaRPr sz="1500">
              <a:solidFill>
                <a:schemeClr val="dk1"/>
              </a:solidFill>
            </a:endParaRPr>
          </a:p>
        </p:txBody>
      </p:sp>
      <p:sp>
        <p:nvSpPr>
          <p:cNvPr id="254" name="Google Shape;254;p12"/>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8" name="Shape 258"/>
        <p:cNvGrpSpPr/>
        <p:nvPr/>
      </p:nvGrpSpPr>
      <p:grpSpPr>
        <a:xfrm>
          <a:off x="0" y="0"/>
          <a:ext cx="0" cy="0"/>
          <a:chOff x="0" y="0"/>
          <a:chExt cx="0" cy="0"/>
        </a:xfrm>
      </p:grpSpPr>
      <p:sp>
        <p:nvSpPr>
          <p:cNvPr id="259" name="Google Shape;259;p13"/>
          <p:cNvSpPr/>
          <p:nvPr/>
        </p:nvSpPr>
        <p:spPr>
          <a:xfrm>
            <a:off x="0" y="0"/>
            <a:ext cx="1219200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0" name="Google Shape;260;p13"/>
          <p:cNvSpPr/>
          <p:nvPr/>
        </p:nvSpPr>
        <p:spPr>
          <a:xfrm>
            <a:off x="231140" y="4572000"/>
            <a:ext cx="11724640" cy="204977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231140" y="245246"/>
            <a:ext cx="11724640" cy="6376533"/>
          </a:xfrm>
          <a:prstGeom prst="rect">
            <a:avLst/>
          </a:prstGeom>
          <a:no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txBox="1"/>
          <p:nvPr>
            <p:ph type="title"/>
          </p:nvPr>
        </p:nvSpPr>
        <p:spPr>
          <a:xfrm>
            <a:off x="1143000" y="4780722"/>
            <a:ext cx="9875520" cy="1410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orbel"/>
              <a:buNone/>
            </a:pPr>
            <a:r>
              <a:rPr lang="es-AR">
                <a:solidFill>
                  <a:srgbClr val="FFFFFF"/>
                </a:solidFill>
              </a:rPr>
              <a:t>Actos ineficaces por conocimiento de la cesación de pagos</a:t>
            </a:r>
            <a:endParaRPr/>
          </a:p>
        </p:txBody>
      </p:sp>
      <p:sp>
        <p:nvSpPr>
          <p:cNvPr id="263" name="Google Shape;263;p13"/>
          <p:cNvSpPr txBox="1"/>
          <p:nvPr>
            <p:ph idx="1" type="body"/>
          </p:nvPr>
        </p:nvSpPr>
        <p:spPr>
          <a:xfrm>
            <a:off x="1143000" y="632873"/>
            <a:ext cx="9872871" cy="3551501"/>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600"/>
              <a:buChar char="•"/>
            </a:pPr>
            <a:r>
              <a:rPr lang="es-AR" sz="2000">
                <a:solidFill>
                  <a:schemeClr val="dk1"/>
                </a:solidFill>
              </a:rPr>
              <a:t>ARTICULO 119.- Los demás actos perjudiciales para los acreedores, otorgados en el período de sospecha pueden ser declarados ineficaces respecto de los acreedores, si quien celebro el acto con el fallido tenía conocimiento del estado de cesación de pagos del deudor. El tercero debe probar que el acto no causó perjuicio.</a:t>
            </a:r>
            <a:endParaRPr/>
          </a:p>
          <a:p>
            <a:pPr indent="-182880" lvl="0" marL="228600" rtl="0" algn="l">
              <a:lnSpc>
                <a:spcPct val="90000"/>
              </a:lnSpc>
              <a:spcBef>
                <a:spcPts val="1400"/>
              </a:spcBef>
              <a:spcAft>
                <a:spcPts val="0"/>
              </a:spcAft>
              <a:buSzPts val="1600"/>
              <a:buChar char="•"/>
            </a:pPr>
            <a:r>
              <a:rPr lang="es-AR" sz="2000">
                <a:solidFill>
                  <a:schemeClr val="dk1"/>
                </a:solidFill>
              </a:rPr>
              <a:t>Esta declaración debe reclamarse por acción que se deduce ante el juez de la quiebra y tramita por vía ordinaria, salvo que por acuerdo de partes se opte por hacerlo por incidente.</a:t>
            </a:r>
            <a:endParaRPr/>
          </a:p>
          <a:p>
            <a:pPr indent="-182880" lvl="0" marL="228600" rtl="0" algn="l">
              <a:lnSpc>
                <a:spcPct val="90000"/>
              </a:lnSpc>
              <a:spcBef>
                <a:spcPts val="1400"/>
              </a:spcBef>
              <a:spcAft>
                <a:spcPts val="0"/>
              </a:spcAft>
              <a:buSzPts val="1600"/>
              <a:buChar char="•"/>
            </a:pPr>
            <a:r>
              <a:rPr lang="es-AR" sz="2000">
                <a:solidFill>
                  <a:schemeClr val="dk1"/>
                </a:solidFill>
              </a:rPr>
              <a:t>La acción es ejercida por el síndico; está sujeta a autorización previa de la mayoría simple del capital quirografario verificado y declarado admisible y no está sometida a tributo previo, sin perjuicio de su pago por quien resulte vencido; en su caso el crédito por la tasa de justicia tendrá la preferencia del Artículo 240. La acción perime a los SEIS (6) meses.</a:t>
            </a:r>
            <a:endParaRPr/>
          </a:p>
          <a:p>
            <a:pPr indent="-81280" lvl="0" marL="228600" rtl="0" algn="l">
              <a:lnSpc>
                <a:spcPct val="90000"/>
              </a:lnSpc>
              <a:spcBef>
                <a:spcPts val="1400"/>
              </a:spcBef>
              <a:spcAft>
                <a:spcPts val="0"/>
              </a:spcAft>
              <a:buSzPts val="1600"/>
              <a:buNone/>
            </a:pPr>
            <a:r>
              <a:t/>
            </a:r>
            <a:endParaRPr sz="2000">
              <a:solidFill>
                <a:schemeClr val="dk1"/>
              </a:solidFill>
            </a:endParaRPr>
          </a:p>
        </p:txBody>
      </p:sp>
      <p:sp>
        <p:nvSpPr>
          <p:cNvPr id="264" name="Google Shape;264;p13"/>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08351395c9_0_0"/>
          <p:cNvSpPr txBox="1"/>
          <p:nvPr>
            <p:ph type="title"/>
          </p:nvPr>
        </p:nvSpPr>
        <p:spPr>
          <a:xfrm>
            <a:off x="1143000" y="609600"/>
            <a:ext cx="9875400" cy="1356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AR"/>
              <a:t>Jurisprudencia</a:t>
            </a:r>
            <a:endParaRPr/>
          </a:p>
        </p:txBody>
      </p:sp>
      <p:sp>
        <p:nvSpPr>
          <p:cNvPr id="271" name="Google Shape;271;g308351395c9_0_0"/>
          <p:cNvSpPr txBox="1"/>
          <p:nvPr>
            <p:ph idx="1" type="body"/>
          </p:nvPr>
        </p:nvSpPr>
        <p:spPr>
          <a:xfrm>
            <a:off x="1143000" y="2057400"/>
            <a:ext cx="9873000" cy="40386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s-AR" sz="1200">
                <a:solidFill>
                  <a:srgbClr val="263057"/>
                </a:solidFill>
                <a:latin typeface="Roboto"/>
                <a:ea typeface="Roboto"/>
                <a:cs typeface="Roboto"/>
                <a:sym typeface="Roboto"/>
              </a:rPr>
              <a:t>Resulta procedente la acción revocatoria concursal contra los subadquirentes del inmueble enajenado por el fallido cuando existen en autos elementos de juicio que permiten presumir que aquéllos conocían o debían conocer la posibilidad de una acción revocatoria. La prueba del conocimiento de los fines de la revocatoria puede darse por presunciones que se infieran de un estado de dominio público, pues un hecho se convierte en un indicio cuando una regla de experiencia lo pone con el hecho a probar en una relación lógica que permita deducir la existencia o inexistencia de aquél. El parentesco probado entre la esposa del adquirente del bien con el representante de la fallida y también con el síndico societario, el admitido conocimiento del comprador sobre la cesación de pagos de la concursada y la circunstancia de haberse repuesto el sellado del boleto de compraventa el mismo día de la escritura, a pesar de que aquél fue suscripto tres años antes, confirman un comportamiento de singular tipicidad que lo incluye en la situación prevista por el artículo 123 de la ley 19551.</a:t>
            </a:r>
            <a:endParaRPr sz="1200">
              <a:solidFill>
                <a:srgbClr val="263057"/>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b="1" lang="es-AR" sz="1200">
                <a:solidFill>
                  <a:srgbClr val="263057"/>
                </a:solidFill>
                <a:latin typeface="Roboto"/>
                <a:ea typeface="Roboto"/>
                <a:cs typeface="Roboto"/>
                <a:sym typeface="Roboto"/>
              </a:rPr>
              <a:t>CIGAIF S.A. s/QUIEBRA c/RÍOS, LUIS Y OTROS - CNCom - SALA B - 8/6/88</a:t>
            </a:r>
            <a:endParaRPr b="1" sz="1200">
              <a:solidFill>
                <a:srgbClr val="263057"/>
              </a:solidFill>
              <a:latin typeface="Roboto"/>
              <a:ea typeface="Roboto"/>
              <a:cs typeface="Roboto"/>
              <a:sym typeface="Roboto"/>
            </a:endParaRPr>
          </a:p>
          <a:p>
            <a:pPr indent="0" lvl="0" marL="0" rtl="0" algn="l">
              <a:spcBef>
                <a:spcPts val="14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5" name="Shape 275"/>
        <p:cNvGrpSpPr/>
        <p:nvPr/>
      </p:nvGrpSpPr>
      <p:grpSpPr>
        <a:xfrm>
          <a:off x="0" y="0"/>
          <a:ext cx="0" cy="0"/>
          <a:chOff x="0" y="0"/>
          <a:chExt cx="0" cy="0"/>
        </a:xfrm>
      </p:grpSpPr>
      <p:sp>
        <p:nvSpPr>
          <p:cNvPr id="276" name="Google Shape;276;p14"/>
          <p:cNvSpPr/>
          <p:nvPr/>
        </p:nvSpPr>
        <p:spPr>
          <a:xfrm>
            <a:off x="0" y="0"/>
            <a:ext cx="12192001"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77" name="Google Shape;277;p14"/>
          <p:cNvSpPr/>
          <p:nvPr/>
        </p:nvSpPr>
        <p:spPr>
          <a:xfrm>
            <a:off x="251192" y="278977"/>
            <a:ext cx="11689617" cy="6300047"/>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78" name="Google Shape;278;p14"/>
          <p:cNvSpPr txBox="1"/>
          <p:nvPr>
            <p:ph type="title"/>
          </p:nvPr>
        </p:nvSpPr>
        <p:spPr>
          <a:xfrm>
            <a:off x="1143000" y="1280160"/>
            <a:ext cx="3657600" cy="450233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AR" sz="3200">
                <a:solidFill>
                  <a:srgbClr val="FFFFFF"/>
                </a:solidFill>
              </a:rPr>
              <a:t>Actos ineficaces por conocimiento de la cesación de pagos</a:t>
            </a:r>
            <a:endParaRPr/>
          </a:p>
        </p:txBody>
      </p:sp>
      <p:sp>
        <p:nvSpPr>
          <p:cNvPr id="279" name="Google Shape;279;p14"/>
          <p:cNvSpPr txBox="1"/>
          <p:nvPr>
            <p:ph idx="1" type="body"/>
          </p:nvPr>
        </p:nvSpPr>
        <p:spPr>
          <a:xfrm>
            <a:off x="5440018" y="714564"/>
            <a:ext cx="6037880" cy="5067927"/>
          </a:xfrm>
          <a:prstGeom prst="rect">
            <a:avLst/>
          </a:prstGeom>
          <a:no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280"/>
              <a:buChar char="•"/>
            </a:pPr>
            <a:r>
              <a:rPr lang="es-AR" sz="1600">
                <a:solidFill>
                  <a:schemeClr val="dk1"/>
                </a:solidFill>
              </a:rPr>
              <a:t>Actos a titulo oneroso</a:t>
            </a:r>
            <a:endParaRPr/>
          </a:p>
          <a:p>
            <a:pPr indent="-182880" lvl="0" marL="228600" rtl="0" algn="l">
              <a:lnSpc>
                <a:spcPct val="90000"/>
              </a:lnSpc>
              <a:spcBef>
                <a:spcPts val="1400"/>
              </a:spcBef>
              <a:spcAft>
                <a:spcPts val="0"/>
              </a:spcAft>
              <a:buSzPts val="1280"/>
              <a:buChar char="•"/>
            </a:pPr>
            <a:r>
              <a:rPr lang="es-AR" sz="1600">
                <a:solidFill>
                  <a:schemeClr val="dk1"/>
                </a:solidFill>
              </a:rPr>
              <a:t>El acto debe haberse realizado durante el período de sospecha</a:t>
            </a:r>
            <a:endParaRPr/>
          </a:p>
          <a:p>
            <a:pPr indent="-182880" lvl="0" marL="228600" rtl="0" algn="l">
              <a:lnSpc>
                <a:spcPct val="90000"/>
              </a:lnSpc>
              <a:spcBef>
                <a:spcPts val="1400"/>
              </a:spcBef>
              <a:spcAft>
                <a:spcPts val="0"/>
              </a:spcAft>
              <a:buSzPts val="1280"/>
              <a:buChar char="•"/>
            </a:pPr>
            <a:r>
              <a:rPr lang="es-AR" sz="1600">
                <a:solidFill>
                  <a:schemeClr val="dk1"/>
                </a:solidFill>
              </a:rPr>
              <a:t>El acto se declara inoponible en interés de los acreedores</a:t>
            </a:r>
            <a:endParaRPr/>
          </a:p>
          <a:p>
            <a:pPr indent="-182880" lvl="0" marL="228600" rtl="0" algn="l">
              <a:lnSpc>
                <a:spcPct val="90000"/>
              </a:lnSpc>
              <a:spcBef>
                <a:spcPts val="1400"/>
              </a:spcBef>
              <a:spcAft>
                <a:spcPts val="0"/>
              </a:spcAft>
              <a:buSzPts val="1280"/>
              <a:buChar char="•"/>
            </a:pPr>
            <a:r>
              <a:rPr lang="es-AR" sz="1600">
                <a:solidFill>
                  <a:schemeClr val="dk1"/>
                </a:solidFill>
              </a:rPr>
              <a:t>Debe acreditarse que el tercero tenia conocimiento del estado de cesacion de pagos</a:t>
            </a:r>
            <a:endParaRPr/>
          </a:p>
          <a:p>
            <a:pPr indent="-182880" lvl="1" marL="457200" rtl="0" algn="l">
              <a:lnSpc>
                <a:spcPct val="90000"/>
              </a:lnSpc>
              <a:spcBef>
                <a:spcPts val="200"/>
              </a:spcBef>
              <a:spcAft>
                <a:spcPts val="0"/>
              </a:spcAft>
              <a:buSzPts val="1280"/>
              <a:buChar char="•"/>
            </a:pPr>
            <a:r>
              <a:rPr lang="es-AR" sz="1600">
                <a:solidFill>
                  <a:schemeClr val="dk1"/>
                </a:solidFill>
              </a:rPr>
              <a:t>Presunciones, indicios graves</a:t>
            </a:r>
            <a:endParaRPr/>
          </a:p>
          <a:p>
            <a:pPr indent="-182880" lvl="0" marL="228600" rtl="0" algn="l">
              <a:lnSpc>
                <a:spcPct val="90000"/>
              </a:lnSpc>
              <a:spcBef>
                <a:spcPts val="1800"/>
              </a:spcBef>
              <a:spcAft>
                <a:spcPts val="0"/>
              </a:spcAft>
              <a:buSzPts val="1280"/>
              <a:buChar char="•"/>
            </a:pPr>
            <a:r>
              <a:rPr lang="es-AR" sz="1600">
                <a:solidFill>
                  <a:schemeClr val="dk1"/>
                </a:solidFill>
              </a:rPr>
              <a:t>Debe haber existido perjuicio para los acreedores</a:t>
            </a:r>
            <a:endParaRPr/>
          </a:p>
          <a:p>
            <a:pPr indent="-182880" lvl="1" marL="457200" rtl="0" algn="l">
              <a:lnSpc>
                <a:spcPct val="90000"/>
              </a:lnSpc>
              <a:spcBef>
                <a:spcPts val="200"/>
              </a:spcBef>
              <a:spcAft>
                <a:spcPts val="0"/>
              </a:spcAft>
              <a:buSzPts val="1280"/>
              <a:buChar char="•"/>
            </a:pPr>
            <a:r>
              <a:rPr lang="es-AR" sz="1600">
                <a:solidFill>
                  <a:schemeClr val="dk1"/>
                </a:solidFill>
              </a:rPr>
              <a:t>No hay perjuicio, no hay interés tutelable</a:t>
            </a:r>
            <a:endParaRPr/>
          </a:p>
          <a:p>
            <a:pPr indent="-182880" lvl="1" marL="457200" rtl="0" algn="l">
              <a:lnSpc>
                <a:spcPct val="90000"/>
              </a:lnSpc>
              <a:spcBef>
                <a:spcPts val="600"/>
              </a:spcBef>
              <a:spcAft>
                <a:spcPts val="0"/>
              </a:spcAft>
              <a:buSzPts val="1280"/>
              <a:buChar char="•"/>
            </a:pPr>
            <a:r>
              <a:rPr lang="es-AR" sz="1600">
                <a:solidFill>
                  <a:schemeClr val="dk1"/>
                </a:solidFill>
              </a:rPr>
              <a:t>El perjuicio </a:t>
            </a:r>
            <a:r>
              <a:rPr b="1" lang="es-AR" sz="1600" u="sng">
                <a:solidFill>
                  <a:schemeClr val="dk1"/>
                </a:solidFill>
              </a:rPr>
              <a:t>se presume</a:t>
            </a:r>
            <a:r>
              <a:rPr lang="es-AR" sz="1600">
                <a:solidFill>
                  <a:schemeClr val="dk1"/>
                </a:solidFill>
              </a:rPr>
              <a:t> y es el tercero quien debe probar su inexistencia</a:t>
            </a:r>
            <a:endParaRPr/>
          </a:p>
          <a:p>
            <a:pPr indent="-182880" lvl="0" marL="228600" rtl="0" algn="l">
              <a:lnSpc>
                <a:spcPct val="90000"/>
              </a:lnSpc>
              <a:spcBef>
                <a:spcPts val="1800"/>
              </a:spcBef>
              <a:spcAft>
                <a:spcPts val="0"/>
              </a:spcAft>
              <a:buSzPts val="1280"/>
              <a:buChar char="•"/>
            </a:pPr>
            <a:r>
              <a:rPr lang="es-AR" sz="1600">
                <a:solidFill>
                  <a:schemeClr val="dk1"/>
                </a:solidFill>
              </a:rPr>
              <a:t>Partes</a:t>
            </a:r>
            <a:endParaRPr/>
          </a:p>
          <a:p>
            <a:pPr indent="-182880" lvl="1" marL="457200" rtl="0" algn="l">
              <a:lnSpc>
                <a:spcPct val="90000"/>
              </a:lnSpc>
              <a:spcBef>
                <a:spcPts val="200"/>
              </a:spcBef>
              <a:spcAft>
                <a:spcPts val="0"/>
              </a:spcAft>
              <a:buSzPts val="1280"/>
              <a:buChar char="•"/>
            </a:pPr>
            <a:r>
              <a:rPr lang="es-AR" sz="1600">
                <a:solidFill>
                  <a:schemeClr val="dk1"/>
                </a:solidFill>
              </a:rPr>
              <a:t>Sindico - autorización previa de la mayoría simple del capital quirografario verificado y declarado admisibles</a:t>
            </a:r>
            <a:endParaRPr/>
          </a:p>
          <a:p>
            <a:pPr indent="-182880" lvl="1" marL="457200" rtl="0" algn="l">
              <a:lnSpc>
                <a:spcPct val="90000"/>
              </a:lnSpc>
              <a:spcBef>
                <a:spcPts val="600"/>
              </a:spcBef>
              <a:spcAft>
                <a:spcPts val="0"/>
              </a:spcAft>
              <a:buSzPts val="1280"/>
              <a:buChar char="•"/>
            </a:pPr>
            <a:r>
              <a:rPr lang="es-AR" sz="1600">
                <a:solidFill>
                  <a:schemeClr val="dk1"/>
                </a:solidFill>
              </a:rPr>
              <a:t>Terceros cocontratantes y eventuales subadquirentes</a:t>
            </a:r>
            <a:endParaRPr sz="1600">
              <a:solidFill>
                <a:schemeClr val="dk1"/>
              </a:solidFill>
            </a:endParaRPr>
          </a:p>
          <a:p>
            <a:pPr indent="-182880" lvl="0" marL="228600" rtl="0" algn="l">
              <a:lnSpc>
                <a:spcPct val="90000"/>
              </a:lnSpc>
              <a:spcBef>
                <a:spcPts val="1800"/>
              </a:spcBef>
              <a:spcAft>
                <a:spcPts val="0"/>
              </a:spcAft>
              <a:buSzPts val="1280"/>
              <a:buChar char="•"/>
            </a:pPr>
            <a:r>
              <a:rPr lang="es-AR" sz="1600">
                <a:solidFill>
                  <a:schemeClr val="dk1"/>
                </a:solidFill>
              </a:rPr>
              <a:t>Competencia especial del juez del concurso</a:t>
            </a:r>
            <a:endParaRPr/>
          </a:p>
          <a:p>
            <a:pPr indent="-116840" lvl="0" marL="228600" rtl="0" algn="l">
              <a:lnSpc>
                <a:spcPct val="90000"/>
              </a:lnSpc>
              <a:spcBef>
                <a:spcPts val="1400"/>
              </a:spcBef>
              <a:spcAft>
                <a:spcPts val="0"/>
              </a:spcAft>
              <a:buSzPts val="1040"/>
              <a:buNone/>
            </a:pPr>
            <a:r>
              <a:t/>
            </a:r>
            <a:endParaRPr sz="1300">
              <a:solidFill>
                <a:schemeClr val="dk1"/>
              </a:solidFill>
            </a:endParaRPr>
          </a:p>
          <a:p>
            <a:pPr indent="-116840" lvl="0" marL="228600" rtl="0" algn="l">
              <a:lnSpc>
                <a:spcPct val="90000"/>
              </a:lnSpc>
              <a:spcBef>
                <a:spcPts val="1400"/>
              </a:spcBef>
              <a:spcAft>
                <a:spcPts val="0"/>
              </a:spcAft>
              <a:buSzPts val="1040"/>
              <a:buNone/>
            </a:pPr>
            <a:r>
              <a:t/>
            </a:r>
            <a:endParaRPr sz="1300">
              <a:solidFill>
                <a:schemeClr val="dk1"/>
              </a:solidFill>
            </a:endParaRPr>
          </a:p>
        </p:txBody>
      </p:sp>
      <p:sp>
        <p:nvSpPr>
          <p:cNvPr id="280" name="Google Shape;280;p14"/>
          <p:cNvSpPr txBox="1"/>
          <p:nvPr>
            <p:ph idx="11" type="ftr"/>
          </p:nvPr>
        </p:nvSpPr>
        <p:spPr>
          <a:xfrm>
            <a:off x="3949148" y="6126480"/>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15"/>
          <p:cNvSpPr/>
          <p:nvPr/>
        </p:nvSpPr>
        <p:spPr>
          <a:xfrm>
            <a:off x="1" y="1"/>
            <a:ext cx="12191999" cy="685799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1" y="0"/>
            <a:ext cx="4155058" cy="6858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87" name="Google Shape;287;p15"/>
          <p:cNvSpPr txBox="1"/>
          <p:nvPr>
            <p:ph type="title"/>
          </p:nvPr>
        </p:nvSpPr>
        <p:spPr>
          <a:xfrm>
            <a:off x="441009" y="873457"/>
            <a:ext cx="3273042" cy="5222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Corbel"/>
              <a:buNone/>
            </a:pPr>
            <a:r>
              <a:rPr lang="es-AR" sz="2800">
                <a:solidFill>
                  <a:srgbClr val="FFFFFF"/>
                </a:solidFill>
              </a:rPr>
              <a:t>Actos ineficaces por conocimiento de la cesación de pagos - Jurisprudencia</a:t>
            </a:r>
            <a:endParaRPr/>
          </a:p>
        </p:txBody>
      </p:sp>
      <p:sp>
        <p:nvSpPr>
          <p:cNvPr id="288" name="Google Shape;288;p15"/>
          <p:cNvSpPr txBox="1"/>
          <p:nvPr>
            <p:ph idx="1" type="body"/>
          </p:nvPr>
        </p:nvSpPr>
        <p:spPr>
          <a:xfrm>
            <a:off x="4995081" y="873457"/>
            <a:ext cx="6020790" cy="52225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360"/>
              <a:buNone/>
            </a:pPr>
            <a:r>
              <a:rPr i="1" lang="es-AR" sz="1700">
                <a:solidFill>
                  <a:schemeClr val="dk1"/>
                </a:solidFill>
              </a:rPr>
              <a:t> "Es procedente la acción de revocatoria concursal interpuesta por el síndico a fin de que se declare la ineficacia de la venta de una marca del fallido realizada durante el periodo de sospecha si de la pericia efectuada surge la diferencia de precio entre su valor real aproximado y lo presuntamente abonado, lo cual permite apreciar el perjuicio irrogado para la masa" (CNCom, Sala B, 23/8/01, "Estancia El Rosario SA s/quiebra c/Estancia El Rosario SA y otro", JA, 2001-IV-156, y LLonlim, AR/JUR/ 2685/ 2001). </a:t>
            </a:r>
            <a:endParaRPr/>
          </a:p>
          <a:p>
            <a:pPr indent="0" lvl="0" marL="0" rtl="0" algn="l">
              <a:lnSpc>
                <a:spcPct val="90000"/>
              </a:lnSpc>
              <a:spcBef>
                <a:spcPts val="1400"/>
              </a:spcBef>
              <a:spcAft>
                <a:spcPts val="0"/>
              </a:spcAft>
              <a:buSzPts val="1360"/>
              <a:buNone/>
            </a:pPr>
            <a:r>
              <a:t/>
            </a:r>
            <a:endParaRPr i="1" sz="1700">
              <a:solidFill>
                <a:schemeClr val="dk1"/>
              </a:solidFill>
            </a:endParaRPr>
          </a:p>
          <a:p>
            <a:pPr indent="0" lvl="0" marL="0" rtl="0" algn="l">
              <a:lnSpc>
                <a:spcPct val="90000"/>
              </a:lnSpc>
              <a:spcBef>
                <a:spcPts val="1400"/>
              </a:spcBef>
              <a:spcAft>
                <a:spcPts val="0"/>
              </a:spcAft>
              <a:buSzPts val="1360"/>
              <a:buNone/>
            </a:pPr>
            <a:r>
              <a:rPr i="1" lang="es-AR" sz="1700">
                <a:solidFill>
                  <a:schemeClr val="dk1"/>
                </a:solidFill>
              </a:rPr>
              <a:t>"El fundamento de la autorización que debe prestar la mayoría de los acreedores verificados y declarados admisibles -introducida por el art. 119 de la ley 24.522- es que sean estos los que evalúen la pertinencia de una acción enderezada a satisfacer sus pretensiones de cobro, que en el caso de no prosperar conllevará la imposición de costas a la quiebra" (CNCom, Sala D, 22/8/97, "Aluter SA c/De la Canal, Pablo, y otro", LL, 1998-B-121, y L L m Eine AR/JUR/3715/1997, del dictamen fiscal). </a:t>
            </a:r>
            <a:endParaRPr/>
          </a:p>
          <a:p>
            <a:pPr indent="0" lvl="0" marL="0" rtl="0" algn="l">
              <a:lnSpc>
                <a:spcPct val="90000"/>
              </a:lnSpc>
              <a:spcBef>
                <a:spcPts val="1400"/>
              </a:spcBef>
              <a:spcAft>
                <a:spcPts val="0"/>
              </a:spcAft>
              <a:buSzPts val="1360"/>
              <a:buNone/>
            </a:pPr>
            <a:r>
              <a:t/>
            </a:r>
            <a:endParaRPr i="1" sz="1700">
              <a:solidFill>
                <a:schemeClr val="dk1"/>
              </a:solidFill>
            </a:endParaRPr>
          </a:p>
          <a:p>
            <a:pPr indent="-96520" lvl="0" marL="228600" rtl="0" algn="l">
              <a:lnSpc>
                <a:spcPct val="90000"/>
              </a:lnSpc>
              <a:spcBef>
                <a:spcPts val="1400"/>
              </a:spcBef>
              <a:spcAft>
                <a:spcPts val="0"/>
              </a:spcAft>
              <a:buSzPts val="1360"/>
              <a:buNone/>
            </a:pPr>
            <a:r>
              <a:t/>
            </a:r>
            <a:endParaRPr sz="1700">
              <a:solidFill>
                <a:schemeClr val="dk1"/>
              </a:solidFill>
            </a:endParaRPr>
          </a:p>
        </p:txBody>
      </p:sp>
      <p:sp>
        <p:nvSpPr>
          <p:cNvPr id="289" name="Google Shape;289;p15"/>
          <p:cNvSpPr txBox="1"/>
          <p:nvPr>
            <p:ph idx="11" type="ftr"/>
          </p:nvPr>
        </p:nvSpPr>
        <p:spPr>
          <a:xfrm>
            <a:off x="4995080" y="6223828"/>
            <a:ext cx="448329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s-AR"/>
              <a:t>Derecho Crediticio Bursatil e Insolvencia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3" name="Shape 293"/>
        <p:cNvGrpSpPr/>
        <p:nvPr/>
      </p:nvGrpSpPr>
      <p:grpSpPr>
        <a:xfrm>
          <a:off x="0" y="0"/>
          <a:ext cx="0" cy="0"/>
          <a:chOff x="0" y="0"/>
          <a:chExt cx="0" cy="0"/>
        </a:xfrm>
      </p:grpSpPr>
      <p:sp>
        <p:nvSpPr>
          <p:cNvPr id="294" name="Google Shape;294;p16"/>
          <p:cNvSpPr txBox="1"/>
          <p:nvPr>
            <p:ph type="title"/>
          </p:nvPr>
        </p:nvSpPr>
        <p:spPr>
          <a:xfrm>
            <a:off x="653145" y="609599"/>
            <a:ext cx="3364378" cy="56061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800"/>
              <a:buFont typeface="Corbel"/>
              <a:buNone/>
            </a:pPr>
            <a:r>
              <a:rPr lang="es-AR" sz="4800"/>
              <a:t>Acción por los acreedores</a:t>
            </a:r>
            <a:endParaRPr/>
          </a:p>
        </p:txBody>
      </p:sp>
      <p:sp>
        <p:nvSpPr>
          <p:cNvPr id="295" name="Google Shape;295;p16"/>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t>Derecho Crediticio Bursatil e Insolvencia</a:t>
            </a:r>
            <a:endParaRPr/>
          </a:p>
        </p:txBody>
      </p:sp>
      <p:grpSp>
        <p:nvGrpSpPr>
          <p:cNvPr id="296" name="Google Shape;296;p16"/>
          <p:cNvGrpSpPr/>
          <p:nvPr/>
        </p:nvGrpSpPr>
        <p:grpSpPr>
          <a:xfrm>
            <a:off x="4545013" y="1545787"/>
            <a:ext cx="6451943" cy="3776028"/>
            <a:chOff x="0" y="345929"/>
            <a:chExt cx="6451943" cy="3776028"/>
          </a:xfrm>
        </p:grpSpPr>
        <p:sp>
          <p:nvSpPr>
            <p:cNvPr id="297" name="Google Shape;297;p16"/>
            <p:cNvSpPr/>
            <p:nvPr/>
          </p:nvSpPr>
          <p:spPr>
            <a:xfrm>
              <a:off x="0" y="345929"/>
              <a:ext cx="6451943" cy="915927"/>
            </a:xfrm>
            <a:prstGeom prst="roundRect">
              <a:avLst>
                <a:gd fmla="val 16667" name="adj"/>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txBox="1"/>
            <p:nvPr/>
          </p:nvSpPr>
          <p:spPr>
            <a:xfrm>
              <a:off x="44712" y="390641"/>
              <a:ext cx="6362519" cy="826503"/>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orbel"/>
                <a:buNone/>
              </a:pPr>
              <a:r>
                <a:rPr lang="es-AR" sz="1300">
                  <a:solidFill>
                    <a:schemeClr val="lt1"/>
                  </a:solidFill>
                  <a:latin typeface="Corbel"/>
                  <a:ea typeface="Corbel"/>
                  <a:cs typeface="Corbel"/>
                  <a:sym typeface="Corbel"/>
                </a:rPr>
                <a:t>ARTICULO 120.-. Sin perjuicio de la responsabilidad del síndico, cualquier acreedor interesado puede deducir a su costa esta acción, después de transcurridos TREINTA (30) días desde que haya intimado judicialmente a aquél para que la inicie.</a:t>
              </a:r>
              <a:endParaRPr sz="1300">
                <a:solidFill>
                  <a:schemeClr val="lt1"/>
                </a:solidFill>
                <a:latin typeface="Corbel"/>
                <a:ea typeface="Corbel"/>
                <a:cs typeface="Corbel"/>
                <a:sym typeface="Corbel"/>
              </a:endParaRPr>
            </a:p>
          </p:txBody>
        </p:sp>
        <p:sp>
          <p:nvSpPr>
            <p:cNvPr id="299" name="Google Shape;299;p16"/>
            <p:cNvSpPr/>
            <p:nvPr/>
          </p:nvSpPr>
          <p:spPr>
            <a:xfrm>
              <a:off x="0" y="1299296"/>
              <a:ext cx="6451943" cy="915927"/>
            </a:xfrm>
            <a:prstGeom prst="roundRect">
              <a:avLst>
                <a:gd fmla="val 16667" name="adj"/>
              </a:avLst>
            </a:prstGeom>
            <a:solidFill>
              <a:srgbClr val="E8651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txBox="1"/>
            <p:nvPr/>
          </p:nvSpPr>
          <p:spPr>
            <a:xfrm>
              <a:off x="44712" y="1344008"/>
              <a:ext cx="6362519" cy="826503"/>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orbel"/>
                <a:buNone/>
              </a:pPr>
              <a:r>
                <a:rPr lang="es-AR" sz="1300">
                  <a:solidFill>
                    <a:schemeClr val="lt1"/>
                  </a:solidFill>
                  <a:latin typeface="Corbel"/>
                  <a:ea typeface="Corbel"/>
                  <a:cs typeface="Corbel"/>
                  <a:sym typeface="Corbel"/>
                </a:rPr>
                <a:t>El acreedor que promueve esta acción no puede requerir beneficio de litigar sin gastos y, a pedido de parte y en cualquier estado del juicio, el juez puede ordenar que el tercero afiance las eventuales costas del proceso a cuyo efecto las estimará provisionalmente. No prestada la caución, el juicio se tiene por desistido con costas al accionante.</a:t>
              </a:r>
              <a:endParaRPr sz="1300">
                <a:solidFill>
                  <a:schemeClr val="lt1"/>
                </a:solidFill>
                <a:latin typeface="Corbel"/>
                <a:ea typeface="Corbel"/>
                <a:cs typeface="Corbel"/>
                <a:sym typeface="Corbel"/>
              </a:endParaRPr>
            </a:p>
          </p:txBody>
        </p:sp>
        <p:sp>
          <p:nvSpPr>
            <p:cNvPr id="301" name="Google Shape;301;p16"/>
            <p:cNvSpPr/>
            <p:nvPr/>
          </p:nvSpPr>
          <p:spPr>
            <a:xfrm>
              <a:off x="0" y="2252663"/>
              <a:ext cx="6451943" cy="915927"/>
            </a:xfrm>
            <a:prstGeom prst="roundRect">
              <a:avLst>
                <a:gd fmla="val 16667" name="adj"/>
              </a:avLst>
            </a:prstGeom>
            <a:solidFill>
              <a:srgbClr val="F37D0B"/>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txBox="1"/>
            <p:nvPr/>
          </p:nvSpPr>
          <p:spPr>
            <a:xfrm>
              <a:off x="44712" y="2297375"/>
              <a:ext cx="6362519" cy="826503"/>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orbel"/>
                <a:buNone/>
              </a:pPr>
              <a:r>
                <a:rPr lang="es-AR" sz="1300">
                  <a:solidFill>
                    <a:schemeClr val="lt1"/>
                  </a:solidFill>
                  <a:latin typeface="Corbel"/>
                  <a:ea typeface="Corbel"/>
                  <a:cs typeface="Corbel"/>
                  <a:sym typeface="Corbel"/>
                </a:rPr>
                <a:t>Revocatoria ordinaria. La acción regulada por los Artículos 961 a 972 del Código Civil, sólo puede ser intentada o continuada por los acreedores después de haber intimado al síndico para que la inicie o prosiga, sustituyendo al actor, en el término de TREINTA (30) días.</a:t>
              </a:r>
              <a:endParaRPr sz="1300">
                <a:solidFill>
                  <a:schemeClr val="lt1"/>
                </a:solidFill>
                <a:latin typeface="Corbel"/>
                <a:ea typeface="Corbel"/>
                <a:cs typeface="Corbel"/>
                <a:sym typeface="Corbel"/>
              </a:endParaRPr>
            </a:p>
          </p:txBody>
        </p:sp>
        <p:sp>
          <p:nvSpPr>
            <p:cNvPr id="303" name="Google Shape;303;p16"/>
            <p:cNvSpPr/>
            <p:nvPr/>
          </p:nvSpPr>
          <p:spPr>
            <a:xfrm>
              <a:off x="0" y="3206030"/>
              <a:ext cx="6451943" cy="915927"/>
            </a:xfrm>
            <a:prstGeom prst="roundRect">
              <a:avLst>
                <a:gd fmla="val 16667" name="adj"/>
              </a:avLst>
            </a:prstGeom>
            <a:solidFill>
              <a:srgbClr val="FC9C0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txBox="1"/>
            <p:nvPr/>
          </p:nvSpPr>
          <p:spPr>
            <a:xfrm>
              <a:off x="44712" y="3250742"/>
              <a:ext cx="6362519" cy="826503"/>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orbel"/>
                <a:buNone/>
              </a:pPr>
              <a:r>
                <a:rPr lang="es-AR" sz="1300">
                  <a:solidFill>
                    <a:schemeClr val="lt1"/>
                  </a:solidFill>
                  <a:latin typeface="Corbel"/>
                  <a:ea typeface="Corbel"/>
                  <a:cs typeface="Corbel"/>
                  <a:sym typeface="Corbel"/>
                </a:rPr>
                <a:t>Efectos. En ambos casos si se declara la ineficacia, el acreedor tiene derecho al resarcimiento de sus gastos y a una preferencia especial sobre los bienes recuperados, que determina el juez entre la tercera y la décima parte del producido de éstos, con limite en el monto de su crédito.</a:t>
              </a:r>
              <a:endParaRPr sz="1300">
                <a:solidFill>
                  <a:schemeClr val="lt1"/>
                </a:solidFill>
                <a:latin typeface="Corbel"/>
                <a:ea typeface="Corbel"/>
                <a:cs typeface="Corbel"/>
                <a:sym typeface="Corbe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8" name="Shape 308"/>
        <p:cNvGrpSpPr/>
        <p:nvPr/>
      </p:nvGrpSpPr>
      <p:grpSpPr>
        <a:xfrm>
          <a:off x="0" y="0"/>
          <a:ext cx="0" cy="0"/>
          <a:chOff x="0" y="0"/>
          <a:chExt cx="0" cy="0"/>
        </a:xfrm>
      </p:grpSpPr>
      <p:sp>
        <p:nvSpPr>
          <p:cNvPr id="309" name="Google Shape;309;p17"/>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Acción por los acreedores</a:t>
            </a:r>
            <a:endParaRPr/>
          </a:p>
        </p:txBody>
      </p:sp>
      <p:sp>
        <p:nvSpPr>
          <p:cNvPr id="310" name="Google Shape;310;p17"/>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t>Derecho Crediticio Bursatil e Insolvencia</a:t>
            </a:r>
            <a:endParaRPr/>
          </a:p>
        </p:txBody>
      </p:sp>
      <p:grpSp>
        <p:nvGrpSpPr>
          <p:cNvPr id="311" name="Google Shape;311;p17"/>
          <p:cNvGrpSpPr/>
          <p:nvPr/>
        </p:nvGrpSpPr>
        <p:grpSpPr>
          <a:xfrm>
            <a:off x="1146085" y="2559068"/>
            <a:ext cx="9866492" cy="3276392"/>
            <a:chOff x="3085" y="260538"/>
            <a:chExt cx="9866492" cy="3276392"/>
          </a:xfrm>
        </p:grpSpPr>
        <p:sp>
          <p:nvSpPr>
            <p:cNvPr id="312" name="Google Shape;312;p17"/>
            <p:cNvSpPr/>
            <p:nvPr/>
          </p:nvSpPr>
          <p:spPr>
            <a:xfrm>
              <a:off x="3085" y="260538"/>
              <a:ext cx="3008077" cy="1203230"/>
            </a:xfrm>
            <a:prstGeom prst="rect">
              <a:avLst/>
            </a:prstGeom>
            <a:solidFill>
              <a:srgbClr val="D6D445"/>
            </a:solidFill>
            <a:ln cap="flat" cmpd="sng" w="19050">
              <a:solidFill>
                <a:srgbClr val="D6D4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p:cNvSpPr txBox="1"/>
            <p:nvPr/>
          </p:nvSpPr>
          <p:spPr>
            <a:xfrm>
              <a:off x="3085" y="260538"/>
              <a:ext cx="3008077" cy="120323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Corbel"/>
                <a:buNone/>
              </a:pPr>
              <a:r>
                <a:rPr lang="es-AR" sz="2400">
                  <a:solidFill>
                    <a:schemeClr val="lt1"/>
                  </a:solidFill>
                  <a:latin typeface="Corbel"/>
                  <a:ea typeface="Corbel"/>
                  <a:cs typeface="Corbel"/>
                  <a:sym typeface="Corbel"/>
                </a:rPr>
                <a:t>Puede ser ejercida por los acreedores</a:t>
              </a:r>
              <a:endParaRPr sz="2400">
                <a:solidFill>
                  <a:schemeClr val="lt1"/>
                </a:solidFill>
                <a:latin typeface="Corbel"/>
                <a:ea typeface="Corbel"/>
                <a:cs typeface="Corbel"/>
                <a:sym typeface="Corbel"/>
              </a:endParaRPr>
            </a:p>
          </p:txBody>
        </p:sp>
        <p:sp>
          <p:nvSpPr>
            <p:cNvPr id="314" name="Google Shape;314;p17"/>
            <p:cNvSpPr/>
            <p:nvPr/>
          </p:nvSpPr>
          <p:spPr>
            <a:xfrm>
              <a:off x="3085" y="1463769"/>
              <a:ext cx="3008077" cy="2073161"/>
            </a:xfrm>
            <a:prstGeom prst="rect">
              <a:avLst/>
            </a:prstGeom>
            <a:solidFill>
              <a:srgbClr val="EFEECE">
                <a:alpha val="89803"/>
              </a:srgbClr>
            </a:solidFill>
            <a:ln cap="flat" cmpd="sng" w="19050">
              <a:solidFill>
                <a:srgbClr val="EFEECE">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7"/>
            <p:cNvSpPr txBox="1"/>
            <p:nvPr/>
          </p:nvSpPr>
          <p:spPr>
            <a:xfrm>
              <a:off x="3085" y="1463769"/>
              <a:ext cx="3008077" cy="2073161"/>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s-AR" sz="2400" u="none" cap="none" strike="noStrike">
                  <a:solidFill>
                    <a:schemeClr val="dk1"/>
                  </a:solidFill>
                  <a:latin typeface="Corbel"/>
                  <a:ea typeface="Corbel"/>
                  <a:cs typeface="Corbel"/>
                  <a:sym typeface="Corbel"/>
                </a:rPr>
                <a:t>En defecto del sindico</a:t>
              </a:r>
              <a:endParaRPr b="0" i="0" sz="2400" u="none" cap="none" strike="noStrike">
                <a:solidFill>
                  <a:schemeClr val="dk1"/>
                </a:solidFill>
                <a:latin typeface="Corbel"/>
                <a:ea typeface="Corbel"/>
                <a:cs typeface="Corbel"/>
                <a:sym typeface="Corbel"/>
              </a:endParaRPr>
            </a:p>
            <a:p>
              <a:pPr indent="-228600" lvl="2" marL="457200" marR="0" rtl="0" algn="l">
                <a:lnSpc>
                  <a:spcPct val="90000"/>
                </a:lnSpc>
                <a:spcBef>
                  <a:spcPts val="360"/>
                </a:spcBef>
                <a:spcAft>
                  <a:spcPts val="0"/>
                </a:spcAft>
                <a:buClr>
                  <a:schemeClr val="dk1"/>
                </a:buClr>
                <a:buSzPts val="2400"/>
                <a:buFont typeface="Corbel"/>
                <a:buChar char="•"/>
              </a:pPr>
              <a:r>
                <a:rPr b="0" i="0" lang="es-AR" sz="2400" u="none" cap="none" strike="noStrike">
                  <a:solidFill>
                    <a:schemeClr val="dk1"/>
                  </a:solidFill>
                  <a:latin typeface="Corbel"/>
                  <a:ea typeface="Corbel"/>
                  <a:cs typeface="Corbel"/>
                  <a:sym typeface="Corbel"/>
                </a:rPr>
                <a:t>Transcurridos 30 dias</a:t>
              </a:r>
              <a:endParaRPr b="0" i="0" sz="2400" u="none" cap="none" strike="noStrike">
                <a:solidFill>
                  <a:schemeClr val="dk1"/>
                </a:solidFill>
                <a:latin typeface="Corbel"/>
                <a:ea typeface="Corbel"/>
                <a:cs typeface="Corbel"/>
                <a:sym typeface="Corbel"/>
              </a:endParaRPr>
            </a:p>
          </p:txBody>
        </p:sp>
        <p:sp>
          <p:nvSpPr>
            <p:cNvPr id="316" name="Google Shape;316;p17"/>
            <p:cNvSpPr/>
            <p:nvPr/>
          </p:nvSpPr>
          <p:spPr>
            <a:xfrm>
              <a:off x="3432292" y="260538"/>
              <a:ext cx="3008077" cy="1203230"/>
            </a:xfrm>
            <a:prstGeom prst="rect">
              <a:avLst/>
            </a:prstGeom>
            <a:solidFill>
              <a:srgbClr val="61AD86"/>
            </a:solidFill>
            <a:ln cap="flat" cmpd="sng" w="19050">
              <a:solidFill>
                <a:srgbClr val="61AD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txBox="1"/>
            <p:nvPr/>
          </p:nvSpPr>
          <p:spPr>
            <a:xfrm>
              <a:off x="3432292" y="260538"/>
              <a:ext cx="3008077" cy="120323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Corbel"/>
                <a:buNone/>
              </a:pPr>
              <a:r>
                <a:rPr lang="es-AR" sz="2400">
                  <a:solidFill>
                    <a:schemeClr val="lt1"/>
                  </a:solidFill>
                  <a:latin typeface="Corbel"/>
                  <a:ea typeface="Corbel"/>
                  <a:cs typeface="Corbel"/>
                  <a:sym typeface="Corbel"/>
                </a:rPr>
                <a:t>Para desalentar acciones poco serias</a:t>
              </a:r>
              <a:endParaRPr sz="2400">
                <a:solidFill>
                  <a:schemeClr val="lt1"/>
                </a:solidFill>
                <a:latin typeface="Corbel"/>
                <a:ea typeface="Corbel"/>
                <a:cs typeface="Corbel"/>
                <a:sym typeface="Corbel"/>
              </a:endParaRPr>
            </a:p>
          </p:txBody>
        </p:sp>
        <p:sp>
          <p:nvSpPr>
            <p:cNvPr id="318" name="Google Shape;318;p17"/>
            <p:cNvSpPr/>
            <p:nvPr/>
          </p:nvSpPr>
          <p:spPr>
            <a:xfrm>
              <a:off x="3432292" y="1463769"/>
              <a:ext cx="3008077" cy="2073161"/>
            </a:xfrm>
            <a:prstGeom prst="rect">
              <a:avLst/>
            </a:prstGeom>
            <a:solidFill>
              <a:srgbClr val="D1E3DA">
                <a:alpha val="89803"/>
              </a:srgbClr>
            </a:solidFill>
            <a:ln cap="flat" cmpd="sng" w="19050">
              <a:solidFill>
                <a:srgbClr val="D1E3D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7"/>
            <p:cNvSpPr txBox="1"/>
            <p:nvPr/>
          </p:nvSpPr>
          <p:spPr>
            <a:xfrm>
              <a:off x="3432292" y="1463769"/>
              <a:ext cx="3008077" cy="2073161"/>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s-AR" sz="2400" u="none" cap="none" strike="noStrike">
                  <a:solidFill>
                    <a:schemeClr val="dk1"/>
                  </a:solidFill>
                  <a:latin typeface="Corbel"/>
                  <a:ea typeface="Corbel"/>
                  <a:cs typeface="Corbel"/>
                  <a:sym typeface="Corbel"/>
                </a:rPr>
                <a:t>Imposibilidad de litigar sin gastos</a:t>
              </a:r>
              <a:endParaRPr b="0" i="0" sz="2400" u="none" cap="none" strike="noStrike">
                <a:solidFill>
                  <a:schemeClr val="dk1"/>
                </a:solidFill>
                <a:latin typeface="Corbel"/>
                <a:ea typeface="Corbel"/>
                <a:cs typeface="Corbel"/>
                <a:sym typeface="Corbel"/>
              </a:endParaRPr>
            </a:p>
            <a:p>
              <a:pPr indent="-228600" lvl="1" marL="228600" marR="0" rtl="0" algn="l">
                <a:lnSpc>
                  <a:spcPct val="90000"/>
                </a:lnSpc>
                <a:spcBef>
                  <a:spcPts val="360"/>
                </a:spcBef>
                <a:spcAft>
                  <a:spcPts val="0"/>
                </a:spcAft>
                <a:buClr>
                  <a:schemeClr val="dk1"/>
                </a:buClr>
                <a:buSzPts val="2400"/>
                <a:buFont typeface="Corbel"/>
                <a:buChar char="•"/>
              </a:pPr>
              <a:r>
                <a:rPr b="0" i="0" lang="es-AR" sz="2400" u="none" cap="none" strike="noStrike">
                  <a:solidFill>
                    <a:schemeClr val="dk1"/>
                  </a:solidFill>
                  <a:latin typeface="Corbel"/>
                  <a:ea typeface="Corbel"/>
                  <a:cs typeface="Corbel"/>
                  <a:sym typeface="Corbel"/>
                </a:rPr>
                <a:t>Posibilidad de arraigo por costas del proceso</a:t>
              </a:r>
              <a:endParaRPr b="0" i="0" sz="2400" u="none" cap="none" strike="noStrike">
                <a:solidFill>
                  <a:schemeClr val="dk1"/>
                </a:solidFill>
                <a:latin typeface="Corbel"/>
                <a:ea typeface="Corbel"/>
                <a:cs typeface="Corbel"/>
                <a:sym typeface="Corbel"/>
              </a:endParaRPr>
            </a:p>
          </p:txBody>
        </p:sp>
        <p:sp>
          <p:nvSpPr>
            <p:cNvPr id="320" name="Google Shape;320;p17"/>
            <p:cNvSpPr/>
            <p:nvPr/>
          </p:nvSpPr>
          <p:spPr>
            <a:xfrm>
              <a:off x="6861500" y="260538"/>
              <a:ext cx="3008077" cy="1203230"/>
            </a:xfrm>
            <a:prstGeom prst="rect">
              <a:avLst/>
            </a:prstGeom>
            <a:solidFill>
              <a:srgbClr val="818181"/>
            </a:solidFill>
            <a:ln cap="flat" cmpd="sng" w="19050">
              <a:solidFill>
                <a:srgbClr val="8181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txBox="1"/>
            <p:nvPr/>
          </p:nvSpPr>
          <p:spPr>
            <a:xfrm>
              <a:off x="6861500" y="260538"/>
              <a:ext cx="3008077" cy="120323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Clr>
                  <a:schemeClr val="lt1"/>
                </a:buClr>
                <a:buSzPts val="2400"/>
                <a:buFont typeface="Corbel"/>
                <a:buNone/>
              </a:pPr>
              <a:r>
                <a:rPr lang="es-AR" sz="2400">
                  <a:solidFill>
                    <a:schemeClr val="lt1"/>
                  </a:solidFill>
                  <a:latin typeface="Corbel"/>
                  <a:ea typeface="Corbel"/>
                  <a:cs typeface="Corbel"/>
                  <a:sym typeface="Corbel"/>
                </a:rPr>
                <a:t>Revocatoria ordinaria – Accion pauleana</a:t>
              </a:r>
              <a:endParaRPr sz="2400">
                <a:solidFill>
                  <a:schemeClr val="lt1"/>
                </a:solidFill>
                <a:latin typeface="Corbel"/>
                <a:ea typeface="Corbel"/>
                <a:cs typeface="Corbel"/>
                <a:sym typeface="Corbel"/>
              </a:endParaRPr>
            </a:p>
          </p:txBody>
        </p:sp>
        <p:sp>
          <p:nvSpPr>
            <p:cNvPr id="322" name="Google Shape;322;p17"/>
            <p:cNvSpPr/>
            <p:nvPr/>
          </p:nvSpPr>
          <p:spPr>
            <a:xfrm>
              <a:off x="6861500" y="1463769"/>
              <a:ext cx="3008077" cy="2073161"/>
            </a:xfrm>
            <a:prstGeom prst="rect">
              <a:avLst/>
            </a:prstGeom>
            <a:solidFill>
              <a:srgbClr val="D6D6D6">
                <a:alpha val="89803"/>
              </a:srgbClr>
            </a:solidFill>
            <a:ln cap="flat" cmpd="sng" w="19050">
              <a:solidFill>
                <a:srgbClr val="D6D6D6">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txBox="1"/>
            <p:nvPr/>
          </p:nvSpPr>
          <p:spPr>
            <a:xfrm>
              <a:off x="6861500" y="1463769"/>
              <a:ext cx="3008077" cy="2073161"/>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s-AR" sz="2400" u="none" cap="none" strike="noStrike">
                  <a:solidFill>
                    <a:schemeClr val="dk1"/>
                  </a:solidFill>
                  <a:latin typeface="Corbel"/>
                  <a:ea typeface="Corbel"/>
                  <a:cs typeface="Corbel"/>
                  <a:sym typeface="Corbel"/>
                </a:rPr>
                <a:t>Articulos 338 a 342 CCCN</a:t>
              </a:r>
              <a:endParaRPr b="0" i="0" sz="2400" u="none" cap="none" strike="noStrike">
                <a:solidFill>
                  <a:schemeClr val="dk1"/>
                </a:solidFill>
                <a:latin typeface="Corbel"/>
                <a:ea typeface="Corbel"/>
                <a:cs typeface="Corbel"/>
                <a:sym typeface="Corbe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sp>
        <p:nvSpPr>
          <p:cNvPr id="328" name="Google Shape;328;p18"/>
          <p:cNvSpPr/>
          <p:nvPr/>
        </p:nvSpPr>
        <p:spPr>
          <a:xfrm>
            <a:off x="0" y="0"/>
            <a:ext cx="12191999" cy="6857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321732" y="321733"/>
            <a:ext cx="11548533" cy="1886373"/>
          </a:xfrm>
          <a:prstGeom prst="rect">
            <a:avLst/>
          </a:prstGeom>
          <a:no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orbel"/>
              <a:buNone/>
            </a:pPr>
            <a:r>
              <a:rPr lang="es-AR">
                <a:solidFill>
                  <a:srgbClr val="FFFFFF"/>
                </a:solidFill>
              </a:rPr>
              <a:t>Acción por los acreedores - Jurisprudencia</a:t>
            </a:r>
            <a:endParaRPr/>
          </a:p>
        </p:txBody>
      </p:sp>
      <p:sp>
        <p:nvSpPr>
          <p:cNvPr id="331" name="Google Shape;331;p18"/>
          <p:cNvSpPr/>
          <p:nvPr/>
        </p:nvSpPr>
        <p:spPr>
          <a:xfrm>
            <a:off x="0" y="2529841"/>
            <a:ext cx="12192000" cy="432815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32" name="Google Shape;332;p18"/>
          <p:cNvSpPr txBox="1"/>
          <p:nvPr>
            <p:ph idx="1" type="body"/>
          </p:nvPr>
        </p:nvSpPr>
        <p:spPr>
          <a:xfrm>
            <a:off x="1143000" y="2852530"/>
            <a:ext cx="9872871" cy="3243469"/>
          </a:xfrm>
          <a:prstGeom prst="rect">
            <a:avLst/>
          </a:prstGeom>
          <a:no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i="1" lang="es-AR">
                <a:solidFill>
                  <a:schemeClr val="dk1"/>
                </a:solidFill>
              </a:rPr>
              <a:t>"Posee legitimación activa la acreedora que intimó judicialmente a la sindicatura para que inicie la acción de ineficacia concursal por conocimiento del estado de insolvencia respecto del contrato de cesión celebrado entre la fallida y un tercero, y luego de transcurrido el plazo legal promovió la demanda, ya que el desplazamiento de la legitimidad sustancial activa de su titular originario -sindicatura- a la actora, en los términos del art. 120 de la ley de concursos y quiebras, quitó trascendencia a la no obtención de la autorización previa de la mayoría simple de acreedores concurrentes" (C2"CivCom Cdrdoba, 31/7/07, "Toledo Gallo, Norma A. c/Navarro, Sergio E., y otro", LLC, 2007-C-1165, y LLonline, AlUJUW6851/2007). </a:t>
            </a:r>
            <a:endParaRPr/>
          </a:p>
        </p:txBody>
      </p:sp>
      <p:sp>
        <p:nvSpPr>
          <p:cNvPr id="333" name="Google Shape;333;p18"/>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chemeClr val="dk1"/>
                </a:solidFill>
              </a:rPr>
              <a:t>Derecho Crediticio Bursatil e Insolvencia</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7" name="Shape 337"/>
        <p:cNvGrpSpPr/>
        <p:nvPr/>
      </p:nvGrpSpPr>
      <p:grpSpPr>
        <a:xfrm>
          <a:off x="0" y="0"/>
          <a:ext cx="0" cy="0"/>
          <a:chOff x="0" y="0"/>
          <a:chExt cx="0" cy="0"/>
        </a:xfrm>
      </p:grpSpPr>
      <p:sp>
        <p:nvSpPr>
          <p:cNvPr id="338" name="Google Shape;338;p19"/>
          <p:cNvSpPr/>
          <p:nvPr/>
        </p:nvSpPr>
        <p:spPr>
          <a:xfrm>
            <a:off x="0" y="0"/>
            <a:ext cx="1219200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39" name="Google Shape;339;p19"/>
          <p:cNvSpPr/>
          <p:nvPr/>
        </p:nvSpPr>
        <p:spPr>
          <a:xfrm>
            <a:off x="231140" y="4572000"/>
            <a:ext cx="11724640" cy="204977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a:off x="231140" y="245246"/>
            <a:ext cx="11724640" cy="6376533"/>
          </a:xfrm>
          <a:prstGeom prst="rect">
            <a:avLst/>
          </a:prstGeom>
          <a:no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txBox="1"/>
          <p:nvPr>
            <p:ph type="title"/>
          </p:nvPr>
        </p:nvSpPr>
        <p:spPr>
          <a:xfrm>
            <a:off x="1143000" y="4780722"/>
            <a:ext cx="9875520" cy="1410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orbel"/>
              <a:buNone/>
            </a:pPr>
            <a:r>
              <a:rPr lang="es-AR">
                <a:solidFill>
                  <a:srgbClr val="FFFFFF"/>
                </a:solidFill>
              </a:rPr>
              <a:t>Actos otorgados durante un concurso preventivo</a:t>
            </a:r>
            <a:endParaRPr/>
          </a:p>
        </p:txBody>
      </p:sp>
      <p:sp>
        <p:nvSpPr>
          <p:cNvPr id="342" name="Google Shape;342;p19"/>
          <p:cNvSpPr txBox="1"/>
          <p:nvPr>
            <p:ph idx="1" type="body"/>
          </p:nvPr>
        </p:nvSpPr>
        <p:spPr>
          <a:xfrm>
            <a:off x="1143000" y="632873"/>
            <a:ext cx="9872871" cy="3551501"/>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AR">
                <a:solidFill>
                  <a:schemeClr val="dk1"/>
                </a:solidFill>
              </a:rPr>
              <a:t>ARTICULO 121.-. El primer párrafo del Artículo 119 no es aplicable respecto de los actos de administración ordinaria otorgados durante la existencia de un concurso preventivo, ni respecto de los actos de administración que excedan el giro ordinario o de disposición otorgados en el mismo período, o durante la etapa del cumplimiento del acuerdo con autorización judicial conferida en los términos de los Artículos 16 ó 59 tercer párrafo.</a:t>
            </a:r>
            <a:endParaRPr/>
          </a:p>
          <a:p>
            <a:pPr indent="0" lvl="0" marL="0" rtl="0" algn="l">
              <a:lnSpc>
                <a:spcPct val="90000"/>
              </a:lnSpc>
              <a:spcBef>
                <a:spcPts val="1400"/>
              </a:spcBef>
              <a:spcAft>
                <a:spcPts val="0"/>
              </a:spcAft>
              <a:buSzPts val="1760"/>
              <a:buNone/>
            </a:pPr>
            <a:br>
              <a:rPr lang="es-AR">
                <a:solidFill>
                  <a:schemeClr val="dk1"/>
                </a:solidFill>
              </a:rPr>
            </a:br>
            <a:endParaRPr>
              <a:solidFill>
                <a:schemeClr val="dk1"/>
              </a:solidFill>
            </a:endParaRPr>
          </a:p>
        </p:txBody>
      </p:sp>
      <p:sp>
        <p:nvSpPr>
          <p:cNvPr id="343" name="Google Shape;343;p19"/>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7" name="Shape 347"/>
        <p:cNvGrpSpPr/>
        <p:nvPr/>
      </p:nvGrpSpPr>
      <p:grpSpPr>
        <a:xfrm>
          <a:off x="0" y="0"/>
          <a:ext cx="0" cy="0"/>
          <a:chOff x="0" y="0"/>
          <a:chExt cx="0" cy="0"/>
        </a:xfrm>
      </p:grpSpPr>
      <p:sp>
        <p:nvSpPr>
          <p:cNvPr id="348" name="Google Shape;348;p20"/>
          <p:cNvSpPr/>
          <p:nvPr/>
        </p:nvSpPr>
        <p:spPr>
          <a:xfrm>
            <a:off x="0" y="0"/>
            <a:ext cx="12191999" cy="6857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0"/>
          <p:cNvSpPr/>
          <p:nvPr/>
        </p:nvSpPr>
        <p:spPr>
          <a:xfrm>
            <a:off x="321732" y="321733"/>
            <a:ext cx="11548533" cy="1886373"/>
          </a:xfrm>
          <a:prstGeom prst="rect">
            <a:avLst/>
          </a:prstGeom>
          <a:no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0"/>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orbel"/>
              <a:buNone/>
            </a:pPr>
            <a:r>
              <a:rPr lang="es-AR">
                <a:solidFill>
                  <a:srgbClr val="FFFFFF"/>
                </a:solidFill>
              </a:rPr>
              <a:t>Actos otorgados durante un concurso preventivo</a:t>
            </a:r>
            <a:endParaRPr/>
          </a:p>
        </p:txBody>
      </p:sp>
      <p:sp>
        <p:nvSpPr>
          <p:cNvPr id="351" name="Google Shape;351;p20"/>
          <p:cNvSpPr/>
          <p:nvPr/>
        </p:nvSpPr>
        <p:spPr>
          <a:xfrm>
            <a:off x="0" y="2529841"/>
            <a:ext cx="12192000" cy="432815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52" name="Google Shape;352;p20"/>
          <p:cNvSpPr txBox="1"/>
          <p:nvPr>
            <p:ph idx="1" type="body"/>
          </p:nvPr>
        </p:nvSpPr>
        <p:spPr>
          <a:xfrm>
            <a:off x="1143000" y="2852530"/>
            <a:ext cx="9872871" cy="3243469"/>
          </a:xfrm>
          <a:prstGeom prst="rect">
            <a:avLst/>
          </a:prstGeom>
          <a:no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AR">
                <a:solidFill>
                  <a:schemeClr val="dk1"/>
                </a:solidFill>
              </a:rPr>
              <a:t>Quiebra indirecta</a:t>
            </a:r>
            <a:endParaRPr/>
          </a:p>
          <a:p>
            <a:pPr indent="-182880" lvl="1" marL="457200" rtl="0" algn="l">
              <a:lnSpc>
                <a:spcPct val="90000"/>
              </a:lnSpc>
              <a:spcBef>
                <a:spcPts val="200"/>
              </a:spcBef>
              <a:spcAft>
                <a:spcPts val="0"/>
              </a:spcAft>
              <a:buSzPts val="1600"/>
              <a:buChar char="•"/>
            </a:pPr>
            <a:r>
              <a:rPr lang="es-AR">
                <a:solidFill>
                  <a:schemeClr val="dk1"/>
                </a:solidFill>
              </a:rPr>
              <a:t>3ro cocontratante no puede alegar desconocimiento del estado de cesacion de pagos</a:t>
            </a:r>
            <a:endParaRPr/>
          </a:p>
          <a:p>
            <a:pPr indent="-182880" lvl="2" marL="731520" rtl="0" algn="l">
              <a:lnSpc>
                <a:spcPct val="90000"/>
              </a:lnSpc>
              <a:spcBef>
                <a:spcPts val="600"/>
              </a:spcBef>
              <a:spcAft>
                <a:spcPts val="0"/>
              </a:spcAft>
              <a:buSzPts val="1440"/>
              <a:buChar char="•"/>
            </a:pPr>
            <a:r>
              <a:rPr lang="es-AR">
                <a:solidFill>
                  <a:schemeClr val="dk1"/>
                </a:solidFill>
              </a:rPr>
              <a:t>Si asi fuese nadie contrataría con un concursado</a:t>
            </a:r>
            <a:endParaRPr/>
          </a:p>
          <a:p>
            <a:pPr indent="-182880" lvl="1" marL="457200" rtl="0" algn="l">
              <a:lnSpc>
                <a:spcPct val="90000"/>
              </a:lnSpc>
              <a:spcBef>
                <a:spcPts val="600"/>
              </a:spcBef>
              <a:spcAft>
                <a:spcPts val="0"/>
              </a:spcAft>
              <a:buSzPts val="1600"/>
              <a:buChar char="•"/>
            </a:pPr>
            <a:r>
              <a:rPr lang="es-AR">
                <a:solidFill>
                  <a:schemeClr val="dk1"/>
                </a:solidFill>
              </a:rPr>
              <a:t>Actos del 121 no pueden cuestionarse con la acción de ineficacia.</a:t>
            </a:r>
            <a:endParaRPr/>
          </a:p>
          <a:p>
            <a:pPr indent="-182880" lvl="1" marL="457200" rtl="0" algn="l">
              <a:lnSpc>
                <a:spcPct val="90000"/>
              </a:lnSpc>
              <a:spcBef>
                <a:spcPts val="600"/>
              </a:spcBef>
              <a:spcAft>
                <a:spcPts val="0"/>
              </a:spcAft>
              <a:buSzPts val="1600"/>
              <a:buChar char="•"/>
            </a:pPr>
            <a:r>
              <a:rPr lang="es-AR">
                <a:solidFill>
                  <a:schemeClr val="dk1"/>
                </a:solidFill>
              </a:rPr>
              <a:t>En todo caso se podrán aplicar normas del derecho comun </a:t>
            </a:r>
            <a:endParaRPr/>
          </a:p>
          <a:p>
            <a:pPr indent="-182880" lvl="2" marL="731520" rtl="0" algn="l">
              <a:lnSpc>
                <a:spcPct val="90000"/>
              </a:lnSpc>
              <a:spcBef>
                <a:spcPts val="600"/>
              </a:spcBef>
              <a:spcAft>
                <a:spcPts val="0"/>
              </a:spcAft>
              <a:buSzPts val="1440"/>
              <a:buChar char="•"/>
            </a:pPr>
            <a:r>
              <a:rPr lang="es-AR">
                <a:solidFill>
                  <a:schemeClr val="dk1"/>
                </a:solidFill>
              </a:rPr>
              <a:t>Ejemplo: Fraude</a:t>
            </a:r>
            <a:endParaRPr/>
          </a:p>
          <a:p>
            <a:pPr indent="-182880" lvl="1" marL="457200" rtl="0" algn="l">
              <a:lnSpc>
                <a:spcPct val="90000"/>
              </a:lnSpc>
              <a:spcBef>
                <a:spcPts val="600"/>
              </a:spcBef>
              <a:spcAft>
                <a:spcPts val="0"/>
              </a:spcAft>
              <a:buSzPts val="1600"/>
              <a:buChar char="•"/>
            </a:pPr>
            <a:r>
              <a:rPr lang="es-AR">
                <a:solidFill>
                  <a:schemeClr val="dk1"/>
                </a:solidFill>
              </a:rPr>
              <a:t>Si requiriesen autorizacion judicial y no la hubiesen requerido</a:t>
            </a:r>
            <a:endParaRPr/>
          </a:p>
          <a:p>
            <a:pPr indent="-182880" lvl="2" marL="731520" rtl="0" algn="l">
              <a:lnSpc>
                <a:spcPct val="90000"/>
              </a:lnSpc>
              <a:spcBef>
                <a:spcPts val="600"/>
              </a:spcBef>
              <a:spcAft>
                <a:spcPts val="0"/>
              </a:spcAft>
              <a:buSzPts val="1440"/>
              <a:buChar char="•"/>
            </a:pPr>
            <a:r>
              <a:rPr lang="es-AR">
                <a:solidFill>
                  <a:schemeClr val="dk1"/>
                </a:solidFill>
              </a:rPr>
              <a:t>Ineficacia de pleno derecho (articulo 17)</a:t>
            </a:r>
            <a:endParaRPr/>
          </a:p>
        </p:txBody>
      </p:sp>
      <p:sp>
        <p:nvSpPr>
          <p:cNvPr id="353" name="Google Shape;353;p20"/>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chemeClr val="dk1"/>
                </a:solidFill>
              </a:rPr>
              <a:t>Derecho Crediticio Bursatil e Insolvencia</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7" name="Shape 357"/>
        <p:cNvGrpSpPr/>
        <p:nvPr/>
      </p:nvGrpSpPr>
      <p:grpSpPr>
        <a:xfrm>
          <a:off x="0" y="0"/>
          <a:ext cx="0" cy="0"/>
          <a:chOff x="0" y="0"/>
          <a:chExt cx="0" cy="0"/>
        </a:xfrm>
      </p:grpSpPr>
      <p:sp>
        <p:nvSpPr>
          <p:cNvPr id="358" name="Google Shape;358;p21"/>
          <p:cNvSpPr/>
          <p:nvPr/>
        </p:nvSpPr>
        <p:spPr>
          <a:xfrm>
            <a:off x="0" y="0"/>
            <a:ext cx="12192001"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59" name="Google Shape;359;p21"/>
          <p:cNvSpPr/>
          <p:nvPr/>
        </p:nvSpPr>
        <p:spPr>
          <a:xfrm>
            <a:off x="231140" y="243840"/>
            <a:ext cx="11724640" cy="6377939"/>
          </a:xfrm>
          <a:prstGeom prst="rect">
            <a:avLst/>
          </a:prstGeom>
          <a:no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1"/>
          <p:cNvSpPr txBox="1"/>
          <p:nvPr>
            <p:ph type="title"/>
          </p:nvPr>
        </p:nvSpPr>
        <p:spPr>
          <a:xfrm>
            <a:off x="661855" y="696686"/>
            <a:ext cx="3570511" cy="53993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orbel"/>
              <a:buNone/>
            </a:pPr>
            <a:r>
              <a:rPr lang="es-AR" sz="3200">
                <a:solidFill>
                  <a:srgbClr val="FFFFFF"/>
                </a:solidFill>
              </a:rPr>
              <a:t>Pago al acreedor peticionante de quiebra: presunción.</a:t>
            </a:r>
            <a:endParaRPr/>
          </a:p>
        </p:txBody>
      </p:sp>
      <p:cxnSp>
        <p:nvCxnSpPr>
          <p:cNvPr id="361" name="Google Shape;361;p21"/>
          <p:cNvCxnSpPr/>
          <p:nvPr/>
        </p:nvCxnSpPr>
        <p:spPr>
          <a:xfrm rot="10800000">
            <a:off x="4653842" y="2054826"/>
            <a:ext cx="0" cy="2743200"/>
          </a:xfrm>
          <a:prstGeom prst="straightConnector1">
            <a:avLst/>
          </a:prstGeom>
          <a:noFill/>
          <a:ln cap="flat" cmpd="sng" w="12700">
            <a:solidFill>
              <a:srgbClr val="FFFFFF"/>
            </a:solidFill>
            <a:prstDash val="solid"/>
            <a:round/>
            <a:headEnd len="sm" w="sm" type="none"/>
            <a:tailEnd len="sm" w="sm" type="none"/>
          </a:ln>
        </p:spPr>
      </p:cxnSp>
      <p:sp>
        <p:nvSpPr>
          <p:cNvPr id="362" name="Google Shape;362;p21"/>
          <p:cNvSpPr txBox="1"/>
          <p:nvPr>
            <p:ph idx="1" type="body"/>
          </p:nvPr>
        </p:nvSpPr>
        <p:spPr>
          <a:xfrm>
            <a:off x="5075318" y="609600"/>
            <a:ext cx="6359029" cy="5486400"/>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600"/>
              <a:buChar char="•"/>
            </a:pPr>
            <a:r>
              <a:rPr lang="es-AR" sz="2000">
                <a:solidFill>
                  <a:srgbClr val="FFFFFF"/>
                </a:solidFill>
              </a:rPr>
              <a:t>ARTICULO 122.- Cuando el acreedor peticionante, luego de promovida la petición de quiebra, recibiera cualquier bien en pago o dación en pago de un tercero para aplicar al crédito hecho valer en el expediente, se presume que se han entregado y recibido en favor de la generalidad de los acreedores, siendo inoponibles a ellos el otro carácter.</a:t>
            </a:r>
            <a:endParaRPr/>
          </a:p>
          <a:p>
            <a:pPr indent="-182880" lvl="0" marL="228600" rtl="0" algn="l">
              <a:lnSpc>
                <a:spcPct val="90000"/>
              </a:lnSpc>
              <a:spcBef>
                <a:spcPts val="1400"/>
              </a:spcBef>
              <a:spcAft>
                <a:spcPts val="0"/>
              </a:spcAft>
              <a:buSzPts val="1600"/>
              <a:buChar char="•"/>
            </a:pPr>
            <a:r>
              <a:rPr lang="es-AR" sz="2000">
                <a:solidFill>
                  <a:srgbClr val="FFFFFF"/>
                </a:solidFill>
              </a:rPr>
              <a:t>Reintegro. El acreedor debe reintegrar al concurso lo recibido, pudiendo compelérsele con intereses hasta la tasa fijada en el Artículo 565 del Código de Comercio, en caso de resistencia injustificada.</a:t>
            </a:r>
            <a:endParaRPr/>
          </a:p>
          <a:p>
            <a:pPr indent="0" lvl="0" marL="0" rtl="0" algn="l">
              <a:lnSpc>
                <a:spcPct val="90000"/>
              </a:lnSpc>
              <a:spcBef>
                <a:spcPts val="1400"/>
              </a:spcBef>
              <a:spcAft>
                <a:spcPts val="0"/>
              </a:spcAft>
              <a:buSzPts val="1600"/>
              <a:buNone/>
            </a:pPr>
            <a:br>
              <a:rPr lang="es-AR" sz="2000">
                <a:solidFill>
                  <a:srgbClr val="FFFFFF"/>
                </a:solidFill>
              </a:rPr>
            </a:br>
            <a:endParaRPr sz="2000">
              <a:solidFill>
                <a:srgbClr val="FFFFFF"/>
              </a:solidFill>
            </a:endParaRPr>
          </a:p>
        </p:txBody>
      </p:sp>
      <p:sp>
        <p:nvSpPr>
          <p:cNvPr id="363" name="Google Shape;363;p2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2"/>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Pago al acreedor peticionante de quiebra: presunción.</a:t>
            </a:r>
            <a:endParaRPr/>
          </a:p>
        </p:txBody>
      </p:sp>
      <p:sp>
        <p:nvSpPr>
          <p:cNvPr id="369" name="Google Shape;369;p22"/>
          <p:cNvSpPr txBox="1"/>
          <p:nvPr>
            <p:ph idx="1" type="body"/>
          </p:nvPr>
        </p:nvSpPr>
        <p:spPr>
          <a:xfrm>
            <a:off x="677334" y="2160589"/>
            <a:ext cx="8596668" cy="2121479"/>
          </a:xfrm>
          <a:prstGeom prst="rect">
            <a:avLst/>
          </a:prstGeom>
          <a:noFill/>
          <a:ln>
            <a:noFill/>
          </a:ln>
        </p:spPr>
        <p:txBody>
          <a:bodyPr anchorCtr="0" anchor="t" bIns="45700" lIns="91425" spcFirstLastPara="1" rIns="91425" wrap="square" tIns="45700">
            <a:normAutofit fontScale="92500" lnSpcReduction="10000"/>
          </a:bodyPr>
          <a:lstStyle/>
          <a:p>
            <a:pPr indent="-182880" lvl="0" marL="228600" rtl="0" algn="l">
              <a:lnSpc>
                <a:spcPct val="90000"/>
              </a:lnSpc>
              <a:spcBef>
                <a:spcPts val="0"/>
              </a:spcBef>
              <a:spcAft>
                <a:spcPts val="0"/>
              </a:spcAft>
              <a:buSzPct val="80000"/>
              <a:buChar char="•"/>
            </a:pPr>
            <a:r>
              <a:rPr lang="es-AR"/>
              <a:t>Quiebra declarada con posterioridad a peticion anterior rechazada por haber recibido pago de un tercero</a:t>
            </a:r>
            <a:endParaRPr/>
          </a:p>
          <a:p>
            <a:pPr indent="-182880" lvl="1" marL="457200" rtl="0" algn="l">
              <a:lnSpc>
                <a:spcPct val="90000"/>
              </a:lnSpc>
              <a:spcBef>
                <a:spcPts val="200"/>
              </a:spcBef>
              <a:spcAft>
                <a:spcPts val="0"/>
              </a:spcAft>
              <a:buSzPct val="80000"/>
              <a:buChar char="•"/>
            </a:pPr>
            <a:r>
              <a:rPr lang="es-AR"/>
              <a:t>Requisitos para su procedencia</a:t>
            </a:r>
            <a:endParaRPr/>
          </a:p>
          <a:p>
            <a:pPr indent="-182880" lvl="2" marL="731520" rtl="0" algn="l">
              <a:lnSpc>
                <a:spcPct val="90000"/>
              </a:lnSpc>
              <a:spcBef>
                <a:spcPts val="600"/>
              </a:spcBef>
              <a:spcAft>
                <a:spcPts val="0"/>
              </a:spcAft>
              <a:buSzPct val="80000"/>
              <a:buChar char="•"/>
            </a:pPr>
            <a:r>
              <a:rPr lang="es-AR"/>
              <a:t>Quiebra peticionada por acreedor, no declarada, en la que recibió un pago de un tercero – no del deudor – para aplicar a la obligación hecha valer por el peticionario de la quiebra</a:t>
            </a:r>
            <a:endParaRPr/>
          </a:p>
          <a:p>
            <a:pPr indent="-182880" lvl="2" marL="731520" rtl="0" algn="l">
              <a:lnSpc>
                <a:spcPct val="90000"/>
              </a:lnSpc>
              <a:spcBef>
                <a:spcPts val="600"/>
              </a:spcBef>
              <a:spcAft>
                <a:spcPts val="0"/>
              </a:spcAft>
              <a:buSzPct val="80000"/>
              <a:buChar char="•"/>
            </a:pPr>
            <a:r>
              <a:rPr lang="es-AR"/>
              <a:t>Posterior quiebra del mismo deudor, dentro de cuyo periodo de sospecha encuadra el pago, del que se declara la ineficacia</a:t>
            </a:r>
            <a:endParaRPr/>
          </a:p>
          <a:p>
            <a:pPr indent="-98298" lvl="2" marL="731520" rtl="0" algn="l">
              <a:lnSpc>
                <a:spcPct val="90000"/>
              </a:lnSpc>
              <a:spcBef>
                <a:spcPts val="600"/>
              </a:spcBef>
              <a:spcAft>
                <a:spcPts val="0"/>
              </a:spcAft>
              <a:buSzPct val="80000"/>
              <a:buNone/>
            </a:pPr>
            <a:r>
              <a:t/>
            </a:r>
            <a:endParaRPr/>
          </a:p>
          <a:p>
            <a:pPr indent="0" lvl="2" marL="914400" rtl="0" algn="l">
              <a:lnSpc>
                <a:spcPct val="90000"/>
              </a:lnSpc>
              <a:spcBef>
                <a:spcPts val="600"/>
              </a:spcBef>
              <a:spcAft>
                <a:spcPts val="0"/>
              </a:spcAft>
              <a:buSzPct val="80000"/>
              <a:buNone/>
            </a:pPr>
            <a:r>
              <a:t/>
            </a:r>
            <a:endParaRPr/>
          </a:p>
        </p:txBody>
      </p:sp>
      <p:sp>
        <p:nvSpPr>
          <p:cNvPr id="370" name="Google Shape;370;p22"/>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a:t>Derecho Crediticio Bursatil e Insolvencia</a:t>
            </a:r>
            <a:endParaRPr/>
          </a:p>
        </p:txBody>
      </p:sp>
      <p:sp>
        <p:nvSpPr>
          <p:cNvPr id="371" name="Google Shape;371;p22"/>
          <p:cNvSpPr txBox="1"/>
          <p:nvPr/>
        </p:nvSpPr>
        <p:spPr>
          <a:xfrm>
            <a:off x="677334" y="4672361"/>
            <a:ext cx="8856959" cy="646331"/>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Presuncion: acreedor que pidio la quiebra conocia estado de cesacion de pagos que no fue desacreditado pues el pago fue hecho por un tercero</a:t>
            </a:r>
            <a:endParaRPr/>
          </a:p>
        </p:txBody>
      </p:sp>
      <p:sp>
        <p:nvSpPr>
          <p:cNvPr id="372" name="Google Shape;372;p22"/>
          <p:cNvSpPr txBox="1"/>
          <p:nvPr/>
        </p:nvSpPr>
        <p:spPr>
          <a:xfrm>
            <a:off x="677334" y="5464108"/>
            <a:ext cx="8856959" cy="646331"/>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Consecuencia: obligacion de reintegrar lo percibido // pago violatorio de la pars conditio creditorum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p23"/>
          <p:cNvSpPr/>
          <p:nvPr/>
        </p:nvSpPr>
        <p:spPr>
          <a:xfrm>
            <a:off x="0" y="0"/>
            <a:ext cx="12192000" cy="6858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78" name="Google Shape;378;p23"/>
          <p:cNvSpPr/>
          <p:nvPr/>
        </p:nvSpPr>
        <p:spPr>
          <a:xfrm>
            <a:off x="231140" y="243840"/>
            <a:ext cx="11724640" cy="6377939"/>
          </a:xfrm>
          <a:prstGeom prst="rect">
            <a:avLst/>
          </a:prstGeom>
          <a:solidFill>
            <a:schemeClr val="lt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3"/>
          <p:cNvSpPr txBox="1"/>
          <p:nvPr>
            <p:ph type="title"/>
          </p:nvPr>
        </p:nvSpPr>
        <p:spPr>
          <a:xfrm>
            <a:off x="643467" y="643466"/>
            <a:ext cx="3602736" cy="526965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3200"/>
              <a:buFont typeface="Corbel"/>
              <a:buNone/>
            </a:pPr>
            <a:r>
              <a:rPr lang="es-AR" sz="3200">
                <a:solidFill>
                  <a:schemeClr val="dk2"/>
                </a:solidFill>
              </a:rPr>
              <a:t>Inoponibilidad y acreedores de rango posterior.</a:t>
            </a:r>
            <a:endParaRPr/>
          </a:p>
        </p:txBody>
      </p:sp>
      <p:cxnSp>
        <p:nvCxnSpPr>
          <p:cNvPr id="380" name="Google Shape;380;p23"/>
          <p:cNvCxnSpPr/>
          <p:nvPr/>
        </p:nvCxnSpPr>
        <p:spPr>
          <a:xfrm>
            <a:off x="4654296" y="1265557"/>
            <a:ext cx="7031" cy="3931920"/>
          </a:xfrm>
          <a:prstGeom prst="straightConnector1">
            <a:avLst/>
          </a:prstGeom>
          <a:noFill/>
          <a:ln cap="flat" cmpd="sng" w="12700">
            <a:solidFill>
              <a:schemeClr val="dk1"/>
            </a:solidFill>
            <a:prstDash val="solid"/>
            <a:round/>
            <a:headEnd len="sm" w="sm" type="none"/>
            <a:tailEnd len="sm" w="sm" type="none"/>
          </a:ln>
        </p:spPr>
      </p:cxnSp>
      <p:sp>
        <p:nvSpPr>
          <p:cNvPr id="381" name="Google Shape;381;p23"/>
          <p:cNvSpPr txBox="1"/>
          <p:nvPr>
            <p:ph idx="1" type="body"/>
          </p:nvPr>
        </p:nvSpPr>
        <p:spPr>
          <a:xfrm>
            <a:off x="5065182" y="643466"/>
            <a:ext cx="6173333" cy="5269650"/>
          </a:xfrm>
          <a:prstGeom prst="rect">
            <a:avLst/>
          </a:prstGeom>
          <a:noFill/>
          <a:ln>
            <a:noFill/>
          </a:ln>
        </p:spPr>
        <p:txBody>
          <a:bodyPr anchorCtr="0" anchor="ctr" bIns="45700" lIns="91425" spcFirstLastPara="1" rIns="91425" wrap="square" tIns="45700">
            <a:normAutofit/>
          </a:bodyPr>
          <a:lstStyle/>
          <a:p>
            <a:pPr indent="-182880" lvl="0" marL="228600" rtl="0" algn="l">
              <a:lnSpc>
                <a:spcPct val="90000"/>
              </a:lnSpc>
              <a:spcBef>
                <a:spcPts val="0"/>
              </a:spcBef>
              <a:spcAft>
                <a:spcPts val="0"/>
              </a:spcAft>
              <a:buSzPts val="1600"/>
              <a:buChar char="•"/>
            </a:pPr>
            <a:r>
              <a:rPr lang="es-AR" sz="2000">
                <a:solidFill>
                  <a:schemeClr val="dk2"/>
                </a:solidFill>
              </a:rPr>
              <a:t>ARTICULO 123.- Si en virtud de lo dispuesto por los Artículos 118, 119 y 120 resulta inoponible una hipoteca o una prenda, los acreedores hipotecarios o prendarios de rango posterior sólo tienen prioridad sobre las sumas que reconocerían ese privilegio si los actos inoponibles hubieran producido todos sus efectos. Ingresan al concurso las cantidades que hubieran correspondido percibir al acreedor por los actos inoponibles, sin perjuicio de las restantes preferencias reconocidas.</a:t>
            </a:r>
            <a:endParaRPr/>
          </a:p>
          <a:p>
            <a:pPr indent="0" lvl="0" marL="0" rtl="0" algn="l">
              <a:lnSpc>
                <a:spcPct val="90000"/>
              </a:lnSpc>
              <a:spcBef>
                <a:spcPts val="1400"/>
              </a:spcBef>
              <a:spcAft>
                <a:spcPts val="0"/>
              </a:spcAft>
              <a:buSzPts val="1600"/>
              <a:buNone/>
            </a:pPr>
            <a:r>
              <a:t/>
            </a:r>
            <a:endParaRPr sz="2000">
              <a:solidFill>
                <a:schemeClr val="dk2"/>
              </a:solidFill>
            </a:endParaRPr>
          </a:p>
        </p:txBody>
      </p:sp>
      <p:sp>
        <p:nvSpPr>
          <p:cNvPr id="382" name="Google Shape;382;p23"/>
          <p:cNvSpPr txBox="1"/>
          <p:nvPr>
            <p:ph idx="11" type="ftr"/>
          </p:nvPr>
        </p:nvSpPr>
        <p:spPr>
          <a:xfrm>
            <a:off x="5065182" y="6223828"/>
            <a:ext cx="4085642"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s-AR">
                <a:solidFill>
                  <a:schemeClr val="dk2"/>
                </a:solidFill>
              </a:rPr>
              <a:t>Derecho Crediticio Bursatil e Insolvencia</a:t>
            </a:r>
            <a:endParaRPr>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4"/>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AR"/>
              <a:t>Inoponibilidad y acreedores de rango posterior.</a:t>
            </a:r>
            <a:endParaRPr/>
          </a:p>
        </p:txBody>
      </p:sp>
      <p:sp>
        <p:nvSpPr>
          <p:cNvPr id="388" name="Google Shape;388;p24"/>
          <p:cNvSpPr txBox="1"/>
          <p:nvPr>
            <p:ph idx="1" type="body"/>
          </p:nvPr>
        </p:nvSpPr>
        <p:spPr>
          <a:xfrm>
            <a:off x="677334" y="2160589"/>
            <a:ext cx="8596668" cy="1268411"/>
          </a:xfrm>
          <a:prstGeom prst="rect">
            <a:avLst/>
          </a:prstGeom>
          <a:no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AR"/>
              <a:t>La declaracion de ineficacia de hipoteca o prenda</a:t>
            </a:r>
            <a:endParaRPr/>
          </a:p>
          <a:p>
            <a:pPr indent="-182880" lvl="1" marL="457200" rtl="0" algn="l">
              <a:lnSpc>
                <a:spcPct val="90000"/>
              </a:lnSpc>
              <a:spcBef>
                <a:spcPts val="200"/>
              </a:spcBef>
              <a:spcAft>
                <a:spcPts val="0"/>
              </a:spcAft>
              <a:buSzPts val="1600"/>
              <a:buChar char="•"/>
            </a:pPr>
            <a:r>
              <a:rPr lang="es-AR"/>
              <a:t>No beneficia a acreedores con igual preferencia pero en grado posterior, sino al resto de los acreedores concurrentes</a:t>
            </a:r>
            <a:endParaRPr/>
          </a:p>
          <a:p>
            <a:pPr indent="-81280" lvl="1" marL="457200" rtl="0" algn="l">
              <a:lnSpc>
                <a:spcPct val="90000"/>
              </a:lnSpc>
              <a:spcBef>
                <a:spcPts val="600"/>
              </a:spcBef>
              <a:spcAft>
                <a:spcPts val="0"/>
              </a:spcAft>
              <a:buSzPts val="1600"/>
              <a:buNone/>
            </a:pPr>
            <a:r>
              <a:t/>
            </a:r>
            <a:endParaRPr/>
          </a:p>
          <a:p>
            <a:pPr indent="-71120" lvl="0" marL="228600" rtl="0" algn="l">
              <a:lnSpc>
                <a:spcPct val="90000"/>
              </a:lnSpc>
              <a:spcBef>
                <a:spcPts val="1800"/>
              </a:spcBef>
              <a:spcAft>
                <a:spcPts val="0"/>
              </a:spcAft>
              <a:buSzPts val="1760"/>
              <a:buNone/>
            </a:pPr>
            <a:r>
              <a:t/>
            </a:r>
            <a:endParaRPr/>
          </a:p>
        </p:txBody>
      </p:sp>
      <p:sp>
        <p:nvSpPr>
          <p:cNvPr id="389" name="Google Shape;389;p24"/>
          <p:cNvSpPr txBox="1"/>
          <p:nvPr>
            <p:ph idx="11" type="ftr"/>
          </p:nvPr>
        </p:nvSpPr>
        <p:spPr>
          <a:xfrm>
            <a:off x="576973" y="6433814"/>
            <a:ext cx="6297612"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a:t>Derecho Crediticio Bursátil e Insolvencia</a:t>
            </a:r>
            <a:endParaRPr/>
          </a:p>
        </p:txBody>
      </p:sp>
      <p:sp>
        <p:nvSpPr>
          <p:cNvPr id="390" name="Google Shape;390;p24"/>
          <p:cNvSpPr txBox="1"/>
          <p:nvPr/>
        </p:nvSpPr>
        <p:spPr>
          <a:xfrm>
            <a:off x="780585" y="4148254"/>
            <a:ext cx="1248937" cy="369332"/>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Inmueble</a:t>
            </a:r>
            <a:endParaRPr/>
          </a:p>
        </p:txBody>
      </p:sp>
      <p:sp>
        <p:nvSpPr>
          <p:cNvPr id="391" name="Google Shape;391;p24"/>
          <p:cNvSpPr txBox="1"/>
          <p:nvPr/>
        </p:nvSpPr>
        <p:spPr>
          <a:xfrm>
            <a:off x="3256156" y="3429000"/>
            <a:ext cx="1550020" cy="646331"/>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Hipoteca 1er grado</a:t>
            </a:r>
            <a:endParaRPr/>
          </a:p>
        </p:txBody>
      </p:sp>
      <p:sp>
        <p:nvSpPr>
          <p:cNvPr id="392" name="Google Shape;392;p24"/>
          <p:cNvSpPr txBox="1"/>
          <p:nvPr/>
        </p:nvSpPr>
        <p:spPr>
          <a:xfrm>
            <a:off x="3256156" y="4557286"/>
            <a:ext cx="1550020" cy="646331"/>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Hipoteca 2do grado</a:t>
            </a:r>
            <a:endParaRPr/>
          </a:p>
        </p:txBody>
      </p:sp>
      <p:sp>
        <p:nvSpPr>
          <p:cNvPr id="393" name="Google Shape;393;p24"/>
          <p:cNvSpPr txBox="1"/>
          <p:nvPr/>
        </p:nvSpPr>
        <p:spPr>
          <a:xfrm>
            <a:off x="5098611" y="3540324"/>
            <a:ext cx="997389" cy="369332"/>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Ineficaz</a:t>
            </a:r>
            <a:endParaRPr/>
          </a:p>
        </p:txBody>
      </p:sp>
      <p:sp>
        <p:nvSpPr>
          <p:cNvPr id="394" name="Google Shape;394;p24"/>
          <p:cNvSpPr txBox="1"/>
          <p:nvPr/>
        </p:nvSpPr>
        <p:spPr>
          <a:xfrm>
            <a:off x="6724186" y="3287745"/>
            <a:ext cx="1661531" cy="923330"/>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Se suma a activo general repartible</a:t>
            </a:r>
            <a:endParaRPr/>
          </a:p>
        </p:txBody>
      </p:sp>
      <p:sp>
        <p:nvSpPr>
          <p:cNvPr id="395" name="Google Shape;395;p24"/>
          <p:cNvSpPr txBox="1"/>
          <p:nvPr/>
        </p:nvSpPr>
        <p:spPr>
          <a:xfrm>
            <a:off x="5285678" y="4447598"/>
            <a:ext cx="2553629" cy="923330"/>
          </a:xfrm>
          <a:prstGeom prst="rect">
            <a:avLst/>
          </a:prstGeom>
          <a:solidFill>
            <a:schemeClr val="accent1"/>
          </a:solidFill>
          <a:ln cap="flat" cmpd="dbl" w="5397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Cobrara despues siguiedo orden de articulo 242 inciso 2</a:t>
            </a:r>
            <a:endParaRPr/>
          </a:p>
        </p:txBody>
      </p:sp>
      <p:sp>
        <p:nvSpPr>
          <p:cNvPr id="396" name="Google Shape;396;p24"/>
          <p:cNvSpPr/>
          <p:nvPr/>
        </p:nvSpPr>
        <p:spPr>
          <a:xfrm>
            <a:off x="2403088" y="3724990"/>
            <a:ext cx="563136" cy="350341"/>
          </a:xfrm>
          <a:prstGeom prst="notchedRightArrow">
            <a:avLst>
              <a:gd fmla="val 50000" name="adj1"/>
              <a:gd fmla="val 50000" name="adj2"/>
            </a:avLst>
          </a:prstGeom>
          <a:solidFill>
            <a:schemeClr val="accent1"/>
          </a:solidFill>
          <a:ln cap="flat" cmpd="sng" w="19050">
            <a:solidFill>
              <a:srgbClr val="7985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97" name="Google Shape;397;p24"/>
          <p:cNvSpPr/>
          <p:nvPr/>
        </p:nvSpPr>
        <p:spPr>
          <a:xfrm>
            <a:off x="2403088" y="4449998"/>
            <a:ext cx="563136" cy="350341"/>
          </a:xfrm>
          <a:prstGeom prst="notchedRightArrow">
            <a:avLst>
              <a:gd fmla="val 50000" name="adj1"/>
              <a:gd fmla="val 50000" name="adj2"/>
            </a:avLst>
          </a:prstGeom>
          <a:solidFill>
            <a:schemeClr val="accent1"/>
          </a:solidFill>
          <a:ln cap="flat" cmpd="sng" w="19050">
            <a:solidFill>
              <a:srgbClr val="7985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98" name="Google Shape;398;p24"/>
          <p:cNvSpPr txBox="1"/>
          <p:nvPr/>
        </p:nvSpPr>
        <p:spPr>
          <a:xfrm>
            <a:off x="1326995" y="5787483"/>
            <a:ext cx="7504771" cy="646331"/>
          </a:xfrm>
          <a:prstGeom prst="rect">
            <a:avLst/>
          </a:prstGeom>
          <a:gradFill>
            <a:gsLst>
              <a:gs pos="0">
                <a:srgbClr val="983516"/>
              </a:gs>
              <a:gs pos="48000">
                <a:srgbClr val="E0562B"/>
              </a:gs>
              <a:gs pos="100000">
                <a:srgbClr val="EB977C"/>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Corbel"/>
                <a:ea typeface="Corbel"/>
                <a:cs typeface="Corbel"/>
                <a:sym typeface="Corbel"/>
              </a:rPr>
              <a:t>el acto viciado es inoponible al concurso, pero no nulo ni inexistente. </a:t>
            </a:r>
            <a:endParaRPr/>
          </a:p>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5"/>
          <p:cNvSpPr txBox="1"/>
          <p:nvPr>
            <p:ph idx="1" type="body"/>
          </p:nvPr>
        </p:nvSpPr>
        <p:spPr>
          <a:xfrm>
            <a:off x="720090" y="862964"/>
            <a:ext cx="10469880" cy="4314825"/>
          </a:xfrm>
          <a:prstGeom prst="rect">
            <a:avLst/>
          </a:prstGeom>
          <a:noFill/>
          <a:ln>
            <a:noFill/>
          </a:ln>
        </p:spPr>
        <p:txBody>
          <a:bodyPr anchorCtr="0" anchor="t" bIns="45700" lIns="91425" spcFirstLastPara="1" rIns="91425" wrap="square" tIns="45700">
            <a:normAutofit/>
          </a:bodyPr>
          <a:lstStyle/>
          <a:p>
            <a:pPr indent="0" lvl="0" marL="45720" rtl="0" algn="l">
              <a:lnSpc>
                <a:spcPct val="90000"/>
              </a:lnSpc>
              <a:spcBef>
                <a:spcPts val="0"/>
              </a:spcBef>
              <a:spcAft>
                <a:spcPts val="0"/>
              </a:spcAft>
              <a:buSzPts val="1760"/>
              <a:buNone/>
            </a:pPr>
            <a:r>
              <a:rPr lang="es-AR">
                <a:latin typeface="Arial"/>
                <a:ea typeface="Arial"/>
                <a:cs typeface="Arial"/>
                <a:sym typeface="Arial"/>
              </a:rPr>
              <a:t>ACREEDOR HIPOTECARIO “A” EN 1ER GRADO 500</a:t>
            </a:r>
            <a:endParaRPr/>
          </a:p>
          <a:p>
            <a:pPr indent="0" lvl="0" marL="45720" rtl="0" algn="l">
              <a:lnSpc>
                <a:spcPct val="90000"/>
              </a:lnSpc>
              <a:spcBef>
                <a:spcPts val="1400"/>
              </a:spcBef>
              <a:spcAft>
                <a:spcPts val="0"/>
              </a:spcAft>
              <a:buSzPts val="1760"/>
              <a:buNone/>
            </a:pPr>
            <a:r>
              <a:t/>
            </a:r>
            <a:endParaRPr>
              <a:latin typeface="Arial"/>
              <a:ea typeface="Arial"/>
              <a:cs typeface="Arial"/>
              <a:sym typeface="Arial"/>
            </a:endParaRPr>
          </a:p>
          <a:p>
            <a:pPr indent="0" lvl="0" marL="45720" rtl="0" algn="l">
              <a:lnSpc>
                <a:spcPct val="90000"/>
              </a:lnSpc>
              <a:spcBef>
                <a:spcPts val="1400"/>
              </a:spcBef>
              <a:spcAft>
                <a:spcPts val="0"/>
              </a:spcAft>
              <a:buSzPts val="1760"/>
              <a:buNone/>
            </a:pPr>
            <a:r>
              <a:rPr lang="es-AR">
                <a:latin typeface="Arial"/>
                <a:ea typeface="Arial"/>
                <a:cs typeface="Arial"/>
                <a:sym typeface="Arial"/>
              </a:rPr>
              <a:t>ACREEDOR HIPOTECARIO “B” EN 2DO GRADO 300</a:t>
            </a:r>
            <a:endParaRPr/>
          </a:p>
          <a:p>
            <a:pPr indent="0" lvl="0" marL="45720" rtl="0" algn="l">
              <a:lnSpc>
                <a:spcPct val="90000"/>
              </a:lnSpc>
              <a:spcBef>
                <a:spcPts val="1400"/>
              </a:spcBef>
              <a:spcAft>
                <a:spcPts val="0"/>
              </a:spcAft>
              <a:buSzPts val="1760"/>
              <a:buNone/>
            </a:pPr>
            <a:r>
              <a:rPr lang="es-AR">
                <a:latin typeface="Arial"/>
                <a:ea typeface="Arial"/>
                <a:cs typeface="Arial"/>
                <a:sym typeface="Arial"/>
              </a:rPr>
              <a:t> </a:t>
            </a:r>
            <a:endParaRPr/>
          </a:p>
          <a:p>
            <a:pPr indent="0" lvl="0" marL="45720" rtl="0" algn="l">
              <a:lnSpc>
                <a:spcPct val="90000"/>
              </a:lnSpc>
              <a:spcBef>
                <a:spcPts val="1400"/>
              </a:spcBef>
              <a:spcAft>
                <a:spcPts val="0"/>
              </a:spcAft>
              <a:buSzPts val="1760"/>
              <a:buNone/>
            </a:pPr>
            <a:r>
              <a:rPr lang="es-AR">
                <a:latin typeface="Arial"/>
                <a:ea typeface="Arial"/>
                <a:cs typeface="Arial"/>
                <a:sym typeface="Arial"/>
              </a:rPr>
              <a:t>BIEN SE LIQUIDA EN 600 – A COBRA 500 – B COBRA 100 Y LE QUEDAN 200 COMO QUIROGRAFARIO</a:t>
            </a:r>
            <a:endParaRPr/>
          </a:p>
          <a:p>
            <a:pPr indent="0" lvl="0" marL="45720" rtl="0" algn="l">
              <a:lnSpc>
                <a:spcPct val="90000"/>
              </a:lnSpc>
              <a:spcBef>
                <a:spcPts val="1400"/>
              </a:spcBef>
              <a:spcAft>
                <a:spcPts val="0"/>
              </a:spcAft>
              <a:buSzPts val="1760"/>
              <a:buNone/>
            </a:pPr>
            <a:r>
              <a:rPr b="1" lang="es-AR">
                <a:latin typeface="Arial"/>
                <a:ea typeface="Arial"/>
                <a:cs typeface="Arial"/>
                <a:sym typeface="Arial"/>
              </a:rPr>
              <a:t>SI HIPOTECA EN 1ER GRADO SE DECLARA INOPONIBLE</a:t>
            </a:r>
            <a:endParaRPr/>
          </a:p>
          <a:p>
            <a:pPr indent="0" lvl="0" marL="45720" rtl="0" algn="l">
              <a:lnSpc>
                <a:spcPct val="90000"/>
              </a:lnSpc>
              <a:spcBef>
                <a:spcPts val="1400"/>
              </a:spcBef>
              <a:spcAft>
                <a:spcPts val="0"/>
              </a:spcAft>
              <a:buSzPts val="1760"/>
              <a:buNone/>
            </a:pPr>
            <a:r>
              <a:rPr lang="es-AR">
                <a:latin typeface="Arial"/>
                <a:ea typeface="Arial"/>
                <a:cs typeface="Arial"/>
                <a:sym typeface="Arial"/>
              </a:rPr>
              <a:t>BIEN SE LIQUIDA EN 600 – B COBRA 100 Y LE QUEDAN 200 COMO QUIROGRAFARIO PORQUE LOS 500 VAN AL RESTO DE LOS ACREEDORES</a:t>
            </a:r>
            <a:endParaRPr/>
          </a:p>
          <a:p>
            <a:pPr indent="0" lvl="0" marL="45720" rtl="0" algn="l">
              <a:lnSpc>
                <a:spcPct val="90000"/>
              </a:lnSpc>
              <a:spcBef>
                <a:spcPts val="1400"/>
              </a:spcBef>
              <a:spcAft>
                <a:spcPts val="0"/>
              </a:spcAft>
              <a:buSzPts val="1760"/>
              <a:buNone/>
            </a:pPr>
            <a:r>
              <a:t/>
            </a:r>
            <a:endParaRPr>
              <a:latin typeface="Arial"/>
              <a:ea typeface="Arial"/>
              <a:cs typeface="Arial"/>
              <a:sym typeface="Arial"/>
            </a:endParaRPr>
          </a:p>
          <a:p>
            <a:pPr indent="0" lvl="0" marL="45720" rtl="0" algn="l">
              <a:lnSpc>
                <a:spcPct val="90000"/>
              </a:lnSpc>
              <a:spcBef>
                <a:spcPts val="1400"/>
              </a:spcBef>
              <a:spcAft>
                <a:spcPts val="0"/>
              </a:spcAft>
              <a:buSzPts val="1760"/>
              <a:buNone/>
            </a:pPr>
            <a:r>
              <a:t/>
            </a:r>
            <a:endParaRPr>
              <a:latin typeface="Arial"/>
              <a:ea typeface="Arial"/>
              <a:cs typeface="Arial"/>
              <a:sym typeface="Arial"/>
            </a:endParaRPr>
          </a:p>
        </p:txBody>
      </p:sp>
      <p:sp>
        <p:nvSpPr>
          <p:cNvPr id="404" name="Google Shape;404;p25"/>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AR"/>
              <a:t>Derecho Crediticio Bursatil e Insolvencia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8" name="Shape 408"/>
        <p:cNvGrpSpPr/>
        <p:nvPr/>
      </p:nvGrpSpPr>
      <p:grpSpPr>
        <a:xfrm>
          <a:off x="0" y="0"/>
          <a:ext cx="0" cy="0"/>
          <a:chOff x="0" y="0"/>
          <a:chExt cx="0" cy="0"/>
        </a:xfrm>
      </p:grpSpPr>
      <p:sp>
        <p:nvSpPr>
          <p:cNvPr id="409" name="Google Shape;409;p26"/>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10" name="Google Shape;410;p26"/>
          <p:cNvSpPr/>
          <p:nvPr/>
        </p:nvSpPr>
        <p:spPr>
          <a:xfrm>
            <a:off x="231140" y="243840"/>
            <a:ext cx="11724640" cy="637793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6"/>
          <p:cNvSpPr/>
          <p:nvPr/>
        </p:nvSpPr>
        <p:spPr>
          <a:xfrm>
            <a:off x="230909" y="4572001"/>
            <a:ext cx="11719791" cy="2052826"/>
          </a:xfrm>
          <a:prstGeom prst="rect">
            <a:avLst/>
          </a:prstGeom>
          <a:solidFill>
            <a:schemeClr val="accent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6"/>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s-AR">
                <a:solidFill>
                  <a:srgbClr val="FFFFFF"/>
                </a:solidFill>
              </a:rPr>
              <a:t>Derecho Crediticio Bursatil e Insolvencia</a:t>
            </a:r>
            <a:endParaRPr>
              <a:solidFill>
                <a:srgbClr val="FFFFFF"/>
              </a:solidFill>
            </a:endParaRPr>
          </a:p>
        </p:txBody>
      </p:sp>
      <p:grpSp>
        <p:nvGrpSpPr>
          <p:cNvPr id="413" name="Google Shape;413;p26"/>
          <p:cNvGrpSpPr/>
          <p:nvPr/>
        </p:nvGrpSpPr>
        <p:grpSpPr>
          <a:xfrm>
            <a:off x="993781" y="1512126"/>
            <a:ext cx="10260000" cy="1800160"/>
            <a:chOff x="284168" y="869188"/>
            <a:chExt cx="10260000" cy="1800160"/>
          </a:xfrm>
        </p:grpSpPr>
        <p:sp>
          <p:nvSpPr>
            <p:cNvPr id="414" name="Google Shape;414;p26"/>
            <p:cNvSpPr/>
            <p:nvPr/>
          </p:nvSpPr>
          <p:spPr>
            <a:xfrm>
              <a:off x="779168" y="869188"/>
              <a:ext cx="810000" cy="810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6"/>
            <p:cNvSpPr/>
            <p:nvPr/>
          </p:nvSpPr>
          <p:spPr>
            <a:xfrm>
              <a:off x="284168" y="1949348"/>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6"/>
            <p:cNvSpPr txBox="1"/>
            <p:nvPr/>
          </p:nvSpPr>
          <p:spPr>
            <a:xfrm>
              <a:off x="284168" y="1949348"/>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Corbel"/>
                <a:buNone/>
              </a:pPr>
              <a:r>
                <a:rPr lang="es-AR" sz="1500">
                  <a:solidFill>
                    <a:schemeClr val="dk1"/>
                  </a:solidFill>
                  <a:latin typeface="Corbel"/>
                  <a:ea typeface="Corbel"/>
                  <a:cs typeface="Corbel"/>
                  <a:sym typeface="Corbel"/>
                </a:rPr>
                <a:t>Bien</a:t>
              </a:r>
              <a:endParaRPr sz="1500">
                <a:solidFill>
                  <a:schemeClr val="dk1"/>
                </a:solidFill>
                <a:latin typeface="Corbel"/>
                <a:ea typeface="Corbel"/>
                <a:cs typeface="Corbel"/>
                <a:sym typeface="Corbel"/>
              </a:endParaRPr>
            </a:p>
          </p:txBody>
        </p:sp>
        <p:sp>
          <p:nvSpPr>
            <p:cNvPr id="417" name="Google Shape;417;p26"/>
            <p:cNvSpPr/>
            <p:nvPr/>
          </p:nvSpPr>
          <p:spPr>
            <a:xfrm>
              <a:off x="2894168" y="869188"/>
              <a:ext cx="810000" cy="810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6"/>
            <p:cNvSpPr/>
            <p:nvPr/>
          </p:nvSpPr>
          <p:spPr>
            <a:xfrm>
              <a:off x="2399168" y="1949348"/>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6"/>
            <p:cNvSpPr txBox="1"/>
            <p:nvPr/>
          </p:nvSpPr>
          <p:spPr>
            <a:xfrm>
              <a:off x="2399168" y="1949348"/>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Corbel"/>
                <a:buNone/>
              </a:pPr>
              <a:r>
                <a:rPr lang="es-AR" sz="1500">
                  <a:solidFill>
                    <a:schemeClr val="dk1"/>
                  </a:solidFill>
                  <a:latin typeface="Corbel"/>
                  <a:ea typeface="Corbel"/>
                  <a:cs typeface="Corbel"/>
                  <a:sym typeface="Corbel"/>
                </a:rPr>
                <a:t>Hipoteca 1er grado $ 100 – Declarada ineficaz (118)</a:t>
              </a:r>
              <a:endParaRPr sz="1500">
                <a:solidFill>
                  <a:schemeClr val="dk1"/>
                </a:solidFill>
                <a:latin typeface="Corbel"/>
                <a:ea typeface="Corbel"/>
                <a:cs typeface="Corbel"/>
                <a:sym typeface="Corbel"/>
              </a:endParaRPr>
            </a:p>
          </p:txBody>
        </p:sp>
        <p:sp>
          <p:nvSpPr>
            <p:cNvPr id="420" name="Google Shape;420;p26"/>
            <p:cNvSpPr/>
            <p:nvPr/>
          </p:nvSpPr>
          <p:spPr>
            <a:xfrm>
              <a:off x="5009168" y="869188"/>
              <a:ext cx="810000" cy="810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6"/>
            <p:cNvSpPr/>
            <p:nvPr/>
          </p:nvSpPr>
          <p:spPr>
            <a:xfrm>
              <a:off x="4514168" y="1949348"/>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6"/>
            <p:cNvSpPr txBox="1"/>
            <p:nvPr/>
          </p:nvSpPr>
          <p:spPr>
            <a:xfrm>
              <a:off x="4514168" y="1949348"/>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Corbel"/>
                <a:buNone/>
              </a:pPr>
              <a:r>
                <a:rPr lang="es-AR" sz="1500">
                  <a:solidFill>
                    <a:schemeClr val="dk1"/>
                  </a:solidFill>
                  <a:latin typeface="Corbel"/>
                  <a:ea typeface="Corbel"/>
                  <a:cs typeface="Corbel"/>
                  <a:sym typeface="Corbel"/>
                </a:rPr>
                <a:t>Hipoteca 2do grado $ 100</a:t>
              </a:r>
              <a:endParaRPr sz="1500">
                <a:solidFill>
                  <a:schemeClr val="dk1"/>
                </a:solidFill>
                <a:latin typeface="Corbel"/>
                <a:ea typeface="Corbel"/>
                <a:cs typeface="Corbel"/>
                <a:sym typeface="Corbel"/>
              </a:endParaRPr>
            </a:p>
          </p:txBody>
        </p:sp>
        <p:sp>
          <p:nvSpPr>
            <p:cNvPr id="423" name="Google Shape;423;p26"/>
            <p:cNvSpPr/>
            <p:nvPr/>
          </p:nvSpPr>
          <p:spPr>
            <a:xfrm>
              <a:off x="7124168" y="869188"/>
              <a:ext cx="810000" cy="81000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6"/>
            <p:cNvSpPr/>
            <p:nvPr/>
          </p:nvSpPr>
          <p:spPr>
            <a:xfrm>
              <a:off x="6629168" y="1949348"/>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6"/>
            <p:cNvSpPr txBox="1"/>
            <p:nvPr/>
          </p:nvSpPr>
          <p:spPr>
            <a:xfrm>
              <a:off x="6629168" y="1949348"/>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Corbel"/>
                <a:buNone/>
              </a:pPr>
              <a:r>
                <a:rPr lang="es-AR" sz="1500">
                  <a:solidFill>
                    <a:schemeClr val="dk1"/>
                  </a:solidFill>
                  <a:latin typeface="Corbel"/>
                  <a:ea typeface="Corbel"/>
                  <a:cs typeface="Corbel"/>
                  <a:sym typeface="Corbel"/>
                </a:rPr>
                <a:t>Declara la quiebra</a:t>
              </a:r>
              <a:endParaRPr sz="1500">
                <a:solidFill>
                  <a:schemeClr val="dk1"/>
                </a:solidFill>
                <a:latin typeface="Corbel"/>
                <a:ea typeface="Corbel"/>
                <a:cs typeface="Corbel"/>
                <a:sym typeface="Corbel"/>
              </a:endParaRPr>
            </a:p>
          </p:txBody>
        </p:sp>
        <p:sp>
          <p:nvSpPr>
            <p:cNvPr id="426" name="Google Shape;426;p26"/>
            <p:cNvSpPr/>
            <p:nvPr/>
          </p:nvSpPr>
          <p:spPr>
            <a:xfrm>
              <a:off x="9239168" y="869188"/>
              <a:ext cx="810000" cy="810000"/>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6"/>
            <p:cNvSpPr/>
            <p:nvPr/>
          </p:nvSpPr>
          <p:spPr>
            <a:xfrm>
              <a:off x="8744168" y="1949348"/>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6"/>
            <p:cNvSpPr txBox="1"/>
            <p:nvPr/>
          </p:nvSpPr>
          <p:spPr>
            <a:xfrm>
              <a:off x="8744168" y="1949348"/>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Corbel"/>
                <a:buNone/>
              </a:pPr>
              <a:r>
                <a:rPr lang="es-AR" sz="1500">
                  <a:solidFill>
                    <a:schemeClr val="dk1"/>
                  </a:solidFill>
                  <a:latin typeface="Corbel"/>
                  <a:ea typeface="Corbel"/>
                  <a:cs typeface="Corbel"/>
                  <a:sym typeface="Corbel"/>
                </a:rPr>
                <a:t>Liquida el bien $ 150</a:t>
              </a:r>
              <a:endParaRPr sz="1500">
                <a:solidFill>
                  <a:schemeClr val="dk1"/>
                </a:solidFill>
                <a:latin typeface="Corbel"/>
                <a:ea typeface="Corbel"/>
                <a:cs typeface="Corbel"/>
                <a:sym typeface="Corbe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se">
  <a:themeElements>
    <a:clrScheme name="Base">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ase">
  <a:themeElements>
    <a:clrScheme name="Base">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2016-10-09T22:05:58Z</dcterms:created>
  <dc:creator>Maximiliano Romei</dc:creator>
</cp:coreProperties>
</file>