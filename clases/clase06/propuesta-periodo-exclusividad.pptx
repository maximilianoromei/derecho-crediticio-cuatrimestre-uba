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2" r:id="rId1"/>
  </p:sldMasterIdLst>
  <p:sldIdLst>
    <p:sldId id="256" r:id="rId2"/>
    <p:sldId id="257" r:id="rId3"/>
    <p:sldId id="264" r:id="rId4"/>
    <p:sldId id="266" r:id="rId5"/>
    <p:sldId id="267" r:id="rId6"/>
    <p:sldId id="258" r:id="rId7"/>
    <p:sldId id="265" r:id="rId8"/>
    <p:sldId id="259" r:id="rId9"/>
    <p:sldId id="268" r:id="rId10"/>
    <p:sldId id="269" r:id="rId11"/>
    <p:sldId id="260" r:id="rId12"/>
    <p:sldId id="270" r:id="rId13"/>
    <p:sldId id="261" r:id="rId14"/>
    <p:sldId id="276" r:id="rId15"/>
    <p:sldId id="271" r:id="rId16"/>
    <p:sldId id="272" r:id="rId17"/>
    <p:sldId id="273" r:id="rId18"/>
    <p:sldId id="262" r:id="rId19"/>
    <p:sldId id="275" r:id="rId20"/>
    <p:sldId id="263" r:id="rId21"/>
    <p:sldId id="2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10" d="100"/>
          <a:sy n="110"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B78A697-9D75-4DE8-8C28-1296A6CF43C1}" type="datetimeFigureOut">
              <a:rPr lang="en-US" smtClean="0"/>
              <a:t>7/17/2024</a:t>
            </a:fld>
            <a:endParaRPr lang="en-US" dirty="0"/>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6182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0172865-FBF0-458A-BAFF-4F75173770F5}" type="datetimeFigureOut">
              <a:rPr lang="en-US" smtClean="0"/>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08851263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9D1490F-3E6A-4544-9694-22B6007FE3C6}" type="datetimeFigureOut">
              <a:rPr lang="en-US" smtClean="0"/>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960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0172865-FBF0-458A-BAFF-4F75173770F5}" type="datetimeFigureOut">
              <a:rPr lang="en-US" smtClean="0"/>
              <a:t>7/17/2024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251369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0172865-FBF0-458A-BAFF-4F75173770F5}" type="datetimeFigureOut">
              <a:rPr lang="en-US" smtClean="0"/>
              <a:t>7/17/2024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7567385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CFF863F-52DC-41B2-9D00-5A4E5632AC32}" type="datetimeFigureOut">
              <a:rPr lang="en-US" smtClean="0"/>
              <a:t>7/17/2024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278103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3B55614-3909-43DC-A067-7F9842F8B81D}" type="datetimeFigureOut">
              <a:rPr lang="en-US" smtClean="0"/>
              <a:t>7/17/2024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850725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0172865-FBF0-458A-BAFF-4F75173770F5}" type="datetimeFigureOut">
              <a:rPr lang="en-US" smtClean="0"/>
              <a:t>7/17/2024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56873691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E240176-F1D3-49EC-82F4-0915A3AC4184}" type="datetimeFigureOut">
              <a:rPr lang="en-US" smtClean="0"/>
              <a:t>7/17/2024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632365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0172865-FBF0-458A-BAFF-4F75173770F5}" type="datetimeFigureOut">
              <a:rPr lang="en-US" smtClean="0"/>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36808215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0172865-FBF0-458A-BAFF-4F75173770F5}" type="datetimeFigureOut">
              <a:rPr lang="en-US" smtClean="0"/>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14767769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6DBD967-1B7E-40AA-AAF7-BA98E0E039F7}" type="datetimeFigureOut">
              <a:rPr lang="en-US" dirty="0"/>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extLst>
      <p:ext uri="{BB962C8B-B14F-4D97-AF65-F5344CB8AC3E}">
        <p14:creationId xmlns:p14="http://schemas.microsoft.com/office/powerpoint/2010/main" val="1488301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0172865-FBF0-458A-BAFF-4F75173770F5}" type="datetimeFigureOut">
              <a:rPr lang="en-US" smtClean="0"/>
              <a:t>7/17/2024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22F896-40B5-4ADD-8801-0D06FADFA095}" type="slidenum">
              <a:rPr lang="en-US" smtClean="0"/>
              <a:pPr/>
              <a:t>‹Nº›</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856746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F40D2F-4C83-4498-AF85-609E2479632E}"/>
              </a:ext>
            </a:extLst>
          </p:cNvPr>
          <p:cNvSpPr>
            <a:spLocks noGrp="1"/>
          </p:cNvSpPr>
          <p:nvPr>
            <p:ph type="ctrTitle"/>
          </p:nvPr>
        </p:nvSpPr>
        <p:spPr/>
        <p:txBody>
          <a:bodyPr>
            <a:normAutofit/>
          </a:bodyPr>
          <a:lstStyle/>
          <a:p>
            <a:r>
              <a:rPr lang="es-ES" sz="2600" b="0" i="0" dirty="0">
                <a:solidFill>
                  <a:srgbClr val="000000"/>
                </a:solidFill>
                <a:effectLst/>
                <a:latin typeface="Gill Sans"/>
              </a:rPr>
              <a:t>Propuesta, período de exclusividad y régimen del acuerdo preventivo</a:t>
            </a:r>
            <a:endParaRPr lang="es-AR" sz="2600" dirty="0"/>
          </a:p>
        </p:txBody>
      </p:sp>
      <p:sp>
        <p:nvSpPr>
          <p:cNvPr id="3" name="Subtítulo 2">
            <a:extLst>
              <a:ext uri="{FF2B5EF4-FFF2-40B4-BE49-F238E27FC236}">
                <a16:creationId xmlns:a16="http://schemas.microsoft.com/office/drawing/2014/main" id="{98C8ECE2-F97C-4FD6-AAD9-D72AD9A78E50}"/>
              </a:ext>
            </a:extLst>
          </p:cNvPr>
          <p:cNvSpPr>
            <a:spLocks noGrp="1"/>
          </p:cNvSpPr>
          <p:nvPr>
            <p:ph type="subTitle" idx="1"/>
          </p:nvPr>
        </p:nvSpPr>
        <p:spPr/>
        <p:txBody>
          <a:bodyPr/>
          <a:lstStyle/>
          <a:p>
            <a:r>
              <a:rPr lang="es-ES" dirty="0"/>
              <a:t>ARTS. 41-47</a:t>
            </a:r>
            <a:endParaRPr lang="es-AR" dirty="0"/>
          </a:p>
        </p:txBody>
      </p:sp>
    </p:spTree>
    <p:extLst>
      <p:ext uri="{BB962C8B-B14F-4D97-AF65-F5344CB8AC3E}">
        <p14:creationId xmlns:p14="http://schemas.microsoft.com/office/powerpoint/2010/main" val="1284494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43AFC8-D8D0-4784-B08C-6324FA88E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54B1A56-8AFB-4D4F-8D98-1E832D6FFE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FF9ABB1-7D82-4B0B-BF43-6D9B0D5AF596}"/>
              </a:ext>
            </a:extLst>
          </p:cNvPr>
          <p:cNvSpPr>
            <a:spLocks noGrp="1"/>
          </p:cNvSpPr>
          <p:nvPr>
            <p:ph type="title"/>
          </p:nvPr>
        </p:nvSpPr>
        <p:spPr>
          <a:xfrm>
            <a:off x="1901163" y="1111753"/>
            <a:ext cx="3720353" cy="4634494"/>
          </a:xfrm>
          <a:ln w="25400" cap="sq">
            <a:noFill/>
            <a:miter lim="800000"/>
          </a:ln>
        </p:spPr>
        <p:txBody>
          <a:bodyPr anchor="ctr">
            <a:normAutofit/>
          </a:bodyPr>
          <a:lstStyle/>
          <a:p>
            <a:pPr algn="ctr"/>
            <a:r>
              <a:rPr lang="es-ES" sz="3200" b="0" i="0">
                <a:solidFill>
                  <a:srgbClr val="FFFFFF"/>
                </a:solidFill>
                <a:effectLst/>
                <a:latin typeface="Gill Sans"/>
              </a:rPr>
              <a:t>Clasificación y agrupamiento de acreedores en categorías</a:t>
            </a:r>
            <a:endParaRPr lang="es-AR" sz="3200">
              <a:solidFill>
                <a:srgbClr val="FFFFFF"/>
              </a:solidFill>
            </a:endParaRPr>
          </a:p>
        </p:txBody>
      </p:sp>
      <p:sp>
        <p:nvSpPr>
          <p:cNvPr id="12" name="Rectangle 11">
            <a:extLst>
              <a:ext uri="{FF2B5EF4-FFF2-40B4-BE49-F238E27FC236}">
                <a16:creationId xmlns:a16="http://schemas.microsoft.com/office/drawing/2014/main" id="{F8E828FC-05B4-4BA4-92D3-3DF79D42D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chemeClr val="tx1">
              <a:lumMod val="75000"/>
              <a:lumOff val="2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C40E77A-A902-495B-A484-30621D726458}"/>
              </a:ext>
            </a:extLst>
          </p:cNvPr>
          <p:cNvSpPr>
            <a:spLocks noGrp="1"/>
          </p:cNvSpPr>
          <p:nvPr>
            <p:ph sz="quarter" idx="13"/>
          </p:nvPr>
        </p:nvSpPr>
        <p:spPr>
          <a:xfrm>
            <a:off x="6570206" y="1111753"/>
            <a:ext cx="5057396" cy="4628275"/>
          </a:xfrm>
        </p:spPr>
        <p:txBody>
          <a:bodyPr anchor="ctr">
            <a:normAutofit/>
          </a:bodyPr>
          <a:lstStyle/>
          <a:p>
            <a:pPr marL="0" indent="0">
              <a:buNone/>
            </a:pPr>
            <a:r>
              <a:rPr lang="es-ES" sz="1400" b="0" i="0" dirty="0">
                <a:solidFill>
                  <a:schemeClr val="tx1">
                    <a:lumMod val="85000"/>
                    <a:lumOff val="15000"/>
                  </a:schemeClr>
                </a:solidFill>
                <a:effectLst/>
                <a:latin typeface="Gill Sans"/>
              </a:rPr>
              <a:t>ARTICULO 41.- Clasificación y agrupamiento de acreedores en categorías. Dentro de los DIEZ (10) días contados a partir de la fecha en que debe ser dictada la resolución prevista en el artículo 36, el deudor debe presentar a la sindicatura y al juzgado una propuesta fundada de agrupamiento y clasificación en categorías de los acreedores verificados y declarados admisibles, la naturaleza de las prestaciones correspondientes a los créditos, el carácter de privilegiados o quirografarios, o cualquier otro elemento que </a:t>
            </a:r>
            <a:r>
              <a:rPr lang="es-ES" sz="1400" b="1" i="0" dirty="0">
                <a:solidFill>
                  <a:schemeClr val="accent1">
                    <a:lumMod val="75000"/>
                  </a:schemeClr>
                </a:solidFill>
                <a:effectLst/>
                <a:latin typeface="Gill Sans"/>
              </a:rPr>
              <a:t>razonablemente</a:t>
            </a:r>
            <a:r>
              <a:rPr lang="es-ES" sz="1400" b="0" i="0" dirty="0">
                <a:solidFill>
                  <a:schemeClr val="tx1">
                    <a:lumMod val="85000"/>
                    <a:lumOff val="15000"/>
                  </a:schemeClr>
                </a:solidFill>
                <a:effectLst/>
                <a:latin typeface="Gill Sans"/>
              </a:rPr>
              <a:t>, pueda determinar su agrupamiento o categorización, a efectos de poder ofrecerles propuestas diferenciadas de acuerdo preventivo.</a:t>
            </a:r>
          </a:p>
          <a:p>
            <a:pPr marL="0" indent="0">
              <a:buNone/>
            </a:pPr>
            <a:r>
              <a:rPr lang="es-ES" sz="1400" b="0" i="1" dirty="0">
                <a:solidFill>
                  <a:schemeClr val="tx1">
                    <a:lumMod val="85000"/>
                    <a:lumOff val="15000"/>
                  </a:schemeClr>
                </a:solidFill>
                <a:effectLst/>
                <a:latin typeface="Gill Sans"/>
              </a:rPr>
              <a:t>La categorización deberá contener, como mínimo, el agrupamiento de los acreedores en TRES (3) categorías: quirografarios, quirografarios laborales -si existieren- y privilegiados, pudiendo -incluso- contemplar categorías dentro de estos últimos.</a:t>
            </a:r>
          </a:p>
          <a:p>
            <a:pPr marL="0" indent="0">
              <a:buNone/>
            </a:pPr>
            <a:r>
              <a:rPr lang="es-ES" sz="1400" b="0" i="0" dirty="0">
                <a:solidFill>
                  <a:schemeClr val="tx1">
                    <a:lumMod val="85000"/>
                    <a:lumOff val="15000"/>
                  </a:schemeClr>
                </a:solidFill>
                <a:effectLst/>
                <a:latin typeface="Gill Sans"/>
              </a:rPr>
              <a:t>Créditos subordinados. Los acreedores verificados que hubiesen convenido con el deudor la postergación de sus derechos respecto de otras deudas, integrarán en relación con dichos créditos una categoría.</a:t>
            </a:r>
          </a:p>
          <a:p>
            <a:endParaRPr lang="es-AR" sz="1400" dirty="0">
              <a:solidFill>
                <a:schemeClr val="tx1">
                  <a:lumMod val="85000"/>
                  <a:lumOff val="15000"/>
                </a:schemeClr>
              </a:solidFill>
            </a:endParaRPr>
          </a:p>
        </p:txBody>
      </p:sp>
    </p:spTree>
    <p:extLst>
      <p:ext uri="{BB962C8B-B14F-4D97-AF65-F5344CB8AC3E}">
        <p14:creationId xmlns:p14="http://schemas.microsoft.com/office/powerpoint/2010/main" val="649134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907B8647-924D-4684-8BCC-38E41C7E1424}"/>
              </a:ext>
            </a:extLst>
          </p:cNvPr>
          <p:cNvSpPr/>
          <p:nvPr/>
        </p:nvSpPr>
        <p:spPr>
          <a:xfrm>
            <a:off x="635330" y="492826"/>
            <a:ext cx="2660073" cy="11281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CATEGORIZAR</a:t>
            </a:r>
            <a:endParaRPr lang="es-AR" dirty="0"/>
          </a:p>
        </p:txBody>
      </p:sp>
      <p:sp>
        <p:nvSpPr>
          <p:cNvPr id="3" name="Flecha: a la derecha 2">
            <a:extLst>
              <a:ext uri="{FF2B5EF4-FFF2-40B4-BE49-F238E27FC236}">
                <a16:creationId xmlns:a16="http://schemas.microsoft.com/office/drawing/2014/main" id="{3E5765C0-7B97-4C54-84BC-772C2C144CEE}"/>
              </a:ext>
            </a:extLst>
          </p:cNvPr>
          <p:cNvSpPr/>
          <p:nvPr/>
        </p:nvSpPr>
        <p:spPr>
          <a:xfrm>
            <a:off x="3990109" y="866899"/>
            <a:ext cx="2309751" cy="46907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AR"/>
          </a:p>
        </p:txBody>
      </p:sp>
      <p:sp>
        <p:nvSpPr>
          <p:cNvPr id="4" name="Rectángulo: esquinas redondeadas 3">
            <a:extLst>
              <a:ext uri="{FF2B5EF4-FFF2-40B4-BE49-F238E27FC236}">
                <a16:creationId xmlns:a16="http://schemas.microsoft.com/office/drawing/2014/main" id="{9D675951-0B00-4FE9-A1B8-593FF9D0097B}"/>
              </a:ext>
            </a:extLst>
          </p:cNvPr>
          <p:cNvSpPr/>
          <p:nvPr/>
        </p:nvSpPr>
        <p:spPr>
          <a:xfrm>
            <a:off x="6495803" y="207818"/>
            <a:ext cx="4435433" cy="191786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sz="1500" dirty="0"/>
              <a:t>Martorell </a:t>
            </a:r>
            <a:r>
              <a:rPr lang="es-ES" sz="1500" i="1" dirty="0"/>
              <a:t>:” implica proponer de manera fundada la formación de grupos de acreedores, ordenado de acuerdo con determinadas condiciones o calidades a efectos de poder ofrecerles propuestas diferenciadas para arribar a un acuerdo preventivo.”</a:t>
            </a:r>
            <a:endParaRPr lang="es-AR" sz="1500" i="1" dirty="0"/>
          </a:p>
        </p:txBody>
      </p:sp>
      <p:sp>
        <p:nvSpPr>
          <p:cNvPr id="5" name="Rectángulo 4">
            <a:extLst>
              <a:ext uri="{FF2B5EF4-FFF2-40B4-BE49-F238E27FC236}">
                <a16:creationId xmlns:a16="http://schemas.microsoft.com/office/drawing/2014/main" id="{2D358649-6551-4C15-8664-150AC679AC77}"/>
              </a:ext>
            </a:extLst>
          </p:cNvPr>
          <p:cNvSpPr/>
          <p:nvPr/>
        </p:nvSpPr>
        <p:spPr>
          <a:xfrm>
            <a:off x="475013" y="2386940"/>
            <a:ext cx="3313216" cy="11281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CARÁCTER DE LA CATEGORIZACIÓN </a:t>
            </a:r>
          </a:p>
        </p:txBody>
      </p:sp>
      <p:sp>
        <p:nvSpPr>
          <p:cNvPr id="6" name="Flecha: a la derecha 5">
            <a:extLst>
              <a:ext uri="{FF2B5EF4-FFF2-40B4-BE49-F238E27FC236}">
                <a16:creationId xmlns:a16="http://schemas.microsoft.com/office/drawing/2014/main" id="{4A9B654D-C072-4C23-8DBE-C32F86B04481}"/>
              </a:ext>
            </a:extLst>
          </p:cNvPr>
          <p:cNvSpPr/>
          <p:nvPr/>
        </p:nvSpPr>
        <p:spPr>
          <a:xfrm>
            <a:off x="4130633" y="2716480"/>
            <a:ext cx="1593273" cy="46907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AR"/>
          </a:p>
        </p:txBody>
      </p:sp>
      <p:sp>
        <p:nvSpPr>
          <p:cNvPr id="8" name="Rectángulo: esquinas redondeadas 7">
            <a:extLst>
              <a:ext uri="{FF2B5EF4-FFF2-40B4-BE49-F238E27FC236}">
                <a16:creationId xmlns:a16="http://schemas.microsoft.com/office/drawing/2014/main" id="{2ADA5C94-46D5-45B8-B8FB-E235088B2CE9}"/>
              </a:ext>
            </a:extLst>
          </p:cNvPr>
          <p:cNvSpPr/>
          <p:nvPr/>
        </p:nvSpPr>
        <p:spPr>
          <a:xfrm>
            <a:off x="1864425" y="3906982"/>
            <a:ext cx="6561117" cy="133003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dirty="0"/>
              <a:t>deberá contener, como mínimo, el agrupamiento de los acreedores en tres categorías: quirografarios, quirografarios laborales</a:t>
            </a:r>
            <a:endParaRPr lang="es-AR" dirty="0"/>
          </a:p>
        </p:txBody>
      </p:sp>
      <p:sp>
        <p:nvSpPr>
          <p:cNvPr id="9" name="Rectángulo 8">
            <a:extLst>
              <a:ext uri="{FF2B5EF4-FFF2-40B4-BE49-F238E27FC236}">
                <a16:creationId xmlns:a16="http://schemas.microsoft.com/office/drawing/2014/main" id="{740679D3-5604-4E54-A6C5-97933D7D4E57}"/>
              </a:ext>
            </a:extLst>
          </p:cNvPr>
          <p:cNvSpPr/>
          <p:nvPr/>
        </p:nvSpPr>
        <p:spPr>
          <a:xfrm>
            <a:off x="190005" y="3906982"/>
            <a:ext cx="1282535" cy="133003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dirty="0"/>
              <a:t>La ley dice:</a:t>
            </a:r>
            <a:endParaRPr lang="es-AR" dirty="0"/>
          </a:p>
        </p:txBody>
      </p:sp>
      <p:sp>
        <p:nvSpPr>
          <p:cNvPr id="10" name="Rectángulo: esquinas redondeadas 9">
            <a:extLst>
              <a:ext uri="{FF2B5EF4-FFF2-40B4-BE49-F238E27FC236}">
                <a16:creationId xmlns:a16="http://schemas.microsoft.com/office/drawing/2014/main" id="{63B042EE-DB8B-43AD-9976-B3BEE7C20A3C}"/>
              </a:ext>
            </a:extLst>
          </p:cNvPr>
          <p:cNvSpPr/>
          <p:nvPr/>
        </p:nvSpPr>
        <p:spPr>
          <a:xfrm>
            <a:off x="8769928" y="3906982"/>
            <a:ext cx="2776846" cy="133003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sz="1500" dirty="0" err="1"/>
              <a:t>Alegria</a:t>
            </a:r>
            <a:r>
              <a:rPr lang="es-ES" sz="1500" dirty="0"/>
              <a:t> afirma que la propuesta diferenciada no es una obligación, sino una facultad que se otorga al deudor para proponer su acuerdo.</a:t>
            </a:r>
            <a:endParaRPr lang="es-AR" sz="1500" dirty="0"/>
          </a:p>
        </p:txBody>
      </p:sp>
      <p:sp>
        <p:nvSpPr>
          <p:cNvPr id="11" name="Elipse 10">
            <a:extLst>
              <a:ext uri="{FF2B5EF4-FFF2-40B4-BE49-F238E27FC236}">
                <a16:creationId xmlns:a16="http://schemas.microsoft.com/office/drawing/2014/main" id="{4421DB3C-2165-4F14-AB02-4100DABE2B3A}"/>
              </a:ext>
            </a:extLst>
          </p:cNvPr>
          <p:cNvSpPr/>
          <p:nvPr/>
        </p:nvSpPr>
        <p:spPr>
          <a:xfrm>
            <a:off x="7392390" y="2386940"/>
            <a:ext cx="2701636" cy="12647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facultativo</a:t>
            </a:r>
            <a:endParaRPr lang="es-AR" dirty="0"/>
          </a:p>
        </p:txBody>
      </p:sp>
    </p:spTree>
    <p:extLst>
      <p:ext uri="{BB962C8B-B14F-4D97-AF65-F5344CB8AC3E}">
        <p14:creationId xmlns:p14="http://schemas.microsoft.com/office/powerpoint/2010/main" val="557046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9D29E98-4EF5-4AE0-99DF-15170695AFDF}"/>
              </a:ext>
            </a:extLst>
          </p:cNvPr>
          <p:cNvSpPr/>
          <p:nvPr/>
        </p:nvSpPr>
        <p:spPr>
          <a:xfrm>
            <a:off x="296883" y="320634"/>
            <a:ext cx="2600696" cy="1389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existe una categoría legal obligatoria</a:t>
            </a:r>
            <a:endParaRPr lang="es-AR" dirty="0"/>
          </a:p>
        </p:txBody>
      </p:sp>
      <p:sp>
        <p:nvSpPr>
          <p:cNvPr id="3" name="Rectángulo 2">
            <a:extLst>
              <a:ext uri="{FF2B5EF4-FFF2-40B4-BE49-F238E27FC236}">
                <a16:creationId xmlns:a16="http://schemas.microsoft.com/office/drawing/2014/main" id="{91F13515-B6D7-4D0C-A137-EEEFCEE252ED}"/>
              </a:ext>
            </a:extLst>
          </p:cNvPr>
          <p:cNvSpPr/>
          <p:nvPr/>
        </p:nvSpPr>
        <p:spPr>
          <a:xfrm>
            <a:off x="3109354" y="320633"/>
            <a:ext cx="2600696" cy="1389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los quirografarios laborales</a:t>
            </a:r>
          </a:p>
        </p:txBody>
      </p:sp>
      <p:sp>
        <p:nvSpPr>
          <p:cNvPr id="7" name="Rectángulo 6">
            <a:extLst>
              <a:ext uri="{FF2B5EF4-FFF2-40B4-BE49-F238E27FC236}">
                <a16:creationId xmlns:a16="http://schemas.microsoft.com/office/drawing/2014/main" id="{2532006D-438B-472A-B0B2-0E4A4F666545}"/>
              </a:ext>
            </a:extLst>
          </p:cNvPr>
          <p:cNvSpPr/>
          <p:nvPr/>
        </p:nvSpPr>
        <p:spPr>
          <a:xfrm>
            <a:off x="6058397" y="342405"/>
            <a:ext cx="5508170" cy="1389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categoría de acreedores satisface los objetivos perseguidos por la ley al reconocer las diferencias existentes entre los acreedores que componen el universo del pasivo concursal y las particularidades de los derechos de los trabajadores.</a:t>
            </a:r>
            <a:endParaRPr lang="es-AR" dirty="0"/>
          </a:p>
        </p:txBody>
      </p:sp>
      <p:sp>
        <p:nvSpPr>
          <p:cNvPr id="8" name="Rectángulo: esquinas redondeadas 7">
            <a:extLst>
              <a:ext uri="{FF2B5EF4-FFF2-40B4-BE49-F238E27FC236}">
                <a16:creationId xmlns:a16="http://schemas.microsoft.com/office/drawing/2014/main" id="{CB285783-B554-4E5E-B554-8E6B0CEFF77A}"/>
              </a:ext>
            </a:extLst>
          </p:cNvPr>
          <p:cNvSpPr/>
          <p:nvPr/>
        </p:nvSpPr>
        <p:spPr>
          <a:xfrm>
            <a:off x="316677" y="2943595"/>
            <a:ext cx="2600696" cy="122019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AR" dirty="0"/>
              <a:t>Renuncia al privilegio</a:t>
            </a:r>
          </a:p>
        </p:txBody>
      </p:sp>
      <p:sp>
        <p:nvSpPr>
          <p:cNvPr id="9" name="Rectángulo: esquinas redondeadas 8">
            <a:extLst>
              <a:ext uri="{FF2B5EF4-FFF2-40B4-BE49-F238E27FC236}">
                <a16:creationId xmlns:a16="http://schemas.microsoft.com/office/drawing/2014/main" id="{9AAA1C7F-9F99-4D95-85AA-D44AEDA246DF}"/>
              </a:ext>
            </a:extLst>
          </p:cNvPr>
          <p:cNvSpPr/>
          <p:nvPr/>
        </p:nvSpPr>
        <p:spPr>
          <a:xfrm>
            <a:off x="4409702" y="2208810"/>
            <a:ext cx="2600696" cy="122019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AR" dirty="0"/>
              <a:t>pautada como una excepción</a:t>
            </a:r>
          </a:p>
        </p:txBody>
      </p:sp>
      <p:sp>
        <p:nvSpPr>
          <p:cNvPr id="10" name="Rectángulo: esquinas redondeadas 9">
            <a:extLst>
              <a:ext uri="{FF2B5EF4-FFF2-40B4-BE49-F238E27FC236}">
                <a16:creationId xmlns:a16="http://schemas.microsoft.com/office/drawing/2014/main" id="{58FF228D-5FE7-49E3-9C4A-2194BFBA8EF6}"/>
              </a:ext>
            </a:extLst>
          </p:cNvPr>
          <p:cNvSpPr/>
          <p:nvPr/>
        </p:nvSpPr>
        <p:spPr>
          <a:xfrm>
            <a:off x="4409702" y="3768436"/>
            <a:ext cx="6420592" cy="122019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dirty="0"/>
              <a:t>el privilegio al que hubiera renunciado el trabajador que hubiere votado favorablemente el acuerdo </a:t>
            </a:r>
            <a:r>
              <a:rPr lang="es-ES" u="sng" dirty="0"/>
              <a:t>RENACE</a:t>
            </a:r>
            <a:r>
              <a:rPr lang="es-ES" dirty="0"/>
              <a:t> en el caso de quiebra posterior como origen en la falta de existencia de acuerdo preventivo, o en el caso de no homologarse el acuerdo,</a:t>
            </a:r>
            <a:endParaRPr lang="es-AR" dirty="0"/>
          </a:p>
        </p:txBody>
      </p:sp>
      <p:sp>
        <p:nvSpPr>
          <p:cNvPr id="12" name="Flecha: cheurón 11">
            <a:extLst>
              <a:ext uri="{FF2B5EF4-FFF2-40B4-BE49-F238E27FC236}">
                <a16:creationId xmlns:a16="http://schemas.microsoft.com/office/drawing/2014/main" id="{C1F9C79D-619A-4A5E-B5F4-20E73E3EEF4D}"/>
              </a:ext>
            </a:extLst>
          </p:cNvPr>
          <p:cNvSpPr/>
          <p:nvPr/>
        </p:nvSpPr>
        <p:spPr>
          <a:xfrm>
            <a:off x="3336966" y="3123210"/>
            <a:ext cx="653143" cy="860961"/>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Tree>
    <p:extLst>
      <p:ext uri="{BB962C8B-B14F-4D97-AF65-F5344CB8AC3E}">
        <p14:creationId xmlns:p14="http://schemas.microsoft.com/office/powerpoint/2010/main" val="993858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720D8CF-35D1-49CF-9C17-66724B1BD1F9}"/>
              </a:ext>
            </a:extLst>
          </p:cNvPr>
          <p:cNvSpPr/>
          <p:nvPr/>
        </p:nvSpPr>
        <p:spPr>
          <a:xfrm>
            <a:off x="1211283" y="255319"/>
            <a:ext cx="9553699" cy="878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CRITERIOS DE CATEGORIZACIÓN: LA CLASIFICACIÓN DE ACREEDORES</a:t>
            </a:r>
            <a:endParaRPr lang="es-AR" dirty="0"/>
          </a:p>
        </p:txBody>
      </p:sp>
      <p:sp>
        <p:nvSpPr>
          <p:cNvPr id="5" name="Rectángulo 4">
            <a:extLst>
              <a:ext uri="{FF2B5EF4-FFF2-40B4-BE49-F238E27FC236}">
                <a16:creationId xmlns:a16="http://schemas.microsoft.com/office/drawing/2014/main" id="{0C709988-4C50-43A0-A03E-B9830E98A659}"/>
              </a:ext>
            </a:extLst>
          </p:cNvPr>
          <p:cNvSpPr/>
          <p:nvPr/>
        </p:nvSpPr>
        <p:spPr>
          <a:xfrm>
            <a:off x="1211283" y="1425039"/>
            <a:ext cx="9553699" cy="36694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285750" indent="-285750">
              <a:buFont typeface="Arial" panose="020B0604020202020204" pitchFamily="34" charset="0"/>
              <a:buChar char="•"/>
            </a:pPr>
            <a:r>
              <a:rPr lang="es-ES" dirty="0"/>
              <a:t>Cada clase de acreedores o categorías debe tener un justificativo económico o de otra naturaleza en las características particulares de los créditos o de los acreedores. </a:t>
            </a:r>
          </a:p>
          <a:p>
            <a:pPr marL="285750" indent="-285750">
              <a:buFont typeface="Arial" panose="020B0604020202020204" pitchFamily="34" charset="0"/>
              <a:buChar char="•"/>
            </a:pPr>
            <a:r>
              <a:rPr lang="es-ES" dirty="0"/>
              <a:t>debe ser razonablemente fundada. El deudor debe precisar el porqué de la clasificación, </a:t>
            </a:r>
          </a:p>
          <a:p>
            <a:pPr marL="285750" indent="-285750">
              <a:buFont typeface="Arial" panose="020B0604020202020204" pitchFamily="34" charset="0"/>
              <a:buChar char="•"/>
            </a:pPr>
            <a:r>
              <a:rPr lang="es-ES" dirty="0"/>
              <a:t> acreedores financieros, comerciales, proveedores, pequeños acreedores, naturaleza de los créditos, su destino, montos ---- de ellos debe surgir su </a:t>
            </a:r>
            <a:r>
              <a:rPr lang="es-ES" u="sng" dirty="0"/>
              <a:t>RAZONABILIDAD</a:t>
            </a:r>
            <a:r>
              <a:rPr lang="es-ES" dirty="0"/>
              <a:t>. </a:t>
            </a:r>
          </a:p>
          <a:p>
            <a:pPr marL="285750" indent="-285750">
              <a:buFont typeface="Arial" panose="020B0604020202020204" pitchFamily="34" charset="0"/>
              <a:buChar char="•"/>
            </a:pPr>
            <a:r>
              <a:rPr lang="es-ES" dirty="0"/>
              <a:t>La propuesta de categorización debe presentarla el deudor (persona física o jurídica) a través de sus representantes o mandatarios, según las reglas de la representación y apoderamiento. También dentro de cada categoría se pueden realizar </a:t>
            </a:r>
            <a:r>
              <a:rPr lang="es-ES" u="sng" dirty="0"/>
              <a:t>propuestas diferenciadas</a:t>
            </a:r>
            <a:r>
              <a:rPr lang="es-ES" dirty="0"/>
              <a:t>, en tanto estén justificadas en la diversidad negocial, en una visión dinámica de la </a:t>
            </a:r>
            <a:r>
              <a:rPr lang="es-ES" dirty="0" err="1"/>
              <a:t>pars</a:t>
            </a:r>
            <a:r>
              <a:rPr lang="es-ES" dirty="0"/>
              <a:t> </a:t>
            </a:r>
            <a:r>
              <a:rPr lang="es-ES" dirty="0" err="1"/>
              <a:t>condicio</a:t>
            </a:r>
            <a:r>
              <a:rPr lang="es-ES" dirty="0"/>
              <a:t> </a:t>
            </a:r>
            <a:r>
              <a:rPr lang="es-ES" dirty="0" err="1"/>
              <a:t>creditorum</a:t>
            </a:r>
            <a:r>
              <a:rPr lang="es-ES" dirty="0"/>
              <a:t>. </a:t>
            </a:r>
            <a:endParaRPr lang="es-AR" dirty="0"/>
          </a:p>
        </p:txBody>
      </p:sp>
    </p:spTree>
    <p:extLst>
      <p:ext uri="{BB962C8B-B14F-4D97-AF65-F5344CB8AC3E}">
        <p14:creationId xmlns:p14="http://schemas.microsoft.com/office/powerpoint/2010/main" val="2583319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15646A53-D859-4C31-A66E-808DCC92F66D}"/>
              </a:ext>
            </a:extLst>
          </p:cNvPr>
          <p:cNvSpPr>
            <a:spLocks noGrp="1"/>
          </p:cNvSpPr>
          <p:nvPr>
            <p:ph type="title"/>
          </p:nvPr>
        </p:nvSpPr>
        <p:spPr>
          <a:xfrm>
            <a:off x="1066800" y="5252936"/>
            <a:ext cx="10058400" cy="1028715"/>
          </a:xfrm>
        </p:spPr>
        <p:txBody>
          <a:bodyPr anchor="ctr">
            <a:normAutofit/>
          </a:bodyPr>
          <a:lstStyle/>
          <a:p>
            <a:pPr algn="ctr"/>
            <a:r>
              <a:rPr lang="es-AR" b="0" i="0">
                <a:solidFill>
                  <a:srgbClr val="FFFFFF"/>
                </a:solidFill>
                <a:effectLst/>
                <a:latin typeface="Gill Sans"/>
              </a:rPr>
              <a:t> </a:t>
            </a:r>
            <a:r>
              <a:rPr lang="es-AR" b="0" i="1">
                <a:solidFill>
                  <a:srgbClr val="FFFFFF"/>
                </a:solidFill>
                <a:effectLst/>
                <a:latin typeface="Gill Sans"/>
              </a:rPr>
              <a:t>Resolución de categorización</a:t>
            </a:r>
            <a:endParaRPr lang="es-AR">
              <a:solidFill>
                <a:srgbClr val="FFFFFF"/>
              </a:solidFill>
            </a:endParaRPr>
          </a:p>
        </p:txBody>
      </p:sp>
      <p:sp>
        <p:nvSpPr>
          <p:cNvPr id="3" name="Marcador de contenido 2">
            <a:extLst>
              <a:ext uri="{FF2B5EF4-FFF2-40B4-BE49-F238E27FC236}">
                <a16:creationId xmlns:a16="http://schemas.microsoft.com/office/drawing/2014/main" id="{B52BBB0F-BB25-46DB-8F94-B1497ED6D139}"/>
              </a:ext>
            </a:extLst>
          </p:cNvPr>
          <p:cNvSpPr>
            <a:spLocks noGrp="1"/>
          </p:cNvSpPr>
          <p:nvPr>
            <p:ph sz="quarter" idx="13"/>
          </p:nvPr>
        </p:nvSpPr>
        <p:spPr>
          <a:xfrm>
            <a:off x="1097280" y="1086678"/>
            <a:ext cx="10027920" cy="3471467"/>
          </a:xfrm>
        </p:spPr>
        <p:txBody>
          <a:bodyPr>
            <a:normAutofit/>
          </a:bodyPr>
          <a:lstStyle/>
          <a:p>
            <a:r>
              <a:rPr lang="es-ES" b="0" i="0">
                <a:effectLst/>
                <a:latin typeface="Gill Sans"/>
              </a:rPr>
              <a:t>ARTICULO 42.- </a:t>
            </a:r>
            <a:r>
              <a:rPr lang="es-ES" b="0" i="1">
                <a:effectLst/>
                <a:latin typeface="Gill Sans"/>
              </a:rPr>
              <a:t>Resolución de categorización</a:t>
            </a:r>
            <a:r>
              <a:rPr lang="es-ES" b="0" i="0">
                <a:effectLst/>
                <a:latin typeface="Gill Sans"/>
              </a:rPr>
              <a:t>. Dentro de los diez (10) días siguientes a la finalización del plazo fijado en el artículo 40, el juez dictará resolución fijando definitivamente las categorías y los acreedores comprendidos en ellas.</a:t>
            </a:r>
          </a:p>
          <a:p>
            <a:r>
              <a:rPr lang="es-ES" b="0" i="1">
                <a:effectLst/>
                <a:latin typeface="Gill Sans"/>
              </a:rPr>
              <a:t>Constitución del comité de control</a:t>
            </a:r>
            <a:r>
              <a:rPr lang="es-ES" b="0" i="0">
                <a:effectLst/>
                <a:latin typeface="Gill Sans"/>
              </a:rPr>
              <a:t>. En dicha resolución el juez designará a los nuevos integrantes del comité de control, el cual quedará conformado como mínimo por un (1) acreedor por cada categoría de las establecidas, debiendo integrar el mismo necesariamente el acreedor de mayor monto dentro de la categoría y por dos (2) nuevos representantes de los trabajadores de la concursada, elegidos por los trabajadores, que se incorporarán al ya electo conforme el artículo 14, inciso 13. El juez podrá reducir la cantidad de representantes de los trabajadores cuando la nómina de empleados así lo justifique. A partir de ese momento cesarán las funciones de los anteriores integrantes del comité que representan a los acreedores.</a:t>
            </a:r>
          </a:p>
          <a:p>
            <a:pPr marL="0" indent="0">
              <a:buNone/>
            </a:pPr>
            <a:endParaRPr lang="es-AR" dirty="0"/>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Tree>
    <p:extLst>
      <p:ext uri="{BB962C8B-B14F-4D97-AF65-F5344CB8AC3E}">
        <p14:creationId xmlns:p14="http://schemas.microsoft.com/office/powerpoint/2010/main" val="1975644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2D683458-21BC-46E0-9DA2-7FD75C8FDA2D}"/>
              </a:ext>
            </a:extLst>
          </p:cNvPr>
          <p:cNvSpPr/>
          <p:nvPr/>
        </p:nvSpPr>
        <p:spPr>
          <a:xfrm>
            <a:off x="1050966" y="267195"/>
            <a:ext cx="4001985" cy="15497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a:t>constituye, juntamente con la sentencia de verificación, el otro pilar en donde la LCQ estructura las bases de la propuesta de acuerdo preventivo</a:t>
            </a:r>
            <a:endParaRPr lang="es-AR" dirty="0"/>
          </a:p>
        </p:txBody>
      </p:sp>
      <p:sp>
        <p:nvSpPr>
          <p:cNvPr id="5" name="Rectángulo: esquinas redondeadas 4">
            <a:extLst>
              <a:ext uri="{FF2B5EF4-FFF2-40B4-BE49-F238E27FC236}">
                <a16:creationId xmlns:a16="http://schemas.microsoft.com/office/drawing/2014/main" id="{22D3E4E4-4F8A-4A16-8F4C-B257C7534BE3}"/>
              </a:ext>
            </a:extLst>
          </p:cNvPr>
          <p:cNvSpPr/>
          <p:nvPr/>
        </p:nvSpPr>
        <p:spPr>
          <a:xfrm>
            <a:off x="5991101" y="403761"/>
            <a:ext cx="4001985" cy="13062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Bosch y </a:t>
            </a:r>
            <a:r>
              <a:rPr lang="es-ES" dirty="0" err="1"/>
              <a:t>Truffat</a:t>
            </a:r>
            <a:r>
              <a:rPr lang="es-ES" dirty="0"/>
              <a:t> expresan que el juez sólo modificará las categorías cuando advierta que el deudor intenta manipular las mayorías.</a:t>
            </a:r>
            <a:endParaRPr lang="es-AR" dirty="0"/>
          </a:p>
        </p:txBody>
      </p:sp>
      <p:sp>
        <p:nvSpPr>
          <p:cNvPr id="6" name="Rectángulo: esquinas redondeadas 5">
            <a:extLst>
              <a:ext uri="{FF2B5EF4-FFF2-40B4-BE49-F238E27FC236}">
                <a16:creationId xmlns:a16="http://schemas.microsoft.com/office/drawing/2014/main" id="{BF145D28-6CD0-4BC3-A206-8719AFC6A544}"/>
              </a:ext>
            </a:extLst>
          </p:cNvPr>
          <p:cNvSpPr/>
          <p:nvPr/>
        </p:nvSpPr>
        <p:spPr>
          <a:xfrm>
            <a:off x="1134094" y="2185060"/>
            <a:ext cx="8858992" cy="1039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a:t>La jurisprudencia ha sostenido la imposibilidad de modificar la categorización propuesta por el deudor y que en caso de rechazo cabe afirmar la inexistencia de categorización</a:t>
            </a:r>
            <a:endParaRPr lang="es-AR" dirty="0"/>
          </a:p>
        </p:txBody>
      </p:sp>
      <p:sp>
        <p:nvSpPr>
          <p:cNvPr id="7" name="Rectángulo: esquinas redondeadas 6">
            <a:extLst>
              <a:ext uri="{FF2B5EF4-FFF2-40B4-BE49-F238E27FC236}">
                <a16:creationId xmlns:a16="http://schemas.microsoft.com/office/drawing/2014/main" id="{49743F47-9FA6-45D2-884F-36D70F329419}"/>
              </a:ext>
            </a:extLst>
          </p:cNvPr>
          <p:cNvSpPr/>
          <p:nvPr/>
        </p:nvSpPr>
        <p:spPr>
          <a:xfrm>
            <a:off x="1050966" y="3509158"/>
            <a:ext cx="8942120" cy="19178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a:p>
            <a:pPr algn="ctr"/>
            <a:r>
              <a:rPr lang="es-ES"/>
              <a:t> Junyent Bas:</a:t>
            </a:r>
          </a:p>
          <a:p>
            <a:pPr algn="ctr"/>
            <a:r>
              <a:rPr lang="es-ES"/>
              <a:t>la categorización propuesta por el deudor es prácticamente vinculante para el tribunal. </a:t>
            </a:r>
          </a:p>
          <a:p>
            <a:pPr algn="ctr"/>
            <a:r>
              <a:rPr lang="es-ES"/>
              <a:t>El juez puede alterar o sustituir la categorización en un único aspecto: en su composición personal, atendiendo a las argumentaciones de la sindicatura o las de los acreedores observantes (supuesto no contemplado expresamente por la ley), y haciendo un análisis de razonabilidad,</a:t>
            </a:r>
            <a:endParaRPr lang="es-AR" dirty="0"/>
          </a:p>
        </p:txBody>
      </p:sp>
    </p:spTree>
    <p:extLst>
      <p:ext uri="{BB962C8B-B14F-4D97-AF65-F5344CB8AC3E}">
        <p14:creationId xmlns:p14="http://schemas.microsoft.com/office/powerpoint/2010/main" val="1469174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4E23B741-C109-4D8D-A0E7-54339014D700}"/>
              </a:ext>
            </a:extLst>
          </p:cNvPr>
          <p:cNvSpPr>
            <a:spLocks noGrp="1"/>
          </p:cNvSpPr>
          <p:nvPr>
            <p:ph type="title"/>
          </p:nvPr>
        </p:nvSpPr>
        <p:spPr>
          <a:xfrm>
            <a:off x="1066800" y="5252936"/>
            <a:ext cx="10058400" cy="1028715"/>
          </a:xfrm>
        </p:spPr>
        <p:txBody>
          <a:bodyPr anchor="ctr">
            <a:normAutofit/>
          </a:bodyPr>
          <a:lstStyle/>
          <a:p>
            <a:pPr algn="ctr"/>
            <a:r>
              <a:rPr lang="es-AR" b="0" i="0">
                <a:solidFill>
                  <a:srgbClr val="FFFFFF"/>
                </a:solidFill>
                <a:effectLst/>
                <a:latin typeface="Gill Sans"/>
              </a:rPr>
              <a:t>Período de exclusividad</a:t>
            </a:r>
            <a:endParaRPr lang="es-AR">
              <a:solidFill>
                <a:srgbClr val="FFFFFF"/>
              </a:solidFill>
            </a:endParaRPr>
          </a:p>
        </p:txBody>
      </p:sp>
      <p:sp>
        <p:nvSpPr>
          <p:cNvPr id="3" name="Marcador de contenido 2">
            <a:extLst>
              <a:ext uri="{FF2B5EF4-FFF2-40B4-BE49-F238E27FC236}">
                <a16:creationId xmlns:a16="http://schemas.microsoft.com/office/drawing/2014/main" id="{CCEFB5A3-9970-4A12-8789-92B51B823BDC}"/>
              </a:ext>
            </a:extLst>
          </p:cNvPr>
          <p:cNvSpPr>
            <a:spLocks noGrp="1"/>
          </p:cNvSpPr>
          <p:nvPr>
            <p:ph sz="quarter" idx="13"/>
          </p:nvPr>
        </p:nvSpPr>
        <p:spPr>
          <a:xfrm>
            <a:off x="1097280" y="457200"/>
            <a:ext cx="10027920" cy="4100945"/>
          </a:xfrm>
        </p:spPr>
        <p:txBody>
          <a:bodyPr>
            <a:normAutofit fontScale="77500" lnSpcReduction="20000"/>
          </a:bodyPr>
          <a:lstStyle/>
          <a:p>
            <a:r>
              <a:rPr lang="es-ES" sz="1000" b="0" i="0" dirty="0">
                <a:effectLst/>
                <a:latin typeface="Gill Sans"/>
              </a:rPr>
              <a:t>ARTICULO 43.- Período de exclusividad. Propuestas de acuerdo. Dentro de los noventa (90) días desde que quede notificada por ministerio de la ley la resolución prevista en el artículo anterior, o dentro del mayor plazo que el juez determine en función al número de acreedores o categorías, el que no podrá exceder los treinta (30) días del plazo ordinario, el deudor gozará de un período de exclusividad para formular propuestas de acuerdo preventivo por categorías a sus acreedores y obtener de éstos la conformidad según el régimen previsto en el artículo 45.</a:t>
            </a:r>
          </a:p>
          <a:p>
            <a:r>
              <a:rPr lang="es-ES" sz="1000" b="0" i="0" dirty="0">
                <a:effectLst/>
                <a:latin typeface="Gill Sans"/>
              </a:rPr>
              <a:t>Las propuestas pueden consistir en quita, espera o ambas; entrega de bienes a los acreedores; constitución de sociedad con los acreedores quirografarios, en la que éstos tengan calidad de socios; reorganización de la sociedad deudora; administración de todos o parte de los bienes en interés de los acreedores; emisión de obligaciones negociables o debentures; emisión de bonos convertibles en acciones; constitución de garantías sobre bienes de terceros; cesión de acciones de otras sociedades; capitalización de créditos, inclusive de acreedores laborales, en acciones o en un programa de propiedad participada, o en cualquier otro acuerdo que se obtenga con conformidad suficiente dentro de cada categoría, y en relación con el total de los acreedores a los cuales se les formulará propuesta.</a:t>
            </a:r>
          </a:p>
          <a:p>
            <a:r>
              <a:rPr lang="es-ES" sz="1000" b="0" i="0" dirty="0">
                <a:effectLst/>
                <a:latin typeface="Gill Sans"/>
              </a:rPr>
              <a:t>Las propuestas deben contener cláusulas iguales para los acreedores dentro de cada categoría, pudiendo diferir entre ellas.</a:t>
            </a:r>
          </a:p>
          <a:p>
            <a:r>
              <a:rPr lang="es-ES" sz="1000" b="0" i="0" dirty="0">
                <a:effectLst/>
                <a:latin typeface="Gill Sans"/>
              </a:rPr>
              <a:t>El deudor puede efectuar más de una propuesta respecto de cada categoría, entre las que podrán optar los acreedores comprendidos en ellas.</a:t>
            </a:r>
          </a:p>
          <a:p>
            <a:r>
              <a:rPr lang="es-ES" sz="1000" b="0" i="0" dirty="0">
                <a:effectLst/>
                <a:latin typeface="Gill Sans"/>
              </a:rPr>
              <a:t>El acreedor deberá optar en el momento de dar su adhesión a la propuesta.</a:t>
            </a:r>
          </a:p>
          <a:p>
            <a:r>
              <a:rPr lang="es-ES" sz="1000" b="0" i="0" dirty="0">
                <a:effectLst/>
                <a:latin typeface="Gill Sans"/>
              </a:rPr>
              <a:t>La propuesta no puede consistir en prestación que dependa de la voluntad del deudor.</a:t>
            </a:r>
          </a:p>
          <a:p>
            <a:r>
              <a:rPr lang="es-ES" sz="1000" b="0" i="0" dirty="0">
                <a:effectLst/>
                <a:latin typeface="Gill Sans"/>
              </a:rPr>
              <a:t>Cuando no consiste en una quita o espera, debe expresar la forma y tiempo en que serán definitivamente calculadas las deudas en moneda extranjera que existiesen, con relación a las prestaciones que se estipulen.</a:t>
            </a:r>
          </a:p>
          <a:p>
            <a:r>
              <a:rPr lang="es-ES" sz="1000" b="0" i="0" dirty="0">
                <a:effectLst/>
                <a:latin typeface="Gill Sans"/>
              </a:rPr>
              <a:t>Los acreedores privilegiados que renuncien expresamente al privilegio, deben quedar comprendidos dentro de alguna categoría de acreedores quirografarios.</a:t>
            </a:r>
          </a:p>
          <a:p>
            <a:r>
              <a:rPr lang="es-ES" sz="1000" b="0" i="0" dirty="0">
                <a:effectLst/>
                <a:latin typeface="Gill Sans"/>
              </a:rPr>
              <a:t>La renuncia no puede ser inferior al treinta por ciento (30%) de su crédito.</a:t>
            </a:r>
          </a:p>
          <a:p>
            <a:r>
              <a:rPr lang="es-ES" sz="1000" b="0" i="0" dirty="0">
                <a:effectLst/>
                <a:latin typeface="Gill Sans"/>
              </a:rPr>
              <a:t>A estos efectos, el privilegio que proviene de la relación laboral es renunciable, debiendo ser ratificada en audiencia ante el juez del concurso, con citación a la asociación gremial legitimada. Si el trabajador no se encontrare alcanzado por el régimen de Convenio Colectivo, no será necesaria la citación de la asociación gremial. La renuncia del privilegio laboral no podrá ser inferior al veinte por ciento (20%) del crédito, y los acreedores laborales que hubieran renunciado a su privilegio se incorporarán a la categoría de quirografarios laborales por el monto del crédito a cuyo privilegio hubieran renunciado. El privilegio a que hubiere renunciado el trabajador que hubiere votado favorablemente el acuerdo renace en caso de quiebra posterior con origen en la falta de existencia de acuerdo preventivo, o en el caso de no homologarse el acuerdo.</a:t>
            </a:r>
          </a:p>
          <a:p>
            <a:r>
              <a:rPr lang="es-ES" sz="1000" b="0" i="0" dirty="0">
                <a:effectLst/>
                <a:latin typeface="Gill Sans"/>
              </a:rPr>
              <a:t>El deudor deberá hacer pública su propuesta presentando la misma en el expediente con una anticipación no menor a veinte días (20) del vencimiento del plazo de exclusividad. Si no lo hiciere será declarado en quiebra, excepto en el caso de los supuestos especiales contemplados en el artículo 48.</a:t>
            </a:r>
          </a:p>
          <a:p>
            <a:r>
              <a:rPr lang="es-ES" sz="1000" b="0" i="0" dirty="0">
                <a:effectLst/>
                <a:latin typeface="Gill Sans"/>
              </a:rPr>
              <a:t>El deudor podrá presentar modificaciones a su propuesta original hasta el momento de celebrarse la Junta Informativa prevista en el artículo 45, penúltimo párrafo.</a:t>
            </a:r>
          </a:p>
          <a:p>
            <a:endParaRPr lang="es-AR" sz="500" dirty="0"/>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Tree>
    <p:extLst>
      <p:ext uri="{BB962C8B-B14F-4D97-AF65-F5344CB8AC3E}">
        <p14:creationId xmlns:p14="http://schemas.microsoft.com/office/powerpoint/2010/main" val="2712787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a:extLst>
              <a:ext uri="{FF2B5EF4-FFF2-40B4-BE49-F238E27FC236}">
                <a16:creationId xmlns:a16="http://schemas.microsoft.com/office/drawing/2014/main" id="{620F5C1B-955C-4530-B577-DE2A9D7D2CC0}"/>
              </a:ext>
            </a:extLst>
          </p:cNvPr>
          <p:cNvSpPr/>
          <p:nvPr/>
        </p:nvSpPr>
        <p:spPr>
          <a:xfrm>
            <a:off x="439387" y="682831"/>
            <a:ext cx="2131621" cy="12350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período de exclusividad.</a:t>
            </a:r>
          </a:p>
        </p:txBody>
      </p:sp>
      <p:sp>
        <p:nvSpPr>
          <p:cNvPr id="5" name="Rectángulo 4">
            <a:extLst>
              <a:ext uri="{FF2B5EF4-FFF2-40B4-BE49-F238E27FC236}">
                <a16:creationId xmlns:a16="http://schemas.microsoft.com/office/drawing/2014/main" id="{45914F0F-9BF5-4115-8E4D-E3FD822DAE38}"/>
              </a:ext>
            </a:extLst>
          </p:cNvPr>
          <p:cNvSpPr/>
          <p:nvPr/>
        </p:nvSpPr>
        <p:spPr>
          <a:xfrm>
            <a:off x="3901044" y="178130"/>
            <a:ext cx="7333013" cy="1834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s-ES" sz="1300" dirty="0"/>
              <a:t>primer término donde solamente el deudor goza de una etapa propia y exclusiva</a:t>
            </a:r>
          </a:p>
          <a:p>
            <a:pPr marL="285750" indent="-285750" algn="just">
              <a:buFont typeface="Arial" panose="020B0604020202020204" pitchFamily="34" charset="0"/>
              <a:buChar char="•"/>
            </a:pPr>
            <a:r>
              <a:rPr lang="es-ES" sz="1300" dirty="0"/>
              <a:t>no pueden intervenir otras personas eventualmente interesadas en continuar la explotación empresaria</a:t>
            </a:r>
          </a:p>
          <a:p>
            <a:pPr marL="285750" indent="-285750" algn="just">
              <a:buFont typeface="Arial" panose="020B0604020202020204" pitchFamily="34" charset="0"/>
              <a:buChar char="•"/>
            </a:pPr>
            <a:r>
              <a:rPr lang="es-ES" sz="1300" dirty="0"/>
              <a:t>debe concertar con sus acreedores una propuesta que le permita evitar la quiebra o eventualmente la apertura del salvataje</a:t>
            </a:r>
          </a:p>
          <a:p>
            <a:pPr marL="285750" indent="-285750" algn="just">
              <a:buFont typeface="Arial" panose="020B0604020202020204" pitchFamily="34" charset="0"/>
              <a:buChar char="•"/>
            </a:pPr>
            <a:r>
              <a:rPr lang="es-ES" sz="1300" dirty="0"/>
              <a:t>el acuerdo está destinado al deudor, saneando la crisis empresaria y permitiéndole mantener la titularidad de su emprendimiento</a:t>
            </a:r>
            <a:endParaRPr lang="es-AR" sz="1300" dirty="0"/>
          </a:p>
        </p:txBody>
      </p:sp>
      <p:sp>
        <p:nvSpPr>
          <p:cNvPr id="6" name="Rectángulo 5">
            <a:extLst>
              <a:ext uri="{FF2B5EF4-FFF2-40B4-BE49-F238E27FC236}">
                <a16:creationId xmlns:a16="http://schemas.microsoft.com/office/drawing/2014/main" id="{7BB921E1-03FC-452B-96CD-B90DCF1269BA}"/>
              </a:ext>
            </a:extLst>
          </p:cNvPr>
          <p:cNvSpPr/>
          <p:nvPr/>
        </p:nvSpPr>
        <p:spPr>
          <a:xfrm>
            <a:off x="3901043" y="2212769"/>
            <a:ext cx="7333013" cy="13498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300" dirty="0"/>
              <a:t>Plazo</a:t>
            </a:r>
          </a:p>
          <a:p>
            <a:pPr marL="285750" indent="-285750">
              <a:buFont typeface="Arial" panose="020B0604020202020204" pitchFamily="34" charset="0"/>
              <a:buChar char="•"/>
            </a:pPr>
            <a:r>
              <a:rPr lang="es-ES" sz="1400" dirty="0"/>
              <a:t>plazo ordinario de noventa días, el que no podrá exceder de otros treinta días adicionales</a:t>
            </a:r>
            <a:endParaRPr lang="es-ES" sz="1300" dirty="0"/>
          </a:p>
          <a:p>
            <a:pPr marL="285750" indent="-285750">
              <a:buFont typeface="Arial" panose="020B0604020202020204" pitchFamily="34" charset="0"/>
              <a:buChar char="•"/>
            </a:pPr>
            <a:r>
              <a:rPr lang="es-ES" sz="1400" dirty="0"/>
              <a:t>El cómputo del plazo procede desde que quede notificada ministerio </a:t>
            </a:r>
            <a:r>
              <a:rPr lang="es-ES" sz="1400" dirty="0" err="1"/>
              <a:t>legis</a:t>
            </a:r>
            <a:r>
              <a:rPr lang="es-ES" sz="1400" dirty="0"/>
              <a:t> la resolución de categorización (art. 42, párr. 1º, LCQ) que prescribe el art. 43, LCQ. </a:t>
            </a:r>
          </a:p>
          <a:p>
            <a:pPr marL="285750" indent="-285750">
              <a:buFont typeface="Arial" panose="020B0604020202020204" pitchFamily="34" charset="0"/>
              <a:buChar char="•"/>
            </a:pPr>
            <a:r>
              <a:rPr lang="es-ES" sz="1400" dirty="0"/>
              <a:t>Este término se computa en días hábiles judiciales.</a:t>
            </a:r>
            <a:endParaRPr lang="es-AR" sz="1300" dirty="0"/>
          </a:p>
        </p:txBody>
      </p:sp>
      <p:sp>
        <p:nvSpPr>
          <p:cNvPr id="7" name="Rectángulo 6">
            <a:extLst>
              <a:ext uri="{FF2B5EF4-FFF2-40B4-BE49-F238E27FC236}">
                <a16:creationId xmlns:a16="http://schemas.microsoft.com/office/drawing/2014/main" id="{8B83FB92-FD7D-4002-B864-327D98CCB2E9}"/>
              </a:ext>
            </a:extLst>
          </p:cNvPr>
          <p:cNvSpPr/>
          <p:nvPr/>
        </p:nvSpPr>
        <p:spPr>
          <a:xfrm>
            <a:off x="190006" y="3754581"/>
            <a:ext cx="11044050" cy="1624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AR" sz="1400" dirty="0"/>
              <a:t>CONTENIDO DE LAS PROPUESTAS</a:t>
            </a:r>
          </a:p>
          <a:p>
            <a:pPr marL="285750" indent="-285750" algn="just">
              <a:buFont typeface="Arial" panose="020B0604020202020204" pitchFamily="34" charset="0"/>
              <a:buChar char="•"/>
            </a:pPr>
            <a:r>
              <a:rPr lang="es-ES" sz="1400" dirty="0"/>
              <a:t>su contenido es amplio y las diversas alternativas citadas por el enunciado normativo tienen mero carácter ejemplificativo, aun cuando en la mayoría de los casos consistan en quita y espera</a:t>
            </a:r>
          </a:p>
          <a:p>
            <a:pPr marL="285750" indent="-285750" algn="just">
              <a:buFont typeface="Arial" panose="020B0604020202020204" pitchFamily="34" charset="0"/>
              <a:buChar char="•"/>
            </a:pPr>
            <a:r>
              <a:rPr lang="es-ES" sz="1400" dirty="0"/>
              <a:t>La ley exige que el deudor haga pública su propuesta, presentándola en tribunales con una anticipación no menor a veinte días del vencimiento del plazo de exclusividad. La violación a esta obligación se sanciona drásticamente con la quiebra.</a:t>
            </a:r>
            <a:endParaRPr lang="es-AR" sz="1300" dirty="0"/>
          </a:p>
        </p:txBody>
      </p:sp>
    </p:spTree>
    <p:extLst>
      <p:ext uri="{BB962C8B-B14F-4D97-AF65-F5344CB8AC3E}">
        <p14:creationId xmlns:p14="http://schemas.microsoft.com/office/powerpoint/2010/main" val="2414169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9632FCB9-3F6E-4E31-BE13-CFBD4F35B6CC}"/>
              </a:ext>
            </a:extLst>
          </p:cNvPr>
          <p:cNvSpPr/>
          <p:nvPr/>
        </p:nvSpPr>
        <p:spPr>
          <a:xfrm>
            <a:off x="2832264" y="874231"/>
            <a:ext cx="4809507" cy="75408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s-AR" dirty="0"/>
              <a:t>RENUNCIA AL PRIVILEGIO</a:t>
            </a:r>
          </a:p>
        </p:txBody>
      </p:sp>
      <p:sp>
        <p:nvSpPr>
          <p:cNvPr id="5" name="Rectángulo: esquinas redondeadas 4">
            <a:extLst>
              <a:ext uri="{FF2B5EF4-FFF2-40B4-BE49-F238E27FC236}">
                <a16:creationId xmlns:a16="http://schemas.microsoft.com/office/drawing/2014/main" id="{21B17E4C-211B-4913-A823-9DFF1616B79D}"/>
              </a:ext>
            </a:extLst>
          </p:cNvPr>
          <p:cNvSpPr/>
          <p:nvPr/>
        </p:nvSpPr>
        <p:spPr>
          <a:xfrm>
            <a:off x="1179615" y="1828275"/>
            <a:ext cx="9832769" cy="1680358"/>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lgn="just">
              <a:buFont typeface="Arial" panose="020B0604020202020204" pitchFamily="34" charset="0"/>
              <a:buChar char="•"/>
            </a:pPr>
            <a:r>
              <a:rPr lang="es-ES" sz="1500" dirty="0"/>
              <a:t>todo tipo de acreedor privilegiado, estableciéndose que la renuncia no puede ser inferior al 30% y que dicho acreedor se incorpora dentro de alguna categoría de acreedores quirografarios</a:t>
            </a:r>
          </a:p>
          <a:p>
            <a:pPr marL="285750" indent="-285750" algn="just">
              <a:buFont typeface="Arial" panose="020B0604020202020204" pitchFamily="34" charset="0"/>
              <a:buChar char="•"/>
            </a:pPr>
            <a:r>
              <a:rPr lang="es-ES" sz="1500" dirty="0"/>
              <a:t>debe ser realizada por el titular del crédito en forma expresa en el expediente</a:t>
            </a:r>
          </a:p>
          <a:p>
            <a:pPr marL="285750" indent="-285750" algn="just">
              <a:buFont typeface="Arial" panose="020B0604020202020204" pitchFamily="34" charset="0"/>
              <a:buChar char="•"/>
            </a:pPr>
            <a:r>
              <a:rPr lang="es-AR" sz="1500" dirty="0"/>
              <a:t>Admite la renuncia al privilegio labora</a:t>
            </a:r>
            <a:r>
              <a:rPr lang="es-ES" sz="1500" dirty="0"/>
              <a:t>l</a:t>
            </a:r>
          </a:p>
          <a:p>
            <a:pPr marL="742950" lvl="1" indent="-285750" algn="just">
              <a:buFont typeface="Arial" panose="020B0604020202020204" pitchFamily="34" charset="0"/>
              <a:buChar char="•"/>
            </a:pPr>
            <a:r>
              <a:rPr lang="es-ES" sz="1500" dirty="0"/>
              <a:t>debiendo ser ratificada en audiencia ante el juez del concurso, con citación a la asociación gremial legitimada. Si el trabajador no se encontrare alcanzado por el régimen de convenio colectivo, no será necesaria la citación de la asociación gremial</a:t>
            </a:r>
            <a:endParaRPr lang="es-AR" sz="1500" dirty="0"/>
          </a:p>
        </p:txBody>
      </p:sp>
      <p:sp>
        <p:nvSpPr>
          <p:cNvPr id="6" name="Elipse 5">
            <a:extLst>
              <a:ext uri="{FF2B5EF4-FFF2-40B4-BE49-F238E27FC236}">
                <a16:creationId xmlns:a16="http://schemas.microsoft.com/office/drawing/2014/main" id="{ABAB5C06-AD2D-4292-A61F-60CCA633FFD8}"/>
              </a:ext>
            </a:extLst>
          </p:cNvPr>
          <p:cNvSpPr/>
          <p:nvPr/>
        </p:nvSpPr>
        <p:spPr>
          <a:xfrm>
            <a:off x="650174" y="3708594"/>
            <a:ext cx="10527476" cy="1347849"/>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dirty="0"/>
              <a:t>se ha previsto que aquellos originados en la relación laboral renazcan en caso de fracaso del concordato y posterior declaración de quiebra. </a:t>
            </a:r>
            <a:endParaRPr lang="es-AR" dirty="0"/>
          </a:p>
        </p:txBody>
      </p:sp>
      <p:sp>
        <p:nvSpPr>
          <p:cNvPr id="7" name="Rectángulo: esquinas redondeadas 6">
            <a:extLst>
              <a:ext uri="{FF2B5EF4-FFF2-40B4-BE49-F238E27FC236}">
                <a16:creationId xmlns:a16="http://schemas.microsoft.com/office/drawing/2014/main" id="{C7AC4AF7-35E9-4C22-89CB-88C88837BEFB}"/>
              </a:ext>
            </a:extLst>
          </p:cNvPr>
          <p:cNvSpPr/>
          <p:nvPr/>
        </p:nvSpPr>
        <p:spPr>
          <a:xfrm>
            <a:off x="605642" y="5262079"/>
            <a:ext cx="4631376" cy="95596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100" dirty="0"/>
              <a:t>frente al supuesto de nulidad del acuerdo la propia ley contempla en su art. 62 la solución a la temática planteada: la norma referenciada prescribe —entre otros efectos—: "...inc. 2º. Los acreedores recuperan los derechos que tenían antes de la apertura del concurso..." y "...inc. 4º. Los acreedores recuperan el privilegio al que han renunciado para votar el acuerdo...".</a:t>
            </a:r>
            <a:endParaRPr lang="es-AR" sz="1100" dirty="0"/>
          </a:p>
        </p:txBody>
      </p:sp>
      <p:sp>
        <p:nvSpPr>
          <p:cNvPr id="8" name="Rectángulo: esquinas redondeadas 7">
            <a:extLst>
              <a:ext uri="{FF2B5EF4-FFF2-40B4-BE49-F238E27FC236}">
                <a16:creationId xmlns:a16="http://schemas.microsoft.com/office/drawing/2014/main" id="{E9F55665-7F8F-4657-B48C-AF8CDDC3DB71}"/>
              </a:ext>
            </a:extLst>
          </p:cNvPr>
          <p:cNvSpPr/>
          <p:nvPr/>
        </p:nvSpPr>
        <p:spPr>
          <a:xfrm>
            <a:off x="5869380" y="5267754"/>
            <a:ext cx="5427023" cy="95596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100" dirty="0"/>
              <a:t>No es ésta la formulación legal en caso de incumplimiento, pues el art. 64 prevé que en "todos los casos en que se declare la quiebra, estando pendiente de cumplimiento un acuerdo preventivo, se aplican los </a:t>
            </a:r>
            <a:r>
              <a:rPr lang="es-ES" sz="1100" dirty="0" err="1"/>
              <a:t>incs</a:t>
            </a:r>
            <a:r>
              <a:rPr lang="es-ES" sz="1100" dirty="0"/>
              <a:t>. 6º y 7º del art. 62". La norma no efectúa remisión alguna ni al inc. 2º ni al inc. 4º del art. 62 id., por lo que —en principio— quienes hayan renunciado a su privilegio no vuelven a ser acreedores como antes de la novación.</a:t>
            </a:r>
            <a:endParaRPr lang="es-AR" sz="1100" dirty="0"/>
          </a:p>
        </p:txBody>
      </p:sp>
    </p:spTree>
    <p:extLst>
      <p:ext uri="{BB962C8B-B14F-4D97-AF65-F5344CB8AC3E}">
        <p14:creationId xmlns:p14="http://schemas.microsoft.com/office/powerpoint/2010/main" val="948273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05FC052A-2285-4267-BCA4-CE201261B3D4}"/>
              </a:ext>
            </a:extLst>
          </p:cNvPr>
          <p:cNvSpPr>
            <a:spLocks noGrp="1"/>
          </p:cNvSpPr>
          <p:nvPr>
            <p:ph type="title"/>
          </p:nvPr>
        </p:nvSpPr>
        <p:spPr>
          <a:xfrm>
            <a:off x="1066800" y="5252936"/>
            <a:ext cx="10058400" cy="1028715"/>
          </a:xfrm>
        </p:spPr>
        <p:txBody>
          <a:bodyPr anchor="ctr">
            <a:normAutofit/>
          </a:bodyPr>
          <a:lstStyle/>
          <a:p>
            <a:pPr algn="ctr"/>
            <a:r>
              <a:rPr lang="es-AR" b="0" i="0">
                <a:solidFill>
                  <a:srgbClr val="FFFFFF"/>
                </a:solidFill>
                <a:effectLst/>
                <a:latin typeface="Gill Sans"/>
              </a:rPr>
              <a:t>Acreedores privilegiados</a:t>
            </a:r>
            <a:endParaRPr lang="es-AR">
              <a:solidFill>
                <a:srgbClr val="FFFFFF"/>
              </a:solidFill>
            </a:endParaRPr>
          </a:p>
        </p:txBody>
      </p:sp>
      <p:sp>
        <p:nvSpPr>
          <p:cNvPr id="3" name="Marcador de contenido 2">
            <a:extLst>
              <a:ext uri="{FF2B5EF4-FFF2-40B4-BE49-F238E27FC236}">
                <a16:creationId xmlns:a16="http://schemas.microsoft.com/office/drawing/2014/main" id="{0CC711B4-02C0-4DD6-AABD-C9D0E209B990}"/>
              </a:ext>
            </a:extLst>
          </p:cNvPr>
          <p:cNvSpPr>
            <a:spLocks noGrp="1"/>
          </p:cNvSpPr>
          <p:nvPr>
            <p:ph sz="quarter" idx="13"/>
          </p:nvPr>
        </p:nvSpPr>
        <p:spPr>
          <a:xfrm>
            <a:off x="1097280" y="1086678"/>
            <a:ext cx="10027920" cy="3471467"/>
          </a:xfrm>
        </p:spPr>
        <p:txBody>
          <a:bodyPr>
            <a:normAutofit/>
          </a:bodyPr>
          <a:lstStyle/>
          <a:p>
            <a:r>
              <a:rPr lang="es-ES" b="0" i="0">
                <a:effectLst/>
                <a:latin typeface="Gill Sans"/>
              </a:rPr>
              <a:t>ARTICULO 44.- Acreedores privilegiados. El deudor puede ofrecer propuesta de acuerdo que comprenda a los acreedores privilegiados o a alguna categoría de éstos.</a:t>
            </a:r>
          </a:p>
          <a:p>
            <a:r>
              <a:rPr lang="es-ES" b="0" i="0">
                <a:effectLst/>
                <a:latin typeface="Gill Sans"/>
              </a:rPr>
              <a:t>Este último acuerdo requiere las mayorías previstas en el artículo 46, pero debe contar con la aprobación de la totalidad de los acreedores con privilegio especial a los que alcance.</a:t>
            </a:r>
          </a:p>
          <a:p>
            <a:endParaRPr lang="es-AR" dirty="0"/>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Tree>
    <p:extLst>
      <p:ext uri="{BB962C8B-B14F-4D97-AF65-F5344CB8AC3E}">
        <p14:creationId xmlns:p14="http://schemas.microsoft.com/office/powerpoint/2010/main" val="1758214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1F1A8273-62D0-4BFA-A62C-447177961634}"/>
              </a:ext>
            </a:extLst>
          </p:cNvPr>
          <p:cNvSpPr/>
          <p:nvPr/>
        </p:nvSpPr>
        <p:spPr>
          <a:xfrm>
            <a:off x="805543" y="4001983"/>
            <a:ext cx="10580914" cy="74220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la propuesta para los acreedores privilegiados es, a diferencia de la que concierne a los quirografarios, facultativa.</a:t>
            </a:r>
            <a:endParaRPr lang="es-AR" dirty="0"/>
          </a:p>
        </p:txBody>
      </p:sp>
      <p:sp>
        <p:nvSpPr>
          <p:cNvPr id="5" name="Rectángulo: esquinas redondeadas 4">
            <a:extLst>
              <a:ext uri="{FF2B5EF4-FFF2-40B4-BE49-F238E27FC236}">
                <a16:creationId xmlns:a16="http://schemas.microsoft.com/office/drawing/2014/main" id="{A8A3553B-0D25-46A5-B547-3988AC16598E}"/>
              </a:ext>
            </a:extLst>
          </p:cNvPr>
          <p:cNvSpPr/>
          <p:nvPr/>
        </p:nvSpPr>
        <p:spPr>
          <a:xfrm>
            <a:off x="777834" y="1221179"/>
            <a:ext cx="10580914" cy="74220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1" algn="ctr"/>
            <a:r>
              <a:rPr lang="es-ES" dirty="0"/>
              <a:t>puede comprender a todos los acreedores o diferenciarse por categorías</a:t>
            </a:r>
            <a:endParaRPr lang="es-AR" dirty="0"/>
          </a:p>
        </p:txBody>
      </p:sp>
      <p:sp>
        <p:nvSpPr>
          <p:cNvPr id="6" name="Rectángulo: esquinas redondeadas 5">
            <a:extLst>
              <a:ext uri="{FF2B5EF4-FFF2-40B4-BE49-F238E27FC236}">
                <a16:creationId xmlns:a16="http://schemas.microsoft.com/office/drawing/2014/main" id="{043DDE22-5605-4F01-9D83-143EDB175992}"/>
              </a:ext>
            </a:extLst>
          </p:cNvPr>
          <p:cNvSpPr/>
          <p:nvPr/>
        </p:nvSpPr>
        <p:spPr>
          <a:xfrm>
            <a:off x="777834" y="3101438"/>
            <a:ext cx="10580914" cy="74220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el acuerdo a los acreedores con privilegio especial requiere de unanimidad; en cambio, los demás privilegiados se someten al régimen general de mayorías de personas y capital previsto en el art. 45.</a:t>
            </a:r>
            <a:endParaRPr lang="es-AR" dirty="0"/>
          </a:p>
        </p:txBody>
      </p:sp>
      <p:sp>
        <p:nvSpPr>
          <p:cNvPr id="7" name="Rectángulo: esquinas redondeadas 6">
            <a:extLst>
              <a:ext uri="{FF2B5EF4-FFF2-40B4-BE49-F238E27FC236}">
                <a16:creationId xmlns:a16="http://schemas.microsoft.com/office/drawing/2014/main" id="{B782CB8E-605B-4771-99BD-5A8C1B9013F0}"/>
              </a:ext>
            </a:extLst>
          </p:cNvPr>
          <p:cNvSpPr/>
          <p:nvPr/>
        </p:nvSpPr>
        <p:spPr>
          <a:xfrm>
            <a:off x="805543" y="2115787"/>
            <a:ext cx="10580914" cy="74220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En relación con los créditos fiscales, también la experiencia es negativa, puesto que, pese a gozar de privilegio general, no otorgan conformidades y se atienen a sus propios planes de pago</a:t>
            </a:r>
            <a:endParaRPr lang="es-AR" dirty="0"/>
          </a:p>
        </p:txBody>
      </p:sp>
    </p:spTree>
    <p:extLst>
      <p:ext uri="{BB962C8B-B14F-4D97-AF65-F5344CB8AC3E}">
        <p14:creationId xmlns:p14="http://schemas.microsoft.com/office/powerpoint/2010/main" val="2793928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E607B9-A542-48E0-9E76-FC120C83CEB5}"/>
              </a:ext>
            </a:extLst>
          </p:cNvPr>
          <p:cNvSpPr>
            <a:spLocks noGrp="1"/>
          </p:cNvSpPr>
          <p:nvPr>
            <p:ph type="title"/>
          </p:nvPr>
        </p:nvSpPr>
        <p:spPr/>
        <p:txBody>
          <a:bodyPr>
            <a:normAutofit/>
          </a:bodyPr>
          <a:lstStyle/>
          <a:p>
            <a:r>
              <a:rPr lang="es-ES" sz="4000" b="0" i="1" dirty="0">
                <a:solidFill>
                  <a:srgbClr val="000000"/>
                </a:solidFill>
                <a:effectLst/>
                <a:latin typeface="Gill Sans"/>
              </a:rPr>
              <a:t>Plazo y mayorías para la obtención del acuerdo para acreedores quirografarios</a:t>
            </a:r>
            <a:r>
              <a:rPr lang="es-ES" b="0" i="0" dirty="0">
                <a:solidFill>
                  <a:srgbClr val="000000"/>
                </a:solidFill>
                <a:effectLst/>
                <a:latin typeface="Gill Sans"/>
              </a:rPr>
              <a:t>. </a:t>
            </a:r>
            <a:endParaRPr lang="es-AR" dirty="0"/>
          </a:p>
        </p:txBody>
      </p:sp>
      <p:sp>
        <p:nvSpPr>
          <p:cNvPr id="3" name="Marcador de contenido 2">
            <a:extLst>
              <a:ext uri="{FF2B5EF4-FFF2-40B4-BE49-F238E27FC236}">
                <a16:creationId xmlns:a16="http://schemas.microsoft.com/office/drawing/2014/main" id="{5FAD1111-04DA-4F75-BCA7-16379568F394}"/>
              </a:ext>
            </a:extLst>
          </p:cNvPr>
          <p:cNvSpPr>
            <a:spLocks noGrp="1"/>
          </p:cNvSpPr>
          <p:nvPr>
            <p:ph sz="quarter" idx="13"/>
          </p:nvPr>
        </p:nvSpPr>
        <p:spPr/>
        <p:txBody>
          <a:bodyPr>
            <a:normAutofit fontScale="40000" lnSpcReduction="20000"/>
          </a:bodyPr>
          <a:lstStyle/>
          <a:p>
            <a:pPr algn="just"/>
            <a:r>
              <a:rPr lang="es-ES" b="0" i="0" dirty="0">
                <a:solidFill>
                  <a:srgbClr val="000000"/>
                </a:solidFill>
                <a:effectLst/>
                <a:latin typeface="Gill Sans"/>
              </a:rPr>
              <a:t>ARTICULO 45.- </a:t>
            </a:r>
            <a:r>
              <a:rPr lang="es-ES" b="0" i="1" dirty="0">
                <a:solidFill>
                  <a:srgbClr val="000000"/>
                </a:solidFill>
                <a:effectLst/>
                <a:latin typeface="Gill Sans"/>
              </a:rPr>
              <a:t>Plazo y mayorías para la obtención del acuerdo para acreedores quirografarios</a:t>
            </a:r>
            <a:r>
              <a:rPr lang="es-ES" b="0" i="0" dirty="0">
                <a:solidFill>
                  <a:srgbClr val="000000"/>
                </a:solidFill>
                <a:effectLst/>
                <a:latin typeface="Gill Sans"/>
              </a:rPr>
              <a:t>. Para obtener la aprobación de la propuesta de acuerdo preventivo, el deudor deberá acompañar al juzgado, hasta el día del vencimiento del período de exclusividad, el texto de la propuesta con la conformidad acreditada por declaración escrita con firma certificada por ante escribano público, autoridad judicial, o administrativa en el caso de entes públicos nacionales, provinciales o municipales, de </a:t>
            </a:r>
            <a:r>
              <a:rPr lang="es-ES" b="0" i="0" dirty="0">
                <a:solidFill>
                  <a:schemeClr val="accent1">
                    <a:lumMod val="75000"/>
                  </a:schemeClr>
                </a:solidFill>
                <a:effectLst/>
                <a:highlight>
                  <a:srgbClr val="0000FF"/>
                </a:highlight>
                <a:latin typeface="Gill Sans"/>
              </a:rPr>
              <a:t>la mayoría absoluta de los acreedores dentro de todas y cada una de las categorías, que representen las dos terceras partes del capital computable dentro de cada categoría. Sólo resultarán válidas y computables las conformidades que lleven fecha posterior a la última propuesta o su última modificación presentada por el deudor en el expediente.</a:t>
            </a:r>
          </a:p>
          <a:p>
            <a:pPr algn="just"/>
            <a:r>
              <a:rPr lang="es-ES" b="0" i="0" dirty="0">
                <a:solidFill>
                  <a:srgbClr val="000000"/>
                </a:solidFill>
                <a:effectLst/>
                <a:latin typeface="Gill Sans"/>
              </a:rPr>
              <a:t>La mayoría de capital dentro de cada categoría se computa teniendo en consideración la suma total de los siguientes créditos:</a:t>
            </a:r>
          </a:p>
          <a:p>
            <a:pPr algn="just"/>
            <a:r>
              <a:rPr lang="es-ES" b="0" i="0" dirty="0">
                <a:solidFill>
                  <a:srgbClr val="000000"/>
                </a:solidFill>
                <a:effectLst/>
                <a:latin typeface="Gill Sans"/>
              </a:rPr>
              <a:t>a) Quirografarios verificados y declarados admisibles comprendidos en la categoría;</a:t>
            </a:r>
          </a:p>
          <a:p>
            <a:pPr algn="just"/>
            <a:r>
              <a:rPr lang="es-ES" b="0" i="0" dirty="0">
                <a:solidFill>
                  <a:srgbClr val="000000"/>
                </a:solidFill>
                <a:effectLst/>
                <a:latin typeface="Gill Sans"/>
              </a:rPr>
              <a:t>b) Privilegiados cuyos titulares hayan renunciado al privilegio y que se hayan incorporado a esa categoría de quirografarios;</a:t>
            </a:r>
          </a:p>
          <a:p>
            <a:pPr algn="just"/>
            <a:r>
              <a:rPr lang="es-ES" b="0" i="0" dirty="0">
                <a:solidFill>
                  <a:srgbClr val="000000"/>
                </a:solidFill>
                <a:effectLst/>
                <a:latin typeface="Gill Sans"/>
              </a:rPr>
              <a:t>c) El acreedor admitido como quirografario, por habérsele rechazado el privilegio invocado, será excluido de integrar la categoría, a los efectos del cómputo, si hubiese promovido incidente de revisión, en los términos del artículo 37.</a:t>
            </a:r>
          </a:p>
          <a:p>
            <a:pPr algn="just"/>
            <a:r>
              <a:rPr lang="es-ES" b="0" i="0" dirty="0">
                <a:solidFill>
                  <a:srgbClr val="000000"/>
                </a:solidFill>
                <a:effectLst/>
                <a:latin typeface="Gill Sans"/>
              </a:rPr>
              <a:t>Se excluye del cómputo al cónyuge, los parientes del deudor dentro del cuarto grado de consanguinidad, segundo de afinidad o adoptivos, y sus cesionarios dentro del año anterior a la presentación. Tratándose de sociedades no se computan los socios, administradores y acreedores que se encuentren respecto de ellos en la situación del párrafo anterior, la prohibición no se aplica a los acreedores que sean accionistas de la concursada, salvo que se trate de controlantes de la misma.</a:t>
            </a:r>
          </a:p>
          <a:p>
            <a:pPr algn="just"/>
            <a:r>
              <a:rPr lang="es-ES" b="0" i="0" dirty="0">
                <a:solidFill>
                  <a:srgbClr val="000000"/>
                </a:solidFill>
                <a:effectLst/>
                <a:latin typeface="Gill Sans"/>
              </a:rPr>
              <a:t>El deudor deberá acompañar, asimismo, como parte integrante de la propuesta, un régimen de administración y de limitaciones a actos de disposición aplicable a la etapa de cumplimiento, y la conformación de un comité de control que actuará como controlador del acuerdo, que sustituirá al comité constituido por el artículo 42, segundo párrafo. La integración del comité deberá estar conformada por acreedores que representen la mayoría del capital, y permanecerán en su cargo los representantes de los trabajadores de la concursada.</a:t>
            </a:r>
          </a:p>
          <a:p>
            <a:pPr algn="just"/>
            <a:r>
              <a:rPr lang="es-ES" b="0" i="0" dirty="0">
                <a:solidFill>
                  <a:srgbClr val="000000"/>
                </a:solidFill>
                <a:effectLst/>
                <a:latin typeface="Gill Sans"/>
              </a:rPr>
              <a:t>Con cinco (5) días de anticipación al vencimiento del plazo del período de exclusividad, se llevará a cabo la audiencia informativa con la presencia del juez, el secretario, el deudor, el comité provisorio de control y los acreedores que deseen concurrir. En dicha audiencia el deudor dará explicaciones respecto de la negociación que lleva a cabo con sus acreedores, y los asistentes podrán formular preguntas sobre las propuestas.</a:t>
            </a:r>
          </a:p>
          <a:p>
            <a:pPr algn="just"/>
            <a:r>
              <a:rPr lang="es-ES" b="0" i="0" dirty="0">
                <a:solidFill>
                  <a:srgbClr val="000000"/>
                </a:solidFill>
                <a:effectLst/>
                <a:latin typeface="Gill Sans"/>
              </a:rPr>
              <a:t>Si con anterioridad a la fecha señalada para la audiencia informativa, el deudor hubiera obtenido las conformidades previstas por el artículo 45, y hubiera comunicado dicha circunstancia al juzgado, acompañando las constancias, la audiencia no se llevará a cabo.</a:t>
            </a:r>
          </a:p>
          <a:p>
            <a:endParaRPr lang="es-AR" dirty="0"/>
          </a:p>
        </p:txBody>
      </p:sp>
    </p:spTree>
    <p:extLst>
      <p:ext uri="{BB962C8B-B14F-4D97-AF65-F5344CB8AC3E}">
        <p14:creationId xmlns:p14="http://schemas.microsoft.com/office/powerpoint/2010/main" val="471665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B8DB99-F8A5-9F5A-55CC-FCC6A5853E7E}"/>
              </a:ext>
            </a:extLst>
          </p:cNvPr>
          <p:cNvSpPr>
            <a:spLocks noGrp="1"/>
          </p:cNvSpPr>
          <p:nvPr>
            <p:ph type="title"/>
          </p:nvPr>
        </p:nvSpPr>
        <p:spPr/>
        <p:txBody>
          <a:bodyPr/>
          <a:lstStyle/>
          <a:p>
            <a:r>
              <a:rPr lang="es-ES" dirty="0" err="1"/>
              <a:t>mayoria</a:t>
            </a:r>
            <a:endParaRPr lang="es-AR" dirty="0"/>
          </a:p>
        </p:txBody>
      </p:sp>
      <p:sp>
        <p:nvSpPr>
          <p:cNvPr id="3" name="Marcador de contenido 2">
            <a:extLst>
              <a:ext uri="{FF2B5EF4-FFF2-40B4-BE49-F238E27FC236}">
                <a16:creationId xmlns:a16="http://schemas.microsoft.com/office/drawing/2014/main" id="{AFAD4636-6B36-82B7-5EB0-4C012940EAFA}"/>
              </a:ext>
            </a:extLst>
          </p:cNvPr>
          <p:cNvSpPr>
            <a:spLocks noGrp="1"/>
          </p:cNvSpPr>
          <p:nvPr>
            <p:ph sz="quarter" idx="13"/>
          </p:nvPr>
        </p:nvSpPr>
        <p:spPr/>
        <p:txBody>
          <a:bodyPr/>
          <a:lstStyle/>
          <a:p>
            <a:r>
              <a:rPr lang="es-ES" dirty="0"/>
              <a:t>A 	9900	</a:t>
            </a:r>
          </a:p>
          <a:p>
            <a:r>
              <a:rPr lang="es-ES" dirty="0"/>
              <a:t>B	50</a:t>
            </a:r>
          </a:p>
          <a:p>
            <a:r>
              <a:rPr lang="es-ES" dirty="0"/>
              <a:t>C</a:t>
            </a:r>
            <a:r>
              <a:rPr lang="es-ES"/>
              <a:t>	50</a:t>
            </a:r>
            <a:endParaRPr lang="es-ES" dirty="0"/>
          </a:p>
          <a:p>
            <a:r>
              <a:rPr lang="es-ES" dirty="0"/>
              <a:t>MAYORIAS</a:t>
            </a:r>
          </a:p>
          <a:p>
            <a:r>
              <a:rPr lang="es-ES" dirty="0"/>
              <a:t>2 ACREEDORES POR UN IMPORTE DE MAS DE 6667</a:t>
            </a:r>
          </a:p>
          <a:p>
            <a:pPr marL="0" indent="0">
              <a:buNone/>
            </a:pPr>
            <a:endParaRPr lang="es-AR" dirty="0"/>
          </a:p>
        </p:txBody>
      </p:sp>
    </p:spTree>
    <p:extLst>
      <p:ext uri="{BB962C8B-B14F-4D97-AF65-F5344CB8AC3E}">
        <p14:creationId xmlns:p14="http://schemas.microsoft.com/office/powerpoint/2010/main" val="2789566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6845613D-D5FA-4A8C-B377-EEBEF933FB3C}"/>
              </a:ext>
            </a:extLst>
          </p:cNvPr>
          <p:cNvSpPr/>
          <p:nvPr/>
        </p:nvSpPr>
        <p:spPr>
          <a:xfrm>
            <a:off x="771896" y="486888"/>
            <a:ext cx="10640291" cy="28797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s-ES" sz="1300" dirty="0"/>
              <a:t>la ley exige la concurrencia de la doble mayoría de personas y de capital cuyas conformidades deben ser presentadas en el expediente hasta el día del vencimiento del período de exclusividad</a:t>
            </a:r>
          </a:p>
          <a:p>
            <a:pPr marL="285750" indent="-285750" algn="just">
              <a:buFont typeface="Arial" panose="020B0604020202020204" pitchFamily="34" charset="0"/>
              <a:buChar char="•"/>
            </a:pPr>
            <a:r>
              <a:rPr lang="es-ES" sz="1300" dirty="0"/>
              <a:t>mayoría de acreedores, se debe tener en consideración la totalidad de los acreedores quirografarios verificados y declarados admisibles y los privilegiados que hayan renunciado al privilegio. </a:t>
            </a:r>
          </a:p>
          <a:p>
            <a:pPr marL="742950" lvl="1" indent="-285750" algn="just">
              <a:buFont typeface="Arial" panose="020B0604020202020204" pitchFamily="34" charset="0"/>
              <a:buChar char="•"/>
            </a:pPr>
            <a:r>
              <a:rPr lang="es-ES" sz="1300" dirty="0"/>
              <a:t>Se excluye del cómputo al privilegiado reconocido como quirografario que ha iniciado incidente de revisión reclamando el privilegio.</a:t>
            </a:r>
          </a:p>
          <a:p>
            <a:pPr marL="742950" lvl="1" indent="-285750" algn="just">
              <a:buFont typeface="Arial" panose="020B0604020202020204" pitchFamily="34" charset="0"/>
              <a:buChar char="•"/>
            </a:pPr>
            <a:r>
              <a:rPr lang="es-ES" sz="1300" dirty="0"/>
              <a:t> Tratándose de personas humanas concursadas se excluye al cónyuge, los parientes hasta el cuarto grado de consanguinidad y segundo de afinidad y los cesionarios de sus créditos. </a:t>
            </a:r>
          </a:p>
          <a:p>
            <a:pPr marL="742950" lvl="1" indent="-285750" algn="just">
              <a:buFont typeface="Arial" panose="020B0604020202020204" pitchFamily="34" charset="0"/>
              <a:buChar char="•"/>
            </a:pPr>
            <a:r>
              <a:rPr lang="es-ES" sz="1300" dirty="0"/>
              <a:t>En caso de que la concursada sea una sociedad, quedan excluidos los socios, administradores y acreedores que se encuentren con relación a ellos en las relaciones de parentesco señaladas para las personas físicas. </a:t>
            </a:r>
          </a:p>
          <a:p>
            <a:pPr marL="1200150" lvl="2" indent="-285750" algn="just">
              <a:buFont typeface="Arial" panose="020B0604020202020204" pitchFamily="34" charset="0"/>
              <a:buChar char="•"/>
            </a:pPr>
            <a:r>
              <a:rPr lang="es-ES" sz="1300" dirty="0"/>
              <a:t>También al </a:t>
            </a:r>
            <a:r>
              <a:rPr lang="es-AR" sz="1400" dirty="0"/>
              <a:t>Accionista controlante</a:t>
            </a:r>
            <a:endParaRPr lang="es-ES" sz="1300" dirty="0"/>
          </a:p>
          <a:p>
            <a:pPr marL="285750" indent="-285750" algn="just">
              <a:buFont typeface="Arial" panose="020B0604020202020204" pitchFamily="34" charset="0"/>
              <a:buChar char="•"/>
            </a:pPr>
            <a:r>
              <a:rPr lang="es-ES" sz="1300" dirty="0"/>
              <a:t>En el cómputo de la mayoría de capital el art. 45 establece que se debe obtener la conformidad de acreedores que representen las dos terceras partes del capital computable dentro de cada categoría. Se exige la mayoría absoluta de acreedores que representan las dos terceras partes del capital computable</a:t>
            </a:r>
            <a:endParaRPr lang="es-AR" sz="1300" dirty="0"/>
          </a:p>
        </p:txBody>
      </p:sp>
      <p:sp>
        <p:nvSpPr>
          <p:cNvPr id="5" name="Rectángulo 4">
            <a:extLst>
              <a:ext uri="{FF2B5EF4-FFF2-40B4-BE49-F238E27FC236}">
                <a16:creationId xmlns:a16="http://schemas.microsoft.com/office/drawing/2014/main" id="{D4B2C1BE-D308-4459-A649-A7BC71F6DC81}"/>
              </a:ext>
            </a:extLst>
          </p:cNvPr>
          <p:cNvSpPr/>
          <p:nvPr/>
        </p:nvSpPr>
        <p:spPr>
          <a:xfrm>
            <a:off x="860961" y="3770416"/>
            <a:ext cx="10485912" cy="162098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s-ES" sz="1300" dirty="0"/>
              <a:t>2 excepciones</a:t>
            </a:r>
          </a:p>
          <a:p>
            <a:pPr marL="285750" indent="-285750" algn="just">
              <a:buFont typeface="Arial" panose="020B0604020202020204" pitchFamily="34" charset="0"/>
              <a:buChar char="•"/>
            </a:pPr>
            <a:r>
              <a:rPr lang="es-ES" sz="1300" dirty="0"/>
              <a:t>El primer supuesto es en caso de concurso preventivo de un agrupamiento cuando se realiza una propuesta unificada, y el art. 67, 4º párr., habilita la consecución de las mayorías del art. 45 en cada categoría, o cuando se obtiene el voto favorable del 75% del capital computable "sobre todos los concursados".</a:t>
            </a:r>
          </a:p>
          <a:p>
            <a:pPr marL="285750" indent="-285750" algn="just">
              <a:buFont typeface="Arial" panose="020B0604020202020204" pitchFamily="34" charset="0"/>
              <a:buChar char="•"/>
            </a:pPr>
            <a:r>
              <a:rPr lang="es-ES" sz="1300" dirty="0"/>
              <a:t>l art. 52, inc. b), que habilita al juez a imponer el acuerdo cuando se configura una serie de recaudos, que se analizarán oportunamente, pero siempre que el deudor haya obtenido una mayoría especial de las tres cuartas partes del capital quirografario. </a:t>
            </a:r>
          </a:p>
          <a:p>
            <a:pPr algn="ctr"/>
            <a:endParaRPr lang="es-AR" dirty="0"/>
          </a:p>
        </p:txBody>
      </p:sp>
    </p:spTree>
    <p:extLst>
      <p:ext uri="{BB962C8B-B14F-4D97-AF65-F5344CB8AC3E}">
        <p14:creationId xmlns:p14="http://schemas.microsoft.com/office/powerpoint/2010/main" val="2612432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A3AFDE4A-F163-48C7-8F3D-B6C175C8D362}"/>
              </a:ext>
            </a:extLst>
          </p:cNvPr>
          <p:cNvSpPr/>
          <p:nvPr/>
        </p:nvSpPr>
        <p:spPr>
          <a:xfrm>
            <a:off x="475014" y="95002"/>
            <a:ext cx="10949048" cy="11994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i="1" dirty="0"/>
              <a:t>El articulo 45 de la ley 24.522 no contiene una enumeración taxativa en cuanto a los sujetos excluidos del cómputo de mayorías, sino que es posible incluir otros no mencionados expresamente en la norma. La reglamentación contenida en el artículo 45 de la ley 24.522 toma en cuenta la libertad del acreedor o del deudor para decidir, con amplias facultades, en tomo a la propuesta del concordato, lo que incluye las prerrogativas de los distintos interesados para negociar, sin restricciones, en orden a la satisfacción de los distintos intereses implicados en el concurso preventivo. De allí que corresponda excluir del cómputo de mayorías a aquellos organismos fiscales --en el caso, la AFIP-DGI cuyos funcionarios se encuentran constreñidos en sus facultades de negociación por rígidas resoluciones que determinan específicamente las condiciones en que se prestará el acuerdo a la propuesta del deudor. </a:t>
            </a:r>
            <a:r>
              <a:rPr lang="es-ES" sz="1000" i="1" dirty="0" err="1"/>
              <a:t>CCCom</a:t>
            </a:r>
            <a:r>
              <a:rPr lang="es-ES" sz="1000" i="1" dirty="0"/>
              <a:t>. de Azul, sala 11, 2-12-2008, "</a:t>
            </a:r>
            <a:r>
              <a:rPr lang="es-ES" sz="1000" i="1" dirty="0" err="1"/>
              <a:t>Ronicevi</a:t>
            </a:r>
            <a:r>
              <a:rPr lang="es-ES" sz="1000" i="1" dirty="0"/>
              <a:t> SECPA s/Concurso preventivo", JUBA </a:t>
            </a:r>
            <a:endParaRPr lang="es-AR" sz="1000" i="1" dirty="0"/>
          </a:p>
        </p:txBody>
      </p:sp>
      <p:sp>
        <p:nvSpPr>
          <p:cNvPr id="5" name="Rectángulo: esquinas redondeadas 4">
            <a:extLst>
              <a:ext uri="{FF2B5EF4-FFF2-40B4-BE49-F238E27FC236}">
                <a16:creationId xmlns:a16="http://schemas.microsoft.com/office/drawing/2014/main" id="{4D8E3F25-4FE7-4FB8-8C55-D3F0BE793819}"/>
              </a:ext>
            </a:extLst>
          </p:cNvPr>
          <p:cNvSpPr/>
          <p:nvPr/>
        </p:nvSpPr>
        <p:spPr>
          <a:xfrm>
            <a:off x="427513" y="1363683"/>
            <a:ext cx="10996548" cy="1397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i="1" dirty="0"/>
              <a:t>La finalidad del artículo 45 de la LCQ en excluir del cómputo de las conformidades para obtener la aprobación del acuerdo preventivo a los parientes del deudor dentro del cuarto grado de consanguinidad es la de evitar el fraude mediante un voto complaciente. Siendo ello así, no puede predicarse en el sub examine que el voto del menor tenga esa característica, al contrario, no existe el favor </a:t>
            </a:r>
            <a:r>
              <a:rPr lang="es-ES" sz="1000" i="1" dirty="0" err="1"/>
              <a:t>fan~iliaris</a:t>
            </a:r>
            <a:r>
              <a:rPr lang="es-ES" sz="1000" i="1" dirty="0"/>
              <a:t>, por lo que no cumpliéndose el fin perseguido por el legislador, corresponde no aplicar la citada norma e incluir en el cómputo su voto. Solución que se confirma también desde el punto de vista axiológico. La solicitud de apertura de este concurso lo fue para enervar el pago de los alimentos -se peticionó cuando se estaba por rematar un inmueble en dicho proceso-; la causa de cesación de pagos es el juicio por alimentos, crédito que constituye el 83% del pasivo; con la propuesta presentada de $ 99.377 queda reducido a $ 39.750 pagadero en cuatro cuotas anuales sin interés, con un año de gracia, por lo que revocar la decisión recurrida constituiría consagrar una iniquidad a la luz de los principios constitucionales citados, en un supuesto donde claramente el concurso se nos muestra como una forma de burlar a un acreedor alimentario (voto de la Dra. Gladys </a:t>
            </a:r>
            <a:r>
              <a:rPr lang="es-ES" sz="1000" i="1" dirty="0" err="1"/>
              <a:t>Marsala</a:t>
            </a:r>
            <a:r>
              <a:rPr lang="es-ES" sz="1000" i="1" dirty="0"/>
              <a:t>, al que adhiere el Dr. Horacio Gianella). C2"CCMPaz y </a:t>
            </a:r>
            <a:r>
              <a:rPr lang="es-ES" sz="1000" i="1" dirty="0" err="1"/>
              <a:t>Trib</a:t>
            </a:r>
            <a:r>
              <a:rPr lang="es-ES" sz="1000" i="1" dirty="0"/>
              <a:t>. de Mendoza, 30-3-2009, "</a:t>
            </a:r>
            <a:r>
              <a:rPr lang="es-ES" sz="1000" i="1" dirty="0" err="1"/>
              <a:t>Paniccia</a:t>
            </a:r>
            <a:r>
              <a:rPr lang="es-ES" sz="1000" i="1" dirty="0"/>
              <a:t>, Alfredo Enrique s/CCP", Abeledo-</a:t>
            </a:r>
            <a:r>
              <a:rPr lang="es-ES" sz="1000" i="1" dirty="0" err="1"/>
              <a:t>Penot</a:t>
            </a:r>
            <a:r>
              <a:rPr lang="es-ES" sz="1000" i="1" dirty="0"/>
              <a:t> Online</a:t>
            </a:r>
            <a:endParaRPr lang="es-AR" sz="1000" i="1" dirty="0"/>
          </a:p>
        </p:txBody>
      </p:sp>
      <p:sp>
        <p:nvSpPr>
          <p:cNvPr id="6" name="Rectángulo: esquinas redondeadas 5">
            <a:extLst>
              <a:ext uri="{FF2B5EF4-FFF2-40B4-BE49-F238E27FC236}">
                <a16:creationId xmlns:a16="http://schemas.microsoft.com/office/drawing/2014/main" id="{055ADE6D-C211-4CD9-8564-A4503468B0E1}"/>
              </a:ext>
            </a:extLst>
          </p:cNvPr>
          <p:cNvSpPr/>
          <p:nvPr/>
        </p:nvSpPr>
        <p:spPr>
          <a:xfrm>
            <a:off x="374074" y="2830286"/>
            <a:ext cx="11049988" cy="32007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t>El articulo 45 de la ley 24.522 enumera los créditos que deben ser excluidos del capital computable por corresponder a ciertos sujetos ligados al deudor ya sea por parentesco o vínculos societarios. Tradicionalmente tanto la doctrina como la jurisprudencia mayoritaria han destacado el carácter taxativo de esas excepciones que, en principio, se encuentra limitado a aquellos casos en que cabe presumir el sentido favorable del …. Ello en virtud de que la exclusión de un crédito del cómputo de la mayoría implica la privación al ejercicio de un derecho, como es la facultad de su titular -acreedor verificado en un concurso- de conformar la voluntad ‘colectiva y decidir si acepta o no la propuesta concordataria. Sin embargo, una evolución doctrinaria, con base en nuevas circunstancias fácticas de las relaciones negociales actuales inclinó a la doctrina a una interpretación finalista de la norma en el sentido de que la exclusión resulta procedente incluso en algún caso no contemplado expresamente por la ley, pero que guarde directa relación con la finalidad de la prohibición, sin que ello implique incurrir en generalizaciones arbitrarias y cuando pudiera verse afectado el interés de los acreedores minoritarios por un acuerdo aprobado en colusión por quienes tienen algún interés en favorecer (o perjudicar) al deudor … La jurisprudencia también pareció receptar este concepto más amplio en el caso de algunos acreedores como el Fisco nacional basada en que se trata de un acreedor público con características especiales y parámetros fijados por normas de carácter público que está imposibilitado por su propia normativa de analizar las propuestas que se le pudieren realizar ... Resulta controvertida la posibilidad legal de excluir del voto del acuerdo preventivo al acreedor denominado hostil, situación que también ha sido denominada como "voto negativo", en tanto la norma de exclusión contenida en el artículo 45 de la LCQ sería de carácter taxativo. No puede ignorarse que para la resolución de tales supuestos, debe señalarse que la finalidad de la ley es evitar que voten el acuerdo aquellos acreedores inducidos a hacerlo en determinado sentido, por motivos que no se corresponden con los de los demás. Los acreedores que están expresamente comprendidos en la disposición no podrán votar nunca, dado que la ley presume, sin admitir prueba en contrario, que ellos han de priorizar su interés en favorecer al deudor por sobre el que les asiste en su calidad de acreedores. Similares situaciones de conflicto de interés se dan en el supuesto en análisis -acreedor hostil-, lo que permite concluir que la tradicional interpretación estricta y restrictiva de la norma en cuestión debe morigerarse permitiendo admitir el análisis de hipótesis no contempladas expresamente por ésta, en la medida que guarden directa relación con la finalidad de la prohibición -de evitar que algunos acreedores voten con un sentido desviado- o presenten relevante analogía con algunos de los supuestos previstos en el ordenamiento legal. En conclusión, no puede hacerse de las causales de exclusión del voto de ciertos acreedores en el concurso un numerus clausus que impida correlacionar esa regla con otras normas del ordenamiento jurídico, dentro o fuera del propio régimen concursal, máxime si se trata de normas cuya incidencia no podría postergarse en tanto reflejen principios indisponibles, imperativos y vinculantes para los jueces por ser inescindibles del orden público, la moral, la buena fe y las buenas costumbres que ellos deben resguardar Lo dicho implica cuanto menos adentrarse en el estudio de la cuestión en cada caso en particular, pues no puede interpretarse dicha norma distanciada de la realidad contemporánea, desconociendo la compleja realidad de relaciones económicas que trasciende la simplificada bipolaridad "acreedor-deudor", pues, si bien tradicionalmente la exclusión del voto para el cómputo de las mayorías estuvo orientada a prevenir o evitar un voto complaciente originado en la connivencia con el deudor, no resulta extraño que puedan configurarse maniobras de signo inverso, mediante la acción concertada de ciertos acreedores con miras a obstaculizar un acuerdo, procurando de este modo desplazar a un competidor, debiendo ello ser evaluado por el juez al momento de analizar la idoneidad para participar en la votación del acuerdo (cfr. </a:t>
            </a:r>
            <a:r>
              <a:rPr lang="es-ES" sz="900" dirty="0" err="1"/>
              <a:t>CNCom</a:t>
            </a:r>
            <a:r>
              <a:rPr lang="es-ES" sz="900" dirty="0"/>
              <a:t>., sala C, in re "Equipos y controles SA s/Concurso preventivo s/Incidente de apelación", del 27-12-2002, voto del Dr. Monti). </a:t>
            </a:r>
            <a:r>
              <a:rPr lang="es-ES" sz="900" dirty="0" err="1"/>
              <a:t>CNCom</a:t>
            </a:r>
            <a:r>
              <a:rPr lang="es-ES" sz="900" dirty="0"/>
              <a:t>., 30-6-2008, "Redes </a:t>
            </a:r>
            <a:r>
              <a:rPr lang="es-ES" sz="900" dirty="0" err="1"/>
              <a:t>Excon</a:t>
            </a:r>
            <a:r>
              <a:rPr lang="es-ES" sz="900" dirty="0"/>
              <a:t> SA s/Concurso preventivo s/</a:t>
            </a:r>
            <a:r>
              <a:rPr lang="es-ES" sz="900" dirty="0" err="1"/>
              <a:t>ncidente</a:t>
            </a:r>
            <a:r>
              <a:rPr lang="es-ES" sz="900" dirty="0"/>
              <a:t> -de exclusión del cómputo de las mayoría</a:t>
            </a:r>
            <a:endParaRPr lang="es-AR" sz="900" dirty="0"/>
          </a:p>
        </p:txBody>
      </p:sp>
    </p:spTree>
    <p:extLst>
      <p:ext uri="{BB962C8B-B14F-4D97-AF65-F5344CB8AC3E}">
        <p14:creationId xmlns:p14="http://schemas.microsoft.com/office/powerpoint/2010/main" val="3138978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DD82D3-D002-45B0-B16A-82B3DA4EF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9F09C252-16FE-4557-AD6D-BB5CA77349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42053" y="1570271"/>
            <a:ext cx="0" cy="3200400"/>
          </a:xfrm>
          <a:prstGeom prst="line">
            <a:avLst/>
          </a:prstGeom>
          <a:ln w="31750">
            <a:solidFill>
              <a:schemeClr val="accent2"/>
            </a:solidFill>
            <a:miter lim="800000"/>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14E240FF-5254-4205-89B3-0E604E297FAC}"/>
              </a:ext>
            </a:extLst>
          </p:cNvPr>
          <p:cNvSpPr>
            <a:spLocks noGrp="1"/>
          </p:cNvSpPr>
          <p:nvPr>
            <p:ph sz="quarter" idx="13"/>
          </p:nvPr>
        </p:nvSpPr>
        <p:spPr>
          <a:xfrm>
            <a:off x="4134976" y="643466"/>
            <a:ext cx="7584129" cy="5225628"/>
          </a:xfrm>
        </p:spPr>
        <p:txBody>
          <a:bodyPr anchor="ctr">
            <a:normAutofit/>
          </a:bodyPr>
          <a:lstStyle/>
          <a:p>
            <a:pPr marL="0" indent="0">
              <a:buNone/>
            </a:pPr>
            <a:r>
              <a:rPr lang="es-ES" dirty="0"/>
              <a:t>La compra de votos como "atipicidad del régimen concursal" En esta línea, los magistrados recordaron que la llamada "compra de votos" constituye una atipicidad dentro del régimen concursal. </a:t>
            </a:r>
          </a:p>
          <a:p>
            <a:pPr marL="0" indent="0">
              <a:buNone/>
            </a:pPr>
            <a:r>
              <a:rPr lang="es-ES" dirty="0"/>
              <a:t>Sin embargo, la mera existencia de un pago por subrogación o una cesión de crédito no predican necesariamente una ilicitud. En principio no es pertinente, por la sola invocación de estos institutos del derecho civil, invalidar o privar de todo efecto ese negocio orientado a la transmisión del crédito, pues no existe norma positiva que así lo autorice. </a:t>
            </a:r>
          </a:p>
          <a:p>
            <a:pPr marL="0" indent="0">
              <a:buNone/>
            </a:pPr>
            <a:r>
              <a:rPr lang="es-ES" dirty="0"/>
              <a:t>Así, la LCQ, en su art. 45, no prevé como supuesto de exclusión del voto la adquisición de tal derecho por vía de cesión de crédito o pago por subrogación y sólo lo contempla en caso de que tal cesión la hubiere plasmado alguno de los sujetos excluidos del cómputo dentro del año anterior a la presentación. En consecuencia, siendo una excepción, no puede extenderse la restricción legal a supuestos no contemplados específicamente</a:t>
            </a:r>
            <a:endParaRPr lang="es-AR" dirty="0"/>
          </a:p>
        </p:txBody>
      </p:sp>
      <p:sp>
        <p:nvSpPr>
          <p:cNvPr id="12" name="Rectangle 11">
            <a:extLst>
              <a:ext uri="{FF2B5EF4-FFF2-40B4-BE49-F238E27FC236}">
                <a16:creationId xmlns:a16="http://schemas.microsoft.com/office/drawing/2014/main" id="{4C15B19B-E7BB-4060-B12F-3CDA8EF16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336792"/>
            <a:ext cx="12188825" cy="521208"/>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Tree>
    <p:extLst>
      <p:ext uri="{BB962C8B-B14F-4D97-AF65-F5344CB8AC3E}">
        <p14:creationId xmlns:p14="http://schemas.microsoft.com/office/powerpoint/2010/main" val="1127928324"/>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D0B88099-5D37-4BEE-9299-464F215D0EC1}"/>
              </a:ext>
            </a:extLst>
          </p:cNvPr>
          <p:cNvSpPr>
            <a:spLocks noGrp="1"/>
          </p:cNvSpPr>
          <p:nvPr>
            <p:ph type="title"/>
          </p:nvPr>
        </p:nvSpPr>
        <p:spPr>
          <a:xfrm>
            <a:off x="1066800" y="5252936"/>
            <a:ext cx="10058400" cy="1028715"/>
          </a:xfrm>
        </p:spPr>
        <p:txBody>
          <a:bodyPr anchor="ctr">
            <a:normAutofit/>
          </a:bodyPr>
          <a:lstStyle/>
          <a:p>
            <a:pPr algn="ctr"/>
            <a:r>
              <a:rPr lang="es-ES" b="0" i="0">
                <a:solidFill>
                  <a:srgbClr val="FFFFFF"/>
                </a:solidFill>
                <a:effectLst/>
                <a:latin typeface="Gill Sans"/>
              </a:rPr>
              <a:t>No obtención de la conformidad</a:t>
            </a:r>
            <a:endParaRPr lang="es-AR">
              <a:solidFill>
                <a:srgbClr val="FFFFFF"/>
              </a:solidFill>
            </a:endParaRPr>
          </a:p>
        </p:txBody>
      </p:sp>
      <p:sp>
        <p:nvSpPr>
          <p:cNvPr id="3" name="Marcador de contenido 2">
            <a:extLst>
              <a:ext uri="{FF2B5EF4-FFF2-40B4-BE49-F238E27FC236}">
                <a16:creationId xmlns:a16="http://schemas.microsoft.com/office/drawing/2014/main" id="{0E188F75-5DD6-41F8-BC77-24DC597D0FEC}"/>
              </a:ext>
            </a:extLst>
          </p:cNvPr>
          <p:cNvSpPr>
            <a:spLocks noGrp="1"/>
          </p:cNvSpPr>
          <p:nvPr>
            <p:ph sz="quarter" idx="13"/>
          </p:nvPr>
        </p:nvSpPr>
        <p:spPr>
          <a:xfrm>
            <a:off x="1097280" y="1086678"/>
            <a:ext cx="10027920" cy="3471467"/>
          </a:xfrm>
        </p:spPr>
        <p:txBody>
          <a:bodyPr>
            <a:normAutofit/>
          </a:bodyPr>
          <a:lstStyle/>
          <a:p>
            <a:r>
              <a:rPr lang="es-ES" b="0" i="0">
                <a:effectLst/>
                <a:latin typeface="Gill Sans"/>
              </a:rPr>
              <a:t>ARTICULO 46.- No obtención de la conformidad. Si el deudor no presentara en el expediente, en el plazo previsto, las conformidades de los acreedores quirografarios bajo el régimen de categorías y mayorías previstos en el artículo anterior, será declarado en quiebra, con excepción de lo previsto en el Artículo 48 para determinados sujetos.</a:t>
            </a:r>
            <a:endParaRPr lang="es-AR" dirty="0"/>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Tree>
    <p:extLst>
      <p:ext uri="{BB962C8B-B14F-4D97-AF65-F5344CB8AC3E}">
        <p14:creationId xmlns:p14="http://schemas.microsoft.com/office/powerpoint/2010/main" val="1939035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43AFC8-D8D0-4784-B08C-6324FA88E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54B1A56-8AFB-4D4F-8D98-1E832D6FFE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EE8BD53-579D-4157-BDA4-15499471D4CA}"/>
              </a:ext>
            </a:extLst>
          </p:cNvPr>
          <p:cNvSpPr>
            <a:spLocks noGrp="1"/>
          </p:cNvSpPr>
          <p:nvPr>
            <p:ph type="title"/>
          </p:nvPr>
        </p:nvSpPr>
        <p:spPr>
          <a:xfrm>
            <a:off x="1901163" y="1111753"/>
            <a:ext cx="3720353" cy="4634494"/>
          </a:xfrm>
          <a:ln w="25400" cap="sq">
            <a:noFill/>
            <a:miter lim="800000"/>
          </a:ln>
        </p:spPr>
        <p:txBody>
          <a:bodyPr anchor="ctr">
            <a:normAutofit/>
          </a:bodyPr>
          <a:lstStyle/>
          <a:p>
            <a:pPr algn="ctr"/>
            <a:r>
              <a:rPr lang="es-ES" sz="3200">
                <a:solidFill>
                  <a:srgbClr val="FFFFFF"/>
                </a:solidFill>
              </a:rPr>
              <a:t>JURISPRUDENCIA</a:t>
            </a:r>
            <a:endParaRPr lang="es-AR" sz="3200">
              <a:solidFill>
                <a:srgbClr val="FFFFFF"/>
              </a:solidFill>
            </a:endParaRPr>
          </a:p>
        </p:txBody>
      </p:sp>
      <p:sp>
        <p:nvSpPr>
          <p:cNvPr id="12" name="Rectangle 11">
            <a:extLst>
              <a:ext uri="{FF2B5EF4-FFF2-40B4-BE49-F238E27FC236}">
                <a16:creationId xmlns:a16="http://schemas.microsoft.com/office/drawing/2014/main" id="{F8E828FC-05B4-4BA4-92D3-3DF79D42D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chemeClr val="tx1">
              <a:lumMod val="75000"/>
              <a:lumOff val="2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4A97E5A-0CE9-4B1B-A440-39269E870AF7}"/>
              </a:ext>
            </a:extLst>
          </p:cNvPr>
          <p:cNvSpPr>
            <a:spLocks noGrp="1"/>
          </p:cNvSpPr>
          <p:nvPr>
            <p:ph sz="quarter" idx="13"/>
          </p:nvPr>
        </p:nvSpPr>
        <p:spPr>
          <a:xfrm>
            <a:off x="6570206" y="1111753"/>
            <a:ext cx="5057396" cy="4628275"/>
          </a:xfrm>
        </p:spPr>
        <p:txBody>
          <a:bodyPr anchor="ctr">
            <a:normAutofit/>
          </a:bodyPr>
          <a:lstStyle/>
          <a:p>
            <a:r>
              <a:rPr lang="es-ES" sz="1900" dirty="0">
                <a:solidFill>
                  <a:schemeClr val="tx1">
                    <a:lumMod val="85000"/>
                    <a:lumOff val="15000"/>
                  </a:schemeClr>
                </a:solidFill>
              </a:rPr>
              <a:t>La sentencia de quiebra indirecta dictada en los términos del artículo 46 de la ley 24.522 es, por regla, inapelable. Ello así, por cuanto en ausencia de norma expresa que contemple la posibilidad de recurrir tal decisión ante la Alzada, rige el principio sentado por el artículo 273, inciso 3O, de la LCQ. Esta solución, por otra parte, resulta lógica en tanto, en estos casos, la quiebra deviene como consecuencia de la mera comprobación del incumplimiento del presupuesto condicionante objetivo previsto en el artículo 45 del citado ordenamiento, a saber si se presentaron, en tiempo y forma, las conformidades de los acreedores exigidas por la ley concursa1 (del voto del Dr. Soria). SCJBA, 22-4-2009, "Empresa Constructora Santa María SRL s/Quiebra, JUBA </a:t>
            </a:r>
            <a:endParaRPr lang="es-AR" sz="1900" dirty="0">
              <a:solidFill>
                <a:schemeClr val="tx1">
                  <a:lumMod val="85000"/>
                  <a:lumOff val="15000"/>
                </a:schemeClr>
              </a:solidFill>
            </a:endParaRPr>
          </a:p>
        </p:txBody>
      </p:sp>
    </p:spTree>
    <p:extLst>
      <p:ext uri="{BB962C8B-B14F-4D97-AF65-F5344CB8AC3E}">
        <p14:creationId xmlns:p14="http://schemas.microsoft.com/office/powerpoint/2010/main" val="3331741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22EBA5-9527-403F-ABF5-AF70581E6FCD}"/>
              </a:ext>
            </a:extLst>
          </p:cNvPr>
          <p:cNvSpPr>
            <a:spLocks noGrp="1"/>
          </p:cNvSpPr>
          <p:nvPr>
            <p:ph type="title"/>
          </p:nvPr>
        </p:nvSpPr>
        <p:spPr/>
        <p:txBody>
          <a:bodyPr>
            <a:normAutofit/>
          </a:bodyPr>
          <a:lstStyle/>
          <a:p>
            <a:r>
              <a:rPr lang="es-AR" b="0" i="0" dirty="0">
                <a:solidFill>
                  <a:srgbClr val="000000"/>
                </a:solidFill>
                <a:effectLst/>
                <a:latin typeface="Gill Sans"/>
              </a:rPr>
              <a:t>Acuerdo para acreedores privilegiados</a:t>
            </a:r>
            <a:endParaRPr lang="es-AR" dirty="0"/>
          </a:p>
        </p:txBody>
      </p:sp>
      <p:sp>
        <p:nvSpPr>
          <p:cNvPr id="3" name="Marcador de contenido 2">
            <a:extLst>
              <a:ext uri="{FF2B5EF4-FFF2-40B4-BE49-F238E27FC236}">
                <a16:creationId xmlns:a16="http://schemas.microsoft.com/office/drawing/2014/main" id="{71C2140F-A28D-4685-AF5A-8AC46CC4BB7E}"/>
              </a:ext>
            </a:extLst>
          </p:cNvPr>
          <p:cNvSpPr>
            <a:spLocks noGrp="1"/>
          </p:cNvSpPr>
          <p:nvPr>
            <p:ph sz="quarter" idx="13"/>
          </p:nvPr>
        </p:nvSpPr>
        <p:spPr/>
        <p:txBody>
          <a:bodyPr>
            <a:normAutofit/>
          </a:bodyPr>
          <a:lstStyle/>
          <a:p>
            <a:r>
              <a:rPr lang="es-ES" b="0" i="0" dirty="0">
                <a:solidFill>
                  <a:srgbClr val="000000"/>
                </a:solidFill>
                <a:effectLst/>
                <a:latin typeface="Gill Sans"/>
              </a:rPr>
              <a:t>ARTICULO 47.- Acuerdo para acreedores privilegiados. Si el deudor hubiere formulado propuesta para acreedores privilegiados o para alguna categoría de éstos y no hubiere obtenido, antes del vencimiento del período de exclusividad, la conformidad de la mayoría absoluta de acreedores y las dos terceras partes del capital computable y la unanimidad de los acreedores privilegiados con privilegio especial a los que alcance la propuesta, sólo será declarado en quiebra si hubiese manifestado en el expediente, en algún momento, que condicionaba la propuesta a acreedores quirografarios a la aprobación de las propuestas formuladas a acreedores privilegiados.</a:t>
            </a:r>
            <a:endParaRPr lang="es-AR" dirty="0"/>
          </a:p>
        </p:txBody>
      </p:sp>
    </p:spTree>
    <p:extLst>
      <p:ext uri="{BB962C8B-B14F-4D97-AF65-F5344CB8AC3E}">
        <p14:creationId xmlns:p14="http://schemas.microsoft.com/office/powerpoint/2010/main" val="2810397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43AFC8-D8D0-4784-B08C-6324FA88E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54B1A56-8AFB-4D4F-8D98-1E832D6FFE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8E828FC-05B4-4BA4-92D3-3DF79D42D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chemeClr val="tx1">
              <a:lumMod val="75000"/>
              <a:lumOff val="2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esquinas redondeadas 3">
            <a:extLst>
              <a:ext uri="{FF2B5EF4-FFF2-40B4-BE49-F238E27FC236}">
                <a16:creationId xmlns:a16="http://schemas.microsoft.com/office/drawing/2014/main" id="{D4E9206C-B767-4134-99F5-FB50A47704F0}"/>
              </a:ext>
            </a:extLst>
          </p:cNvPr>
          <p:cNvSpPr/>
          <p:nvPr/>
        </p:nvSpPr>
        <p:spPr>
          <a:xfrm>
            <a:off x="6570206" y="1111753"/>
            <a:ext cx="5057396" cy="462827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vert="horz" lIns="0" tIns="45720" rIns="0" bIns="45720" rtlCol="0" anchor="ctr">
            <a:normAutofit/>
          </a:bodyPr>
          <a:lstStyle/>
          <a:p>
            <a:pPr marL="285750" indent="-285750" defTabSz="914400">
              <a:lnSpc>
                <a:spcPct val="90000"/>
              </a:lnSpc>
              <a:spcAft>
                <a:spcPts val="600"/>
              </a:spcAft>
              <a:buClr>
                <a:schemeClr val="accent1"/>
              </a:buClr>
              <a:buFont typeface="Calibri" panose="020F0502020204030204" pitchFamily="34" charset="0"/>
              <a:buChar char="•"/>
            </a:pPr>
            <a:r>
              <a:rPr lang="en-US">
                <a:solidFill>
                  <a:schemeClr val="tx1">
                    <a:lumMod val="85000"/>
                    <a:lumOff val="15000"/>
                  </a:schemeClr>
                </a:solidFill>
              </a:rPr>
              <a:t>La falta de acuerdo de los privilegiados producirá la quiebra sólo si expresamente se hubiese condicionado la propuesta a los quirografarios a un acuerdo con los privilegiados, lo que predica el carácter facultativo de este tipo de propuestas. </a:t>
            </a:r>
          </a:p>
          <a:p>
            <a:pPr marL="285750" indent="-285750" defTabSz="914400">
              <a:lnSpc>
                <a:spcPct val="90000"/>
              </a:lnSpc>
              <a:spcAft>
                <a:spcPts val="600"/>
              </a:spcAft>
              <a:buClr>
                <a:schemeClr val="accent1"/>
              </a:buClr>
              <a:buFont typeface="Calibri" panose="020F0502020204030204" pitchFamily="34" charset="0"/>
              <a:buChar char="•"/>
            </a:pPr>
            <a:r>
              <a:rPr lang="en-US">
                <a:solidFill>
                  <a:schemeClr val="tx1">
                    <a:lumMod val="85000"/>
                    <a:lumOff val="15000"/>
                  </a:schemeClr>
                </a:solidFill>
              </a:rPr>
              <a:t>permite efectuar propuestas a los acreedores privilegiados, sin el temor de la quiebra, pues aunque fracase la propuesta privilegiada, seguirá vigente la alternativa ante los quirografarios. </a:t>
            </a:r>
          </a:p>
        </p:txBody>
      </p:sp>
    </p:spTree>
    <p:extLst>
      <p:ext uri="{BB962C8B-B14F-4D97-AF65-F5344CB8AC3E}">
        <p14:creationId xmlns:p14="http://schemas.microsoft.com/office/powerpoint/2010/main" val="3496443355"/>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482</TotalTime>
  <Words>4755</Words>
  <Application>Microsoft Office PowerPoint</Application>
  <PresentationFormat>Panorámica</PresentationFormat>
  <Paragraphs>114</Paragraphs>
  <Slides>21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Arial</vt:lpstr>
      <vt:lpstr>Calibri</vt:lpstr>
      <vt:lpstr>Calibri Light</vt:lpstr>
      <vt:lpstr>Gill Sans</vt:lpstr>
      <vt:lpstr>Retrospección</vt:lpstr>
      <vt:lpstr>Propuesta, período de exclusividad y régimen del acuerdo preventivo</vt:lpstr>
      <vt:lpstr>Clasificación y agrupamiento de acreedores en categorías</vt:lpstr>
      <vt:lpstr>Presentación de PowerPoint</vt:lpstr>
      <vt:lpstr>Presentación de PowerPoint</vt:lpstr>
      <vt:lpstr>Presentación de PowerPoint</vt:lpstr>
      <vt:lpstr> Resolución de categorización</vt:lpstr>
      <vt:lpstr>Presentación de PowerPoint</vt:lpstr>
      <vt:lpstr>Período de exclusividad</vt:lpstr>
      <vt:lpstr>Presentación de PowerPoint</vt:lpstr>
      <vt:lpstr>Presentación de PowerPoint</vt:lpstr>
      <vt:lpstr>Acreedores privilegiados</vt:lpstr>
      <vt:lpstr>Presentación de PowerPoint</vt:lpstr>
      <vt:lpstr>Plazo y mayorías para la obtención del acuerdo para acreedores quirografarios. </vt:lpstr>
      <vt:lpstr>mayoria</vt:lpstr>
      <vt:lpstr>Presentación de PowerPoint</vt:lpstr>
      <vt:lpstr>Presentación de PowerPoint</vt:lpstr>
      <vt:lpstr>Presentación de PowerPoint</vt:lpstr>
      <vt:lpstr>No obtención de la conformidad</vt:lpstr>
      <vt:lpstr>JURISPRUDENCIA</vt:lpstr>
      <vt:lpstr>Acuerdo para acreedores privilegiados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Propuesta, período de exclusividad y régimen del acuerdo preventivo</dc:title>
  <dc:creator>maximiliano romei</dc:creator>
  <cp:lastModifiedBy>maximiliano romei</cp:lastModifiedBy>
  <cp:revision>17</cp:revision>
  <dcterms:created xsi:type="dcterms:W3CDTF">2021-04-08T12:40:42Z</dcterms:created>
  <dcterms:modified xsi:type="dcterms:W3CDTF">2024-07-17T19:25:59Z</dcterms:modified>
</cp:coreProperties>
</file>