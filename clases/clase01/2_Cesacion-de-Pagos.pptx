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Lst>
  <p:sldSz cy="6858000" cx="12192000"/>
  <p:notesSz cx="6858000" cy="9144000"/>
  <p:embeddedFontLst>
    <p:embeddedFont>
      <p:font typeface="Gill Sans"/>
      <p:regular r:id="rId31"/>
      <p:bold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3" roundtripDataSignature="AMtx7mjS55WsMFXflGcqcHw01lUW1kLWn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GillSans-regular.fntdata"/><Relationship Id="rId30" Type="http://schemas.openxmlformats.org/officeDocument/2006/relationships/slide" Target="slides/slide26.xml"/><Relationship Id="rId11" Type="http://schemas.openxmlformats.org/officeDocument/2006/relationships/slide" Target="slides/slide7.xml"/><Relationship Id="rId33" Type="http://customschemas.google.com/relationships/presentationmetadata" Target="metadata"/><Relationship Id="rId10" Type="http://schemas.openxmlformats.org/officeDocument/2006/relationships/slide" Target="slides/slide6.xml"/><Relationship Id="rId32" Type="http://schemas.openxmlformats.org/officeDocument/2006/relationships/font" Target="fonts/GillSans-bold.fntdata"/><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4" name="Shape 14"/>
        <p:cNvGrpSpPr/>
        <p:nvPr/>
      </p:nvGrpSpPr>
      <p:grpSpPr>
        <a:xfrm>
          <a:off x="0" y="0"/>
          <a:ext cx="0" cy="0"/>
          <a:chOff x="0" y="0"/>
          <a:chExt cx="0" cy="0"/>
        </a:xfrm>
      </p:grpSpPr>
      <p:sp>
        <p:nvSpPr>
          <p:cNvPr id="15" name="Google Shape;15;p28"/>
          <p:cNvSpPr txBox="1"/>
          <p:nvPr>
            <p:ph type="ctrTitle"/>
          </p:nvPr>
        </p:nvSpPr>
        <p:spPr>
          <a:xfrm>
            <a:off x="2417779" y="802298"/>
            <a:ext cx="8637073" cy="2541431"/>
          </a:xfrm>
          <a:prstGeom prst="rect">
            <a:avLst/>
          </a:prstGeom>
          <a:noFill/>
          <a:ln>
            <a:noFill/>
          </a:ln>
        </p:spPr>
        <p:txBody>
          <a:bodyPr anchorCtr="0" anchor="b" bIns="0" lIns="91425" spcFirstLastPara="1" rIns="91425" wrap="square" tIns="45700">
            <a:normAutofit/>
          </a:bodyPr>
          <a:lstStyle>
            <a:lvl1pPr lvl="0" algn="l">
              <a:lnSpc>
                <a:spcPct val="90000"/>
              </a:lnSpc>
              <a:spcBef>
                <a:spcPts val="0"/>
              </a:spcBef>
              <a:spcAft>
                <a:spcPts val="0"/>
              </a:spcAft>
              <a:buClr>
                <a:schemeClr val="dk1"/>
              </a:buClr>
              <a:buSzPts val="6600"/>
              <a:buFont typeface="Gill Sans"/>
              <a:buNone/>
              <a:defRPr sz="6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 name="Google Shape;16;p28"/>
          <p:cNvSpPr txBox="1"/>
          <p:nvPr>
            <p:ph idx="1" type="subTitle"/>
          </p:nvPr>
        </p:nvSpPr>
        <p:spPr>
          <a:xfrm>
            <a:off x="2417780" y="3531204"/>
            <a:ext cx="8637072" cy="977621"/>
          </a:xfrm>
          <a:prstGeom prst="rect">
            <a:avLst/>
          </a:prstGeom>
          <a:noFill/>
          <a:ln>
            <a:noFill/>
          </a:ln>
        </p:spPr>
        <p:txBody>
          <a:bodyPr anchorCtr="0" anchor="t" bIns="91425" lIns="91425" spcFirstLastPara="1" rIns="91425" wrap="square" tIns="91425">
            <a:normAutofit/>
          </a:bodyPr>
          <a:lstStyle>
            <a:lvl1pPr lvl="0" algn="l">
              <a:lnSpc>
                <a:spcPct val="120000"/>
              </a:lnSpc>
              <a:spcBef>
                <a:spcPts val="1000"/>
              </a:spcBef>
              <a:spcAft>
                <a:spcPts val="0"/>
              </a:spcAft>
              <a:buSzPts val="1800"/>
              <a:buNone/>
              <a:defRPr b="0" sz="1800" cap="none">
                <a:solidFill>
                  <a:schemeClr val="dk1"/>
                </a:solidFill>
              </a:defRPr>
            </a:lvl1pPr>
            <a:lvl2pPr lvl="1" algn="ctr">
              <a:lnSpc>
                <a:spcPct val="120000"/>
              </a:lnSpc>
              <a:spcBef>
                <a:spcPts val="500"/>
              </a:spcBef>
              <a:spcAft>
                <a:spcPts val="0"/>
              </a:spcAft>
              <a:buSzPts val="1800"/>
              <a:buNone/>
              <a:defRPr sz="1800"/>
            </a:lvl2pPr>
            <a:lvl3pPr lvl="2" algn="ctr">
              <a:lnSpc>
                <a:spcPct val="120000"/>
              </a:lnSpc>
              <a:spcBef>
                <a:spcPts val="500"/>
              </a:spcBef>
              <a:spcAft>
                <a:spcPts val="0"/>
              </a:spcAft>
              <a:buSzPts val="1800"/>
              <a:buNone/>
              <a:defRPr sz="1800"/>
            </a:lvl3pPr>
            <a:lvl4pPr lvl="3" algn="ctr">
              <a:lnSpc>
                <a:spcPct val="120000"/>
              </a:lnSpc>
              <a:spcBef>
                <a:spcPts val="500"/>
              </a:spcBef>
              <a:spcAft>
                <a:spcPts val="0"/>
              </a:spcAft>
              <a:buSzPts val="1600"/>
              <a:buNone/>
              <a:defRPr sz="1600"/>
            </a:lvl4pPr>
            <a:lvl5pPr lvl="4" algn="ctr">
              <a:lnSpc>
                <a:spcPct val="120000"/>
              </a:lnSpc>
              <a:spcBef>
                <a:spcPts val="500"/>
              </a:spcBef>
              <a:spcAft>
                <a:spcPts val="0"/>
              </a:spcAft>
              <a:buSzPts val="1600"/>
              <a:buNone/>
              <a:defRPr sz="1600"/>
            </a:lvl5pPr>
            <a:lvl6pPr lvl="5" algn="ctr">
              <a:lnSpc>
                <a:spcPct val="120000"/>
              </a:lnSpc>
              <a:spcBef>
                <a:spcPts val="500"/>
              </a:spcBef>
              <a:spcAft>
                <a:spcPts val="0"/>
              </a:spcAft>
              <a:buSzPts val="1600"/>
              <a:buNone/>
              <a:defRPr sz="1600"/>
            </a:lvl6pPr>
            <a:lvl7pPr lvl="6" algn="ctr">
              <a:lnSpc>
                <a:spcPct val="120000"/>
              </a:lnSpc>
              <a:spcBef>
                <a:spcPts val="500"/>
              </a:spcBef>
              <a:spcAft>
                <a:spcPts val="0"/>
              </a:spcAft>
              <a:buSzPts val="1600"/>
              <a:buNone/>
              <a:defRPr sz="1600"/>
            </a:lvl7pPr>
            <a:lvl8pPr lvl="7" algn="ctr">
              <a:lnSpc>
                <a:spcPct val="120000"/>
              </a:lnSpc>
              <a:spcBef>
                <a:spcPts val="500"/>
              </a:spcBef>
              <a:spcAft>
                <a:spcPts val="0"/>
              </a:spcAft>
              <a:buSzPts val="1600"/>
              <a:buNone/>
              <a:defRPr sz="1600"/>
            </a:lvl8pPr>
            <a:lvl9pPr lvl="8" algn="ctr">
              <a:lnSpc>
                <a:spcPct val="120000"/>
              </a:lnSpc>
              <a:spcBef>
                <a:spcPts val="500"/>
              </a:spcBef>
              <a:spcAft>
                <a:spcPts val="0"/>
              </a:spcAft>
              <a:buSzPts val="1600"/>
              <a:buNone/>
              <a:defRPr sz="1600"/>
            </a:lvl9pPr>
          </a:lstStyle>
          <a:p/>
        </p:txBody>
      </p:sp>
      <p:sp>
        <p:nvSpPr>
          <p:cNvPr id="17" name="Google Shape;17;p28"/>
          <p:cNvSpPr txBox="1"/>
          <p:nvPr>
            <p:ph idx="10" type="dt"/>
          </p:nvPr>
        </p:nvSpPr>
        <p:spPr>
          <a:xfrm>
            <a:off x="7554138" y="330370"/>
            <a:ext cx="3500715"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8"/>
          <p:cNvSpPr txBox="1"/>
          <p:nvPr>
            <p:ph idx="11" type="ftr"/>
          </p:nvPr>
        </p:nvSpPr>
        <p:spPr>
          <a:xfrm>
            <a:off x="2416500" y="329307"/>
            <a:ext cx="4973915"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8"/>
          <p:cNvSpPr txBox="1"/>
          <p:nvPr>
            <p:ph idx="12" type="sldNum"/>
          </p:nvPr>
        </p:nvSpPr>
        <p:spPr>
          <a:xfrm>
            <a:off x="1437664" y="798973"/>
            <a:ext cx="811019" cy="503578"/>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cxnSp>
        <p:nvCxnSpPr>
          <p:cNvPr id="20" name="Google Shape;20;p28"/>
          <p:cNvCxnSpPr/>
          <p:nvPr/>
        </p:nvCxnSpPr>
        <p:spPr>
          <a:xfrm>
            <a:off x="2417780" y="3528542"/>
            <a:ext cx="8637072" cy="0"/>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21" name="Shape 21"/>
        <p:cNvGrpSpPr/>
        <p:nvPr/>
      </p:nvGrpSpPr>
      <p:grpSpPr>
        <a:xfrm>
          <a:off x="0" y="0"/>
          <a:ext cx="0" cy="0"/>
          <a:chOff x="0" y="0"/>
          <a:chExt cx="0" cy="0"/>
        </a:xfrm>
      </p:grpSpPr>
      <p:sp>
        <p:nvSpPr>
          <p:cNvPr id="22" name="Google Shape;22;p29"/>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9"/>
          <p:cNvSpPr txBox="1"/>
          <p:nvPr>
            <p:ph idx="1" type="body"/>
          </p:nvPr>
        </p:nvSpPr>
        <p:spPr>
          <a:xfrm>
            <a:off x="1451579" y="2015732"/>
            <a:ext cx="9603275" cy="3450613"/>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24" name="Google Shape;24;p29"/>
          <p:cNvSpPr txBox="1"/>
          <p:nvPr>
            <p:ph idx="10" type="dt"/>
          </p:nvPr>
        </p:nvSpPr>
        <p:spPr>
          <a:xfrm>
            <a:off x="7554138" y="330370"/>
            <a:ext cx="3500715"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9"/>
          <p:cNvSpPr txBox="1"/>
          <p:nvPr>
            <p:ph idx="11" type="ftr"/>
          </p:nvPr>
        </p:nvSpPr>
        <p:spPr>
          <a:xfrm>
            <a:off x="1451579" y="329307"/>
            <a:ext cx="5938836"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9"/>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cxnSp>
        <p:nvCxnSpPr>
          <p:cNvPr id="27" name="Google Shape;27;p29"/>
          <p:cNvCxnSpPr/>
          <p:nvPr/>
        </p:nvCxnSpPr>
        <p:spPr>
          <a:xfrm>
            <a:off x="1453896" y="1847088"/>
            <a:ext cx="9607522" cy="0"/>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28" name="Shape 28"/>
        <p:cNvGrpSpPr/>
        <p:nvPr/>
      </p:nvGrpSpPr>
      <p:grpSpPr>
        <a:xfrm>
          <a:off x="0" y="0"/>
          <a:ext cx="0" cy="0"/>
          <a:chOff x="0" y="0"/>
          <a:chExt cx="0" cy="0"/>
        </a:xfrm>
      </p:grpSpPr>
      <p:sp>
        <p:nvSpPr>
          <p:cNvPr id="29" name="Google Shape;29;p30"/>
          <p:cNvSpPr txBox="1"/>
          <p:nvPr>
            <p:ph type="title"/>
          </p:nvPr>
        </p:nvSpPr>
        <p:spPr>
          <a:xfrm>
            <a:off x="1454239" y="1756130"/>
            <a:ext cx="8643154" cy="188795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600"/>
              <a:buFont typeface="Gill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30"/>
          <p:cNvSpPr txBox="1"/>
          <p:nvPr>
            <p:ph idx="1" type="body"/>
          </p:nvPr>
        </p:nvSpPr>
        <p:spPr>
          <a:xfrm>
            <a:off x="1454239" y="3806195"/>
            <a:ext cx="8630446" cy="1012929"/>
          </a:xfrm>
          <a:prstGeom prst="rect">
            <a:avLst/>
          </a:prstGeom>
          <a:noFill/>
          <a:ln>
            <a:noFill/>
          </a:ln>
        </p:spPr>
        <p:txBody>
          <a:bodyPr anchorCtr="0" anchor="t" bIns="45700" lIns="91425" spcFirstLastPara="1" rIns="91425" wrap="square" tIns="91425">
            <a:normAutofit/>
          </a:bodyPr>
          <a:lstStyle>
            <a:lvl1pPr indent="-228600" lvl="0" marL="457200" algn="l">
              <a:lnSpc>
                <a:spcPct val="120000"/>
              </a:lnSpc>
              <a:spcBef>
                <a:spcPts val="1000"/>
              </a:spcBef>
              <a:spcAft>
                <a:spcPts val="0"/>
              </a:spcAft>
              <a:buSzPts val="1800"/>
              <a:buNone/>
              <a:defRPr sz="1800">
                <a:solidFill>
                  <a:schemeClr val="dk1"/>
                </a:solidFill>
              </a:defRPr>
            </a:lvl1pPr>
            <a:lvl2pPr indent="-228600" lvl="1" marL="914400" algn="l">
              <a:lnSpc>
                <a:spcPct val="120000"/>
              </a:lnSpc>
              <a:spcBef>
                <a:spcPts val="500"/>
              </a:spcBef>
              <a:spcAft>
                <a:spcPts val="0"/>
              </a:spcAft>
              <a:buSzPts val="1800"/>
              <a:buNone/>
              <a:defRPr sz="1800">
                <a:solidFill>
                  <a:srgbClr val="888888"/>
                </a:solidFill>
              </a:defRPr>
            </a:lvl2pPr>
            <a:lvl3pPr indent="-228600" lvl="2" marL="1371600" algn="l">
              <a:lnSpc>
                <a:spcPct val="120000"/>
              </a:lnSpc>
              <a:spcBef>
                <a:spcPts val="500"/>
              </a:spcBef>
              <a:spcAft>
                <a:spcPts val="0"/>
              </a:spcAft>
              <a:buSzPts val="1800"/>
              <a:buNone/>
              <a:defRPr sz="1800">
                <a:solidFill>
                  <a:srgbClr val="888888"/>
                </a:solidFill>
              </a:defRPr>
            </a:lvl3pPr>
            <a:lvl4pPr indent="-228600" lvl="3" marL="1828800" algn="l">
              <a:lnSpc>
                <a:spcPct val="120000"/>
              </a:lnSpc>
              <a:spcBef>
                <a:spcPts val="500"/>
              </a:spcBef>
              <a:spcAft>
                <a:spcPts val="0"/>
              </a:spcAft>
              <a:buSzPts val="1600"/>
              <a:buNone/>
              <a:defRPr sz="1600">
                <a:solidFill>
                  <a:srgbClr val="888888"/>
                </a:solidFill>
              </a:defRPr>
            </a:lvl4pPr>
            <a:lvl5pPr indent="-228600" lvl="4" marL="2286000" algn="l">
              <a:lnSpc>
                <a:spcPct val="120000"/>
              </a:lnSpc>
              <a:spcBef>
                <a:spcPts val="500"/>
              </a:spcBef>
              <a:spcAft>
                <a:spcPts val="0"/>
              </a:spcAft>
              <a:buSzPts val="1600"/>
              <a:buNone/>
              <a:defRPr sz="1600">
                <a:solidFill>
                  <a:srgbClr val="888888"/>
                </a:solidFill>
              </a:defRPr>
            </a:lvl5pPr>
            <a:lvl6pPr indent="-228600" lvl="5" marL="2743200" algn="l">
              <a:lnSpc>
                <a:spcPct val="120000"/>
              </a:lnSpc>
              <a:spcBef>
                <a:spcPts val="500"/>
              </a:spcBef>
              <a:spcAft>
                <a:spcPts val="0"/>
              </a:spcAft>
              <a:buSzPts val="1600"/>
              <a:buNone/>
              <a:defRPr sz="1600">
                <a:solidFill>
                  <a:srgbClr val="888888"/>
                </a:solidFill>
              </a:defRPr>
            </a:lvl6pPr>
            <a:lvl7pPr indent="-228600" lvl="6" marL="3200400" algn="l">
              <a:lnSpc>
                <a:spcPct val="120000"/>
              </a:lnSpc>
              <a:spcBef>
                <a:spcPts val="500"/>
              </a:spcBef>
              <a:spcAft>
                <a:spcPts val="0"/>
              </a:spcAft>
              <a:buSzPts val="1600"/>
              <a:buNone/>
              <a:defRPr sz="1600">
                <a:solidFill>
                  <a:srgbClr val="888888"/>
                </a:solidFill>
              </a:defRPr>
            </a:lvl7pPr>
            <a:lvl8pPr indent="-228600" lvl="7" marL="3657600" algn="l">
              <a:lnSpc>
                <a:spcPct val="120000"/>
              </a:lnSpc>
              <a:spcBef>
                <a:spcPts val="500"/>
              </a:spcBef>
              <a:spcAft>
                <a:spcPts val="0"/>
              </a:spcAft>
              <a:buSzPts val="1600"/>
              <a:buNone/>
              <a:defRPr sz="1600">
                <a:solidFill>
                  <a:srgbClr val="888888"/>
                </a:solidFill>
              </a:defRPr>
            </a:lvl8pPr>
            <a:lvl9pPr indent="-228600" lvl="8" marL="4114800" algn="l">
              <a:lnSpc>
                <a:spcPct val="120000"/>
              </a:lnSpc>
              <a:spcBef>
                <a:spcPts val="500"/>
              </a:spcBef>
              <a:spcAft>
                <a:spcPts val="0"/>
              </a:spcAft>
              <a:buSzPts val="1600"/>
              <a:buNone/>
              <a:defRPr sz="1600">
                <a:solidFill>
                  <a:srgbClr val="888888"/>
                </a:solidFill>
              </a:defRPr>
            </a:lvl9pPr>
          </a:lstStyle>
          <a:p/>
        </p:txBody>
      </p:sp>
      <p:sp>
        <p:nvSpPr>
          <p:cNvPr id="31" name="Google Shape;31;p30"/>
          <p:cNvSpPr txBox="1"/>
          <p:nvPr>
            <p:ph idx="10" type="dt"/>
          </p:nvPr>
        </p:nvSpPr>
        <p:spPr>
          <a:xfrm>
            <a:off x="7554138" y="330370"/>
            <a:ext cx="3500715"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30"/>
          <p:cNvSpPr txBox="1"/>
          <p:nvPr>
            <p:ph idx="11" type="ftr"/>
          </p:nvPr>
        </p:nvSpPr>
        <p:spPr>
          <a:xfrm>
            <a:off x="1451579" y="329307"/>
            <a:ext cx="5938836"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30"/>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cxnSp>
        <p:nvCxnSpPr>
          <p:cNvPr id="34" name="Google Shape;34;p30"/>
          <p:cNvCxnSpPr/>
          <p:nvPr/>
        </p:nvCxnSpPr>
        <p:spPr>
          <a:xfrm>
            <a:off x="1454239" y="3804985"/>
            <a:ext cx="8630446" cy="0"/>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35" name="Shape 35"/>
        <p:cNvGrpSpPr/>
        <p:nvPr/>
      </p:nvGrpSpPr>
      <p:grpSpPr>
        <a:xfrm>
          <a:off x="0" y="0"/>
          <a:ext cx="0" cy="0"/>
          <a:chOff x="0" y="0"/>
          <a:chExt cx="0" cy="0"/>
        </a:xfrm>
      </p:grpSpPr>
      <p:sp>
        <p:nvSpPr>
          <p:cNvPr id="36" name="Google Shape;36;p31"/>
          <p:cNvSpPr txBox="1"/>
          <p:nvPr>
            <p:ph type="title"/>
          </p:nvPr>
        </p:nvSpPr>
        <p:spPr>
          <a:xfrm>
            <a:off x="1449217" y="804889"/>
            <a:ext cx="9605635" cy="1059305"/>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 name="Google Shape;37;p31"/>
          <p:cNvSpPr txBox="1"/>
          <p:nvPr>
            <p:ph idx="1" type="body"/>
          </p:nvPr>
        </p:nvSpPr>
        <p:spPr>
          <a:xfrm>
            <a:off x="1447331" y="2010878"/>
            <a:ext cx="4645152" cy="3448595"/>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38" name="Google Shape;38;p31"/>
          <p:cNvSpPr txBox="1"/>
          <p:nvPr>
            <p:ph idx="2" type="body"/>
          </p:nvPr>
        </p:nvSpPr>
        <p:spPr>
          <a:xfrm>
            <a:off x="6413771" y="2017343"/>
            <a:ext cx="4645152" cy="3441520"/>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39" name="Google Shape;39;p31"/>
          <p:cNvSpPr txBox="1"/>
          <p:nvPr>
            <p:ph idx="10" type="dt"/>
          </p:nvPr>
        </p:nvSpPr>
        <p:spPr>
          <a:xfrm>
            <a:off x="7554138" y="330370"/>
            <a:ext cx="3500715"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31"/>
          <p:cNvSpPr txBox="1"/>
          <p:nvPr>
            <p:ph idx="11" type="ftr"/>
          </p:nvPr>
        </p:nvSpPr>
        <p:spPr>
          <a:xfrm>
            <a:off x="1451579" y="329307"/>
            <a:ext cx="5938836"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31"/>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cxnSp>
        <p:nvCxnSpPr>
          <p:cNvPr id="42" name="Google Shape;42;p31"/>
          <p:cNvCxnSpPr/>
          <p:nvPr/>
        </p:nvCxnSpPr>
        <p:spPr>
          <a:xfrm>
            <a:off x="1453896" y="1847088"/>
            <a:ext cx="9607522" cy="0"/>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43" name="Shape 43"/>
        <p:cNvGrpSpPr/>
        <p:nvPr/>
      </p:nvGrpSpPr>
      <p:grpSpPr>
        <a:xfrm>
          <a:off x="0" y="0"/>
          <a:ext cx="0" cy="0"/>
          <a:chOff x="0" y="0"/>
          <a:chExt cx="0" cy="0"/>
        </a:xfrm>
      </p:grpSpPr>
      <p:sp>
        <p:nvSpPr>
          <p:cNvPr id="44" name="Google Shape;44;p32"/>
          <p:cNvSpPr txBox="1"/>
          <p:nvPr>
            <p:ph type="title"/>
          </p:nvPr>
        </p:nvSpPr>
        <p:spPr>
          <a:xfrm>
            <a:off x="1447191" y="804163"/>
            <a:ext cx="9607661" cy="1056319"/>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32"/>
          <p:cNvSpPr txBox="1"/>
          <p:nvPr>
            <p:ph idx="1" type="body"/>
          </p:nvPr>
        </p:nvSpPr>
        <p:spPr>
          <a:xfrm>
            <a:off x="1447191" y="2019549"/>
            <a:ext cx="4645152" cy="801943"/>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1000"/>
              </a:spcBef>
              <a:spcAft>
                <a:spcPts val="0"/>
              </a:spcAft>
              <a:buSzPts val="2200"/>
              <a:buNone/>
              <a:defRPr b="0" sz="2200" cap="none">
                <a:solidFill>
                  <a:schemeClr val="accent1"/>
                </a:solidFill>
              </a:defRPr>
            </a:lvl1pPr>
            <a:lvl2pPr indent="-228600" lvl="1" marL="914400" algn="l">
              <a:lnSpc>
                <a:spcPct val="120000"/>
              </a:lnSpc>
              <a:spcBef>
                <a:spcPts val="500"/>
              </a:spcBef>
              <a:spcAft>
                <a:spcPts val="0"/>
              </a:spcAft>
              <a:buSzPts val="2000"/>
              <a:buNone/>
              <a:defRPr b="1" sz="2000"/>
            </a:lvl2pPr>
            <a:lvl3pPr indent="-228600" lvl="2" marL="1371600" algn="l">
              <a:lnSpc>
                <a:spcPct val="120000"/>
              </a:lnSpc>
              <a:spcBef>
                <a:spcPts val="500"/>
              </a:spcBef>
              <a:spcAft>
                <a:spcPts val="0"/>
              </a:spcAft>
              <a:buSzPts val="1800"/>
              <a:buNone/>
              <a:defRPr b="1" sz="1800"/>
            </a:lvl3pPr>
            <a:lvl4pPr indent="-228600" lvl="3" marL="1828800" algn="l">
              <a:lnSpc>
                <a:spcPct val="120000"/>
              </a:lnSpc>
              <a:spcBef>
                <a:spcPts val="500"/>
              </a:spcBef>
              <a:spcAft>
                <a:spcPts val="0"/>
              </a:spcAft>
              <a:buSzPts val="1600"/>
              <a:buNone/>
              <a:defRPr b="1" sz="1600"/>
            </a:lvl4pPr>
            <a:lvl5pPr indent="-228600" lvl="4" marL="2286000" algn="l">
              <a:lnSpc>
                <a:spcPct val="120000"/>
              </a:lnSpc>
              <a:spcBef>
                <a:spcPts val="500"/>
              </a:spcBef>
              <a:spcAft>
                <a:spcPts val="0"/>
              </a:spcAft>
              <a:buSzPts val="1600"/>
              <a:buNone/>
              <a:defRPr b="1" sz="1600"/>
            </a:lvl5pPr>
            <a:lvl6pPr indent="-228600" lvl="5" marL="2743200" algn="l">
              <a:lnSpc>
                <a:spcPct val="120000"/>
              </a:lnSpc>
              <a:spcBef>
                <a:spcPts val="500"/>
              </a:spcBef>
              <a:spcAft>
                <a:spcPts val="0"/>
              </a:spcAft>
              <a:buSzPts val="1600"/>
              <a:buNone/>
              <a:defRPr b="1" sz="1600"/>
            </a:lvl6pPr>
            <a:lvl7pPr indent="-228600" lvl="6" marL="3200400" algn="l">
              <a:lnSpc>
                <a:spcPct val="120000"/>
              </a:lnSpc>
              <a:spcBef>
                <a:spcPts val="500"/>
              </a:spcBef>
              <a:spcAft>
                <a:spcPts val="0"/>
              </a:spcAft>
              <a:buSzPts val="1600"/>
              <a:buNone/>
              <a:defRPr b="1" sz="1600"/>
            </a:lvl7pPr>
            <a:lvl8pPr indent="-228600" lvl="7" marL="3657600" algn="l">
              <a:lnSpc>
                <a:spcPct val="120000"/>
              </a:lnSpc>
              <a:spcBef>
                <a:spcPts val="500"/>
              </a:spcBef>
              <a:spcAft>
                <a:spcPts val="0"/>
              </a:spcAft>
              <a:buSzPts val="1600"/>
              <a:buNone/>
              <a:defRPr b="1" sz="1600"/>
            </a:lvl8pPr>
            <a:lvl9pPr indent="-228600" lvl="8" marL="4114800" algn="l">
              <a:lnSpc>
                <a:spcPct val="120000"/>
              </a:lnSpc>
              <a:spcBef>
                <a:spcPts val="500"/>
              </a:spcBef>
              <a:spcAft>
                <a:spcPts val="0"/>
              </a:spcAft>
              <a:buSzPts val="1600"/>
              <a:buNone/>
              <a:defRPr b="1" sz="1600"/>
            </a:lvl9pPr>
          </a:lstStyle>
          <a:p/>
        </p:txBody>
      </p:sp>
      <p:sp>
        <p:nvSpPr>
          <p:cNvPr id="46" name="Google Shape;46;p32"/>
          <p:cNvSpPr txBox="1"/>
          <p:nvPr>
            <p:ph idx="2" type="body"/>
          </p:nvPr>
        </p:nvSpPr>
        <p:spPr>
          <a:xfrm>
            <a:off x="1447191" y="2824269"/>
            <a:ext cx="4645152" cy="2644457"/>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47" name="Google Shape;47;p32"/>
          <p:cNvSpPr txBox="1"/>
          <p:nvPr>
            <p:ph idx="3" type="body"/>
          </p:nvPr>
        </p:nvSpPr>
        <p:spPr>
          <a:xfrm>
            <a:off x="6412362" y="2023003"/>
            <a:ext cx="4645152" cy="80223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1000"/>
              </a:spcBef>
              <a:spcAft>
                <a:spcPts val="0"/>
              </a:spcAft>
              <a:buSzPts val="2200"/>
              <a:buNone/>
              <a:defRPr b="0" sz="2200" cap="none">
                <a:solidFill>
                  <a:schemeClr val="accent1"/>
                </a:solidFill>
              </a:defRPr>
            </a:lvl1pPr>
            <a:lvl2pPr indent="-228600" lvl="1" marL="914400" algn="l">
              <a:lnSpc>
                <a:spcPct val="120000"/>
              </a:lnSpc>
              <a:spcBef>
                <a:spcPts val="500"/>
              </a:spcBef>
              <a:spcAft>
                <a:spcPts val="0"/>
              </a:spcAft>
              <a:buSzPts val="2000"/>
              <a:buNone/>
              <a:defRPr b="1" sz="2000"/>
            </a:lvl2pPr>
            <a:lvl3pPr indent="-228600" lvl="2" marL="1371600" algn="l">
              <a:lnSpc>
                <a:spcPct val="120000"/>
              </a:lnSpc>
              <a:spcBef>
                <a:spcPts val="500"/>
              </a:spcBef>
              <a:spcAft>
                <a:spcPts val="0"/>
              </a:spcAft>
              <a:buSzPts val="1800"/>
              <a:buNone/>
              <a:defRPr b="1" sz="1800"/>
            </a:lvl3pPr>
            <a:lvl4pPr indent="-228600" lvl="3" marL="1828800" algn="l">
              <a:lnSpc>
                <a:spcPct val="120000"/>
              </a:lnSpc>
              <a:spcBef>
                <a:spcPts val="500"/>
              </a:spcBef>
              <a:spcAft>
                <a:spcPts val="0"/>
              </a:spcAft>
              <a:buSzPts val="1600"/>
              <a:buNone/>
              <a:defRPr b="1" sz="1600"/>
            </a:lvl4pPr>
            <a:lvl5pPr indent="-228600" lvl="4" marL="2286000" algn="l">
              <a:lnSpc>
                <a:spcPct val="120000"/>
              </a:lnSpc>
              <a:spcBef>
                <a:spcPts val="500"/>
              </a:spcBef>
              <a:spcAft>
                <a:spcPts val="0"/>
              </a:spcAft>
              <a:buSzPts val="1600"/>
              <a:buNone/>
              <a:defRPr b="1" sz="1600"/>
            </a:lvl5pPr>
            <a:lvl6pPr indent="-228600" lvl="5" marL="2743200" algn="l">
              <a:lnSpc>
                <a:spcPct val="120000"/>
              </a:lnSpc>
              <a:spcBef>
                <a:spcPts val="500"/>
              </a:spcBef>
              <a:spcAft>
                <a:spcPts val="0"/>
              </a:spcAft>
              <a:buSzPts val="1600"/>
              <a:buNone/>
              <a:defRPr b="1" sz="1600"/>
            </a:lvl6pPr>
            <a:lvl7pPr indent="-228600" lvl="6" marL="3200400" algn="l">
              <a:lnSpc>
                <a:spcPct val="120000"/>
              </a:lnSpc>
              <a:spcBef>
                <a:spcPts val="500"/>
              </a:spcBef>
              <a:spcAft>
                <a:spcPts val="0"/>
              </a:spcAft>
              <a:buSzPts val="1600"/>
              <a:buNone/>
              <a:defRPr b="1" sz="1600"/>
            </a:lvl7pPr>
            <a:lvl8pPr indent="-228600" lvl="7" marL="3657600" algn="l">
              <a:lnSpc>
                <a:spcPct val="120000"/>
              </a:lnSpc>
              <a:spcBef>
                <a:spcPts val="500"/>
              </a:spcBef>
              <a:spcAft>
                <a:spcPts val="0"/>
              </a:spcAft>
              <a:buSzPts val="1600"/>
              <a:buNone/>
              <a:defRPr b="1" sz="1600"/>
            </a:lvl8pPr>
            <a:lvl9pPr indent="-228600" lvl="8" marL="4114800" algn="l">
              <a:lnSpc>
                <a:spcPct val="120000"/>
              </a:lnSpc>
              <a:spcBef>
                <a:spcPts val="500"/>
              </a:spcBef>
              <a:spcAft>
                <a:spcPts val="0"/>
              </a:spcAft>
              <a:buSzPts val="1600"/>
              <a:buNone/>
              <a:defRPr b="1" sz="1600"/>
            </a:lvl9pPr>
          </a:lstStyle>
          <a:p/>
        </p:txBody>
      </p:sp>
      <p:sp>
        <p:nvSpPr>
          <p:cNvPr id="48" name="Google Shape;48;p32"/>
          <p:cNvSpPr txBox="1"/>
          <p:nvPr>
            <p:ph idx="4" type="body"/>
          </p:nvPr>
        </p:nvSpPr>
        <p:spPr>
          <a:xfrm>
            <a:off x="6412362" y="2821491"/>
            <a:ext cx="4645152" cy="2637371"/>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49" name="Google Shape;49;p32"/>
          <p:cNvSpPr txBox="1"/>
          <p:nvPr>
            <p:ph idx="10" type="dt"/>
          </p:nvPr>
        </p:nvSpPr>
        <p:spPr>
          <a:xfrm>
            <a:off x="7554138" y="330370"/>
            <a:ext cx="3500715"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32"/>
          <p:cNvSpPr txBox="1"/>
          <p:nvPr>
            <p:ph idx="11" type="ftr"/>
          </p:nvPr>
        </p:nvSpPr>
        <p:spPr>
          <a:xfrm>
            <a:off x="1451579" y="329307"/>
            <a:ext cx="5938836"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32"/>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cxnSp>
        <p:nvCxnSpPr>
          <p:cNvPr id="52" name="Google Shape;52;p32"/>
          <p:cNvCxnSpPr/>
          <p:nvPr/>
        </p:nvCxnSpPr>
        <p:spPr>
          <a:xfrm>
            <a:off x="1453896" y="1847088"/>
            <a:ext cx="9607522" cy="0"/>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53" name="Shape 53"/>
        <p:cNvGrpSpPr/>
        <p:nvPr/>
      </p:nvGrpSpPr>
      <p:grpSpPr>
        <a:xfrm>
          <a:off x="0" y="0"/>
          <a:ext cx="0" cy="0"/>
          <a:chOff x="0" y="0"/>
          <a:chExt cx="0" cy="0"/>
        </a:xfrm>
      </p:grpSpPr>
      <p:sp>
        <p:nvSpPr>
          <p:cNvPr id="54" name="Google Shape;54;p33"/>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33"/>
          <p:cNvSpPr txBox="1"/>
          <p:nvPr>
            <p:ph idx="10" type="dt"/>
          </p:nvPr>
        </p:nvSpPr>
        <p:spPr>
          <a:xfrm>
            <a:off x="7554138" y="330370"/>
            <a:ext cx="3500715"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33"/>
          <p:cNvSpPr txBox="1"/>
          <p:nvPr>
            <p:ph idx="11" type="ftr"/>
          </p:nvPr>
        </p:nvSpPr>
        <p:spPr>
          <a:xfrm>
            <a:off x="1451579" y="329307"/>
            <a:ext cx="5938836"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33"/>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cxnSp>
        <p:nvCxnSpPr>
          <p:cNvPr id="58" name="Google Shape;58;p33"/>
          <p:cNvCxnSpPr/>
          <p:nvPr/>
        </p:nvCxnSpPr>
        <p:spPr>
          <a:xfrm>
            <a:off x="1453896" y="1847088"/>
            <a:ext cx="9607522" cy="0"/>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59" name="Shape 59"/>
        <p:cNvGrpSpPr/>
        <p:nvPr/>
      </p:nvGrpSpPr>
      <p:grpSpPr>
        <a:xfrm>
          <a:off x="0" y="0"/>
          <a:ext cx="0" cy="0"/>
          <a:chOff x="0" y="0"/>
          <a:chExt cx="0" cy="0"/>
        </a:xfrm>
      </p:grpSpPr>
      <p:sp>
        <p:nvSpPr>
          <p:cNvPr id="60" name="Google Shape;60;p34"/>
          <p:cNvSpPr txBox="1"/>
          <p:nvPr>
            <p:ph idx="10" type="dt"/>
          </p:nvPr>
        </p:nvSpPr>
        <p:spPr>
          <a:xfrm>
            <a:off x="7554138" y="330370"/>
            <a:ext cx="3500715"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34"/>
          <p:cNvSpPr txBox="1"/>
          <p:nvPr>
            <p:ph idx="11" type="ftr"/>
          </p:nvPr>
        </p:nvSpPr>
        <p:spPr>
          <a:xfrm>
            <a:off x="1451579" y="329307"/>
            <a:ext cx="5938836"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34"/>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63" name="Shape 63"/>
        <p:cNvGrpSpPr/>
        <p:nvPr/>
      </p:nvGrpSpPr>
      <p:grpSpPr>
        <a:xfrm>
          <a:off x="0" y="0"/>
          <a:ext cx="0" cy="0"/>
          <a:chOff x="0" y="0"/>
          <a:chExt cx="0" cy="0"/>
        </a:xfrm>
      </p:grpSpPr>
      <p:sp>
        <p:nvSpPr>
          <p:cNvPr id="64" name="Google Shape;64;p35"/>
          <p:cNvSpPr txBox="1"/>
          <p:nvPr>
            <p:ph type="title"/>
          </p:nvPr>
        </p:nvSpPr>
        <p:spPr>
          <a:xfrm>
            <a:off x="1444671" y="798973"/>
            <a:ext cx="3273099" cy="224711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Gill Sans"/>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5" name="Google Shape;65;p35"/>
          <p:cNvSpPr txBox="1"/>
          <p:nvPr>
            <p:ph idx="1" type="body"/>
          </p:nvPr>
        </p:nvSpPr>
        <p:spPr>
          <a:xfrm>
            <a:off x="5043714" y="798974"/>
            <a:ext cx="6012470" cy="4658826"/>
          </a:xfrm>
          <a:prstGeom prst="rect">
            <a:avLst/>
          </a:prstGeom>
          <a:noFill/>
          <a:ln>
            <a:noFill/>
          </a:ln>
        </p:spPr>
        <p:txBody>
          <a:bodyPr anchorCtr="0" anchor="ctr"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66" name="Google Shape;66;p35"/>
          <p:cNvSpPr txBox="1"/>
          <p:nvPr>
            <p:ph idx="2" type="body"/>
          </p:nvPr>
        </p:nvSpPr>
        <p:spPr>
          <a:xfrm>
            <a:off x="1444671" y="3205491"/>
            <a:ext cx="3275013" cy="2248181"/>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SzPts val="1600"/>
              <a:buNone/>
              <a:defRPr sz="1600"/>
            </a:lvl1pPr>
            <a:lvl2pPr indent="-228600" lvl="1" marL="914400" algn="l">
              <a:lnSpc>
                <a:spcPct val="120000"/>
              </a:lnSpc>
              <a:spcBef>
                <a:spcPts val="500"/>
              </a:spcBef>
              <a:spcAft>
                <a:spcPts val="0"/>
              </a:spcAft>
              <a:buSzPts val="1400"/>
              <a:buNone/>
              <a:defRPr sz="1400"/>
            </a:lvl2pPr>
            <a:lvl3pPr indent="-228600" lvl="2" marL="1371600" algn="l">
              <a:lnSpc>
                <a:spcPct val="120000"/>
              </a:lnSpc>
              <a:spcBef>
                <a:spcPts val="500"/>
              </a:spcBef>
              <a:spcAft>
                <a:spcPts val="0"/>
              </a:spcAft>
              <a:buSzPts val="1200"/>
              <a:buNone/>
              <a:defRPr sz="1200"/>
            </a:lvl3pPr>
            <a:lvl4pPr indent="-228600" lvl="3" marL="1828800" algn="l">
              <a:lnSpc>
                <a:spcPct val="120000"/>
              </a:lnSpc>
              <a:spcBef>
                <a:spcPts val="500"/>
              </a:spcBef>
              <a:spcAft>
                <a:spcPts val="0"/>
              </a:spcAft>
              <a:buSzPts val="1000"/>
              <a:buNone/>
              <a:defRPr sz="1000"/>
            </a:lvl4pPr>
            <a:lvl5pPr indent="-228600" lvl="4" marL="2286000" algn="l">
              <a:lnSpc>
                <a:spcPct val="120000"/>
              </a:lnSpc>
              <a:spcBef>
                <a:spcPts val="500"/>
              </a:spcBef>
              <a:spcAft>
                <a:spcPts val="0"/>
              </a:spcAft>
              <a:buSzPts val="1000"/>
              <a:buNone/>
              <a:defRPr sz="1000"/>
            </a:lvl5pPr>
            <a:lvl6pPr indent="-228600" lvl="5" marL="2743200" algn="l">
              <a:lnSpc>
                <a:spcPct val="120000"/>
              </a:lnSpc>
              <a:spcBef>
                <a:spcPts val="500"/>
              </a:spcBef>
              <a:spcAft>
                <a:spcPts val="0"/>
              </a:spcAft>
              <a:buSzPts val="1000"/>
              <a:buNone/>
              <a:defRPr sz="1000"/>
            </a:lvl6pPr>
            <a:lvl7pPr indent="-228600" lvl="6" marL="3200400" algn="l">
              <a:lnSpc>
                <a:spcPct val="120000"/>
              </a:lnSpc>
              <a:spcBef>
                <a:spcPts val="500"/>
              </a:spcBef>
              <a:spcAft>
                <a:spcPts val="0"/>
              </a:spcAft>
              <a:buSzPts val="1000"/>
              <a:buNone/>
              <a:defRPr sz="1000"/>
            </a:lvl7pPr>
            <a:lvl8pPr indent="-228600" lvl="7" marL="3657600" algn="l">
              <a:lnSpc>
                <a:spcPct val="120000"/>
              </a:lnSpc>
              <a:spcBef>
                <a:spcPts val="500"/>
              </a:spcBef>
              <a:spcAft>
                <a:spcPts val="0"/>
              </a:spcAft>
              <a:buSzPts val="1000"/>
              <a:buNone/>
              <a:defRPr sz="1000"/>
            </a:lvl8pPr>
            <a:lvl9pPr indent="-228600" lvl="8" marL="4114800" algn="l">
              <a:lnSpc>
                <a:spcPct val="120000"/>
              </a:lnSpc>
              <a:spcBef>
                <a:spcPts val="500"/>
              </a:spcBef>
              <a:spcAft>
                <a:spcPts val="0"/>
              </a:spcAft>
              <a:buSzPts val="1000"/>
              <a:buNone/>
              <a:defRPr sz="1000"/>
            </a:lvl9pPr>
          </a:lstStyle>
          <a:p/>
        </p:txBody>
      </p:sp>
      <p:sp>
        <p:nvSpPr>
          <p:cNvPr id="67" name="Google Shape;67;p35"/>
          <p:cNvSpPr txBox="1"/>
          <p:nvPr>
            <p:ph idx="10" type="dt"/>
          </p:nvPr>
        </p:nvSpPr>
        <p:spPr>
          <a:xfrm>
            <a:off x="7554138" y="330370"/>
            <a:ext cx="3500715"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35"/>
          <p:cNvSpPr txBox="1"/>
          <p:nvPr>
            <p:ph idx="11" type="ftr"/>
          </p:nvPr>
        </p:nvSpPr>
        <p:spPr>
          <a:xfrm>
            <a:off x="1451579" y="329307"/>
            <a:ext cx="5938836"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35"/>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cxnSp>
        <p:nvCxnSpPr>
          <p:cNvPr id="70" name="Google Shape;70;p35"/>
          <p:cNvCxnSpPr/>
          <p:nvPr/>
        </p:nvCxnSpPr>
        <p:spPr>
          <a:xfrm>
            <a:off x="1448280" y="3205491"/>
            <a:ext cx="3269490" cy="0"/>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71" name="Shape 71"/>
        <p:cNvGrpSpPr/>
        <p:nvPr/>
      </p:nvGrpSpPr>
      <p:grpSpPr>
        <a:xfrm>
          <a:off x="0" y="0"/>
          <a:ext cx="0" cy="0"/>
          <a:chOff x="0" y="0"/>
          <a:chExt cx="0" cy="0"/>
        </a:xfrm>
      </p:grpSpPr>
      <p:grpSp>
        <p:nvGrpSpPr>
          <p:cNvPr id="72" name="Google Shape;72;p36"/>
          <p:cNvGrpSpPr/>
          <p:nvPr/>
        </p:nvGrpSpPr>
        <p:grpSpPr>
          <a:xfrm>
            <a:off x="7477387" y="482170"/>
            <a:ext cx="4074533" cy="5149101"/>
            <a:chOff x="7477387" y="482170"/>
            <a:chExt cx="4074533" cy="5149101"/>
          </a:xfrm>
        </p:grpSpPr>
        <p:sp>
          <p:nvSpPr>
            <p:cNvPr id="73" name="Google Shape;73;p36"/>
            <p:cNvSpPr/>
            <p:nvPr/>
          </p:nvSpPr>
          <p:spPr>
            <a:xfrm>
              <a:off x="7477387" y="482170"/>
              <a:ext cx="4074533" cy="5149101"/>
            </a:xfrm>
            <a:prstGeom prst="rect">
              <a:avLst/>
            </a:prstGeom>
            <a:gradFill>
              <a:gsLst>
                <a:gs pos="0">
                  <a:srgbClr val="000001"/>
                </a:gs>
                <a:gs pos="100000">
                  <a:srgbClr val="191919"/>
                </a:gs>
              </a:gsLst>
              <a:lin ang="5400000" scaled="0"/>
            </a:gradFill>
            <a:ln>
              <a:noFill/>
            </a:ln>
            <a:effectLst>
              <a:outerShdw blurRad="127000" sx="98000" rotWithShape="0" algn="tl" dir="4740000" dist="228600" sy="98000">
                <a:srgbClr val="000000">
                  <a:alpha val="3372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6"/>
            <p:cNvSpPr/>
            <p:nvPr/>
          </p:nvSpPr>
          <p:spPr>
            <a:xfrm>
              <a:off x="7790446" y="812506"/>
              <a:ext cx="3450289" cy="4466452"/>
            </a:xfrm>
            <a:prstGeom prst="rect">
              <a:avLst/>
            </a:prstGeom>
            <a:gradFill>
              <a:gsLst>
                <a:gs pos="0">
                  <a:srgbClr val="DADADA"/>
                </a:gs>
                <a:gs pos="100000">
                  <a:srgbClr val="FFFFFE"/>
                </a:gs>
              </a:gsLst>
              <a:lin ang="16200000" scaled="0"/>
            </a:gradFill>
            <a:ln cap="flat" cmpd="sng" w="50800">
              <a:solidFill>
                <a:srgbClr val="191919"/>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5" name="Google Shape;75;p36"/>
          <p:cNvSpPr txBox="1"/>
          <p:nvPr>
            <p:ph type="title"/>
          </p:nvPr>
        </p:nvSpPr>
        <p:spPr>
          <a:xfrm>
            <a:off x="1451206" y="1129513"/>
            <a:ext cx="5532328" cy="1830584"/>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Gill Sans"/>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6"/>
          <p:cNvSpPr/>
          <p:nvPr>
            <p:ph idx="2" type="pic"/>
          </p:nvPr>
        </p:nvSpPr>
        <p:spPr>
          <a:xfrm>
            <a:off x="8124389" y="1122542"/>
            <a:ext cx="2791171" cy="3866327"/>
          </a:xfrm>
          <a:prstGeom prst="rect">
            <a:avLst/>
          </a:prstGeom>
          <a:solidFill>
            <a:srgbClr val="D8D8D8"/>
          </a:solidFill>
          <a:ln>
            <a:noFill/>
          </a:ln>
        </p:spPr>
      </p:sp>
      <p:sp>
        <p:nvSpPr>
          <p:cNvPr id="77" name="Google Shape;77;p36"/>
          <p:cNvSpPr txBox="1"/>
          <p:nvPr>
            <p:ph idx="1" type="body"/>
          </p:nvPr>
        </p:nvSpPr>
        <p:spPr>
          <a:xfrm>
            <a:off x="1450329" y="3145992"/>
            <a:ext cx="5524404" cy="2003742"/>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SzPts val="1800"/>
              <a:buNone/>
              <a:defRPr sz="1800"/>
            </a:lvl1pPr>
            <a:lvl2pPr indent="-228600" lvl="1" marL="914400" algn="l">
              <a:lnSpc>
                <a:spcPct val="120000"/>
              </a:lnSpc>
              <a:spcBef>
                <a:spcPts val="500"/>
              </a:spcBef>
              <a:spcAft>
                <a:spcPts val="0"/>
              </a:spcAft>
              <a:buSzPts val="1400"/>
              <a:buNone/>
              <a:defRPr sz="1400"/>
            </a:lvl2pPr>
            <a:lvl3pPr indent="-228600" lvl="2" marL="1371600" algn="l">
              <a:lnSpc>
                <a:spcPct val="120000"/>
              </a:lnSpc>
              <a:spcBef>
                <a:spcPts val="500"/>
              </a:spcBef>
              <a:spcAft>
                <a:spcPts val="0"/>
              </a:spcAft>
              <a:buSzPts val="1200"/>
              <a:buNone/>
              <a:defRPr sz="1200"/>
            </a:lvl3pPr>
            <a:lvl4pPr indent="-228600" lvl="3" marL="1828800" algn="l">
              <a:lnSpc>
                <a:spcPct val="120000"/>
              </a:lnSpc>
              <a:spcBef>
                <a:spcPts val="500"/>
              </a:spcBef>
              <a:spcAft>
                <a:spcPts val="0"/>
              </a:spcAft>
              <a:buSzPts val="1000"/>
              <a:buNone/>
              <a:defRPr sz="1000"/>
            </a:lvl4pPr>
            <a:lvl5pPr indent="-228600" lvl="4" marL="2286000" algn="l">
              <a:lnSpc>
                <a:spcPct val="120000"/>
              </a:lnSpc>
              <a:spcBef>
                <a:spcPts val="500"/>
              </a:spcBef>
              <a:spcAft>
                <a:spcPts val="0"/>
              </a:spcAft>
              <a:buSzPts val="1000"/>
              <a:buNone/>
              <a:defRPr sz="1000"/>
            </a:lvl5pPr>
            <a:lvl6pPr indent="-228600" lvl="5" marL="2743200" algn="l">
              <a:lnSpc>
                <a:spcPct val="120000"/>
              </a:lnSpc>
              <a:spcBef>
                <a:spcPts val="500"/>
              </a:spcBef>
              <a:spcAft>
                <a:spcPts val="0"/>
              </a:spcAft>
              <a:buSzPts val="1000"/>
              <a:buNone/>
              <a:defRPr sz="1000"/>
            </a:lvl6pPr>
            <a:lvl7pPr indent="-228600" lvl="6" marL="3200400" algn="l">
              <a:lnSpc>
                <a:spcPct val="120000"/>
              </a:lnSpc>
              <a:spcBef>
                <a:spcPts val="500"/>
              </a:spcBef>
              <a:spcAft>
                <a:spcPts val="0"/>
              </a:spcAft>
              <a:buSzPts val="1000"/>
              <a:buNone/>
              <a:defRPr sz="1000"/>
            </a:lvl7pPr>
            <a:lvl8pPr indent="-228600" lvl="7" marL="3657600" algn="l">
              <a:lnSpc>
                <a:spcPct val="120000"/>
              </a:lnSpc>
              <a:spcBef>
                <a:spcPts val="500"/>
              </a:spcBef>
              <a:spcAft>
                <a:spcPts val="0"/>
              </a:spcAft>
              <a:buSzPts val="1000"/>
              <a:buNone/>
              <a:defRPr sz="1000"/>
            </a:lvl8pPr>
            <a:lvl9pPr indent="-228600" lvl="8" marL="4114800" algn="l">
              <a:lnSpc>
                <a:spcPct val="120000"/>
              </a:lnSpc>
              <a:spcBef>
                <a:spcPts val="500"/>
              </a:spcBef>
              <a:spcAft>
                <a:spcPts val="0"/>
              </a:spcAft>
              <a:buSzPts val="1000"/>
              <a:buNone/>
              <a:defRPr sz="1000"/>
            </a:lvl9pPr>
          </a:lstStyle>
          <a:p/>
        </p:txBody>
      </p:sp>
      <p:sp>
        <p:nvSpPr>
          <p:cNvPr id="78" name="Google Shape;78;p36"/>
          <p:cNvSpPr txBox="1"/>
          <p:nvPr>
            <p:ph idx="10" type="dt"/>
          </p:nvPr>
        </p:nvSpPr>
        <p:spPr>
          <a:xfrm>
            <a:off x="1447382" y="5469856"/>
            <a:ext cx="5527351" cy="32012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6"/>
          <p:cNvSpPr txBox="1"/>
          <p:nvPr>
            <p:ph idx="11" type="ftr"/>
          </p:nvPr>
        </p:nvSpPr>
        <p:spPr>
          <a:xfrm>
            <a:off x="1447382" y="318640"/>
            <a:ext cx="5541004" cy="32093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36"/>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cxnSp>
        <p:nvCxnSpPr>
          <p:cNvPr id="81" name="Google Shape;81;p36"/>
          <p:cNvCxnSpPr/>
          <p:nvPr/>
        </p:nvCxnSpPr>
        <p:spPr>
          <a:xfrm>
            <a:off x="1447382" y="3143605"/>
            <a:ext cx="5527351" cy="0"/>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82" name="Shape 82"/>
        <p:cNvGrpSpPr/>
        <p:nvPr/>
      </p:nvGrpSpPr>
      <p:grpSpPr>
        <a:xfrm>
          <a:off x="0" y="0"/>
          <a:ext cx="0" cy="0"/>
          <a:chOff x="0" y="0"/>
          <a:chExt cx="0" cy="0"/>
        </a:xfrm>
      </p:grpSpPr>
      <p:sp>
        <p:nvSpPr>
          <p:cNvPr id="83" name="Google Shape;83;p37"/>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4" name="Google Shape;84;p37"/>
          <p:cNvSpPr txBox="1"/>
          <p:nvPr>
            <p:ph idx="1" type="body"/>
          </p:nvPr>
        </p:nvSpPr>
        <p:spPr>
          <a:xfrm rot="5400000">
            <a:off x="4527910" y="-1060599"/>
            <a:ext cx="3450613" cy="9603275"/>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85" name="Google Shape;85;p37"/>
          <p:cNvSpPr txBox="1"/>
          <p:nvPr>
            <p:ph idx="10" type="dt"/>
          </p:nvPr>
        </p:nvSpPr>
        <p:spPr>
          <a:xfrm>
            <a:off x="7554138" y="330370"/>
            <a:ext cx="3500715"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37"/>
          <p:cNvSpPr txBox="1"/>
          <p:nvPr>
            <p:ph idx="11" type="ftr"/>
          </p:nvPr>
        </p:nvSpPr>
        <p:spPr>
          <a:xfrm>
            <a:off x="1451579" y="329307"/>
            <a:ext cx="5938836"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37"/>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cxnSp>
        <p:nvCxnSpPr>
          <p:cNvPr id="88" name="Google Shape;88;p37"/>
          <p:cNvCxnSpPr/>
          <p:nvPr/>
        </p:nvCxnSpPr>
        <p:spPr>
          <a:xfrm>
            <a:off x="1453896" y="1847088"/>
            <a:ext cx="9607522" cy="0"/>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89" name="Shape 89"/>
        <p:cNvGrpSpPr/>
        <p:nvPr/>
      </p:nvGrpSpPr>
      <p:grpSpPr>
        <a:xfrm>
          <a:off x="0" y="0"/>
          <a:ext cx="0" cy="0"/>
          <a:chOff x="0" y="0"/>
          <a:chExt cx="0" cy="0"/>
        </a:xfrm>
      </p:grpSpPr>
      <p:sp>
        <p:nvSpPr>
          <p:cNvPr id="90" name="Google Shape;90;p38"/>
          <p:cNvSpPr txBox="1"/>
          <p:nvPr>
            <p:ph type="title"/>
          </p:nvPr>
        </p:nvSpPr>
        <p:spPr>
          <a:xfrm rot="5400000">
            <a:off x="7917038" y="2321047"/>
            <a:ext cx="4659889" cy="1615742"/>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3200"/>
              <a:buFont typeface="Gill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1" name="Google Shape;91;p38"/>
          <p:cNvSpPr txBox="1"/>
          <p:nvPr>
            <p:ph idx="1" type="body"/>
          </p:nvPr>
        </p:nvSpPr>
        <p:spPr>
          <a:xfrm rot="5400000">
            <a:off x="3029143" y="-785498"/>
            <a:ext cx="4659889" cy="7828830"/>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92" name="Google Shape;92;p38"/>
          <p:cNvSpPr txBox="1"/>
          <p:nvPr>
            <p:ph idx="10" type="dt"/>
          </p:nvPr>
        </p:nvSpPr>
        <p:spPr>
          <a:xfrm>
            <a:off x="7554138" y="330370"/>
            <a:ext cx="3500715"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38"/>
          <p:cNvSpPr txBox="1"/>
          <p:nvPr>
            <p:ph idx="11" type="ftr"/>
          </p:nvPr>
        </p:nvSpPr>
        <p:spPr>
          <a:xfrm>
            <a:off x="1451579" y="329307"/>
            <a:ext cx="5938836"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38"/>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cxnSp>
        <p:nvCxnSpPr>
          <p:cNvPr id="95" name="Google Shape;95;p38"/>
          <p:cNvCxnSpPr/>
          <p:nvPr/>
        </p:nvCxnSpPr>
        <p:spPr>
          <a:xfrm>
            <a:off x="9439111" y="798973"/>
            <a:ext cx="0" cy="4659889"/>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EBE9E6"/>
            </a:gs>
            <a:gs pos="100000">
              <a:srgbClr val="C9C5C0"/>
            </a:gs>
          </a:gsLst>
          <a:path path="circle">
            <a:fillToRect b="50%" l="50%" r="50%" t="50%"/>
          </a:path>
          <a:tileRect/>
        </a:gradFill>
      </p:bgPr>
    </p:bg>
    <p:spTree>
      <p:nvGrpSpPr>
        <p:cNvPr id="5" name="Shape 5"/>
        <p:cNvGrpSpPr/>
        <p:nvPr/>
      </p:nvGrpSpPr>
      <p:grpSpPr>
        <a:xfrm>
          <a:off x="0" y="0"/>
          <a:ext cx="0" cy="0"/>
          <a:chOff x="0" y="0"/>
          <a:chExt cx="0" cy="0"/>
        </a:xfrm>
      </p:grpSpPr>
      <p:sp>
        <p:nvSpPr>
          <p:cNvPr id="6" name="Google Shape;6;p27"/>
          <p:cNvSpPr/>
          <p:nvPr/>
        </p:nvSpPr>
        <p:spPr>
          <a:xfrm>
            <a:off x="0" y="2019476"/>
            <a:ext cx="12192000" cy="4105941"/>
          </a:xfrm>
          <a:prstGeom prst="rect">
            <a:avLst/>
          </a:prstGeom>
          <a:gradFill>
            <a:gsLst>
              <a:gs pos="0">
                <a:srgbClr val="DFDBD5">
                  <a:alpha val="0"/>
                </a:srgbClr>
              </a:gs>
              <a:gs pos="100000">
                <a:schemeClr val="lt2"/>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 name="Google Shape;7;p27"/>
          <p:cNvPicPr preferRelativeResize="0"/>
          <p:nvPr/>
        </p:nvPicPr>
        <p:blipFill rotWithShape="1">
          <a:blip r:embed="rId1">
            <a:alphaModFix/>
          </a:blip>
          <a:srcRect b="-1538" l="0" r="0" t="1538"/>
          <a:stretch/>
        </p:blipFill>
        <p:spPr>
          <a:xfrm>
            <a:off x="0" y="6126480"/>
            <a:ext cx="12192000" cy="742950"/>
          </a:xfrm>
          <a:prstGeom prst="rect">
            <a:avLst/>
          </a:prstGeom>
          <a:noFill/>
          <a:ln>
            <a:noFill/>
          </a:ln>
        </p:spPr>
      </p:pic>
      <p:sp>
        <p:nvSpPr>
          <p:cNvPr id="8" name="Google Shape;8;p27"/>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0"/>
              </a:spcBef>
              <a:spcAft>
                <a:spcPts val="0"/>
              </a:spcAft>
              <a:buClr>
                <a:schemeClr val="dk1"/>
              </a:buClr>
              <a:buSzPts val="3200"/>
              <a:buFont typeface="Gill Sans"/>
              <a:buNone/>
              <a:defRPr b="0" i="0" sz="3200" u="none" cap="none" strike="noStrike">
                <a:solidFill>
                  <a:schemeClr val="dk1"/>
                </a:solidFill>
                <a:latin typeface="Gill Sans"/>
                <a:ea typeface="Gill Sans"/>
                <a:cs typeface="Gill Sans"/>
                <a:sym typeface="Gill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 name="Google Shape;9;p27"/>
          <p:cNvSpPr txBox="1"/>
          <p:nvPr>
            <p:ph idx="1" type="body"/>
          </p:nvPr>
        </p:nvSpPr>
        <p:spPr>
          <a:xfrm>
            <a:off x="1451579" y="2015732"/>
            <a:ext cx="9603275" cy="3450613"/>
          </a:xfrm>
          <a:prstGeom prst="rect">
            <a:avLst/>
          </a:prstGeom>
          <a:noFill/>
          <a:ln>
            <a:noFill/>
          </a:ln>
        </p:spPr>
        <p:txBody>
          <a:bodyPr anchorCtr="0" anchor="t" bIns="45700" lIns="91425" spcFirstLastPara="1" rIns="91425" wrap="square" tIns="45700">
            <a:normAutofit/>
          </a:bodyPr>
          <a:lstStyle>
            <a:lvl1pPr indent="-355600" lvl="0" marL="457200" marR="0" rtl="0" algn="l">
              <a:lnSpc>
                <a:spcPct val="120000"/>
              </a:lnSpc>
              <a:spcBef>
                <a:spcPts val="1000"/>
              </a:spcBef>
              <a:spcAft>
                <a:spcPts val="0"/>
              </a:spcAft>
              <a:buClr>
                <a:schemeClr val="accent1"/>
              </a:buClr>
              <a:buSzPts val="2000"/>
              <a:buFont typeface="Arial"/>
              <a:buChar char="•"/>
              <a:defRPr b="0" i="0" sz="2000" u="none" cap="none" strike="noStrike">
                <a:solidFill>
                  <a:schemeClr val="dk1"/>
                </a:solidFill>
                <a:latin typeface="Gill Sans"/>
                <a:ea typeface="Gill Sans"/>
                <a:cs typeface="Gill Sans"/>
                <a:sym typeface="Gill Sans"/>
              </a:defRPr>
            </a:lvl1pPr>
            <a:lvl2pPr indent="-342900" lvl="1" marL="914400" marR="0" rtl="0" algn="l">
              <a:lnSpc>
                <a:spcPct val="120000"/>
              </a:lnSpc>
              <a:spcBef>
                <a:spcPts val="500"/>
              </a:spcBef>
              <a:spcAft>
                <a:spcPts val="0"/>
              </a:spcAft>
              <a:buClr>
                <a:schemeClr val="accent1"/>
              </a:buClr>
              <a:buSzPts val="1800"/>
              <a:buFont typeface="Arial"/>
              <a:buChar char="•"/>
              <a:defRPr b="0" i="0" sz="1800" u="none" cap="none" strike="noStrike">
                <a:solidFill>
                  <a:schemeClr val="dk1"/>
                </a:solidFill>
                <a:latin typeface="Gill Sans"/>
                <a:ea typeface="Gill Sans"/>
                <a:cs typeface="Gill Sans"/>
                <a:sym typeface="Gill Sans"/>
              </a:defRPr>
            </a:lvl2pPr>
            <a:lvl3pPr indent="-330200" lvl="2" marL="1371600" marR="0" rtl="0" algn="l">
              <a:lnSpc>
                <a:spcPct val="120000"/>
              </a:lnSpc>
              <a:spcBef>
                <a:spcPts val="500"/>
              </a:spcBef>
              <a:spcAft>
                <a:spcPts val="0"/>
              </a:spcAft>
              <a:buClr>
                <a:schemeClr val="accent1"/>
              </a:buClr>
              <a:buSzPts val="1600"/>
              <a:buFont typeface="Arial"/>
              <a:buChar char="•"/>
              <a:defRPr b="0" i="0" sz="1600" u="none" cap="none" strike="noStrike">
                <a:solidFill>
                  <a:schemeClr val="dk1"/>
                </a:solidFill>
                <a:latin typeface="Gill Sans"/>
                <a:ea typeface="Gill Sans"/>
                <a:cs typeface="Gill Sans"/>
                <a:sym typeface="Gill Sans"/>
              </a:defRPr>
            </a:lvl3pPr>
            <a:lvl4pPr indent="-317500" lvl="3" marL="1828800" marR="0" rtl="0" algn="l">
              <a:lnSpc>
                <a:spcPct val="120000"/>
              </a:lnSpc>
              <a:spcBef>
                <a:spcPts val="500"/>
              </a:spcBef>
              <a:spcAft>
                <a:spcPts val="0"/>
              </a:spcAft>
              <a:buClr>
                <a:schemeClr val="accent1"/>
              </a:buClr>
              <a:buSzPts val="1400"/>
              <a:buFont typeface="Arial"/>
              <a:buChar char="•"/>
              <a:defRPr b="0" i="0" sz="1400" u="none" cap="none" strike="noStrike">
                <a:solidFill>
                  <a:schemeClr val="dk1"/>
                </a:solidFill>
                <a:latin typeface="Gill Sans"/>
                <a:ea typeface="Gill Sans"/>
                <a:cs typeface="Gill Sans"/>
                <a:sym typeface="Gill Sans"/>
              </a:defRPr>
            </a:lvl4pPr>
            <a:lvl5pPr indent="-304800" lvl="4" marL="2286000" marR="0" rtl="0" algn="l">
              <a:lnSpc>
                <a:spcPct val="120000"/>
              </a:lnSpc>
              <a:spcBef>
                <a:spcPts val="500"/>
              </a:spcBef>
              <a:spcAft>
                <a:spcPts val="0"/>
              </a:spcAft>
              <a:buClr>
                <a:schemeClr val="accent1"/>
              </a:buClr>
              <a:buSzPts val="1200"/>
              <a:buFont typeface="Arial"/>
              <a:buChar char="•"/>
              <a:defRPr b="0" i="0" sz="1200" u="none" cap="none" strike="noStrike">
                <a:solidFill>
                  <a:schemeClr val="dk1"/>
                </a:solidFill>
                <a:latin typeface="Gill Sans"/>
                <a:ea typeface="Gill Sans"/>
                <a:cs typeface="Gill Sans"/>
                <a:sym typeface="Gill Sans"/>
              </a:defRPr>
            </a:lvl5pPr>
            <a:lvl6pPr indent="-304800" lvl="5" marL="2743200" marR="0" rtl="0" algn="l">
              <a:lnSpc>
                <a:spcPct val="120000"/>
              </a:lnSpc>
              <a:spcBef>
                <a:spcPts val="500"/>
              </a:spcBef>
              <a:spcAft>
                <a:spcPts val="0"/>
              </a:spcAft>
              <a:buClr>
                <a:schemeClr val="accent1"/>
              </a:buClr>
              <a:buSzPts val="1200"/>
              <a:buFont typeface="Arial"/>
              <a:buChar char="•"/>
              <a:defRPr b="0" i="0" sz="1200" u="none" cap="none" strike="noStrike">
                <a:solidFill>
                  <a:schemeClr val="dk1"/>
                </a:solidFill>
                <a:latin typeface="Gill Sans"/>
                <a:ea typeface="Gill Sans"/>
                <a:cs typeface="Gill Sans"/>
                <a:sym typeface="Gill Sans"/>
              </a:defRPr>
            </a:lvl6pPr>
            <a:lvl7pPr indent="-304800" lvl="6" marL="3200400" marR="0" rtl="0" algn="l">
              <a:lnSpc>
                <a:spcPct val="120000"/>
              </a:lnSpc>
              <a:spcBef>
                <a:spcPts val="500"/>
              </a:spcBef>
              <a:spcAft>
                <a:spcPts val="0"/>
              </a:spcAft>
              <a:buClr>
                <a:schemeClr val="accent1"/>
              </a:buClr>
              <a:buSzPts val="1200"/>
              <a:buFont typeface="Arial"/>
              <a:buChar char="•"/>
              <a:defRPr b="0" i="0" sz="1200" u="none" cap="none" strike="noStrike">
                <a:solidFill>
                  <a:schemeClr val="dk1"/>
                </a:solidFill>
                <a:latin typeface="Gill Sans"/>
                <a:ea typeface="Gill Sans"/>
                <a:cs typeface="Gill Sans"/>
                <a:sym typeface="Gill Sans"/>
              </a:defRPr>
            </a:lvl7pPr>
            <a:lvl8pPr indent="-304800" lvl="7" marL="3657600" marR="0" rtl="0" algn="l">
              <a:lnSpc>
                <a:spcPct val="120000"/>
              </a:lnSpc>
              <a:spcBef>
                <a:spcPts val="500"/>
              </a:spcBef>
              <a:spcAft>
                <a:spcPts val="0"/>
              </a:spcAft>
              <a:buClr>
                <a:schemeClr val="accent1"/>
              </a:buClr>
              <a:buSzPts val="1200"/>
              <a:buFont typeface="Arial"/>
              <a:buChar char="•"/>
              <a:defRPr b="0" i="0" sz="1200" u="none" cap="none" strike="noStrike">
                <a:solidFill>
                  <a:schemeClr val="dk1"/>
                </a:solidFill>
                <a:latin typeface="Gill Sans"/>
                <a:ea typeface="Gill Sans"/>
                <a:cs typeface="Gill Sans"/>
                <a:sym typeface="Gill Sans"/>
              </a:defRPr>
            </a:lvl8pPr>
            <a:lvl9pPr indent="-304800" lvl="8" marL="4114800" marR="0" rtl="0" algn="l">
              <a:lnSpc>
                <a:spcPct val="120000"/>
              </a:lnSpc>
              <a:spcBef>
                <a:spcPts val="500"/>
              </a:spcBef>
              <a:spcAft>
                <a:spcPts val="0"/>
              </a:spcAft>
              <a:buClr>
                <a:schemeClr val="accent1"/>
              </a:buClr>
              <a:buSzPts val="1200"/>
              <a:buFont typeface="Arial"/>
              <a:buChar char="•"/>
              <a:defRPr b="0" i="0" sz="1200" u="none" cap="none" strike="noStrike">
                <a:solidFill>
                  <a:schemeClr val="dk1"/>
                </a:solidFill>
                <a:latin typeface="Gill Sans"/>
                <a:ea typeface="Gill Sans"/>
                <a:cs typeface="Gill Sans"/>
                <a:sym typeface="Gill Sans"/>
              </a:defRPr>
            </a:lvl9pPr>
          </a:lstStyle>
          <a:p/>
        </p:txBody>
      </p:sp>
      <p:sp>
        <p:nvSpPr>
          <p:cNvPr id="10" name="Google Shape;10;p27"/>
          <p:cNvSpPr txBox="1"/>
          <p:nvPr>
            <p:ph idx="10" type="dt"/>
          </p:nvPr>
        </p:nvSpPr>
        <p:spPr>
          <a:xfrm>
            <a:off x="7554138" y="330370"/>
            <a:ext cx="3500715" cy="309201"/>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000" u="none" cap="none" strike="noStrike">
                <a:solidFill>
                  <a:srgbClr val="888888"/>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11" name="Google Shape;11;p27"/>
          <p:cNvSpPr txBox="1"/>
          <p:nvPr>
            <p:ph idx="11" type="ftr"/>
          </p:nvPr>
        </p:nvSpPr>
        <p:spPr>
          <a:xfrm>
            <a:off x="1451579" y="329307"/>
            <a:ext cx="5938836" cy="309201"/>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000" u="none" cap="none" strike="noStrike">
                <a:solidFill>
                  <a:srgbClr val="888888"/>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12" name="Google Shape;12;p27"/>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2800" u="none" cap="none" strike="noStrike">
                <a:solidFill>
                  <a:schemeClr val="accent1"/>
                </a:solidFill>
                <a:latin typeface="Gill Sans"/>
                <a:ea typeface="Gill Sans"/>
                <a:cs typeface="Gill Sans"/>
                <a:sym typeface="Gill Sans"/>
              </a:defRPr>
            </a:lvl1pPr>
            <a:lvl2pPr indent="0" lvl="1" marL="0" marR="0" rtl="0" algn="r">
              <a:spcBef>
                <a:spcPts val="0"/>
              </a:spcBef>
              <a:buNone/>
              <a:defRPr b="0" i="0" sz="2800" u="none" cap="none" strike="noStrike">
                <a:solidFill>
                  <a:schemeClr val="accent1"/>
                </a:solidFill>
                <a:latin typeface="Gill Sans"/>
                <a:ea typeface="Gill Sans"/>
                <a:cs typeface="Gill Sans"/>
                <a:sym typeface="Gill Sans"/>
              </a:defRPr>
            </a:lvl2pPr>
            <a:lvl3pPr indent="0" lvl="2" marL="0" marR="0" rtl="0" algn="r">
              <a:spcBef>
                <a:spcPts val="0"/>
              </a:spcBef>
              <a:buNone/>
              <a:defRPr b="0" i="0" sz="2800" u="none" cap="none" strike="noStrike">
                <a:solidFill>
                  <a:schemeClr val="accent1"/>
                </a:solidFill>
                <a:latin typeface="Gill Sans"/>
                <a:ea typeface="Gill Sans"/>
                <a:cs typeface="Gill Sans"/>
                <a:sym typeface="Gill Sans"/>
              </a:defRPr>
            </a:lvl3pPr>
            <a:lvl4pPr indent="0" lvl="3" marL="0" marR="0" rtl="0" algn="r">
              <a:spcBef>
                <a:spcPts val="0"/>
              </a:spcBef>
              <a:buNone/>
              <a:defRPr b="0" i="0" sz="2800" u="none" cap="none" strike="noStrike">
                <a:solidFill>
                  <a:schemeClr val="accent1"/>
                </a:solidFill>
                <a:latin typeface="Gill Sans"/>
                <a:ea typeface="Gill Sans"/>
                <a:cs typeface="Gill Sans"/>
                <a:sym typeface="Gill Sans"/>
              </a:defRPr>
            </a:lvl4pPr>
            <a:lvl5pPr indent="0" lvl="4" marL="0" marR="0" rtl="0" algn="r">
              <a:spcBef>
                <a:spcPts val="0"/>
              </a:spcBef>
              <a:buNone/>
              <a:defRPr b="0" i="0" sz="2800" u="none" cap="none" strike="noStrike">
                <a:solidFill>
                  <a:schemeClr val="accent1"/>
                </a:solidFill>
                <a:latin typeface="Gill Sans"/>
                <a:ea typeface="Gill Sans"/>
                <a:cs typeface="Gill Sans"/>
                <a:sym typeface="Gill Sans"/>
              </a:defRPr>
            </a:lvl5pPr>
            <a:lvl6pPr indent="0" lvl="5" marL="0" marR="0" rtl="0" algn="r">
              <a:spcBef>
                <a:spcPts val="0"/>
              </a:spcBef>
              <a:buNone/>
              <a:defRPr b="0" i="0" sz="2800" u="none" cap="none" strike="noStrike">
                <a:solidFill>
                  <a:schemeClr val="accent1"/>
                </a:solidFill>
                <a:latin typeface="Gill Sans"/>
                <a:ea typeface="Gill Sans"/>
                <a:cs typeface="Gill Sans"/>
                <a:sym typeface="Gill Sans"/>
              </a:defRPr>
            </a:lvl6pPr>
            <a:lvl7pPr indent="0" lvl="6" marL="0" marR="0" rtl="0" algn="r">
              <a:spcBef>
                <a:spcPts val="0"/>
              </a:spcBef>
              <a:buNone/>
              <a:defRPr b="0" i="0" sz="2800" u="none" cap="none" strike="noStrike">
                <a:solidFill>
                  <a:schemeClr val="accent1"/>
                </a:solidFill>
                <a:latin typeface="Gill Sans"/>
                <a:ea typeface="Gill Sans"/>
                <a:cs typeface="Gill Sans"/>
                <a:sym typeface="Gill Sans"/>
              </a:defRPr>
            </a:lvl7pPr>
            <a:lvl8pPr indent="0" lvl="7" marL="0" marR="0" rtl="0" algn="r">
              <a:spcBef>
                <a:spcPts val="0"/>
              </a:spcBef>
              <a:buNone/>
              <a:defRPr b="0" i="0" sz="2800" u="none" cap="none" strike="noStrike">
                <a:solidFill>
                  <a:schemeClr val="accent1"/>
                </a:solidFill>
                <a:latin typeface="Gill Sans"/>
                <a:ea typeface="Gill Sans"/>
                <a:cs typeface="Gill Sans"/>
                <a:sym typeface="Gill Sans"/>
              </a:defRPr>
            </a:lvl8pPr>
            <a:lvl9pPr indent="0" lvl="8" marL="0" marR="0" rtl="0" algn="r">
              <a:spcBef>
                <a:spcPts val="0"/>
              </a:spcBef>
              <a:buNone/>
              <a:defRPr b="0" i="0" sz="2800" u="none" cap="none" strike="noStrike">
                <a:solidFill>
                  <a:schemeClr val="accent1"/>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s-AR"/>
              <a:t>‹#›</a:t>
            </a:fld>
            <a:endParaRPr/>
          </a:p>
        </p:txBody>
      </p:sp>
      <p:cxnSp>
        <p:nvCxnSpPr>
          <p:cNvPr id="13" name="Google Shape;13;p27"/>
          <p:cNvCxnSpPr/>
          <p:nvPr/>
        </p:nvCxnSpPr>
        <p:spPr>
          <a:xfrm>
            <a:off x="0" y="6128413"/>
            <a:ext cx="12192000" cy="0"/>
          </a:xfrm>
          <a:prstGeom prst="straightConnector1">
            <a:avLst/>
          </a:prstGeom>
          <a:noFill/>
          <a:ln cap="flat" cmpd="sng" w="12700">
            <a:solidFill>
              <a:srgbClr val="000001">
                <a:alpha val="20000"/>
              </a:srgbClr>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
          <p:cNvSpPr txBox="1"/>
          <p:nvPr>
            <p:ph type="ctrTitle"/>
          </p:nvPr>
        </p:nvSpPr>
        <p:spPr>
          <a:xfrm>
            <a:off x="2417779" y="802298"/>
            <a:ext cx="8637073" cy="2541431"/>
          </a:xfrm>
          <a:prstGeom prst="rect">
            <a:avLst/>
          </a:prstGeom>
          <a:noFill/>
          <a:ln>
            <a:noFill/>
          </a:ln>
        </p:spPr>
        <p:txBody>
          <a:bodyPr anchorCtr="0" anchor="b" bIns="0" lIns="91425" spcFirstLastPara="1" rIns="91425" wrap="square" tIns="45700">
            <a:normAutofit/>
          </a:bodyPr>
          <a:lstStyle/>
          <a:p>
            <a:pPr indent="0" lvl="0" marL="0" rtl="0" algn="l">
              <a:lnSpc>
                <a:spcPct val="90000"/>
              </a:lnSpc>
              <a:spcBef>
                <a:spcPts val="0"/>
              </a:spcBef>
              <a:spcAft>
                <a:spcPts val="0"/>
              </a:spcAft>
              <a:buClr>
                <a:schemeClr val="dk1"/>
              </a:buClr>
              <a:buSzPts val="6600"/>
              <a:buFont typeface="Gill Sans"/>
              <a:buNone/>
            </a:pPr>
            <a:r>
              <a:rPr lang="es-AR"/>
              <a:t>CESACIÓN</a:t>
            </a:r>
            <a:r>
              <a:rPr lang="es-AR"/>
              <a:t> DE PAGOS</a:t>
            </a:r>
            <a:endParaRPr/>
          </a:p>
        </p:txBody>
      </p:sp>
      <p:sp>
        <p:nvSpPr>
          <p:cNvPr id="101" name="Google Shape;101;p1"/>
          <p:cNvSpPr txBox="1"/>
          <p:nvPr>
            <p:ph idx="1" type="subTitle"/>
          </p:nvPr>
        </p:nvSpPr>
        <p:spPr>
          <a:xfrm>
            <a:off x="2417780" y="3531204"/>
            <a:ext cx="8637072" cy="977621"/>
          </a:xfrm>
          <a:prstGeom prst="rect">
            <a:avLst/>
          </a:prstGeom>
          <a:noFill/>
          <a:ln>
            <a:noFill/>
          </a:ln>
        </p:spPr>
        <p:txBody>
          <a:bodyPr anchorCtr="0" anchor="t" bIns="91425" lIns="91425" spcFirstLastPara="1" rIns="91425" wrap="square" tIns="91425">
            <a:normAutofit/>
          </a:bodyPr>
          <a:lstStyle/>
          <a:p>
            <a:pPr indent="0" lvl="0" marL="0" rtl="0" algn="l">
              <a:lnSpc>
                <a:spcPct val="120000"/>
              </a:lnSpc>
              <a:spcBef>
                <a:spcPts val="0"/>
              </a:spcBef>
              <a:spcAft>
                <a:spcPts val="0"/>
              </a:spcAft>
              <a:buSzPts val="1800"/>
              <a:buNone/>
            </a:pPr>
            <a:r>
              <a:rPr lang="es-AR"/>
              <a:t>CONCEPTO</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s-AR"/>
              <a:t>ARTICULO 1</a:t>
            </a:r>
            <a:endParaRPr/>
          </a:p>
        </p:txBody>
      </p:sp>
      <p:sp>
        <p:nvSpPr>
          <p:cNvPr id="107" name="Google Shape;107;p2"/>
          <p:cNvSpPr txBox="1"/>
          <p:nvPr>
            <p:ph idx="1" type="body"/>
          </p:nvPr>
        </p:nvSpPr>
        <p:spPr>
          <a:xfrm>
            <a:off x="1451579" y="2015732"/>
            <a:ext cx="9603275" cy="3450613"/>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SzPts val="2000"/>
              <a:buChar char="•"/>
            </a:pPr>
            <a:r>
              <a:rPr lang="es-AR"/>
              <a:t>ARTICULO 1°.- Cesación de pagos. El estado de cesación de pagos, cualquiera sea su causa y la naturaleza de las obligaciones a las que afecto, es presupuesto para la apertura de los concursos regulados en esta ley, sin perjuicio de lo dispuesto por los artículos 66 y 69.</a:t>
            </a:r>
            <a:endParaRPr/>
          </a:p>
          <a:p>
            <a:pPr indent="-228600" lvl="0" marL="228600" rtl="0" algn="l">
              <a:lnSpc>
                <a:spcPct val="120000"/>
              </a:lnSpc>
              <a:spcBef>
                <a:spcPts val="1000"/>
              </a:spcBef>
              <a:spcAft>
                <a:spcPts val="0"/>
              </a:spcAft>
              <a:buSzPts val="2000"/>
              <a:buChar char="•"/>
            </a:pPr>
            <a:r>
              <a:rPr lang="es-AR"/>
              <a:t>Universalidad. El concurso produce sus efectos sobre la totalidad del patrimonio del deudor, salvo las exclusiones legalmente establecidas respecto de bienes determinados.</a:t>
            </a:r>
            <a:endParaRPr/>
          </a:p>
          <a:p>
            <a:pPr indent="0" lvl="0" marL="0" rtl="0" algn="l">
              <a:lnSpc>
                <a:spcPct val="120000"/>
              </a:lnSpc>
              <a:spcBef>
                <a:spcPts val="1000"/>
              </a:spcBef>
              <a:spcAft>
                <a:spcPts val="0"/>
              </a:spcAft>
              <a:buSzPts val="20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3"/>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s-AR"/>
              <a:t>CESACION DE PAGOS</a:t>
            </a:r>
            <a:endParaRPr/>
          </a:p>
        </p:txBody>
      </p:sp>
      <p:sp>
        <p:nvSpPr>
          <p:cNvPr id="113" name="Google Shape;113;p3"/>
          <p:cNvSpPr txBox="1"/>
          <p:nvPr>
            <p:ph idx="1" type="body"/>
          </p:nvPr>
        </p:nvSpPr>
        <p:spPr>
          <a:xfrm>
            <a:off x="1451579" y="2015732"/>
            <a:ext cx="9603275" cy="607725"/>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SzPts val="2000"/>
              <a:buChar char="•"/>
            </a:pPr>
            <a:r>
              <a:rPr lang="es-AR"/>
              <a:t>El articulo carece de definicion del concepto.</a:t>
            </a:r>
            <a:endParaRPr/>
          </a:p>
        </p:txBody>
      </p:sp>
      <p:sp>
        <p:nvSpPr>
          <p:cNvPr id="114" name="Google Shape;114;p3"/>
          <p:cNvSpPr txBox="1"/>
          <p:nvPr/>
        </p:nvSpPr>
        <p:spPr>
          <a:xfrm>
            <a:off x="1451579" y="2950029"/>
            <a:ext cx="408925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s-AR" sz="1800" u="none" cap="none" strike="noStrike">
                <a:solidFill>
                  <a:schemeClr val="dk1"/>
                </a:solidFill>
                <a:latin typeface="Gill Sans"/>
                <a:ea typeface="Gill Sans"/>
                <a:cs typeface="Gill Sans"/>
                <a:sym typeface="Gill Sans"/>
              </a:rPr>
              <a:t>La Doctrina lo define como:</a:t>
            </a:r>
            <a:endParaRPr/>
          </a:p>
        </p:txBody>
      </p:sp>
      <p:sp>
        <p:nvSpPr>
          <p:cNvPr id="115" name="Google Shape;115;p3"/>
          <p:cNvSpPr txBox="1"/>
          <p:nvPr/>
        </p:nvSpPr>
        <p:spPr>
          <a:xfrm>
            <a:off x="2220686" y="3722914"/>
            <a:ext cx="8077200" cy="646331"/>
          </a:xfrm>
          <a:prstGeom prst="rect">
            <a:avLst/>
          </a:prstGeom>
          <a:gradFill>
            <a:gsLst>
              <a:gs pos="0">
                <a:srgbClr val="F6D9E3"/>
              </a:gs>
              <a:gs pos="100000">
                <a:srgbClr val="EA86AE">
                  <a:alpha val="91764"/>
                </a:srgbClr>
              </a:gs>
            </a:gsLst>
            <a:lin ang="5400000" scaled="0"/>
          </a:gradFill>
          <a:ln cap="flat" cmpd="sng" w="9525">
            <a:solidFill>
              <a:schemeClr val="accent2"/>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s-AR" sz="1800">
                <a:solidFill>
                  <a:schemeClr val="dk1"/>
                </a:solidFill>
                <a:latin typeface="Gill Sans"/>
                <a:ea typeface="Gill Sans"/>
                <a:cs typeface="Gill Sans"/>
                <a:sym typeface="Gill Sans"/>
              </a:rPr>
              <a:t>Estado de impotencia patrimonial para satisfacer con medios regulares las obligaciones inmediatamente exigibles (Rouillon)</a:t>
            </a:r>
            <a:endParaRPr/>
          </a:p>
        </p:txBody>
      </p:sp>
      <p:cxnSp>
        <p:nvCxnSpPr>
          <p:cNvPr id="116" name="Google Shape;116;p3"/>
          <p:cNvCxnSpPr/>
          <p:nvPr/>
        </p:nvCxnSpPr>
        <p:spPr>
          <a:xfrm>
            <a:off x="2569029" y="4539343"/>
            <a:ext cx="990600" cy="936300"/>
          </a:xfrm>
          <a:prstGeom prst="bentConnector3">
            <a:avLst>
              <a:gd fmla="val 50000" name="adj1"/>
            </a:avLst>
          </a:prstGeom>
          <a:noFill/>
          <a:ln cap="flat" cmpd="sng" w="15875">
            <a:solidFill>
              <a:schemeClr val="accent1"/>
            </a:solidFill>
            <a:prstDash val="solid"/>
            <a:round/>
            <a:headEnd len="sm" w="sm" type="none"/>
            <a:tailEnd len="med" w="med" type="triangle"/>
          </a:ln>
        </p:spPr>
      </p:cxnSp>
      <p:sp>
        <p:nvSpPr>
          <p:cNvPr id="117" name="Google Shape;117;p3"/>
          <p:cNvSpPr txBox="1"/>
          <p:nvPr/>
        </p:nvSpPr>
        <p:spPr>
          <a:xfrm>
            <a:off x="4082143" y="4691743"/>
            <a:ext cx="4484914"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AR" sz="1800">
                <a:solidFill>
                  <a:schemeClr val="dk1"/>
                </a:solidFill>
                <a:latin typeface="Gill Sans"/>
                <a:ea typeface="Gill Sans"/>
                <a:cs typeface="Gill Sans"/>
                <a:sym typeface="Gill Sans"/>
              </a:rPr>
              <a:t>No debe confundirse con desequilibrio aritmetico o deficit de activo en terminos absolutos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4"/>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s-AR"/>
              <a:t>CESACION DE PAGOS</a:t>
            </a:r>
            <a:endParaRPr/>
          </a:p>
        </p:txBody>
      </p:sp>
      <p:sp>
        <p:nvSpPr>
          <p:cNvPr id="123" name="Google Shape;123;p4"/>
          <p:cNvSpPr txBox="1"/>
          <p:nvPr>
            <p:ph idx="1" type="body"/>
          </p:nvPr>
        </p:nvSpPr>
        <p:spPr>
          <a:xfrm>
            <a:off x="1451579" y="2015732"/>
            <a:ext cx="9603275" cy="3450613"/>
          </a:xfrm>
          <a:prstGeom prst="rect">
            <a:avLst/>
          </a:prstGeom>
          <a:noFill/>
          <a:ln>
            <a:noFill/>
          </a:ln>
        </p:spPr>
        <p:txBody>
          <a:bodyPr anchorCtr="0" anchor="t" bIns="45700" lIns="91425" spcFirstLastPara="1" rIns="91425" wrap="square" tIns="45700">
            <a:normAutofit/>
          </a:bodyPr>
          <a:lstStyle/>
          <a:p>
            <a:pPr indent="0" lvl="0" marL="0" rtl="0" algn="l">
              <a:lnSpc>
                <a:spcPct val="120000"/>
              </a:lnSpc>
              <a:spcBef>
                <a:spcPts val="0"/>
              </a:spcBef>
              <a:spcAft>
                <a:spcPts val="0"/>
              </a:spcAft>
              <a:buSzPts val="2000"/>
              <a:buNone/>
            </a:pPr>
            <a:r>
              <a:rPr lang="es-AR"/>
              <a:t>Caracteres</a:t>
            </a:r>
            <a:endParaRPr/>
          </a:p>
          <a:p>
            <a:pPr indent="-228600" lvl="0" marL="228600" rtl="0" algn="l">
              <a:lnSpc>
                <a:spcPct val="120000"/>
              </a:lnSpc>
              <a:spcBef>
                <a:spcPts val="1000"/>
              </a:spcBef>
              <a:spcAft>
                <a:spcPts val="0"/>
              </a:spcAft>
              <a:buSzPts val="2000"/>
              <a:buChar char="•"/>
            </a:pPr>
            <a:r>
              <a:rPr lang="es-AR"/>
              <a:t>Generalidad</a:t>
            </a:r>
            <a:endParaRPr/>
          </a:p>
          <a:p>
            <a:pPr indent="-228600" lvl="1" marL="685800" rtl="0" algn="l">
              <a:lnSpc>
                <a:spcPct val="120000"/>
              </a:lnSpc>
              <a:spcBef>
                <a:spcPts val="500"/>
              </a:spcBef>
              <a:spcAft>
                <a:spcPts val="0"/>
              </a:spcAft>
              <a:buSzPts val="1800"/>
              <a:buChar char="•"/>
            </a:pPr>
            <a:r>
              <a:rPr lang="es-AR"/>
              <a:t> referida a la extension patrimonial</a:t>
            </a:r>
            <a:endParaRPr/>
          </a:p>
          <a:p>
            <a:pPr indent="-228600" lvl="1" marL="685800" rtl="0" algn="l">
              <a:lnSpc>
                <a:spcPct val="120000"/>
              </a:lnSpc>
              <a:spcBef>
                <a:spcPts val="500"/>
              </a:spcBef>
              <a:spcAft>
                <a:spcPts val="0"/>
              </a:spcAft>
              <a:buSzPts val="1800"/>
              <a:buChar char="•"/>
            </a:pPr>
            <a:r>
              <a:rPr lang="es-AR"/>
              <a:t>No interesa el numero de incumplimientos sino la afectacion de toda la situacion economica del deudor como una impotencia patrimonial</a:t>
            </a:r>
            <a:endParaRPr/>
          </a:p>
          <a:p>
            <a:pPr indent="-228600" lvl="0" marL="228600" rtl="0" algn="l">
              <a:lnSpc>
                <a:spcPct val="120000"/>
              </a:lnSpc>
              <a:spcBef>
                <a:spcPts val="1000"/>
              </a:spcBef>
              <a:spcAft>
                <a:spcPts val="0"/>
              </a:spcAft>
              <a:buSzPts val="2000"/>
              <a:buChar char="•"/>
            </a:pPr>
            <a:r>
              <a:rPr lang="es-AR"/>
              <a:t>Permanencia</a:t>
            </a:r>
            <a:endParaRPr/>
          </a:p>
          <a:p>
            <a:pPr indent="-228600" lvl="1" marL="685800" rtl="0" algn="l">
              <a:lnSpc>
                <a:spcPct val="120000"/>
              </a:lnSpc>
              <a:spcBef>
                <a:spcPts val="500"/>
              </a:spcBef>
              <a:spcAft>
                <a:spcPts val="0"/>
              </a:spcAft>
              <a:buSzPts val="1800"/>
              <a:buChar char="•"/>
            </a:pPr>
            <a:r>
              <a:rPr lang="es-AR"/>
              <a:t>Referida a la extension temporal</a:t>
            </a:r>
            <a:endParaRPr/>
          </a:p>
          <a:p>
            <a:pPr indent="-228600" lvl="1" marL="685800" rtl="0" algn="l">
              <a:lnSpc>
                <a:spcPct val="120000"/>
              </a:lnSpc>
              <a:spcBef>
                <a:spcPts val="500"/>
              </a:spcBef>
              <a:spcAft>
                <a:spcPts val="0"/>
              </a:spcAft>
              <a:buSzPts val="1800"/>
              <a:buChar char="•"/>
            </a:pPr>
            <a:r>
              <a:rPr lang="es-AR"/>
              <a:t>Si bien no es un estado perpetuo del patrimonio, tampoco es una situacion pasajera</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5"/>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s-AR"/>
              <a:t>CESACION DE PAGOS</a:t>
            </a:r>
            <a:endParaRPr/>
          </a:p>
        </p:txBody>
      </p:sp>
      <p:sp>
        <p:nvSpPr>
          <p:cNvPr id="129" name="Google Shape;129;p5"/>
          <p:cNvSpPr txBox="1"/>
          <p:nvPr>
            <p:ph idx="1" type="body"/>
          </p:nvPr>
        </p:nvSpPr>
        <p:spPr>
          <a:xfrm>
            <a:off x="1451579" y="2015732"/>
            <a:ext cx="9603275" cy="3450613"/>
          </a:xfrm>
          <a:prstGeom prst="rect">
            <a:avLst/>
          </a:prstGeom>
          <a:noFill/>
          <a:ln>
            <a:noFill/>
          </a:ln>
        </p:spPr>
        <p:txBody>
          <a:bodyPr anchorCtr="0" anchor="t" bIns="45700" lIns="91425" spcFirstLastPara="1" rIns="91425" wrap="square" tIns="45700">
            <a:normAutofit fontScale="77500" lnSpcReduction="20000"/>
          </a:bodyPr>
          <a:lstStyle/>
          <a:p>
            <a:pPr indent="-228600" lvl="0" marL="228600" rtl="0" algn="l">
              <a:lnSpc>
                <a:spcPct val="120000"/>
              </a:lnSpc>
              <a:spcBef>
                <a:spcPts val="0"/>
              </a:spcBef>
              <a:spcAft>
                <a:spcPts val="0"/>
              </a:spcAft>
              <a:buSzPct val="100000"/>
              <a:buChar char="•"/>
            </a:pPr>
            <a:r>
              <a:rPr lang="es-AR"/>
              <a:t>ARTICULO 79.- Hechos reveladores. Pueden ser considerados hechos reveladores del estado de cesación de pagos, entro otros:</a:t>
            </a:r>
            <a:endParaRPr/>
          </a:p>
          <a:p>
            <a:pPr indent="-228600" lvl="0" marL="228600" rtl="0" algn="l">
              <a:lnSpc>
                <a:spcPct val="120000"/>
              </a:lnSpc>
              <a:spcBef>
                <a:spcPts val="1000"/>
              </a:spcBef>
              <a:spcAft>
                <a:spcPts val="0"/>
              </a:spcAft>
              <a:buSzPct val="100000"/>
              <a:buChar char="•"/>
            </a:pPr>
            <a:r>
              <a:rPr lang="es-AR"/>
              <a:t>1) Reconocimiento judicial o extrajudicial del mismo, efectuado por el deudor.</a:t>
            </a:r>
            <a:endParaRPr/>
          </a:p>
          <a:p>
            <a:pPr indent="-228600" lvl="0" marL="228600" rtl="0" algn="l">
              <a:lnSpc>
                <a:spcPct val="120000"/>
              </a:lnSpc>
              <a:spcBef>
                <a:spcPts val="1000"/>
              </a:spcBef>
              <a:spcAft>
                <a:spcPts val="0"/>
              </a:spcAft>
              <a:buSzPct val="100000"/>
              <a:buChar char="•"/>
            </a:pPr>
            <a:r>
              <a:rPr lang="es-AR"/>
              <a:t>2) Mora en el cumplimiento de una obligación.</a:t>
            </a:r>
            <a:endParaRPr/>
          </a:p>
          <a:p>
            <a:pPr indent="-228600" lvl="0" marL="228600" rtl="0" algn="l">
              <a:lnSpc>
                <a:spcPct val="120000"/>
              </a:lnSpc>
              <a:spcBef>
                <a:spcPts val="1000"/>
              </a:spcBef>
              <a:spcAft>
                <a:spcPts val="0"/>
              </a:spcAft>
              <a:buSzPct val="100000"/>
              <a:buChar char="•"/>
            </a:pPr>
            <a:r>
              <a:rPr lang="es-AR"/>
              <a:t>3) Ocultación o ausencia del deudor o de los administradores de la sociedad, en su caso, sin dejar representante con facultades y medios suficientes para cumplir sus obligaciones.</a:t>
            </a:r>
            <a:endParaRPr/>
          </a:p>
          <a:p>
            <a:pPr indent="-228600" lvl="0" marL="228600" rtl="0" algn="l">
              <a:lnSpc>
                <a:spcPct val="120000"/>
              </a:lnSpc>
              <a:spcBef>
                <a:spcPts val="1000"/>
              </a:spcBef>
              <a:spcAft>
                <a:spcPts val="0"/>
              </a:spcAft>
              <a:buSzPct val="100000"/>
              <a:buChar char="•"/>
            </a:pPr>
            <a:r>
              <a:rPr lang="es-AR"/>
              <a:t>4) Clausura de la sede de la administración o del establecimiento donde el deudor desarrolle su actividad.</a:t>
            </a:r>
            <a:endParaRPr/>
          </a:p>
          <a:p>
            <a:pPr indent="-228600" lvl="0" marL="228600" rtl="0" algn="l">
              <a:lnSpc>
                <a:spcPct val="120000"/>
              </a:lnSpc>
              <a:spcBef>
                <a:spcPts val="1000"/>
              </a:spcBef>
              <a:spcAft>
                <a:spcPts val="0"/>
              </a:spcAft>
              <a:buSzPct val="100000"/>
              <a:buChar char="•"/>
            </a:pPr>
            <a:r>
              <a:rPr lang="es-AR"/>
              <a:t>5) Venta a precio vil, ocultación o entrega de bienes en pago.</a:t>
            </a:r>
            <a:endParaRPr/>
          </a:p>
          <a:p>
            <a:pPr indent="-228600" lvl="0" marL="228600" rtl="0" algn="l">
              <a:lnSpc>
                <a:spcPct val="120000"/>
              </a:lnSpc>
              <a:spcBef>
                <a:spcPts val="1000"/>
              </a:spcBef>
              <a:spcAft>
                <a:spcPts val="0"/>
              </a:spcAft>
              <a:buSzPct val="100000"/>
              <a:buChar char="•"/>
            </a:pPr>
            <a:r>
              <a:rPr lang="es-AR"/>
              <a:t>6) Revocación judicial de actos realizados en fraude de los acreedores.</a:t>
            </a:r>
            <a:endParaRPr/>
          </a:p>
          <a:p>
            <a:pPr indent="-228600" lvl="0" marL="228600" rtl="0" algn="l">
              <a:lnSpc>
                <a:spcPct val="120000"/>
              </a:lnSpc>
              <a:spcBef>
                <a:spcPts val="1000"/>
              </a:spcBef>
              <a:spcAft>
                <a:spcPts val="0"/>
              </a:spcAft>
              <a:buSzPct val="100000"/>
              <a:buChar char="•"/>
            </a:pPr>
            <a:r>
              <a:rPr lang="es-AR"/>
              <a:t>7) Cualquier medio ruinoso o fraudulento empleado para obtener recursos.</a:t>
            </a:r>
            <a:endParaRPr/>
          </a:p>
          <a:p>
            <a:pPr indent="0" lvl="0" marL="0" rtl="0" algn="l">
              <a:lnSpc>
                <a:spcPct val="120000"/>
              </a:lnSpc>
              <a:spcBef>
                <a:spcPts val="1000"/>
              </a:spcBef>
              <a:spcAft>
                <a:spcPts val="0"/>
              </a:spcAft>
              <a:buSzPct val="100000"/>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6"/>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s-AR"/>
              <a:t>CESACION DE PAGOS</a:t>
            </a:r>
            <a:endParaRPr/>
          </a:p>
        </p:txBody>
      </p:sp>
      <p:sp>
        <p:nvSpPr>
          <p:cNvPr id="135" name="Google Shape;135;p6"/>
          <p:cNvSpPr txBox="1"/>
          <p:nvPr>
            <p:ph idx="1" type="body"/>
          </p:nvPr>
        </p:nvSpPr>
        <p:spPr>
          <a:xfrm>
            <a:off x="1451579" y="2015732"/>
            <a:ext cx="9603275" cy="3450613"/>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SzPts val="2000"/>
              <a:buChar char="•"/>
            </a:pPr>
            <a:r>
              <a:rPr lang="es-AR"/>
              <a:t>El legislador ha hecho una enumeracion ejemplificativa de hechos que funcionan como presunciones relativas o indicios</a:t>
            </a:r>
            <a:endParaRPr/>
          </a:p>
          <a:p>
            <a:pPr indent="-228600" lvl="0" marL="228600" rtl="0" algn="l">
              <a:lnSpc>
                <a:spcPct val="120000"/>
              </a:lnSpc>
              <a:spcBef>
                <a:spcPts val="1000"/>
              </a:spcBef>
              <a:spcAft>
                <a:spcPts val="0"/>
              </a:spcAft>
              <a:buSzPts val="2000"/>
              <a:buChar char="•"/>
            </a:pPr>
            <a:r>
              <a:rPr lang="es-AR"/>
              <a:t>Sistema flexible</a:t>
            </a:r>
            <a:endParaRPr/>
          </a:p>
          <a:p>
            <a:pPr indent="-228600" lvl="0" marL="228600" rtl="0" algn="l">
              <a:lnSpc>
                <a:spcPct val="120000"/>
              </a:lnSpc>
              <a:spcBef>
                <a:spcPts val="1000"/>
              </a:spcBef>
              <a:spcAft>
                <a:spcPts val="0"/>
              </a:spcAft>
              <a:buSzPts val="2000"/>
              <a:buChar char="•"/>
            </a:pPr>
            <a:r>
              <a:rPr lang="es-AR"/>
              <a:t>Critica al sistema </a:t>
            </a:r>
            <a:endParaRPr/>
          </a:p>
          <a:p>
            <a:pPr indent="-228600" lvl="1" marL="685800" rtl="0" algn="l">
              <a:lnSpc>
                <a:spcPct val="120000"/>
              </a:lnSpc>
              <a:spcBef>
                <a:spcPts val="500"/>
              </a:spcBef>
              <a:spcAft>
                <a:spcPts val="0"/>
              </a:spcAft>
              <a:buSzPts val="1800"/>
              <a:buChar char="•"/>
            </a:pPr>
            <a:r>
              <a:rPr lang="es-AR"/>
              <a:t>es amplia la interpretacion</a:t>
            </a:r>
            <a:endParaRPr/>
          </a:p>
          <a:p>
            <a:pPr indent="-101600" lvl="0" marL="228600" rtl="0" algn="l">
              <a:lnSpc>
                <a:spcPct val="120000"/>
              </a:lnSpc>
              <a:spcBef>
                <a:spcPts val="1000"/>
              </a:spcBef>
              <a:spcAft>
                <a:spcPts val="0"/>
              </a:spcAft>
              <a:buSzPts val="2000"/>
              <a:buNone/>
            </a:pPr>
            <a:r>
              <a:t/>
            </a:r>
            <a:endParaRPr/>
          </a:p>
          <a:p>
            <a:pPr indent="0" lvl="0" marL="0" rtl="0" algn="l">
              <a:lnSpc>
                <a:spcPct val="120000"/>
              </a:lnSpc>
              <a:spcBef>
                <a:spcPts val="1000"/>
              </a:spcBef>
              <a:spcAft>
                <a:spcPts val="0"/>
              </a:spcAft>
              <a:buSzPts val="2000"/>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7"/>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s-AR"/>
              <a:t>CESACION DE PAGOS – TEORIA MATERIALISTA</a:t>
            </a:r>
            <a:endParaRPr/>
          </a:p>
        </p:txBody>
      </p:sp>
      <p:sp>
        <p:nvSpPr>
          <p:cNvPr id="141" name="Google Shape;141;p7"/>
          <p:cNvSpPr txBox="1"/>
          <p:nvPr>
            <p:ph idx="1" type="body"/>
          </p:nvPr>
        </p:nvSpPr>
        <p:spPr>
          <a:xfrm>
            <a:off x="1451579" y="2015732"/>
            <a:ext cx="9603275" cy="2730439"/>
          </a:xfrm>
          <a:prstGeom prst="rect">
            <a:avLst/>
          </a:prstGeom>
          <a:noFill/>
          <a:ln>
            <a:noFill/>
          </a:ln>
        </p:spPr>
        <p:txBody>
          <a:bodyPr anchorCtr="0" anchor="t" bIns="45700" lIns="91425" spcFirstLastPara="1" rIns="91425" wrap="square" tIns="45700">
            <a:normAutofit fontScale="85000" lnSpcReduction="20000"/>
          </a:bodyPr>
          <a:lstStyle/>
          <a:p>
            <a:pPr indent="-228600" lvl="0" marL="228600" rtl="0" algn="l">
              <a:lnSpc>
                <a:spcPct val="120000"/>
              </a:lnSpc>
              <a:spcBef>
                <a:spcPts val="0"/>
              </a:spcBef>
              <a:spcAft>
                <a:spcPts val="0"/>
              </a:spcAft>
              <a:buSzPct val="100000"/>
              <a:buChar char="•"/>
            </a:pPr>
            <a:r>
              <a:rPr lang="es-AR"/>
              <a:t>Identifica la cesacion de pagos con incumplimiento</a:t>
            </a:r>
            <a:endParaRPr/>
          </a:p>
          <a:p>
            <a:pPr indent="-228600" lvl="0" marL="228600" rtl="0" algn="l">
              <a:lnSpc>
                <a:spcPct val="120000"/>
              </a:lnSpc>
              <a:spcBef>
                <a:spcPts val="1000"/>
              </a:spcBef>
              <a:spcAft>
                <a:spcPts val="0"/>
              </a:spcAft>
              <a:buSzPct val="100000"/>
              <a:buChar char="•"/>
            </a:pPr>
            <a:r>
              <a:rPr lang="es-AR"/>
              <a:t>Ventajas</a:t>
            </a:r>
            <a:endParaRPr/>
          </a:p>
          <a:p>
            <a:pPr indent="-228600" lvl="1" marL="685800" rtl="0" algn="l">
              <a:lnSpc>
                <a:spcPct val="120000"/>
              </a:lnSpc>
              <a:spcBef>
                <a:spcPts val="500"/>
              </a:spcBef>
              <a:spcAft>
                <a:spcPts val="0"/>
              </a:spcAft>
              <a:buSzPct val="100000"/>
              <a:buChar char="•"/>
            </a:pPr>
            <a:r>
              <a:rPr lang="es-AR"/>
              <a:t>Simplicidad</a:t>
            </a:r>
            <a:endParaRPr/>
          </a:p>
          <a:p>
            <a:pPr indent="-228600" lvl="1" marL="685800" rtl="0" algn="l">
              <a:lnSpc>
                <a:spcPct val="120000"/>
              </a:lnSpc>
              <a:spcBef>
                <a:spcPts val="500"/>
              </a:spcBef>
              <a:spcAft>
                <a:spcPts val="0"/>
              </a:spcAft>
              <a:buSzPct val="100000"/>
              <a:buChar char="•"/>
            </a:pPr>
            <a:r>
              <a:rPr lang="es-AR"/>
              <a:t>Facil y previsible la labor del juez</a:t>
            </a:r>
            <a:endParaRPr/>
          </a:p>
          <a:p>
            <a:pPr indent="-228600" lvl="0" marL="228600" rtl="0" algn="l">
              <a:lnSpc>
                <a:spcPct val="120000"/>
              </a:lnSpc>
              <a:spcBef>
                <a:spcPts val="1000"/>
              </a:spcBef>
              <a:spcAft>
                <a:spcPts val="0"/>
              </a:spcAft>
              <a:buSzPct val="100000"/>
              <a:buChar char="•"/>
            </a:pPr>
            <a:r>
              <a:rPr lang="es-AR"/>
              <a:t>Criticas</a:t>
            </a:r>
            <a:endParaRPr/>
          </a:p>
          <a:p>
            <a:pPr indent="-228600" lvl="1" marL="685800" rtl="0" algn="l">
              <a:lnSpc>
                <a:spcPct val="120000"/>
              </a:lnSpc>
              <a:spcBef>
                <a:spcPts val="500"/>
              </a:spcBef>
              <a:spcAft>
                <a:spcPts val="0"/>
              </a:spcAft>
              <a:buSzPct val="100000"/>
              <a:buChar char="•"/>
            </a:pPr>
            <a:r>
              <a:rPr lang="es-AR"/>
              <a:t>Puede conducir a consecuencias injustas</a:t>
            </a:r>
            <a:endParaRPr/>
          </a:p>
          <a:p>
            <a:pPr indent="-228600" lvl="1" marL="685800" rtl="0" algn="l">
              <a:lnSpc>
                <a:spcPct val="120000"/>
              </a:lnSpc>
              <a:spcBef>
                <a:spcPts val="500"/>
              </a:spcBef>
              <a:spcAft>
                <a:spcPts val="0"/>
              </a:spcAft>
              <a:buSzPct val="100000"/>
              <a:buChar char="•"/>
            </a:pPr>
            <a:r>
              <a:rPr lang="es-AR"/>
              <a:t>Desconoce origen historico de la quiebra (referido a estado, no mero incumplimiento)</a:t>
            </a:r>
            <a:endParaRPr/>
          </a:p>
          <a:p>
            <a:pPr indent="-228600" lvl="1" marL="685800" rtl="0" algn="l">
              <a:lnSpc>
                <a:spcPct val="120000"/>
              </a:lnSpc>
              <a:spcBef>
                <a:spcPts val="500"/>
              </a:spcBef>
              <a:spcAft>
                <a:spcPts val="0"/>
              </a:spcAft>
              <a:buSzPct val="100000"/>
              <a:buChar char="•"/>
            </a:pPr>
            <a:r>
              <a:rPr lang="es-AR"/>
              <a:t>Desconoce fundamento economico juridico (no se busca liquidar un patrimonio por un incumplimiento)</a:t>
            </a:r>
            <a:endParaRPr/>
          </a:p>
        </p:txBody>
      </p:sp>
      <p:sp>
        <p:nvSpPr>
          <p:cNvPr id="142" name="Google Shape;142;p7"/>
          <p:cNvSpPr txBox="1"/>
          <p:nvPr/>
        </p:nvSpPr>
        <p:spPr>
          <a:xfrm>
            <a:off x="1527779" y="4908149"/>
            <a:ext cx="9603275" cy="461665"/>
          </a:xfrm>
          <a:prstGeom prst="rect">
            <a:avLst/>
          </a:prstGeom>
          <a:solidFill>
            <a:schemeClr val="accent2"/>
          </a:solidFill>
          <a:ln cap="flat" cmpd="sng" w="15875">
            <a:solidFill>
              <a:srgbClr val="A23367"/>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s-AR" sz="2400">
                <a:solidFill>
                  <a:schemeClr val="lt1"/>
                </a:solidFill>
                <a:latin typeface="Gill Sans"/>
                <a:ea typeface="Gill Sans"/>
                <a:cs typeface="Gill Sans"/>
                <a:sym typeface="Gill Sans"/>
              </a:rPr>
              <a:t>Incumplimiento (de cualquier entidad) = Cesacion de pagos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8"/>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s-AR"/>
              <a:t>CESACION DE PAGOS – TEORIA INTERMEDIA</a:t>
            </a:r>
            <a:endParaRPr/>
          </a:p>
        </p:txBody>
      </p:sp>
      <p:sp>
        <p:nvSpPr>
          <p:cNvPr id="148" name="Google Shape;148;p8"/>
          <p:cNvSpPr txBox="1"/>
          <p:nvPr>
            <p:ph idx="1" type="body"/>
          </p:nvPr>
        </p:nvSpPr>
        <p:spPr>
          <a:xfrm>
            <a:off x="1451579" y="2015732"/>
            <a:ext cx="9603275" cy="2512725"/>
          </a:xfrm>
          <a:prstGeom prst="rect">
            <a:avLst/>
          </a:prstGeom>
          <a:noFill/>
          <a:ln>
            <a:noFill/>
          </a:ln>
        </p:spPr>
        <p:txBody>
          <a:bodyPr anchorCtr="0" anchor="t" bIns="45700" lIns="91425" spcFirstLastPara="1" rIns="91425" wrap="square" tIns="45700">
            <a:normAutofit fontScale="70000" lnSpcReduction="20000"/>
          </a:bodyPr>
          <a:lstStyle/>
          <a:p>
            <a:pPr indent="-228600" lvl="0" marL="228600" rtl="0" algn="l">
              <a:lnSpc>
                <a:spcPct val="120000"/>
              </a:lnSpc>
              <a:spcBef>
                <a:spcPts val="0"/>
              </a:spcBef>
              <a:spcAft>
                <a:spcPts val="0"/>
              </a:spcAft>
              <a:buSzPct val="100000"/>
              <a:buChar char="•"/>
            </a:pPr>
            <a:r>
              <a:rPr lang="es-AR"/>
              <a:t>Relacion entre incumplimiento y cesacion de pagos es menos automatica que en anterior</a:t>
            </a:r>
            <a:endParaRPr/>
          </a:p>
          <a:p>
            <a:pPr indent="-228600" lvl="0" marL="228600" rtl="0" algn="l">
              <a:lnSpc>
                <a:spcPct val="120000"/>
              </a:lnSpc>
              <a:spcBef>
                <a:spcPts val="1000"/>
              </a:spcBef>
              <a:spcAft>
                <a:spcPts val="0"/>
              </a:spcAft>
              <a:buSzPct val="100000"/>
              <a:buChar char="•"/>
            </a:pPr>
            <a:r>
              <a:rPr lang="es-AR"/>
              <a:t>De todas formas la CP solo se revela por incumplimientos</a:t>
            </a:r>
            <a:endParaRPr/>
          </a:p>
          <a:p>
            <a:pPr indent="0" lvl="0" marL="0" rtl="0" algn="l">
              <a:lnSpc>
                <a:spcPct val="120000"/>
              </a:lnSpc>
              <a:spcBef>
                <a:spcPts val="1000"/>
              </a:spcBef>
              <a:spcAft>
                <a:spcPts val="0"/>
              </a:spcAft>
              <a:buSzPct val="100000"/>
              <a:buNone/>
            </a:pPr>
            <a:r>
              <a:rPr lang="es-AR"/>
              <a:t>Ventajas</a:t>
            </a:r>
            <a:endParaRPr/>
          </a:p>
          <a:p>
            <a:pPr indent="-228600" lvl="0" marL="228600" rtl="0" algn="l">
              <a:lnSpc>
                <a:spcPct val="120000"/>
              </a:lnSpc>
              <a:spcBef>
                <a:spcPts val="1000"/>
              </a:spcBef>
              <a:spcAft>
                <a:spcPts val="0"/>
              </a:spcAft>
              <a:buSzPct val="100000"/>
              <a:buChar char="•"/>
            </a:pPr>
            <a:r>
              <a:rPr lang="es-AR"/>
              <a:t>Mas flexible que la teoria materialista</a:t>
            </a:r>
            <a:endParaRPr/>
          </a:p>
          <a:p>
            <a:pPr indent="0" lvl="0" marL="0" rtl="0" algn="l">
              <a:lnSpc>
                <a:spcPct val="120000"/>
              </a:lnSpc>
              <a:spcBef>
                <a:spcPts val="1000"/>
              </a:spcBef>
              <a:spcAft>
                <a:spcPts val="0"/>
              </a:spcAft>
              <a:buSzPct val="100000"/>
              <a:buNone/>
            </a:pPr>
            <a:r>
              <a:rPr lang="es-AR"/>
              <a:t>Criticas</a:t>
            </a:r>
            <a:endParaRPr/>
          </a:p>
          <a:p>
            <a:pPr indent="-228600" lvl="0" marL="228600" rtl="0" algn="l">
              <a:lnSpc>
                <a:spcPct val="120000"/>
              </a:lnSpc>
              <a:spcBef>
                <a:spcPts val="1000"/>
              </a:spcBef>
              <a:spcAft>
                <a:spcPts val="0"/>
              </a:spcAft>
              <a:buSzPct val="100000"/>
              <a:buChar char="•"/>
            </a:pPr>
            <a:r>
              <a:rPr lang="es-AR"/>
              <a:t>No admite otros hechos que puedan demostrar a insolvencia</a:t>
            </a:r>
            <a:endParaRPr/>
          </a:p>
          <a:p>
            <a:pPr indent="-228600" lvl="0" marL="228600" rtl="0" algn="l">
              <a:lnSpc>
                <a:spcPct val="120000"/>
              </a:lnSpc>
              <a:spcBef>
                <a:spcPts val="1000"/>
              </a:spcBef>
              <a:spcAft>
                <a:spcPts val="0"/>
              </a:spcAft>
              <a:buSzPct val="100000"/>
              <a:buChar char="•"/>
            </a:pPr>
            <a:r>
              <a:rPr lang="es-AR"/>
              <a:t>Puede demorar la declaracion de quiebra</a:t>
            </a:r>
            <a:endParaRPr/>
          </a:p>
          <a:p>
            <a:pPr indent="0" lvl="0" marL="0" rtl="0" algn="l">
              <a:lnSpc>
                <a:spcPct val="120000"/>
              </a:lnSpc>
              <a:spcBef>
                <a:spcPts val="1000"/>
              </a:spcBef>
              <a:spcAft>
                <a:spcPts val="0"/>
              </a:spcAft>
              <a:buSzPct val="100000"/>
              <a:buNone/>
            </a:pPr>
            <a:r>
              <a:t/>
            </a:r>
            <a:endParaRPr/>
          </a:p>
          <a:p>
            <a:pPr indent="-139700" lvl="0" marL="228600" rtl="0" algn="l">
              <a:lnSpc>
                <a:spcPct val="120000"/>
              </a:lnSpc>
              <a:spcBef>
                <a:spcPts val="1000"/>
              </a:spcBef>
              <a:spcAft>
                <a:spcPts val="0"/>
              </a:spcAft>
              <a:buSzPct val="100000"/>
              <a:buNone/>
            </a:pPr>
            <a:r>
              <a:t/>
            </a:r>
            <a:endParaRPr/>
          </a:p>
        </p:txBody>
      </p:sp>
      <p:sp>
        <p:nvSpPr>
          <p:cNvPr id="149" name="Google Shape;149;p8"/>
          <p:cNvSpPr txBox="1"/>
          <p:nvPr/>
        </p:nvSpPr>
        <p:spPr>
          <a:xfrm>
            <a:off x="1085644" y="4912347"/>
            <a:ext cx="10224613" cy="1107996"/>
          </a:xfrm>
          <a:prstGeom prst="rect">
            <a:avLst/>
          </a:prstGeom>
          <a:solidFill>
            <a:schemeClr val="accent2"/>
          </a:solidFill>
          <a:ln cap="flat" cmpd="sng" w="15875">
            <a:solidFill>
              <a:srgbClr val="A23367"/>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s-AR" sz="2400">
                <a:solidFill>
                  <a:schemeClr val="lt1"/>
                </a:solidFill>
                <a:latin typeface="Gill Sans"/>
                <a:ea typeface="Gill Sans"/>
                <a:cs typeface="Gill Sans"/>
                <a:sym typeface="Gill Sans"/>
              </a:rPr>
              <a:t>No hay cesacion de pagos sin incumplimiento, pero no todo incumplimiento importa la cesacion de pagos</a:t>
            </a:r>
            <a:endParaRPr/>
          </a:p>
          <a:p>
            <a:pPr indent="0" lvl="0" marL="0" marR="0" rtl="0" algn="ctr">
              <a:spcBef>
                <a:spcPts val="0"/>
              </a:spcBef>
              <a:spcAft>
                <a:spcPts val="0"/>
              </a:spcAft>
              <a:buNone/>
            </a:pPr>
            <a:r>
              <a:t/>
            </a:r>
            <a:endParaRPr sz="2400">
              <a:solidFill>
                <a:schemeClr val="lt1"/>
              </a:solidFill>
              <a:latin typeface="Gill Sans"/>
              <a:ea typeface="Gill Sans"/>
              <a:cs typeface="Gill Sans"/>
              <a:sym typeface="Gill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9"/>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s-AR"/>
              <a:t>CESACION DE PAGOS – TEORIA AMPLIA</a:t>
            </a:r>
            <a:endParaRPr/>
          </a:p>
        </p:txBody>
      </p:sp>
      <p:sp>
        <p:nvSpPr>
          <p:cNvPr id="155" name="Google Shape;155;p9"/>
          <p:cNvSpPr txBox="1"/>
          <p:nvPr>
            <p:ph idx="1" type="body"/>
          </p:nvPr>
        </p:nvSpPr>
        <p:spPr>
          <a:xfrm>
            <a:off x="1451579" y="2015733"/>
            <a:ext cx="9603275" cy="2262354"/>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SzPts val="2000"/>
              <a:buChar char="•"/>
            </a:pPr>
            <a:r>
              <a:rPr lang="es-AR"/>
              <a:t>Considera a la Cesacion de pagos como un estado del patrimonio que se revela por hechos exteriores</a:t>
            </a:r>
            <a:endParaRPr/>
          </a:p>
          <a:p>
            <a:pPr indent="-228600" lvl="0" marL="228600" rtl="0" algn="l">
              <a:lnSpc>
                <a:spcPct val="120000"/>
              </a:lnSpc>
              <a:spcBef>
                <a:spcPts val="1000"/>
              </a:spcBef>
              <a:spcAft>
                <a:spcPts val="0"/>
              </a:spcAft>
              <a:buSzPts val="2000"/>
              <a:buChar char="•"/>
            </a:pPr>
            <a:r>
              <a:rPr lang="es-AR"/>
              <a:t>La CP no es un hecho sino un estado de todo el patrimonio</a:t>
            </a:r>
            <a:endParaRPr/>
          </a:p>
          <a:p>
            <a:pPr indent="-101600" lvl="0" marL="228600" rtl="0" algn="l">
              <a:lnSpc>
                <a:spcPct val="120000"/>
              </a:lnSpc>
              <a:spcBef>
                <a:spcPts val="1000"/>
              </a:spcBef>
              <a:spcAft>
                <a:spcPts val="0"/>
              </a:spcAft>
              <a:buSzPts val="2000"/>
              <a:buNone/>
            </a:pPr>
            <a:r>
              <a:t/>
            </a:r>
            <a:endParaRPr/>
          </a:p>
        </p:txBody>
      </p:sp>
      <p:sp>
        <p:nvSpPr>
          <p:cNvPr id="156" name="Google Shape;156;p9"/>
          <p:cNvSpPr txBox="1"/>
          <p:nvPr/>
        </p:nvSpPr>
        <p:spPr>
          <a:xfrm>
            <a:off x="1589314" y="4726117"/>
            <a:ext cx="9329057" cy="461665"/>
          </a:xfrm>
          <a:prstGeom prst="rect">
            <a:avLst/>
          </a:prstGeom>
          <a:solidFill>
            <a:schemeClr val="accent2"/>
          </a:solidFill>
          <a:ln cap="flat" cmpd="sng" w="15875">
            <a:solidFill>
              <a:srgbClr val="A23367"/>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s-AR" sz="2400">
                <a:solidFill>
                  <a:schemeClr val="lt1"/>
                </a:solidFill>
                <a:latin typeface="Gill Sans"/>
                <a:ea typeface="Gill Sans"/>
                <a:cs typeface="Gill Sans"/>
                <a:sym typeface="Gill Sans"/>
              </a:rPr>
              <a:t>El incumplimiento es un hecho revelador más.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10"/>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s-AR"/>
              <a:t>CESACION DE PAGOS </a:t>
            </a:r>
            <a:endParaRPr/>
          </a:p>
        </p:txBody>
      </p:sp>
      <p:sp>
        <p:nvSpPr>
          <p:cNvPr id="162" name="Google Shape;162;p10"/>
          <p:cNvSpPr txBox="1"/>
          <p:nvPr>
            <p:ph idx="1" type="body"/>
          </p:nvPr>
        </p:nvSpPr>
        <p:spPr>
          <a:xfrm>
            <a:off x="1451579" y="2015732"/>
            <a:ext cx="9603275" cy="3450613"/>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120000"/>
              </a:lnSpc>
              <a:spcBef>
                <a:spcPts val="0"/>
              </a:spcBef>
              <a:spcAft>
                <a:spcPts val="0"/>
              </a:spcAft>
              <a:buSzPts val="2000"/>
              <a:buChar char="•"/>
            </a:pPr>
            <a:r>
              <a:rPr lang="es-AR"/>
              <a:t>La ley 24522 adopta a teoria amplia del estado de cesacion de pagos (lo adopta como presupuesto objetivo articulo 1). Se manifiesta en los hechos reveladores enunciados en el articulo 79</a:t>
            </a:r>
            <a:endParaRPr/>
          </a:p>
          <a:p>
            <a:pPr indent="-228600" lvl="0" marL="228600" rtl="0" algn="l">
              <a:lnSpc>
                <a:spcPct val="120000"/>
              </a:lnSpc>
              <a:spcBef>
                <a:spcPts val="1000"/>
              </a:spcBef>
              <a:spcAft>
                <a:spcPts val="0"/>
              </a:spcAft>
              <a:buSzPts val="2000"/>
              <a:buChar char="•"/>
            </a:pPr>
            <a:r>
              <a:rPr lang="es-AR"/>
              <a:t>Hay una inclinacion hacia a teoria intermedia con la expresion “cuando sea exigible”… del articulo 80 de la ley</a:t>
            </a:r>
            <a:endParaRPr/>
          </a:p>
          <a:p>
            <a:pPr indent="-228600" lvl="1" marL="685800" rtl="0" algn="l">
              <a:lnSpc>
                <a:spcPct val="120000"/>
              </a:lnSpc>
              <a:spcBef>
                <a:spcPts val="500"/>
              </a:spcBef>
              <a:spcAft>
                <a:spcPts val="0"/>
              </a:spcAft>
              <a:buSzPts val="1800"/>
              <a:buChar char="•"/>
            </a:pPr>
            <a:r>
              <a:rPr lang="es-AR"/>
              <a:t>Solo habilita a pedir la quiebra al acreedor “cuyo credito sea exigible”</a:t>
            </a:r>
            <a:endParaRPr/>
          </a:p>
          <a:p>
            <a:pPr indent="-228600" lvl="1" marL="685800" rtl="0" algn="l">
              <a:lnSpc>
                <a:spcPct val="120000"/>
              </a:lnSpc>
              <a:spcBef>
                <a:spcPts val="500"/>
              </a:spcBef>
              <a:spcAft>
                <a:spcPts val="0"/>
              </a:spcAft>
              <a:buSzPts val="1800"/>
              <a:buChar char="•"/>
            </a:pPr>
            <a:r>
              <a:rPr lang="es-AR"/>
              <a:t>En la quiebra necesaria, el presupuesto de declaracion exige incumplimiento de la acreencia del solicitante </a:t>
            </a:r>
            <a:endParaRPr/>
          </a:p>
          <a:p>
            <a:pPr indent="-228600" lvl="1" marL="685800" rtl="0" algn="l">
              <a:lnSpc>
                <a:spcPct val="120000"/>
              </a:lnSpc>
              <a:spcBef>
                <a:spcPts val="500"/>
              </a:spcBef>
              <a:spcAft>
                <a:spcPts val="0"/>
              </a:spcAft>
              <a:buSzPts val="1800"/>
              <a:buChar char="•"/>
            </a:pPr>
            <a:r>
              <a:rPr lang="es-AR"/>
              <a:t>En este caso no puede haber quiebra sin incumplimiento </a:t>
            </a:r>
            <a:endParaRPr/>
          </a:p>
          <a:p>
            <a:pPr indent="-101600" lvl="0" marL="228600" rtl="0" algn="l">
              <a:lnSpc>
                <a:spcPct val="120000"/>
              </a:lnSpc>
              <a:spcBef>
                <a:spcPts val="1000"/>
              </a:spcBef>
              <a:spcAft>
                <a:spcPts val="0"/>
              </a:spcAft>
              <a:buSzPts val="2000"/>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1"/>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s-AR"/>
              <a:t>CONCURSO PREVENTIVO</a:t>
            </a:r>
            <a:endParaRPr/>
          </a:p>
        </p:txBody>
      </p:sp>
      <p:sp>
        <p:nvSpPr>
          <p:cNvPr id="168" name="Google Shape;168;p11"/>
          <p:cNvSpPr txBox="1"/>
          <p:nvPr>
            <p:ph idx="1" type="body"/>
          </p:nvPr>
        </p:nvSpPr>
        <p:spPr>
          <a:xfrm>
            <a:off x="1451580" y="2015732"/>
            <a:ext cx="3838878" cy="596839"/>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SzPts val="2000"/>
              <a:buChar char="•"/>
            </a:pPr>
            <a:r>
              <a:rPr lang="es-AR"/>
              <a:t>PRESUPUESTOS NECESARIOS</a:t>
            </a:r>
            <a:endParaRPr/>
          </a:p>
        </p:txBody>
      </p:sp>
      <p:sp>
        <p:nvSpPr>
          <p:cNvPr id="169" name="Google Shape;169;p11"/>
          <p:cNvSpPr txBox="1"/>
          <p:nvPr/>
        </p:nvSpPr>
        <p:spPr>
          <a:xfrm>
            <a:off x="3167743" y="2928257"/>
            <a:ext cx="3516086" cy="369332"/>
          </a:xfrm>
          <a:prstGeom prst="rect">
            <a:avLst/>
          </a:prstGeom>
          <a:solidFill>
            <a:schemeClr val="accent2"/>
          </a:solidFill>
          <a:ln cap="flat" cmpd="sng" w="22225">
            <a:solidFill>
              <a:schemeClr val="l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s-AR" sz="1800">
                <a:solidFill>
                  <a:schemeClr val="lt1"/>
                </a:solidFill>
                <a:latin typeface="Gill Sans"/>
                <a:ea typeface="Gill Sans"/>
                <a:cs typeface="Gill Sans"/>
                <a:sym typeface="Gill Sans"/>
              </a:rPr>
              <a:t>PRESUPUESTO OBJETIVO</a:t>
            </a:r>
            <a:endParaRPr/>
          </a:p>
        </p:txBody>
      </p:sp>
      <p:sp>
        <p:nvSpPr>
          <p:cNvPr id="170" name="Google Shape;170;p11"/>
          <p:cNvSpPr txBox="1"/>
          <p:nvPr/>
        </p:nvSpPr>
        <p:spPr>
          <a:xfrm>
            <a:off x="3167743" y="3535874"/>
            <a:ext cx="3516086" cy="369332"/>
          </a:xfrm>
          <a:prstGeom prst="rect">
            <a:avLst/>
          </a:prstGeom>
          <a:solidFill>
            <a:schemeClr val="accent2"/>
          </a:solidFill>
          <a:ln cap="flat" cmpd="sng" w="22225">
            <a:solidFill>
              <a:schemeClr val="l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s-AR" sz="1800">
                <a:solidFill>
                  <a:schemeClr val="lt1"/>
                </a:solidFill>
                <a:latin typeface="Gill Sans"/>
                <a:ea typeface="Gill Sans"/>
                <a:cs typeface="Gill Sans"/>
                <a:sym typeface="Gill Sans"/>
              </a:rPr>
              <a:t>PRESUPUESTO SUBJETIVO</a:t>
            </a:r>
            <a:endParaRPr/>
          </a:p>
        </p:txBody>
      </p:sp>
      <p:sp>
        <p:nvSpPr>
          <p:cNvPr id="171" name="Google Shape;171;p11"/>
          <p:cNvSpPr txBox="1"/>
          <p:nvPr/>
        </p:nvSpPr>
        <p:spPr>
          <a:xfrm>
            <a:off x="2677886" y="4950208"/>
            <a:ext cx="4561114" cy="369332"/>
          </a:xfrm>
          <a:prstGeom prst="rect">
            <a:avLst/>
          </a:prstGeom>
          <a:solidFill>
            <a:schemeClr val="accent2"/>
          </a:solidFill>
          <a:ln cap="flat" cmpd="sng" w="22225">
            <a:solidFill>
              <a:schemeClr val="l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s-AR" sz="1800">
                <a:solidFill>
                  <a:schemeClr val="lt1"/>
                </a:solidFill>
                <a:latin typeface="Gill Sans"/>
                <a:ea typeface="Gill Sans"/>
                <a:cs typeface="Gill Sans"/>
                <a:sym typeface="Gill Sans"/>
              </a:rPr>
              <a:t>REQUISITOS FORMALES ARTICULO 11</a:t>
            </a:r>
            <a:endParaRPr/>
          </a:p>
        </p:txBody>
      </p:sp>
      <p:sp>
        <p:nvSpPr>
          <p:cNvPr id="172" name="Google Shape;172;p11"/>
          <p:cNvSpPr/>
          <p:nvPr/>
        </p:nvSpPr>
        <p:spPr>
          <a:xfrm>
            <a:off x="2677886" y="2612571"/>
            <a:ext cx="108857" cy="1447800"/>
          </a:xfrm>
          <a:prstGeom prst="leftBracket">
            <a:avLst>
              <a:gd fmla="val 8333" name="adj"/>
            </a:avLst>
          </a:prstGeom>
          <a:noFill/>
          <a:ln cap="flat" cmpd="sng" w="952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173" name="Google Shape;173;p11"/>
          <p:cNvSpPr/>
          <p:nvPr/>
        </p:nvSpPr>
        <p:spPr>
          <a:xfrm>
            <a:off x="4876801" y="4278086"/>
            <a:ext cx="413657" cy="413657"/>
          </a:xfrm>
          <a:prstGeom prst="mathPlus">
            <a:avLst>
              <a:gd fmla="val 23520" name="adj1"/>
            </a:avLst>
          </a:prstGeom>
          <a:solidFill>
            <a:schemeClr val="accent1"/>
          </a:solidFill>
          <a:ln cap="flat" cmpd="sng" w="15875">
            <a:solidFill>
              <a:srgbClr val="85153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2"/>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s-AR"/>
              <a:t>SUJETOS COMPRENDIDOS</a:t>
            </a:r>
            <a:endParaRPr/>
          </a:p>
        </p:txBody>
      </p:sp>
      <p:sp>
        <p:nvSpPr>
          <p:cNvPr id="179" name="Google Shape;179;p12"/>
          <p:cNvSpPr txBox="1"/>
          <p:nvPr>
            <p:ph idx="1" type="body"/>
          </p:nvPr>
        </p:nvSpPr>
        <p:spPr>
          <a:xfrm>
            <a:off x="1451579" y="2015732"/>
            <a:ext cx="9603275" cy="3450613"/>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l">
              <a:lnSpc>
                <a:spcPct val="120000"/>
              </a:lnSpc>
              <a:spcBef>
                <a:spcPts val="0"/>
              </a:spcBef>
              <a:spcAft>
                <a:spcPts val="0"/>
              </a:spcAft>
              <a:buSzPct val="100000"/>
              <a:buChar char="•"/>
            </a:pPr>
            <a:r>
              <a:rPr lang="es-AR"/>
              <a:t>ARTICULO 2°.- Sujetos comprendidos. Pueden ser declaradas en concurso las personas de existencia visible, las de existencia ideal de carácter privado y aquellas sociedades en las que el Estado Nacional, Provincial o municipal sea parte, cualquiera sea el porcentaje de su participación.</a:t>
            </a:r>
            <a:endParaRPr/>
          </a:p>
          <a:p>
            <a:pPr indent="-228600" lvl="0" marL="228600" rtl="0" algn="l">
              <a:lnSpc>
                <a:spcPct val="120000"/>
              </a:lnSpc>
              <a:spcBef>
                <a:spcPts val="1000"/>
              </a:spcBef>
              <a:spcAft>
                <a:spcPts val="0"/>
              </a:spcAft>
              <a:buSzPct val="100000"/>
              <a:buChar char="•"/>
            </a:pPr>
            <a:r>
              <a:rPr lang="es-AR"/>
              <a:t>Se consideran comprendidos:</a:t>
            </a:r>
            <a:endParaRPr/>
          </a:p>
          <a:p>
            <a:pPr indent="-228600" lvl="0" marL="228600" rtl="0" algn="l">
              <a:lnSpc>
                <a:spcPct val="120000"/>
              </a:lnSpc>
              <a:spcBef>
                <a:spcPts val="1000"/>
              </a:spcBef>
              <a:spcAft>
                <a:spcPts val="0"/>
              </a:spcAft>
              <a:buSzPct val="100000"/>
              <a:buChar char="•"/>
            </a:pPr>
            <a:r>
              <a:rPr lang="es-AR"/>
              <a:t>1) El patrimonio del fallecido, mientras se mantenga separado del patrimonio de sucesores.</a:t>
            </a:r>
            <a:endParaRPr/>
          </a:p>
          <a:p>
            <a:pPr indent="-228600" lvl="0" marL="228600" rtl="0" algn="l">
              <a:lnSpc>
                <a:spcPct val="120000"/>
              </a:lnSpc>
              <a:spcBef>
                <a:spcPts val="1000"/>
              </a:spcBef>
              <a:spcAft>
                <a:spcPts val="0"/>
              </a:spcAft>
              <a:buSzPct val="100000"/>
              <a:buChar char="•"/>
            </a:pPr>
            <a:r>
              <a:rPr lang="es-AR"/>
              <a:t>2) Los deudores domiciliados en el extranjero respecto de bienes existentes en el país.</a:t>
            </a:r>
            <a:endParaRPr/>
          </a:p>
          <a:p>
            <a:pPr indent="-228600" lvl="0" marL="228600" rtl="0" algn="l">
              <a:lnSpc>
                <a:spcPct val="120000"/>
              </a:lnSpc>
              <a:spcBef>
                <a:spcPts val="1000"/>
              </a:spcBef>
              <a:spcAft>
                <a:spcPts val="0"/>
              </a:spcAft>
              <a:buSzPct val="100000"/>
              <a:buChar char="•"/>
            </a:pPr>
            <a:r>
              <a:rPr lang="es-AR"/>
              <a:t>No son susceptibles de ser declaradas en concurso, las personas reguladas por Leyes Nros. 20.091, 20.321 y 24.241, así como las excluidas por leyes especiales</a:t>
            </a:r>
            <a:endParaRPr/>
          </a:p>
          <a:p>
            <a:pPr indent="-111125" lvl="0" marL="228600" rtl="0" algn="l">
              <a:lnSpc>
                <a:spcPct val="120000"/>
              </a:lnSpc>
              <a:spcBef>
                <a:spcPts val="1000"/>
              </a:spcBef>
              <a:spcAft>
                <a:spcPts val="0"/>
              </a:spcAft>
              <a:buSzPct val="100000"/>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13"/>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s-AR"/>
              <a:t>SUJETOS COMPRENDIDOS</a:t>
            </a:r>
            <a:endParaRPr/>
          </a:p>
        </p:txBody>
      </p:sp>
      <p:sp>
        <p:nvSpPr>
          <p:cNvPr id="185" name="Google Shape;185;p13"/>
          <p:cNvSpPr txBox="1"/>
          <p:nvPr>
            <p:ph idx="1" type="body"/>
          </p:nvPr>
        </p:nvSpPr>
        <p:spPr>
          <a:xfrm>
            <a:off x="1451579" y="2015732"/>
            <a:ext cx="9603275" cy="3450613"/>
          </a:xfrm>
          <a:prstGeom prst="rect">
            <a:avLst/>
          </a:prstGeom>
          <a:noFill/>
          <a:ln>
            <a:noFill/>
          </a:ln>
        </p:spPr>
        <p:txBody>
          <a:bodyPr anchorCtr="0" anchor="t" bIns="45700" lIns="91425" spcFirstLastPara="1" rIns="91425" wrap="square" tIns="45700">
            <a:normAutofit fontScale="47500" lnSpcReduction="20000"/>
          </a:bodyPr>
          <a:lstStyle/>
          <a:p>
            <a:pPr indent="-228600" lvl="0" marL="228600" rtl="0" algn="l">
              <a:lnSpc>
                <a:spcPct val="120000"/>
              </a:lnSpc>
              <a:spcBef>
                <a:spcPts val="0"/>
              </a:spcBef>
              <a:spcAft>
                <a:spcPts val="0"/>
              </a:spcAft>
              <a:buSzPct val="100000"/>
              <a:buChar char="•"/>
            </a:pPr>
            <a:r>
              <a:rPr lang="es-AR"/>
              <a:t>La LCQ hace referencia a personas de carácter ideal. El CCCN las reemplazo por personas juridicas privadas y las detalla en el articulo 148</a:t>
            </a:r>
            <a:endParaRPr/>
          </a:p>
          <a:p>
            <a:pPr indent="0" lvl="0" marL="0" rtl="0" algn="l">
              <a:lnSpc>
                <a:spcPct val="120000"/>
              </a:lnSpc>
              <a:spcBef>
                <a:spcPts val="1000"/>
              </a:spcBef>
              <a:spcAft>
                <a:spcPts val="0"/>
              </a:spcAft>
              <a:buSzPct val="100000"/>
              <a:buNone/>
            </a:pPr>
            <a:r>
              <a:rPr lang="es-AR"/>
              <a:t>ARTICULO 148.- Personas jurídicas privadas. Son personas jurídicas privadas:</a:t>
            </a:r>
            <a:br>
              <a:rPr lang="es-AR"/>
            </a:br>
            <a:br>
              <a:rPr lang="es-AR"/>
            </a:br>
            <a:r>
              <a:rPr lang="es-AR"/>
              <a:t>a) las sociedades;</a:t>
            </a:r>
            <a:br>
              <a:rPr lang="es-AR"/>
            </a:br>
            <a:br>
              <a:rPr lang="es-AR"/>
            </a:br>
            <a:r>
              <a:rPr lang="es-AR"/>
              <a:t>b) las asociaciones civiles;</a:t>
            </a:r>
            <a:br>
              <a:rPr lang="es-AR"/>
            </a:br>
            <a:br>
              <a:rPr lang="es-AR"/>
            </a:br>
            <a:r>
              <a:rPr lang="es-AR"/>
              <a:t>c) las simples asociaciones;</a:t>
            </a:r>
            <a:br>
              <a:rPr lang="es-AR"/>
            </a:br>
            <a:br>
              <a:rPr lang="es-AR"/>
            </a:br>
            <a:r>
              <a:rPr lang="es-AR"/>
              <a:t>d) las fundaciones;</a:t>
            </a:r>
            <a:br>
              <a:rPr lang="es-AR"/>
            </a:br>
            <a:br>
              <a:rPr lang="es-AR"/>
            </a:br>
            <a:r>
              <a:rPr lang="es-AR"/>
              <a:t>e) las iglesias, confesiones, comunidades o entidades religiosas;</a:t>
            </a:r>
            <a:br>
              <a:rPr lang="es-AR"/>
            </a:br>
            <a:br>
              <a:rPr lang="es-AR"/>
            </a:br>
            <a:r>
              <a:rPr lang="es-AR"/>
              <a:t>f) las mutuales;</a:t>
            </a:r>
            <a:br>
              <a:rPr lang="es-AR"/>
            </a:br>
            <a:br>
              <a:rPr lang="es-AR"/>
            </a:br>
            <a:r>
              <a:rPr lang="es-AR"/>
              <a:t>g) las cooperativas;</a:t>
            </a:r>
            <a:br>
              <a:rPr lang="es-AR"/>
            </a:br>
            <a:br>
              <a:rPr lang="es-AR"/>
            </a:br>
            <a:r>
              <a:rPr lang="es-AR"/>
              <a:t>h) el consorcio de propiedad horizontal;</a:t>
            </a:r>
            <a:br>
              <a:rPr lang="es-AR"/>
            </a:br>
            <a:br>
              <a:rPr lang="es-AR"/>
            </a:br>
            <a:r>
              <a:rPr lang="es-AR"/>
              <a:t>i) toda otra contemplada en disposiciones de este Código o en otras leyes y cuyo carácter de tal se establece o resulta de su finalidad y normas de funcionamiento.</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14"/>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s-AR"/>
              <a:t>PERSONAS EXCLUIDAS</a:t>
            </a:r>
            <a:endParaRPr/>
          </a:p>
        </p:txBody>
      </p:sp>
      <p:sp>
        <p:nvSpPr>
          <p:cNvPr id="191" name="Google Shape;191;p14"/>
          <p:cNvSpPr txBox="1"/>
          <p:nvPr>
            <p:ph idx="1" type="body"/>
          </p:nvPr>
        </p:nvSpPr>
        <p:spPr>
          <a:xfrm>
            <a:off x="1451579" y="2015732"/>
            <a:ext cx="9603275" cy="3450613"/>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SzPts val="2000"/>
              <a:buChar char="•"/>
            </a:pPr>
            <a:r>
              <a:rPr lang="es-AR"/>
              <a:t>EXCLUIDAS DE MANERA DIRECTA LAS COMPAÑIAS ASEGURADORAS – LEY 20091</a:t>
            </a:r>
            <a:endParaRPr/>
          </a:p>
          <a:p>
            <a:pPr indent="-228600" lvl="0" marL="228600" rtl="0" algn="l">
              <a:lnSpc>
                <a:spcPct val="120000"/>
              </a:lnSpc>
              <a:spcBef>
                <a:spcPts val="1000"/>
              </a:spcBef>
              <a:spcAft>
                <a:spcPts val="0"/>
              </a:spcAft>
              <a:buSzPts val="2000"/>
              <a:buChar char="•"/>
            </a:pPr>
            <a:r>
              <a:rPr lang="es-AR"/>
              <a:t>LAS DOS EXCLUSIONES restantes previstas en el articulo han perdido vigencia</a:t>
            </a:r>
            <a:endParaRPr/>
          </a:p>
          <a:p>
            <a:pPr indent="-228600" lvl="1" marL="685800" rtl="0" algn="l">
              <a:lnSpc>
                <a:spcPct val="120000"/>
              </a:lnSpc>
              <a:spcBef>
                <a:spcPts val="500"/>
              </a:spcBef>
              <a:spcAft>
                <a:spcPts val="0"/>
              </a:spcAft>
              <a:buSzPts val="1800"/>
              <a:buChar char="•"/>
            </a:pPr>
            <a:r>
              <a:rPr lang="es-AR"/>
              <a:t>Las mutuales (ley 20321) expresamente incluidas ( “ARTICULO 37.- Las mutuales quedan comprendidas en el régimen de la Ley N°24.522.”)</a:t>
            </a:r>
            <a:endParaRPr/>
          </a:p>
          <a:p>
            <a:pPr indent="-228600" lvl="1" marL="685800" rtl="0" algn="l">
              <a:lnSpc>
                <a:spcPct val="120000"/>
              </a:lnSpc>
              <a:spcBef>
                <a:spcPts val="500"/>
              </a:spcBef>
              <a:spcAft>
                <a:spcPts val="0"/>
              </a:spcAft>
              <a:buSzPts val="1800"/>
              <a:buChar char="•"/>
            </a:pPr>
            <a:r>
              <a:rPr lang="es-AR"/>
              <a:t>Las AFJP (ley 24241) han desaparecido del escenario de la seguridad social</a:t>
            </a:r>
            <a:endParaRPr/>
          </a:p>
        </p:txBody>
      </p:sp>
      <p:sp>
        <p:nvSpPr>
          <p:cNvPr id="192" name="Google Shape;192;p14"/>
          <p:cNvSpPr txBox="1"/>
          <p:nvPr/>
        </p:nvSpPr>
        <p:spPr>
          <a:xfrm>
            <a:off x="664029" y="4876800"/>
            <a:ext cx="10199914" cy="1200329"/>
          </a:xfrm>
          <a:prstGeom prst="rect">
            <a:avLst/>
          </a:prstGeom>
          <a:gradFill>
            <a:gsLst>
              <a:gs pos="0">
                <a:srgbClr val="E9CED1"/>
              </a:gs>
              <a:gs pos="100000">
                <a:srgbClr val="CD7D87">
                  <a:alpha val="91764"/>
                </a:srgbClr>
              </a:gs>
            </a:gsLst>
            <a:lin ang="5400000" scaled="0"/>
          </a:grad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s-AR" sz="1800">
                <a:solidFill>
                  <a:schemeClr val="dk1"/>
                </a:solidFill>
                <a:latin typeface="Gill Sans"/>
                <a:ea typeface="Gill Sans"/>
                <a:cs typeface="Gill Sans"/>
                <a:sym typeface="Gill Sans"/>
              </a:rPr>
              <a:t>"Las aseguradoras son entes insusceptibles de concurso en virtud de lo dispuesto por la ley 20.091, la ley concursa1 y la exposición de motivos de la ley 22.917" </a:t>
            </a:r>
            <a:r>
              <a:rPr b="1" lang="es-AR" sz="1800">
                <a:solidFill>
                  <a:schemeClr val="dk1"/>
                </a:solidFill>
                <a:latin typeface="Gill Sans"/>
                <a:ea typeface="Gill Sans"/>
                <a:cs typeface="Gill Sans"/>
                <a:sym typeface="Gill Sans"/>
              </a:rPr>
              <a:t>(CNCom, Sala E,10/5/00,</a:t>
            </a:r>
            <a:r>
              <a:rPr b="1" i="1" lang="es-AR" sz="1800">
                <a:solidFill>
                  <a:schemeClr val="dk1"/>
                </a:solidFill>
                <a:latin typeface="Gill Sans"/>
                <a:ea typeface="Gill Sans"/>
                <a:cs typeface="Gill Sans"/>
                <a:sym typeface="Gill Sans"/>
              </a:rPr>
              <a:t>LL, </a:t>
            </a:r>
            <a:r>
              <a:rPr lang="es-AR" sz="1800">
                <a:solidFill>
                  <a:schemeClr val="dk1"/>
                </a:solidFill>
                <a:latin typeface="Gill Sans"/>
                <a:ea typeface="Gill Sans"/>
                <a:cs typeface="Gill Sans"/>
                <a:sym typeface="Gill Sans"/>
              </a:rPr>
              <a:t>2000-E-57, </a:t>
            </a:r>
            <a:r>
              <a:rPr b="1" lang="es-AR" sz="1800">
                <a:solidFill>
                  <a:schemeClr val="dk1"/>
                </a:solidFill>
                <a:latin typeface="Gill Sans"/>
                <a:ea typeface="Gill Sans"/>
                <a:cs typeface="Gill Sans"/>
                <a:sym typeface="Gill Sans"/>
              </a:rPr>
              <a:t>y </a:t>
            </a:r>
            <a:r>
              <a:rPr b="1" i="1" lang="es-AR" sz="1800">
                <a:solidFill>
                  <a:schemeClr val="dk1"/>
                </a:solidFill>
                <a:latin typeface="Gill Sans"/>
                <a:ea typeface="Gill Sans"/>
                <a:cs typeface="Gill Sans"/>
                <a:sym typeface="Gill Sans"/>
              </a:rPr>
              <a:t>DJ,</a:t>
            </a:r>
            <a:r>
              <a:rPr lang="es-AR" sz="1800">
                <a:solidFill>
                  <a:schemeClr val="dk1"/>
                </a:solidFill>
                <a:latin typeface="Gill Sans"/>
                <a:ea typeface="Gill Sans"/>
                <a:cs typeface="Gill Sans"/>
                <a:sym typeface="Gill Sans"/>
              </a:rPr>
              <a:t>2003-3-430). </a:t>
            </a:r>
            <a:endParaRPr/>
          </a:p>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15"/>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s-AR"/>
              <a:t>EXCLUIDAS POR REGIMENES ESPECIALES</a:t>
            </a:r>
            <a:endParaRPr/>
          </a:p>
        </p:txBody>
      </p:sp>
      <p:sp>
        <p:nvSpPr>
          <p:cNvPr id="198" name="Google Shape;198;p15"/>
          <p:cNvSpPr txBox="1"/>
          <p:nvPr>
            <p:ph idx="1" type="body"/>
          </p:nvPr>
        </p:nvSpPr>
        <p:spPr>
          <a:xfrm>
            <a:off x="1451579" y="2015732"/>
            <a:ext cx="9603275" cy="3450613"/>
          </a:xfrm>
          <a:prstGeom prst="rect">
            <a:avLst/>
          </a:prstGeom>
          <a:noFill/>
          <a:ln>
            <a:noFill/>
          </a:ln>
        </p:spPr>
        <p:txBody>
          <a:bodyPr anchorCtr="0" anchor="t" bIns="45700" lIns="91425" spcFirstLastPara="1" rIns="91425" wrap="square" tIns="45700">
            <a:normAutofit fontScale="77500" lnSpcReduction="20000"/>
          </a:bodyPr>
          <a:lstStyle/>
          <a:p>
            <a:pPr indent="-228600" lvl="0" marL="228600" rtl="0" algn="l">
              <a:lnSpc>
                <a:spcPct val="120000"/>
              </a:lnSpc>
              <a:spcBef>
                <a:spcPts val="0"/>
              </a:spcBef>
              <a:spcAft>
                <a:spcPts val="0"/>
              </a:spcAft>
              <a:buSzPct val="100000"/>
              <a:buChar char="•"/>
            </a:pPr>
            <a:r>
              <a:rPr lang="es-AR"/>
              <a:t>ENTIDADES FINANCIERAS (Ley 24144)</a:t>
            </a:r>
            <a:endParaRPr/>
          </a:p>
          <a:p>
            <a:pPr indent="-228600" lvl="0" marL="228600" rtl="0" algn="l">
              <a:lnSpc>
                <a:spcPct val="120000"/>
              </a:lnSpc>
              <a:spcBef>
                <a:spcPts val="1000"/>
              </a:spcBef>
              <a:spcAft>
                <a:spcPts val="0"/>
              </a:spcAft>
              <a:buSzPct val="100000"/>
              <a:buChar char="•"/>
            </a:pPr>
            <a:r>
              <a:rPr lang="es-AR"/>
              <a:t>ART (Ley 24557)</a:t>
            </a:r>
            <a:endParaRPr/>
          </a:p>
          <a:p>
            <a:pPr indent="-228600" lvl="0" marL="228600" rtl="0" algn="l">
              <a:lnSpc>
                <a:spcPct val="120000"/>
              </a:lnSpc>
              <a:spcBef>
                <a:spcPts val="1000"/>
              </a:spcBef>
              <a:spcAft>
                <a:spcPts val="0"/>
              </a:spcAft>
              <a:buSzPct val="100000"/>
              <a:buChar char="•"/>
            </a:pPr>
            <a:r>
              <a:rPr lang="es-AR"/>
              <a:t>Las personas juridicas publicas (articulo 146 CCCN)</a:t>
            </a:r>
            <a:endParaRPr/>
          </a:p>
          <a:p>
            <a:pPr indent="-228600" lvl="1" marL="685800" rtl="0" algn="l">
              <a:lnSpc>
                <a:spcPct val="120000"/>
              </a:lnSpc>
              <a:spcBef>
                <a:spcPts val="500"/>
              </a:spcBef>
              <a:spcAft>
                <a:spcPts val="0"/>
              </a:spcAft>
              <a:buSzPct val="100000"/>
              <a:buChar char="•"/>
            </a:pPr>
            <a:r>
              <a:rPr lang="es-AR"/>
              <a:t>ARTICULO 146.- Personas jurídicas públicas. Son personas jurídicas públicas:</a:t>
            </a:r>
            <a:br>
              <a:rPr lang="es-AR"/>
            </a:br>
            <a:br>
              <a:rPr lang="es-AR"/>
            </a:br>
            <a:r>
              <a:rPr lang="es-AR"/>
              <a:t>a) el Estado nacional, las Provincias, la Ciudad Autónoma de Buenos Aires, los municipios, las entidades autárquicas y las demás organizaciones constituidas en la República a las que el ordenamiento jurídico atribuya ese carácter;</a:t>
            </a:r>
            <a:br>
              <a:rPr lang="es-AR"/>
            </a:br>
            <a:br>
              <a:rPr lang="es-AR"/>
            </a:br>
            <a:r>
              <a:rPr lang="es-AR"/>
              <a:t>b) los Estados extranjeros, las organizaciones a las que el derecho internacional público reconozca personalidad jurídica y toda otra persona jurídica constituida en el extranjero cuyo carácter público resulte de su derecho aplicable;</a:t>
            </a:r>
            <a:br>
              <a:rPr lang="es-AR"/>
            </a:br>
            <a:br>
              <a:rPr lang="es-AR"/>
            </a:br>
            <a:r>
              <a:rPr lang="es-AR"/>
              <a:t>c) la Iglesia Católica.</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16"/>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s-AR"/>
              <a:t>CASOS ESPECIALES</a:t>
            </a:r>
            <a:endParaRPr/>
          </a:p>
        </p:txBody>
      </p:sp>
      <p:sp>
        <p:nvSpPr>
          <p:cNvPr id="204" name="Google Shape;204;p16"/>
          <p:cNvSpPr txBox="1"/>
          <p:nvPr>
            <p:ph idx="1" type="body"/>
          </p:nvPr>
        </p:nvSpPr>
        <p:spPr>
          <a:xfrm>
            <a:off x="1451579" y="2015732"/>
            <a:ext cx="9603275" cy="3450613"/>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SzPts val="2000"/>
              <a:buChar char="•"/>
            </a:pPr>
            <a:r>
              <a:rPr lang="es-AR"/>
              <a:t>Sociedad conyugal - no es una persona de existencia ideal de caracter privado, en terminos del articulo en analisis, y, por tanto, no es sujeto concursable </a:t>
            </a:r>
            <a:endParaRPr/>
          </a:p>
          <a:p>
            <a:pPr indent="-228600" lvl="0" marL="228600" rtl="0" algn="l">
              <a:lnSpc>
                <a:spcPct val="120000"/>
              </a:lnSpc>
              <a:spcBef>
                <a:spcPts val="1000"/>
              </a:spcBef>
              <a:spcAft>
                <a:spcPts val="0"/>
              </a:spcAft>
              <a:buSzPts val="2000"/>
              <a:buChar char="•"/>
            </a:pPr>
            <a:r>
              <a:rPr lang="es-AR"/>
              <a:t>Obras Sociales - sujetos de derecho; son, por lo tanto, sujetos concursables y pueden ser declarados en quiebra </a:t>
            </a:r>
            <a:endParaRPr/>
          </a:p>
          <a:p>
            <a:pPr indent="-228600" lvl="0" marL="228600" rtl="0" algn="l">
              <a:lnSpc>
                <a:spcPct val="120000"/>
              </a:lnSpc>
              <a:spcBef>
                <a:spcPts val="1000"/>
              </a:spcBef>
              <a:spcAft>
                <a:spcPts val="0"/>
              </a:spcAft>
              <a:buSzPts val="2000"/>
              <a:buChar char="•"/>
            </a:pPr>
            <a:r>
              <a:rPr lang="es-AR"/>
              <a:t>SINDICATOS - En su caracter de personas de existencia ideal de caracter privado, son también sujetos pasibles de concursarse </a:t>
            </a:r>
            <a:endParaRPr/>
          </a:p>
          <a:p>
            <a:pPr indent="-101600" lvl="0" marL="228600" rtl="0" algn="l">
              <a:lnSpc>
                <a:spcPct val="120000"/>
              </a:lnSpc>
              <a:spcBef>
                <a:spcPts val="1000"/>
              </a:spcBef>
              <a:spcAft>
                <a:spcPts val="0"/>
              </a:spcAft>
              <a:buSzPts val="2000"/>
              <a:buNone/>
            </a:pPr>
            <a:r>
              <a:t/>
            </a:r>
            <a:endParaRPr/>
          </a:p>
          <a:p>
            <a:pPr indent="-101600" lvl="0" marL="228600" rtl="0" algn="l">
              <a:lnSpc>
                <a:spcPct val="120000"/>
              </a:lnSpc>
              <a:spcBef>
                <a:spcPts val="1000"/>
              </a:spcBef>
              <a:spcAft>
                <a:spcPts val="0"/>
              </a:spcAft>
              <a:buSzPts val="2000"/>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17"/>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s-AR"/>
              <a:t>JUEZ COMPETENTE</a:t>
            </a:r>
            <a:endParaRPr/>
          </a:p>
        </p:txBody>
      </p:sp>
      <p:sp>
        <p:nvSpPr>
          <p:cNvPr id="210" name="Google Shape;210;p17"/>
          <p:cNvSpPr txBox="1"/>
          <p:nvPr>
            <p:ph idx="1" type="body"/>
          </p:nvPr>
        </p:nvSpPr>
        <p:spPr>
          <a:xfrm>
            <a:off x="1451579" y="2015732"/>
            <a:ext cx="9603275" cy="3450613"/>
          </a:xfrm>
          <a:prstGeom prst="rect">
            <a:avLst/>
          </a:prstGeom>
          <a:noFill/>
          <a:ln>
            <a:noFill/>
          </a:ln>
        </p:spPr>
        <p:txBody>
          <a:bodyPr anchorCtr="0" anchor="t" bIns="45700" lIns="91425" spcFirstLastPara="1" rIns="91425" wrap="square" tIns="45700">
            <a:normAutofit fontScale="62500" lnSpcReduction="20000"/>
          </a:bodyPr>
          <a:lstStyle/>
          <a:p>
            <a:pPr indent="-228600" lvl="0" marL="228600" rtl="0" algn="l">
              <a:lnSpc>
                <a:spcPct val="120000"/>
              </a:lnSpc>
              <a:spcBef>
                <a:spcPts val="0"/>
              </a:spcBef>
              <a:spcAft>
                <a:spcPts val="0"/>
              </a:spcAft>
              <a:buSzPct val="100000"/>
              <a:buChar char="•"/>
            </a:pPr>
            <a:r>
              <a:rPr lang="es-AR"/>
              <a:t>ARTICULO 3°.- Juez competente. Corresponde intervenir en los concursos al juez con competencia ordinaria, de acuerdo a las siguientes reglas:</a:t>
            </a:r>
            <a:endParaRPr/>
          </a:p>
          <a:p>
            <a:pPr indent="-228600" lvl="0" marL="228600" rtl="0" algn="l">
              <a:lnSpc>
                <a:spcPct val="120000"/>
              </a:lnSpc>
              <a:spcBef>
                <a:spcPts val="1000"/>
              </a:spcBef>
              <a:spcAft>
                <a:spcPts val="0"/>
              </a:spcAft>
              <a:buSzPct val="100000"/>
              <a:buChar char="•"/>
            </a:pPr>
            <a:r>
              <a:rPr lang="es-AR"/>
              <a:t>1) Si se trata de personas de existencia visible, al del lugar de la sede de la administración de sus negocios; a falta de éste, al del lugar del domicilio.</a:t>
            </a:r>
            <a:endParaRPr/>
          </a:p>
          <a:p>
            <a:pPr indent="-228600" lvl="0" marL="228600" rtl="0" algn="l">
              <a:lnSpc>
                <a:spcPct val="120000"/>
              </a:lnSpc>
              <a:spcBef>
                <a:spcPts val="1000"/>
              </a:spcBef>
              <a:spcAft>
                <a:spcPts val="0"/>
              </a:spcAft>
              <a:buSzPct val="100000"/>
              <a:buChar char="•"/>
            </a:pPr>
            <a:r>
              <a:rPr lang="es-AR"/>
              <a:t>2) Si el deudor tuviere varias administraciones es competente el juez del lugar de la sede de la administración del establecimiento principal; si no pudiere determinarse esta calidad, lo que es el juez que hubiere prevenido.</a:t>
            </a:r>
            <a:endParaRPr/>
          </a:p>
          <a:p>
            <a:pPr indent="-228600" lvl="0" marL="228600" rtl="0" algn="l">
              <a:lnSpc>
                <a:spcPct val="120000"/>
              </a:lnSpc>
              <a:spcBef>
                <a:spcPts val="1000"/>
              </a:spcBef>
              <a:spcAft>
                <a:spcPts val="0"/>
              </a:spcAft>
              <a:buSzPct val="100000"/>
              <a:buChar char="•"/>
            </a:pPr>
            <a:r>
              <a:rPr lang="es-AR"/>
              <a:t>3) En caso de concurso de personas de existencia ideal de carácter privado regularmente constituidas, y las sociedades en que el Estado Nacional, Provincial o Municipal sea parte -con las exclusiones previstas en el Artículo 2 - entiende el juez del lugar del domicilio.</a:t>
            </a:r>
            <a:endParaRPr/>
          </a:p>
          <a:p>
            <a:pPr indent="-228600" lvl="0" marL="228600" rtl="0" algn="l">
              <a:lnSpc>
                <a:spcPct val="120000"/>
              </a:lnSpc>
              <a:spcBef>
                <a:spcPts val="1000"/>
              </a:spcBef>
              <a:spcAft>
                <a:spcPts val="0"/>
              </a:spcAft>
              <a:buSzPct val="100000"/>
              <a:buChar char="•"/>
            </a:pPr>
            <a:r>
              <a:rPr lang="es-AR"/>
              <a:t>4) En el caso de sociedades no constituidas regularmente, entiende el juez del lugar de la sede; en su defecto, el del lugar del establecimiento o explotación principal.</a:t>
            </a:r>
            <a:endParaRPr/>
          </a:p>
          <a:p>
            <a:pPr indent="-228600" lvl="0" marL="228600" rtl="0" algn="l">
              <a:lnSpc>
                <a:spcPct val="120000"/>
              </a:lnSpc>
              <a:spcBef>
                <a:spcPts val="1000"/>
              </a:spcBef>
              <a:spcAft>
                <a:spcPts val="0"/>
              </a:spcAft>
              <a:buSzPct val="100000"/>
              <a:buChar char="•"/>
            </a:pPr>
            <a:r>
              <a:rPr lang="es-AR"/>
              <a:t>5) Tratándose de deudores domiciliados en el exterior, el juez del lugar de la administración en el país; a falta de éste, entiende el del lugar del establecimiento, explotación o actividad principal, según el caso.</a:t>
            </a:r>
            <a:endParaRPr/>
          </a:p>
          <a:p>
            <a:pPr indent="-149225" lvl="0" marL="228600" rtl="0" algn="l">
              <a:lnSpc>
                <a:spcPct val="120000"/>
              </a:lnSpc>
              <a:spcBef>
                <a:spcPts val="1000"/>
              </a:spcBef>
              <a:spcAft>
                <a:spcPts val="0"/>
              </a:spcAft>
              <a:buSzPct val="100000"/>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18"/>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s-AR"/>
              <a:t>JUEZ COMPETENTE</a:t>
            </a:r>
            <a:endParaRPr/>
          </a:p>
        </p:txBody>
      </p:sp>
      <p:sp>
        <p:nvSpPr>
          <p:cNvPr id="216" name="Google Shape;216;p18"/>
          <p:cNvSpPr txBox="1"/>
          <p:nvPr>
            <p:ph idx="1" type="body"/>
          </p:nvPr>
        </p:nvSpPr>
        <p:spPr>
          <a:xfrm>
            <a:off x="1451579" y="2015733"/>
            <a:ext cx="9603275" cy="1413268"/>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SzPts val="2000"/>
              <a:buChar char="•"/>
            </a:pPr>
            <a:r>
              <a:rPr lang="es-AR"/>
              <a:t>es principio general que la competencia del juez argentino solo alcanza a las personas domiciliadas en su territorio, constituyendo excepcidn a este principio el inc. 2 del art. 2</a:t>
            </a:r>
            <a:endParaRPr/>
          </a:p>
          <a:p>
            <a:pPr indent="-228600" lvl="0" marL="228600" rtl="0" algn="l">
              <a:lnSpc>
                <a:spcPct val="120000"/>
              </a:lnSpc>
              <a:spcBef>
                <a:spcPts val="1000"/>
              </a:spcBef>
              <a:spcAft>
                <a:spcPts val="0"/>
              </a:spcAft>
              <a:buSzPts val="2000"/>
              <a:buChar char="•"/>
            </a:pPr>
            <a:r>
              <a:rPr lang="es-AR"/>
              <a:t>la competencia territorial se rige por las reglas de los cinco incisos del art. 3</a:t>
            </a:r>
            <a:endParaRPr/>
          </a:p>
          <a:p>
            <a:pPr indent="-101600" lvl="0" marL="228600" rtl="0" algn="l">
              <a:lnSpc>
                <a:spcPct val="120000"/>
              </a:lnSpc>
              <a:spcBef>
                <a:spcPts val="1000"/>
              </a:spcBef>
              <a:spcAft>
                <a:spcPts val="0"/>
              </a:spcAft>
              <a:buSzPts val="2000"/>
              <a:buNone/>
            </a:pPr>
            <a:r>
              <a:t/>
            </a:r>
            <a:endParaRPr b="1" i="1"/>
          </a:p>
          <a:p>
            <a:pPr indent="-101600" lvl="0" marL="228600" rtl="0" algn="l">
              <a:lnSpc>
                <a:spcPct val="120000"/>
              </a:lnSpc>
              <a:spcBef>
                <a:spcPts val="1000"/>
              </a:spcBef>
              <a:spcAft>
                <a:spcPts val="0"/>
              </a:spcAft>
              <a:buSzPts val="2000"/>
              <a:buNone/>
            </a:pPr>
            <a:r>
              <a:t/>
            </a:r>
            <a:endParaRPr/>
          </a:p>
          <a:p>
            <a:pPr indent="-101600" lvl="0" marL="228600" rtl="0" algn="l">
              <a:lnSpc>
                <a:spcPct val="120000"/>
              </a:lnSpc>
              <a:spcBef>
                <a:spcPts val="1000"/>
              </a:spcBef>
              <a:spcAft>
                <a:spcPts val="0"/>
              </a:spcAft>
              <a:buSzPts val="2000"/>
              <a:buNone/>
            </a:pPr>
            <a:r>
              <a:t/>
            </a:r>
            <a:endParaRPr/>
          </a:p>
        </p:txBody>
      </p:sp>
      <p:sp>
        <p:nvSpPr>
          <p:cNvPr id="217" name="Google Shape;217;p18"/>
          <p:cNvSpPr txBox="1"/>
          <p:nvPr/>
        </p:nvSpPr>
        <p:spPr>
          <a:xfrm>
            <a:off x="1451579" y="3766457"/>
            <a:ext cx="4492021"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AR" sz="1800">
                <a:solidFill>
                  <a:schemeClr val="dk1"/>
                </a:solidFill>
                <a:latin typeface="Gill Sans"/>
                <a:ea typeface="Gill Sans"/>
                <a:cs typeface="Gill Sans"/>
                <a:sym typeface="Gill Sans"/>
              </a:rPr>
              <a:t>Personas humanas</a:t>
            </a:r>
            <a:endParaRPr/>
          </a:p>
          <a:p>
            <a:pPr indent="-342900" lvl="0" marL="342900" marR="0" rtl="0" algn="l">
              <a:spcBef>
                <a:spcPts val="0"/>
              </a:spcBef>
              <a:spcAft>
                <a:spcPts val="0"/>
              </a:spcAft>
              <a:buClr>
                <a:schemeClr val="dk1"/>
              </a:buClr>
              <a:buSzPts val="1800"/>
              <a:buFont typeface="Gill Sans"/>
              <a:buAutoNum type="arabicPeriod"/>
            </a:pPr>
            <a:r>
              <a:rPr lang="es-AR" sz="1800">
                <a:solidFill>
                  <a:schemeClr val="dk1"/>
                </a:solidFill>
                <a:latin typeface="Gill Sans"/>
                <a:ea typeface="Gill Sans"/>
                <a:cs typeface="Gill Sans"/>
                <a:sym typeface="Gill Sans"/>
              </a:rPr>
              <a:t>Sede de administracion</a:t>
            </a:r>
            <a:endParaRPr/>
          </a:p>
          <a:p>
            <a:pPr indent="-342900" lvl="0" marL="342900" marR="0" rtl="0" algn="l">
              <a:spcBef>
                <a:spcPts val="0"/>
              </a:spcBef>
              <a:spcAft>
                <a:spcPts val="0"/>
              </a:spcAft>
              <a:buClr>
                <a:schemeClr val="dk1"/>
              </a:buClr>
              <a:buSzPts val="1800"/>
              <a:buFont typeface="Gill Sans"/>
              <a:buAutoNum type="arabicPeriod"/>
            </a:pPr>
            <a:r>
              <a:rPr lang="es-AR" sz="1800">
                <a:solidFill>
                  <a:schemeClr val="dk1"/>
                </a:solidFill>
                <a:latin typeface="Gill Sans"/>
                <a:ea typeface="Gill Sans"/>
                <a:cs typeface="Gill Sans"/>
                <a:sym typeface="Gill Sans"/>
              </a:rPr>
              <a:t>Lugar del domicilio</a:t>
            </a:r>
            <a:endParaRPr/>
          </a:p>
        </p:txBody>
      </p:sp>
      <p:sp>
        <p:nvSpPr>
          <p:cNvPr id="218" name="Google Shape;218;p18"/>
          <p:cNvSpPr txBox="1"/>
          <p:nvPr/>
        </p:nvSpPr>
        <p:spPr>
          <a:xfrm>
            <a:off x="6096000" y="3766457"/>
            <a:ext cx="4492021"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AR" sz="1800">
                <a:solidFill>
                  <a:schemeClr val="dk1"/>
                </a:solidFill>
                <a:latin typeface="Gill Sans"/>
                <a:ea typeface="Gill Sans"/>
                <a:cs typeface="Gill Sans"/>
                <a:sym typeface="Gill Sans"/>
              </a:rPr>
              <a:t>Personas juridicas</a:t>
            </a:r>
            <a:endParaRPr/>
          </a:p>
          <a:p>
            <a:pPr indent="-342900" lvl="0" marL="342900" marR="0" rtl="0" algn="l">
              <a:spcBef>
                <a:spcPts val="0"/>
              </a:spcBef>
              <a:spcAft>
                <a:spcPts val="0"/>
              </a:spcAft>
              <a:buClr>
                <a:schemeClr val="dk1"/>
              </a:buClr>
              <a:buSzPts val="1800"/>
              <a:buFont typeface="Gill Sans"/>
              <a:buAutoNum type="arabicPeriod"/>
            </a:pPr>
            <a:r>
              <a:rPr lang="es-AR" sz="1800">
                <a:solidFill>
                  <a:schemeClr val="dk1"/>
                </a:solidFill>
                <a:latin typeface="Gill Sans"/>
                <a:ea typeface="Gill Sans"/>
                <a:cs typeface="Gill Sans"/>
                <a:sym typeface="Gill Sans"/>
              </a:rPr>
              <a:t>Lugar del domicilio</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19"/>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s-AR"/>
              <a:t>JURISPRUDENCIA</a:t>
            </a:r>
            <a:endParaRPr/>
          </a:p>
        </p:txBody>
      </p:sp>
      <p:sp>
        <p:nvSpPr>
          <p:cNvPr id="224" name="Google Shape;224;p19"/>
          <p:cNvSpPr txBox="1"/>
          <p:nvPr>
            <p:ph idx="1" type="body"/>
          </p:nvPr>
        </p:nvSpPr>
        <p:spPr>
          <a:xfrm>
            <a:off x="1451579" y="2015732"/>
            <a:ext cx="9603275" cy="1914011"/>
          </a:xfrm>
          <a:prstGeom prst="rect">
            <a:avLst/>
          </a:prstGeom>
          <a:noFill/>
          <a:ln>
            <a:noFill/>
          </a:ln>
        </p:spPr>
        <p:txBody>
          <a:bodyPr anchorCtr="0" anchor="t" bIns="45700" lIns="91425" spcFirstLastPara="1" rIns="91425" wrap="square" tIns="45700">
            <a:normAutofit fontScale="92500"/>
          </a:bodyPr>
          <a:lstStyle/>
          <a:p>
            <a:pPr indent="-228600" lvl="0" marL="228600" rtl="0" algn="l">
              <a:lnSpc>
                <a:spcPct val="120000"/>
              </a:lnSpc>
              <a:spcBef>
                <a:spcPts val="0"/>
              </a:spcBef>
              <a:spcAft>
                <a:spcPts val="0"/>
              </a:spcAft>
              <a:buSzPct val="100000"/>
              <a:buChar char="•"/>
            </a:pPr>
            <a:r>
              <a:rPr i="1" lang="es-AR"/>
              <a:t>"Es competente para tramitar la quiebra el juez del domicilio real del deudor si este cesó en su actividad comercial en otra jurisdicción antes del pedido de propia quiebra; máxime cuando no se trata de un domicilio ficticio indicado para dificultar la acción de los acreedores o eludir la competencia de determinados tribunales y los bienes del fallido se encuentran en aquella jurisdiccion"</a:t>
            </a:r>
            <a:r>
              <a:rPr lang="es-AR"/>
              <a:t> (CSJN, 21/3/00,"Morano, Gabriel c/Villanueva,Patricio", Fallos, 323534, y LL,2000-D-450). </a:t>
            </a:r>
            <a:endParaRPr/>
          </a:p>
          <a:p>
            <a:pPr indent="-111125" lvl="0" marL="228600" rtl="0" algn="l">
              <a:lnSpc>
                <a:spcPct val="120000"/>
              </a:lnSpc>
              <a:spcBef>
                <a:spcPts val="1000"/>
              </a:spcBef>
              <a:spcAft>
                <a:spcPts val="0"/>
              </a:spcAft>
              <a:buSzPct val="100000"/>
              <a:buNone/>
            </a:pPr>
            <a:r>
              <a:t/>
            </a:r>
            <a:endParaRPr/>
          </a:p>
        </p:txBody>
      </p:sp>
      <p:sp>
        <p:nvSpPr>
          <p:cNvPr id="225" name="Google Shape;225;p19"/>
          <p:cNvSpPr txBox="1"/>
          <p:nvPr/>
        </p:nvSpPr>
        <p:spPr>
          <a:xfrm>
            <a:off x="1567543" y="3929743"/>
            <a:ext cx="9172878" cy="20313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AR" sz="1800">
                <a:solidFill>
                  <a:schemeClr val="dk1"/>
                </a:solidFill>
                <a:latin typeface="Gill Sans"/>
                <a:ea typeface="Gill Sans"/>
                <a:cs typeface="Gill Sans"/>
                <a:sym typeface="Gill Sans"/>
              </a:rPr>
              <a:t>"</a:t>
            </a:r>
            <a:r>
              <a:rPr i="1" lang="es-AR" sz="1800">
                <a:solidFill>
                  <a:schemeClr val="dk1"/>
                </a:solidFill>
                <a:latin typeface="Gill Sans"/>
                <a:ea typeface="Gill Sans"/>
                <a:cs typeface="Gill Sans"/>
                <a:sym typeface="Gill Sans"/>
              </a:rPr>
              <a:t>Si el cambio de domicilio social a otra jurisdicción es concomitante con la decisión de presentarse en concurso preventivo cuando ya la deudora estaba en quiebra, debe considerarse que el nuevo domicilio que pretende hacer valer a los fines de la radicacion del concurso preventivo es ficticio, es decir, so1o aparente. Ello altera los principios que consagran la indelegabilidad de la competencia o la prohibicion de prórroga por voluntad de las partes, lo que adquiere relevancia cuando se halla de por medio el interes publico</a:t>
            </a:r>
            <a:r>
              <a:rPr lang="es-AR" sz="1800">
                <a:solidFill>
                  <a:schemeClr val="dk1"/>
                </a:solidFill>
                <a:latin typeface="Gill Sans"/>
                <a:ea typeface="Gill Sans"/>
                <a:cs typeface="Gill Sans"/>
                <a:sym typeface="Gill Sans"/>
              </a:rPr>
              <a:t>" (CSJN, 14/2/06, "Tubos Prodinco SA s/concurso preventivo", </a:t>
            </a:r>
            <a:r>
              <a:rPr i="1" lang="es-AR" sz="1800">
                <a:solidFill>
                  <a:schemeClr val="dk1"/>
                </a:solidFill>
                <a:latin typeface="Gill Sans"/>
                <a:ea typeface="Gill Sans"/>
                <a:cs typeface="Gill Sans"/>
                <a:sym typeface="Gill Sans"/>
              </a:rPr>
              <a:t>LL, </a:t>
            </a:r>
            <a:r>
              <a:rPr lang="es-AR" sz="1800">
                <a:solidFill>
                  <a:schemeClr val="dk1"/>
                </a:solidFill>
                <a:latin typeface="Gill Sans"/>
                <a:ea typeface="Gill Sans"/>
                <a:cs typeface="Gill Sans"/>
                <a:sym typeface="Gill Sans"/>
              </a:rPr>
              <a:t>2006-C-431). </a:t>
            </a:r>
            <a:endParaRPr/>
          </a:p>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0"/>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s-AR"/>
              <a:t>CONCURSO EN EL EXTRANJERO</a:t>
            </a:r>
            <a:endParaRPr/>
          </a:p>
        </p:txBody>
      </p:sp>
      <p:sp>
        <p:nvSpPr>
          <p:cNvPr id="231" name="Google Shape;231;p20"/>
          <p:cNvSpPr txBox="1"/>
          <p:nvPr>
            <p:ph idx="1" type="body"/>
          </p:nvPr>
        </p:nvSpPr>
        <p:spPr>
          <a:xfrm>
            <a:off x="1451579" y="2015732"/>
            <a:ext cx="9603275" cy="3450613"/>
          </a:xfrm>
          <a:prstGeom prst="rect">
            <a:avLst/>
          </a:prstGeom>
          <a:noFill/>
          <a:ln>
            <a:noFill/>
          </a:ln>
        </p:spPr>
        <p:txBody>
          <a:bodyPr anchorCtr="0" anchor="t" bIns="45700" lIns="91425" spcFirstLastPara="1" rIns="91425" wrap="square" tIns="45700">
            <a:normAutofit fontScale="62500" lnSpcReduction="20000"/>
          </a:bodyPr>
          <a:lstStyle/>
          <a:p>
            <a:pPr indent="-228600" lvl="0" marL="228600" rtl="0" algn="l">
              <a:lnSpc>
                <a:spcPct val="120000"/>
              </a:lnSpc>
              <a:spcBef>
                <a:spcPts val="0"/>
              </a:spcBef>
              <a:spcAft>
                <a:spcPts val="0"/>
              </a:spcAft>
              <a:buSzPct val="100000"/>
              <a:buChar char="•"/>
            </a:pPr>
            <a:r>
              <a:rPr lang="es-AR"/>
              <a:t>ARTICULO 4.- Concursos declarados en el extranjero. La declaración de concurso en el extranjero es causal para la apertura del concurso en el país, a pedido del deudor o del acreedor cuyo crédito debe hacerse efectivo en la REPUBLICA ARGENTINA. Sin perjuicio de lo dispuesto en los tratados internacionales, el concurso en el extranjero, no puede ser invocado contra los acreedores cuyos créditos deban ser </a:t>
            </a:r>
            <a:r>
              <a:rPr lang="es-AR" u="sng"/>
              <a:t>pagados en la REPUBLICA ARGENTINA</a:t>
            </a:r>
            <a:r>
              <a:rPr lang="es-AR"/>
              <a:t>, para disputarles derechos que éstos pretenden sobre los bienes existentes en el territorio ni para anular los actos que hayan celebrado con el concursado.</a:t>
            </a:r>
            <a:endParaRPr/>
          </a:p>
          <a:p>
            <a:pPr indent="-228600" lvl="0" marL="228600" rtl="0" algn="l">
              <a:lnSpc>
                <a:spcPct val="120000"/>
              </a:lnSpc>
              <a:spcBef>
                <a:spcPts val="1000"/>
              </a:spcBef>
              <a:spcAft>
                <a:spcPts val="0"/>
              </a:spcAft>
              <a:buSzPct val="100000"/>
              <a:buChar char="•"/>
            </a:pPr>
            <a:r>
              <a:rPr lang="es-AR"/>
              <a:t>Pluralidad de concursos. Declarada también la quiebra en el país, los acreedor pertenecientes al concurso formado en el extranjero actuarán sobre el saldo, un satisfechos los demás créditos verificados en aquélla.</a:t>
            </a:r>
            <a:endParaRPr/>
          </a:p>
          <a:p>
            <a:pPr indent="-228600" lvl="0" marL="228600" rtl="0" algn="l">
              <a:lnSpc>
                <a:spcPct val="120000"/>
              </a:lnSpc>
              <a:spcBef>
                <a:spcPts val="1000"/>
              </a:spcBef>
              <a:spcAft>
                <a:spcPts val="0"/>
              </a:spcAft>
              <a:buSzPct val="100000"/>
              <a:buChar char="•"/>
            </a:pPr>
            <a:r>
              <a:rPr lang="es-AR"/>
              <a:t>Reciprocidad. La verificación del acreedor cuyo crédito es pagadero en el extranjero y que no pertenezca a un concurso abierto en el exterior, está condicionada a que se demuestre que, recíprocamente, un acreedor cuyo crédito es pagadero en la REPUBLICA ARGENTINA puede verificarse y cobrar -en iguales condiciones- en un concurso abierto en el país en el cual aquel crédito es pagadero.</a:t>
            </a:r>
            <a:endParaRPr/>
          </a:p>
          <a:p>
            <a:pPr indent="-228600" lvl="0" marL="228600" rtl="0" algn="l">
              <a:lnSpc>
                <a:spcPct val="120000"/>
              </a:lnSpc>
              <a:spcBef>
                <a:spcPts val="1000"/>
              </a:spcBef>
              <a:spcAft>
                <a:spcPts val="0"/>
              </a:spcAft>
              <a:buSzPct val="100000"/>
              <a:buChar char="•"/>
            </a:pPr>
            <a:r>
              <a:rPr lang="es-AR"/>
              <a:t>Paridad en los dividendos. Los cobros de créditos quirografarios con posterioridad a la apertura del concurso nacional, efectuados en el extranjero, serán imputados al dividendo correspondiente a sus beneficiarios por causas de créditos comunes. Quedan exceptuados de acreditar la reciprocidad los titulares de créditos con garantía real.</a:t>
            </a:r>
            <a:endParaRPr/>
          </a:p>
          <a:p>
            <a:pPr indent="-149225" lvl="0" marL="228600" rtl="0" algn="l">
              <a:lnSpc>
                <a:spcPct val="120000"/>
              </a:lnSpc>
              <a:spcBef>
                <a:spcPts val="1000"/>
              </a:spcBef>
              <a:spcAft>
                <a:spcPts val="0"/>
              </a:spcAft>
              <a:buSzPct val="100000"/>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21"/>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s-AR"/>
              <a:t>JURISPRUDENCIA</a:t>
            </a:r>
            <a:endParaRPr/>
          </a:p>
        </p:txBody>
      </p:sp>
      <p:sp>
        <p:nvSpPr>
          <p:cNvPr id="237" name="Google Shape;237;p21"/>
          <p:cNvSpPr txBox="1"/>
          <p:nvPr>
            <p:ph idx="1" type="body"/>
          </p:nvPr>
        </p:nvSpPr>
        <p:spPr>
          <a:xfrm>
            <a:off x="1451579" y="2015732"/>
            <a:ext cx="9603275" cy="3450613"/>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SzPts val="2000"/>
              <a:buChar char="•"/>
            </a:pPr>
            <a:r>
              <a:rPr i="1" lang="es-AR"/>
              <a:t>"Según doctrina uniforme, no es necesario comprobar que el concursado se encuentra en estado de cesación de pagos en nuestro país, ni acreditar la concurrencia de otros requisitos exigidos por la ley argentina en tanto la declaración de concurso en el extranjero opera como un verdadero 'hecho de quiebra' frente al cual el juez esta obligado a decretarla en el pais, sin verificación alguna sobre la existencia o no del estado de insolvencia, siendo claro que, por el contrario, la insolvencia habría de ser probada únicamente cuando, no existiendo concurso declarado en el extranjero, lo que se pretendiese es la apertura en nuestro país del concurso de un deudor domiciliado en el extranjero respecto de bienes aquí existentes" (CNCoM, Sala F, 24/2/11, LL, 2011-E-132, del voto de la mayoría). </a:t>
            </a:r>
            <a:endParaRPr/>
          </a:p>
          <a:p>
            <a:pPr indent="-101600" lvl="0" marL="228600" rtl="0" algn="l">
              <a:lnSpc>
                <a:spcPct val="120000"/>
              </a:lnSpc>
              <a:spcBef>
                <a:spcPts val="1000"/>
              </a:spcBef>
              <a:spcAft>
                <a:spcPts val="0"/>
              </a:spcAft>
              <a:buSzPts val="2000"/>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22"/>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s-AR"/>
              <a:t>CONCURSO EN EL EXTRANJERO</a:t>
            </a:r>
            <a:endParaRPr/>
          </a:p>
        </p:txBody>
      </p:sp>
      <p:sp>
        <p:nvSpPr>
          <p:cNvPr id="243" name="Google Shape;243;p22"/>
          <p:cNvSpPr txBox="1"/>
          <p:nvPr>
            <p:ph idx="1" type="body"/>
          </p:nvPr>
        </p:nvSpPr>
        <p:spPr>
          <a:xfrm>
            <a:off x="1451579" y="2015732"/>
            <a:ext cx="9603275" cy="3450613"/>
          </a:xfrm>
          <a:prstGeom prst="rect">
            <a:avLst/>
          </a:prstGeom>
          <a:noFill/>
          <a:ln>
            <a:noFill/>
          </a:ln>
        </p:spPr>
        <p:txBody>
          <a:bodyPr anchorCtr="0" anchor="t" bIns="45700" lIns="91425" spcFirstLastPara="1" rIns="91425" wrap="square" tIns="45700">
            <a:normAutofit fontScale="77500" lnSpcReduction="20000"/>
          </a:bodyPr>
          <a:lstStyle/>
          <a:p>
            <a:pPr indent="-228631" lvl="0" marL="228600" rtl="0" algn="l">
              <a:lnSpc>
                <a:spcPct val="120000"/>
              </a:lnSpc>
              <a:spcBef>
                <a:spcPts val="0"/>
              </a:spcBef>
              <a:spcAft>
                <a:spcPts val="0"/>
              </a:spcAft>
              <a:buSzPct val="100000"/>
              <a:buChar char="•"/>
            </a:pPr>
            <a:r>
              <a:rPr lang="es-AR" sz="2100"/>
              <a:t>Se permite declaracion de la quiebra local sin acreditar estado de cesacion de pagos del deudor</a:t>
            </a:r>
            <a:endParaRPr/>
          </a:p>
          <a:p>
            <a:pPr indent="-228631" lvl="0" marL="228600" rtl="0" algn="l">
              <a:lnSpc>
                <a:spcPct val="120000"/>
              </a:lnSpc>
              <a:spcBef>
                <a:spcPts val="1000"/>
              </a:spcBef>
              <a:spcAft>
                <a:spcPts val="0"/>
              </a:spcAft>
              <a:buSzPct val="100000"/>
              <a:buChar char="•"/>
            </a:pPr>
            <a:r>
              <a:rPr lang="es-AR" sz="2100" u="sng"/>
              <a:t>Acreedores locales </a:t>
            </a:r>
            <a:r>
              <a:rPr lang="es-AR" sz="2100"/>
              <a:t>son aquellos cuyos créditos son exigibles en la Argentina, independientemente de la nacionalidad o el domicilio de los titulares. </a:t>
            </a:r>
            <a:endParaRPr/>
          </a:p>
          <a:p>
            <a:pPr indent="-228631" lvl="0" marL="228600" rtl="0" algn="l">
              <a:lnSpc>
                <a:spcPct val="120000"/>
              </a:lnSpc>
              <a:spcBef>
                <a:spcPts val="1000"/>
              </a:spcBef>
              <a:spcAft>
                <a:spcPts val="0"/>
              </a:spcAft>
              <a:buSzPct val="100000"/>
              <a:buChar char="•"/>
            </a:pPr>
            <a:r>
              <a:rPr lang="es-AR" sz="2100"/>
              <a:t>Concurso en el extranjero es inoponible a acreedores locales derechos sobre bienes en suelo argentino</a:t>
            </a:r>
            <a:endParaRPr/>
          </a:p>
          <a:p>
            <a:pPr indent="-228631" lvl="0" marL="228600" rtl="0" algn="l">
              <a:lnSpc>
                <a:spcPct val="120000"/>
              </a:lnSpc>
              <a:spcBef>
                <a:spcPts val="1000"/>
              </a:spcBef>
              <a:spcAft>
                <a:spcPts val="0"/>
              </a:spcAft>
              <a:buSzPct val="100000"/>
              <a:buChar char="•"/>
            </a:pPr>
            <a:r>
              <a:rPr lang="es-AR" sz="2100"/>
              <a:t>postergacion de la posibilidad de actuar para el cobro, en la quiebra argentina, a los acreedores pertenecientes a concurso formado en el extranjero, que importa diferir la factibilidad de percepcion de estos creditos a la eventual existencia de saldo </a:t>
            </a:r>
            <a:endParaRPr/>
          </a:p>
          <a:p>
            <a:pPr indent="-228600" lvl="0" marL="228600" rtl="0" algn="l">
              <a:lnSpc>
                <a:spcPct val="120000"/>
              </a:lnSpc>
              <a:spcBef>
                <a:spcPts val="1000"/>
              </a:spcBef>
              <a:spcAft>
                <a:spcPts val="0"/>
              </a:spcAft>
              <a:buSzPct val="83333"/>
              <a:buChar char="•"/>
            </a:pPr>
            <a:r>
              <a:rPr lang="es-AR"/>
              <a:t>Consagra una norma de reciprocidad </a:t>
            </a:r>
            <a:endParaRPr sz="2400"/>
          </a:p>
          <a:p>
            <a:pPr indent="-228600" lvl="0" marL="228600" rtl="0" algn="l">
              <a:lnSpc>
                <a:spcPct val="120000"/>
              </a:lnSpc>
              <a:spcBef>
                <a:spcPts val="1000"/>
              </a:spcBef>
              <a:spcAft>
                <a:spcPts val="0"/>
              </a:spcAft>
              <a:buSzPct val="83333"/>
              <a:buChar char="•"/>
            </a:pPr>
            <a:r>
              <a:rPr lang="es-AR"/>
              <a:t>Si después de abierto el concurso argentino, un acreedor que ha verificado parte de su credito cobra parcialmente en el extranjero, se le debe disminuir su participación en el dividendo concursa1 argentino, en proporción al beneficio obtenido en el exterior </a:t>
            </a:r>
            <a:endParaRPr sz="2400"/>
          </a:p>
          <a:p>
            <a:pPr indent="-125285" lvl="0" marL="228600" rtl="0" algn="l">
              <a:lnSpc>
                <a:spcPct val="120000"/>
              </a:lnSpc>
              <a:spcBef>
                <a:spcPts val="1000"/>
              </a:spcBef>
              <a:spcAft>
                <a:spcPts val="0"/>
              </a:spcAft>
              <a:buSzPct val="100000"/>
              <a:buNone/>
            </a:pPr>
            <a:r>
              <a:t/>
            </a:r>
            <a:endParaRPr sz="2100"/>
          </a:p>
          <a:p>
            <a:pPr indent="-125285" lvl="0" marL="228600" rtl="0" algn="l">
              <a:lnSpc>
                <a:spcPct val="120000"/>
              </a:lnSpc>
              <a:spcBef>
                <a:spcPts val="1000"/>
              </a:spcBef>
              <a:spcAft>
                <a:spcPts val="0"/>
              </a:spcAft>
              <a:buSzPct val="100000"/>
              <a:buNone/>
            </a:pPr>
            <a:r>
              <a:t/>
            </a:r>
            <a:endParaRPr sz="2100"/>
          </a:p>
          <a:p>
            <a:pPr indent="-130175" lvl="0" marL="228600" rtl="0" algn="l">
              <a:lnSpc>
                <a:spcPct val="120000"/>
              </a:lnSpc>
              <a:spcBef>
                <a:spcPts val="1000"/>
              </a:spcBef>
              <a:spcAft>
                <a:spcPts val="0"/>
              </a:spcAft>
              <a:buSzPct val="100000"/>
              <a:buNone/>
            </a:pPr>
            <a:r>
              <a:t/>
            </a:r>
            <a:endParaRPr/>
          </a:p>
          <a:p>
            <a:pPr indent="-130175" lvl="0" marL="228600" rtl="0" algn="l">
              <a:lnSpc>
                <a:spcPct val="120000"/>
              </a:lnSpc>
              <a:spcBef>
                <a:spcPts val="1000"/>
              </a:spcBef>
              <a:spcAft>
                <a:spcPts val="0"/>
              </a:spcAft>
              <a:buSzPct val="100000"/>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23"/>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s-AR"/>
              <a:t>SUJETOS</a:t>
            </a:r>
            <a:endParaRPr/>
          </a:p>
        </p:txBody>
      </p:sp>
      <p:sp>
        <p:nvSpPr>
          <p:cNvPr id="249" name="Google Shape;249;p23"/>
          <p:cNvSpPr txBox="1"/>
          <p:nvPr>
            <p:ph idx="1" type="body"/>
          </p:nvPr>
        </p:nvSpPr>
        <p:spPr>
          <a:xfrm>
            <a:off x="1451579" y="2015732"/>
            <a:ext cx="9603275" cy="3450613"/>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SzPts val="2000"/>
              <a:buChar char="•"/>
            </a:pPr>
            <a:r>
              <a:rPr lang="es-AR"/>
              <a:t>ARTICULO 5°.- Sujetos. Pueden solicitar la formación de su concurso preventivo las personas comprendidas en el Artículo 2, incluidas las de existencia ideal en liquidación.</a:t>
            </a:r>
            <a:endParaRPr/>
          </a:p>
          <a:p>
            <a:pPr indent="0" lvl="0" marL="0" rtl="0" algn="l">
              <a:lnSpc>
                <a:spcPct val="120000"/>
              </a:lnSpc>
              <a:spcBef>
                <a:spcPts val="1000"/>
              </a:spcBef>
              <a:spcAft>
                <a:spcPts val="0"/>
              </a:spcAft>
              <a:buSzPts val="2000"/>
              <a:buNone/>
            </a:pPr>
            <a:br>
              <a:rPr lang="es-AR"/>
            </a:b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24"/>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s-AR"/>
              <a:t>PERSONAS JURIDICAS</a:t>
            </a:r>
            <a:endParaRPr/>
          </a:p>
        </p:txBody>
      </p:sp>
      <p:sp>
        <p:nvSpPr>
          <p:cNvPr id="255" name="Google Shape;255;p24"/>
          <p:cNvSpPr txBox="1"/>
          <p:nvPr>
            <p:ph idx="1" type="body"/>
          </p:nvPr>
        </p:nvSpPr>
        <p:spPr>
          <a:xfrm>
            <a:off x="1451579" y="2015732"/>
            <a:ext cx="9603275" cy="3450613"/>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120000"/>
              </a:lnSpc>
              <a:spcBef>
                <a:spcPts val="0"/>
              </a:spcBef>
              <a:spcAft>
                <a:spcPts val="0"/>
              </a:spcAft>
              <a:buSzPts val="2000"/>
              <a:buChar char="•"/>
            </a:pPr>
            <a:r>
              <a:rPr lang="es-AR"/>
              <a:t>ARTICULO 6°.- Personas de existencia ideal. Representación y ratificación. Tratándose de personas de existencia ideal, privadas o públicas, lo solicita el representante legal, previa resolución, en su caso, del órgano de administración.</a:t>
            </a:r>
            <a:endParaRPr/>
          </a:p>
          <a:p>
            <a:pPr indent="-228600" lvl="0" marL="228600" rtl="0" algn="l">
              <a:lnSpc>
                <a:spcPct val="120000"/>
              </a:lnSpc>
              <a:spcBef>
                <a:spcPts val="1000"/>
              </a:spcBef>
              <a:spcAft>
                <a:spcPts val="0"/>
              </a:spcAft>
              <a:buSzPts val="2000"/>
              <a:buChar char="•"/>
            </a:pPr>
            <a:r>
              <a:rPr lang="es-AR"/>
              <a:t>Dentro de los TREINTA (30) días de la fecha de la presentación, deben acompañar constancia de la resolución de continuar el trámite, adoptada por la asamblea, reunión de socios u órgano de gobierno que corresponda, con las mayorías necesarias para resolver asuntos ordinarios.</a:t>
            </a:r>
            <a:endParaRPr/>
          </a:p>
          <a:p>
            <a:pPr indent="-228600" lvl="0" marL="228600" rtl="0" algn="l">
              <a:lnSpc>
                <a:spcPct val="120000"/>
              </a:lnSpc>
              <a:spcBef>
                <a:spcPts val="1000"/>
              </a:spcBef>
              <a:spcAft>
                <a:spcPts val="0"/>
              </a:spcAft>
              <a:buSzPts val="2000"/>
              <a:buChar char="•"/>
            </a:pPr>
            <a:r>
              <a:rPr lang="es-AR"/>
              <a:t>No acreditado este requisito, se produce de pleno derecho la cesación del procedimiento, con los efectos del desistimiento de la petición.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25"/>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s-AR"/>
              <a:t>INCAPACES E INHABILITADOS</a:t>
            </a:r>
            <a:endParaRPr/>
          </a:p>
        </p:txBody>
      </p:sp>
      <p:sp>
        <p:nvSpPr>
          <p:cNvPr id="261" name="Google Shape;261;p25"/>
          <p:cNvSpPr txBox="1"/>
          <p:nvPr>
            <p:ph idx="1" type="body"/>
          </p:nvPr>
        </p:nvSpPr>
        <p:spPr>
          <a:xfrm>
            <a:off x="1451579" y="2015732"/>
            <a:ext cx="9603275" cy="3450613"/>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SzPts val="2000"/>
              <a:buChar char="•"/>
            </a:pPr>
            <a:r>
              <a:rPr lang="es-AR"/>
              <a:t>ARTICULO 7°.- Incapaces e inhabilitados. En casos de incapaces o inhabilitados, la solicitud debe ser efectuada por sus representantes legales y ratificada, en su caso, por el juez que corresponda, dentro de los TREINTA (30) días contados desde la presentación. La falta de ratificación produce los efectos indicados en el último párrafo del artículo anterior.</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26"/>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s-AR"/>
              <a:t>PERSONAS FALLECIDAS</a:t>
            </a:r>
            <a:endParaRPr/>
          </a:p>
        </p:txBody>
      </p:sp>
      <p:sp>
        <p:nvSpPr>
          <p:cNvPr id="267" name="Google Shape;267;p26"/>
          <p:cNvSpPr txBox="1"/>
          <p:nvPr>
            <p:ph idx="1" type="body"/>
          </p:nvPr>
        </p:nvSpPr>
        <p:spPr>
          <a:xfrm>
            <a:off x="1451579" y="2015732"/>
            <a:ext cx="9603275" cy="3450613"/>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SzPts val="2000"/>
              <a:buChar char="•"/>
            </a:pPr>
            <a:r>
              <a:rPr lang="es-AR"/>
              <a:t>ARTICULO 8°.- Personas fallecidas. Mientras se mantenga la separación patrimonial, cualquiera de los herederos puede solicitar el concurso preventivo en relación al patrimonio del fallecido. La petición debe ser ratificada por los demás herederos, dentro de los TREINTA (30) días. Omitida la ratificación, se aplica el último párrafo del Artículo 6.</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Galería">
  <a:themeElements>
    <a:clrScheme name="Gallery">
      <a:dk1>
        <a:srgbClr val="000000"/>
      </a:dk1>
      <a:lt1>
        <a:srgbClr val="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2020-09-03T14:45:47Z</dcterms:created>
  <dc:creator>Microsoft Office User</dc:creator>
</cp:coreProperties>
</file>